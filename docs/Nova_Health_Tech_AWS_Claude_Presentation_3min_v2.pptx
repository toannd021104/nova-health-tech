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[10s opening]</a:t>
            </a:r>
          </a:p>
          <a:p/>
          <a:p>
            <a:r>
              <a:t>Đề xuất kiến trúc trợ lý AI lâm sàng cho Nova: AWS Singapore, Claude 4.5, tuân thủ PDPA và HCSA ngay từ thiết kế.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a:t>
            </a:r>
          </a:p>
          <a:p/>
          <a:p>
            <a:r>
              <a:t>Bác sĩ Nova mất niềm tin vì câu trả lời chậm và thiếu cụ thể. Có 3 thách thức.</a:t>
            </a:r>
          </a:p>
          <a:p/>
          <a:p>
            <a:r>
              <a:t>Đầu tiên và quan trọng nhất: dữ liệu thử nghiệm nội bộ chứa thông tin bệnh nhân nhạy cảm, không được rò rỉ. Đây không chỉ là kỹ thuật, mà là yêu cầu pháp lý của Singapore. Trước khi nói tiếp, để tôi giải thích tuân thủ phía Singapore.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KEY SLIDE]</a:t>
            </a:r>
          </a:p>
          <a:p/>
          <a:p>
            <a:r>
              <a:t>Singapore có 4 quy định chính áp dụng cho hệ thống AI lâm sàng. PDPA do PDPC quản, bảo vệ dữ liệu cá nhân, vi phạm phải báo trong 72 giờ. HCSA 2020 do MOH ban hành thay PHMC, bắt buộc license cho clinical decision support. Cybersecurity Act 2018 bảo vệ Critical Information Infrastructure. IMDA AI Verify framework cho AI có trách nhiệm.</a:t>
            </a:r>
          </a:p>
          <a:p/>
          <a:p>
            <a:r>
              <a:t>Cách triển khai: 100 phần trăm deploy ở ap-southeast-1, dữ liệu bệnh nhân không bao giờ rời Singapore. AWS có signed BAA, ISO 27001, SOC 2 Type II, PDPA-compliant.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a:t>
            </a:r>
          </a:p>
          <a:p/>
          <a:p>
            <a:r>
              <a:t>Quay lại 2 thách thức còn lại. Speed: cấp cứu cần dưới 2 giây, không có chỗ cho độ trễ, mỗi giây có thể là sống chết. Freshness: WHO cập nhật phác đồ hàng tháng, ICD-11 cập nhật hàng ngày, hệ thống phải tự đồng bộ không cần can thiệp manual.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a:t>
            </a:r>
          </a:p>
          <a:p/>
          <a:p>
            <a:r>
              <a:t>Giải pháp là kiến trúc 2 luồng. Cấp cứu đi thẳng Claude Haiku 4.5 với top-3 vector và top-2 graph, không qua router. Phức tạp đi qua Nova Micro phân loại 12 phòng ban, rồi Sonnet 4.5 với top-15 vector và top-3 graph có guardrails.</a:t>
            </a:r>
          </a:p>
          <a:p/>
          <a:p>
            <a:r>
              <a:t>RAG dùng 2 loại: vector trên OpenSearch Serverless và GraphRAG trên Neptune Analytics. Cả 2 đều ở Singapore với Cohere Embed v3 SG-native. Không có cross-region hop.</a:t>
            </a:r>
          </a:p>
          <a:p/>
          <a:p>
            <a:r>
              <a:t>Diagram chi tiết kiến trúc xem tại docs/architecture/diagrams/proposal/01_high_level.svg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a:t>
            </a:r>
          </a:p>
          <a:p/>
          <a:p>
            <a:r>
              <a:t>PoC chạy live trên EC2 Singapore với WHO COVID-19 guideline 198 trang. Test 20 câu hỏi thực tế: 100 phần trăm pass SLA cả 2 lane, 100 phần trăm câu trả lời có citation từ nguồn gốc.</a:t>
            </a:r>
          </a:p>
          <a:p/>
          <a:p>
            <a:r>
              <a:t>Cấp cứu 2.5 giây trung bình, complex 9.7 giây. Đã đáp ứng đề bài. Production thêm Prompt Caching trên system prompt và ElastiCache Redis cho semantic cache sẽ giảm thêm.</a:t>
            </a:r>
          </a:p>
          <a:p/>
          <a:p>
            <a:r>
              <a:t>Chi phí 600,000 calls một tháng: phương án Nova khoảng 2,800 USD, phương án Claude với student distillation khoảng 5,500 USD. Khi scale lên 3 triệu calls thì A1+ là 10,500 còn A2 là 23,500 USD.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[10s closing]</a:t>
            </a:r>
          </a:p>
          <a:p/>
          <a:p>
            <a:r>
              <a:t>Tóm lại: kiến trúc đã PoC kiểm chứng, Singapore-native, tuân thủ PDPA HCSA. Lộ trình 6-10 tuần. PoC đang chạy live, có thể demo ngay. Xin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nslide.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2286000"/>
            <a:ext cx="12191695" cy="2286000"/>
          </a:xfrm>
          <a:prstGeom prst="rect">
            <a:avLst/>
          </a:prstGeom>
          <a:solidFill>
            <a:srgbClr val="00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0"/>
            <a:ext cx="10698480" cy="1097280"/>
          </a:xfrm>
          <a:prstGeom prst="rect">
            <a:avLst/>
          </a:prstGeom>
          <a:noFill/>
        </p:spPr>
        <p:txBody>
          <a:bodyPr wrap="square">
            <a:spAutoFit/>
          </a:bodyPr>
          <a:lstStyle/>
          <a:p>
            <a:pPr algn="ctr"/>
            <a:r>
              <a:rPr sz="4000" b="1">
                <a:solidFill>
                  <a:srgbClr val="FFFFFF"/>
                </a:solidFill>
                <a:latin typeface="Calibri"/>
              </a:rPr>
              <a:t>Nova Health Tech · Clinical GenAI Assistant</a:t>
            </a:r>
          </a:p>
        </p:txBody>
      </p:sp>
      <p:sp>
        <p:nvSpPr>
          <p:cNvPr id="5" name="TextBox 4"/>
          <p:cNvSpPr txBox="1"/>
          <p:nvPr/>
        </p:nvSpPr>
        <p:spPr>
          <a:xfrm>
            <a:off x="731520" y="3657600"/>
            <a:ext cx="10698480" cy="640080"/>
          </a:xfrm>
          <a:prstGeom prst="rect">
            <a:avLst/>
          </a:prstGeom>
          <a:noFill/>
        </p:spPr>
        <p:txBody>
          <a:bodyPr wrap="square">
            <a:spAutoFit/>
          </a:bodyPr>
          <a:lstStyle/>
          <a:p>
            <a:pPr algn="ctr"/>
            <a:r>
              <a:rPr sz="2000">
                <a:solidFill>
                  <a:srgbClr val="FFFFFF"/>
                </a:solidFill>
                <a:latin typeface="Calibri"/>
              </a:rPr>
              <a:t>AWS with Claude · Singapore · PDPA &amp; HCSA compliant by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The Challenge</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609447" y="1554480"/>
            <a:ext cx="3474720" cy="3200400"/>
          </a:xfrm>
          <a:prstGeom prst="roundRect">
            <a:avLst>
              <a:gd name="adj" fmla="val 6000"/>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1920240"/>
            <a:ext cx="3474720" cy="914400"/>
          </a:xfrm>
          <a:prstGeom prst="rect">
            <a:avLst/>
          </a:prstGeom>
          <a:noFill/>
        </p:spPr>
        <p:txBody>
          <a:bodyPr wrap="none">
            <a:spAutoFit/>
          </a:bodyPr>
          <a:lstStyle/>
          <a:p>
            <a:pPr algn="ctr"/>
            <a:r>
              <a:rPr sz="5600">
                <a:latin typeface="Segoe UI Emoji"/>
              </a:rPr>
              <a:t>⚡</a:t>
            </a:r>
          </a:p>
        </p:txBody>
      </p:sp>
      <p:sp>
        <p:nvSpPr>
          <p:cNvPr id="9" name="TextBox 8"/>
          <p:cNvSpPr txBox="1"/>
          <p:nvPr/>
        </p:nvSpPr>
        <p:spPr>
          <a:xfrm>
            <a:off x="609447" y="3017520"/>
            <a:ext cx="3474720" cy="457200"/>
          </a:xfrm>
          <a:prstGeom prst="rect">
            <a:avLst/>
          </a:prstGeom>
          <a:noFill/>
        </p:spPr>
        <p:txBody>
          <a:bodyPr wrap="none">
            <a:spAutoFit/>
          </a:bodyPr>
          <a:lstStyle/>
          <a:p>
            <a:pPr algn="ctr"/>
            <a:r>
              <a:rPr sz="2200" b="1">
                <a:solidFill>
                  <a:srgbClr val="2C3E50"/>
                </a:solidFill>
                <a:latin typeface="Calibri"/>
              </a:rPr>
              <a:t>Speed</a:t>
            </a:r>
          </a:p>
        </p:txBody>
      </p:sp>
      <p:sp>
        <p:nvSpPr>
          <p:cNvPr id="10" name="TextBox 9"/>
          <p:cNvSpPr txBox="1"/>
          <p:nvPr/>
        </p:nvSpPr>
        <p:spPr>
          <a:xfrm>
            <a:off x="792327" y="3657600"/>
            <a:ext cx="3108960" cy="1005840"/>
          </a:xfrm>
          <a:prstGeom prst="rect">
            <a:avLst/>
          </a:prstGeom>
          <a:noFill/>
        </p:spPr>
        <p:txBody>
          <a:bodyPr wrap="square">
            <a:spAutoFit/>
          </a:bodyPr>
          <a:lstStyle/>
          <a:p>
            <a:pPr algn="ctr"/>
            <a:r>
              <a:rPr sz="1400" b="0">
                <a:solidFill>
                  <a:srgbClr val="2C3E50"/>
                </a:solidFill>
                <a:latin typeface="Calibri"/>
              </a:rPr>
              <a:t>Emergency response
&lt; 2 seconds</a:t>
            </a:r>
          </a:p>
        </p:txBody>
      </p:sp>
      <p:sp>
        <p:nvSpPr>
          <p:cNvPr id="11" name="Rounded Rectangle 10"/>
          <p:cNvSpPr/>
          <p:nvPr/>
        </p:nvSpPr>
        <p:spPr>
          <a:xfrm>
            <a:off x="4358487" y="1554480"/>
            <a:ext cx="3474720" cy="3200400"/>
          </a:xfrm>
          <a:prstGeom prst="roundRect">
            <a:avLst>
              <a:gd name="adj" fmla="val 6000"/>
            </a:avLst>
          </a:prstGeom>
          <a:solidFill>
            <a:srgbClr val="FEF2F2"/>
          </a:solidFill>
          <a:ln w="508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8487" y="1920240"/>
            <a:ext cx="3474720" cy="914400"/>
          </a:xfrm>
          <a:prstGeom prst="rect">
            <a:avLst/>
          </a:prstGeom>
          <a:noFill/>
        </p:spPr>
        <p:txBody>
          <a:bodyPr wrap="none">
            <a:spAutoFit/>
          </a:bodyPr>
          <a:lstStyle/>
          <a:p>
            <a:pPr algn="ctr"/>
            <a:r>
              <a:rPr sz="5600">
                <a:latin typeface="Segoe UI Emoji"/>
              </a:rPr>
              <a:t>🔒</a:t>
            </a:r>
          </a:p>
        </p:txBody>
      </p:sp>
      <p:sp>
        <p:nvSpPr>
          <p:cNvPr id="13" name="TextBox 12"/>
          <p:cNvSpPr txBox="1"/>
          <p:nvPr/>
        </p:nvSpPr>
        <p:spPr>
          <a:xfrm>
            <a:off x="4358487" y="3017520"/>
            <a:ext cx="3474720" cy="457200"/>
          </a:xfrm>
          <a:prstGeom prst="rect">
            <a:avLst/>
          </a:prstGeom>
          <a:noFill/>
        </p:spPr>
        <p:txBody>
          <a:bodyPr wrap="none">
            <a:spAutoFit/>
          </a:bodyPr>
          <a:lstStyle/>
          <a:p>
            <a:pPr algn="ctr"/>
            <a:r>
              <a:rPr sz="2600" b="1">
                <a:solidFill>
                  <a:srgbClr val="C0392B"/>
                </a:solidFill>
                <a:latin typeface="Calibri"/>
              </a:rPr>
              <a:t>Patient PHI</a:t>
            </a:r>
          </a:p>
        </p:txBody>
      </p:sp>
      <p:sp>
        <p:nvSpPr>
          <p:cNvPr id="14" name="TextBox 13"/>
          <p:cNvSpPr txBox="1"/>
          <p:nvPr/>
        </p:nvSpPr>
        <p:spPr>
          <a:xfrm>
            <a:off x="4541367" y="3657600"/>
            <a:ext cx="3108960" cy="1005840"/>
          </a:xfrm>
          <a:prstGeom prst="rect">
            <a:avLst/>
          </a:prstGeom>
          <a:noFill/>
        </p:spPr>
        <p:txBody>
          <a:bodyPr wrap="square">
            <a:spAutoFit/>
          </a:bodyPr>
          <a:lstStyle/>
          <a:p>
            <a:pPr algn="ctr"/>
            <a:r>
              <a:rPr sz="1400" b="1">
                <a:solidFill>
                  <a:srgbClr val="C0392B"/>
                </a:solidFill>
                <a:latin typeface="Calibri"/>
              </a:rPr>
              <a:t>Trial data must stay
in Singapore</a:t>
            </a:r>
          </a:p>
        </p:txBody>
      </p:sp>
      <p:sp>
        <p:nvSpPr>
          <p:cNvPr id="15" name="Rounded Rectangle 14"/>
          <p:cNvSpPr/>
          <p:nvPr/>
        </p:nvSpPr>
        <p:spPr>
          <a:xfrm>
            <a:off x="8107527" y="1554480"/>
            <a:ext cx="3474720" cy="3200400"/>
          </a:xfrm>
          <a:prstGeom prst="roundRect">
            <a:avLst>
              <a:gd name="adj" fmla="val 6000"/>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7527" y="1920240"/>
            <a:ext cx="3474720" cy="914400"/>
          </a:xfrm>
          <a:prstGeom prst="rect">
            <a:avLst/>
          </a:prstGeom>
          <a:noFill/>
        </p:spPr>
        <p:txBody>
          <a:bodyPr wrap="none">
            <a:spAutoFit/>
          </a:bodyPr>
          <a:lstStyle/>
          <a:p>
            <a:pPr algn="ctr"/>
            <a:r>
              <a:rPr sz="5600">
                <a:latin typeface="Segoe UI Emoji"/>
              </a:rPr>
              <a:t>📅</a:t>
            </a:r>
          </a:p>
        </p:txBody>
      </p:sp>
      <p:sp>
        <p:nvSpPr>
          <p:cNvPr id="17" name="TextBox 16"/>
          <p:cNvSpPr txBox="1"/>
          <p:nvPr/>
        </p:nvSpPr>
        <p:spPr>
          <a:xfrm>
            <a:off x="8107527" y="3017520"/>
            <a:ext cx="3474720" cy="457200"/>
          </a:xfrm>
          <a:prstGeom prst="rect">
            <a:avLst/>
          </a:prstGeom>
          <a:noFill/>
        </p:spPr>
        <p:txBody>
          <a:bodyPr wrap="none">
            <a:spAutoFit/>
          </a:bodyPr>
          <a:lstStyle/>
          <a:p>
            <a:pPr algn="ctr"/>
            <a:r>
              <a:rPr sz="2200" b="1">
                <a:solidFill>
                  <a:srgbClr val="2C3E50"/>
                </a:solidFill>
                <a:latin typeface="Calibri"/>
              </a:rPr>
              <a:t>Freshness</a:t>
            </a:r>
          </a:p>
        </p:txBody>
      </p:sp>
      <p:sp>
        <p:nvSpPr>
          <p:cNvPr id="18" name="TextBox 17"/>
          <p:cNvSpPr txBox="1"/>
          <p:nvPr/>
        </p:nvSpPr>
        <p:spPr>
          <a:xfrm>
            <a:off x="8290407" y="3657600"/>
            <a:ext cx="3108960" cy="1005840"/>
          </a:xfrm>
          <a:prstGeom prst="rect">
            <a:avLst/>
          </a:prstGeom>
          <a:noFill/>
        </p:spPr>
        <p:txBody>
          <a:bodyPr wrap="square">
            <a:spAutoFit/>
          </a:bodyPr>
          <a:lstStyle/>
          <a:p>
            <a:pPr algn="ctr"/>
            <a:r>
              <a:rPr sz="1400" b="0">
                <a:solidFill>
                  <a:srgbClr val="2C3E50"/>
                </a:solidFill>
                <a:latin typeface="Calibri"/>
              </a:rPr>
              <a:t>WHO monthly,
ICD-11 daily updates</a:t>
            </a:r>
          </a:p>
        </p:txBody>
      </p:sp>
      <p:sp>
        <p:nvSpPr>
          <p:cNvPr id="19" name="TextBox 18"/>
          <p:cNvSpPr txBox="1"/>
          <p:nvPr/>
        </p:nvSpPr>
        <p:spPr>
          <a:xfrm>
            <a:off x="3840480" y="4937760"/>
            <a:ext cx="4572000" cy="457200"/>
          </a:xfrm>
          <a:prstGeom prst="rect">
            <a:avLst/>
          </a:prstGeom>
          <a:noFill/>
        </p:spPr>
        <p:txBody>
          <a:bodyPr wrap="none">
            <a:spAutoFit/>
          </a:bodyPr>
          <a:lstStyle/>
          <a:p>
            <a:pPr algn="ctr"/>
            <a:r>
              <a:rPr sz="1300" b="1" i="1">
                <a:solidFill>
                  <a:srgbClr val="C0392B"/>
                </a:solidFill>
                <a:latin typeface="Calibri"/>
              </a:rPr>
              <a:t>↑ Singapore healthcare regulation makes this non-negotiable</a:t>
            </a:r>
          </a:p>
        </p:txBody>
      </p:sp>
      <p:sp>
        <p:nvSpPr>
          <p:cNvPr id="20" name="Rounded Rectangle 19"/>
          <p:cNvSpPr/>
          <p:nvPr/>
        </p:nvSpPr>
        <p:spPr>
          <a:xfrm>
            <a:off x="914400" y="5486400"/>
            <a:ext cx="10332720" cy="77724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577840"/>
            <a:ext cx="9966960" cy="594360"/>
          </a:xfrm>
          <a:prstGeom prst="rect">
            <a:avLst/>
          </a:prstGeom>
          <a:noFill/>
        </p:spPr>
        <p:txBody>
          <a:bodyPr wrap="square">
            <a:spAutoFit/>
          </a:bodyPr>
          <a:lstStyle/>
          <a:p>
            <a:pPr algn="ctr"/>
            <a:r>
              <a:rPr sz="1300" b="1">
                <a:solidFill>
                  <a:srgbClr val="CC4F1F"/>
                </a:solidFill>
                <a:latin typeface="Calibri"/>
              </a:rPr>
              <a:t>Data sources: Internal trial PDFs · WHO API · ICD-11 · PubMed · EHR (FHIR R4)</a:t>
            </a:r>
          </a:p>
          <a:p>
            <a:pPr algn="ctr"/>
            <a:r>
              <a:rPr sz="1100" i="1">
                <a:solidFill>
                  <a:srgbClr val="646464"/>
                </a:solidFill>
                <a:latin typeface="Calibri"/>
              </a:rPr>
              <a:t>Workload: 600k calls per month at launch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Singapore Compliance &amp; Security: Built-In, Not Bolted-On</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72287" y="1280160"/>
            <a:ext cx="2743200" cy="3657600"/>
          </a:xfrm>
          <a:prstGeom prst="roundRect">
            <a:avLst>
              <a:gd name="adj" fmla="val 5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2287" y="1280160"/>
            <a:ext cx="2743200" cy="77724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287" y="1325880"/>
            <a:ext cx="2743200" cy="777240"/>
          </a:xfrm>
          <a:prstGeom prst="rect">
            <a:avLst/>
          </a:prstGeom>
          <a:noFill/>
        </p:spPr>
        <p:txBody>
          <a:bodyPr wrap="none">
            <a:spAutoFit/>
          </a:bodyPr>
          <a:lstStyle/>
          <a:p>
            <a:pPr algn="ctr"/>
            <a:r>
              <a:rPr sz="2000" b="1">
                <a:solidFill>
                  <a:srgbClr val="FFFFFF"/>
                </a:solidFill>
                <a:latin typeface="Calibri"/>
              </a:rPr>
              <a:t>PDPA</a:t>
            </a:r>
          </a:p>
          <a:p>
            <a:pPr algn="ctr"/>
            <a:r>
              <a:rPr sz="1000">
                <a:solidFill>
                  <a:srgbClr val="FFFFFF"/>
                </a:solidFill>
                <a:latin typeface="Calibri"/>
              </a:rPr>
              <a:t>Personal Data Protection Act</a:t>
            </a:r>
          </a:p>
        </p:txBody>
      </p:sp>
      <p:sp>
        <p:nvSpPr>
          <p:cNvPr id="10" name="TextBox 9"/>
          <p:cNvSpPr txBox="1"/>
          <p:nvPr/>
        </p:nvSpPr>
        <p:spPr>
          <a:xfrm>
            <a:off x="609447" y="2148840"/>
            <a:ext cx="2468880" cy="457200"/>
          </a:xfrm>
          <a:prstGeom prst="rect">
            <a:avLst/>
          </a:prstGeom>
          <a:noFill/>
        </p:spPr>
        <p:txBody>
          <a:bodyPr wrap="square">
            <a:spAutoFit/>
          </a:bodyPr>
          <a:lstStyle/>
          <a:p>
            <a:r>
              <a:rPr sz="900" b="1">
                <a:solidFill>
                  <a:srgbClr val="CC4F1F"/>
                </a:solidFill>
                <a:latin typeface="Calibri"/>
              </a:rPr>
              <a:t>Authority</a:t>
            </a:r>
          </a:p>
          <a:p>
            <a:r>
              <a:rPr sz="1100" b="1">
                <a:solidFill>
                  <a:srgbClr val="2C3E50"/>
                </a:solidFill>
                <a:latin typeface="Calibri"/>
              </a:rPr>
              <a:t>PDPC</a:t>
            </a:r>
          </a:p>
        </p:txBody>
      </p:sp>
      <p:sp>
        <p:nvSpPr>
          <p:cNvPr id="11" name="TextBox 10"/>
          <p:cNvSpPr txBox="1"/>
          <p:nvPr/>
        </p:nvSpPr>
        <p:spPr>
          <a:xfrm>
            <a:off x="609447" y="292608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Patient data protection, consent, breach notification within 72 hours</a:t>
            </a:r>
          </a:p>
        </p:txBody>
      </p:sp>
      <p:sp>
        <p:nvSpPr>
          <p:cNvPr id="12" name="TextBox 11"/>
          <p:cNvSpPr txBox="1"/>
          <p:nvPr/>
        </p:nvSpPr>
        <p:spPr>
          <a:xfrm>
            <a:off x="60944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Comprehend Medical PHI mask, KMS per-tenant CMK, audit trail</a:t>
            </a:r>
          </a:p>
        </p:txBody>
      </p:sp>
      <p:sp>
        <p:nvSpPr>
          <p:cNvPr id="13" name="Rounded Rectangle 12"/>
          <p:cNvSpPr/>
          <p:nvPr/>
        </p:nvSpPr>
        <p:spPr>
          <a:xfrm>
            <a:off x="3306927" y="1280160"/>
            <a:ext cx="2743200" cy="36576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06927" y="1280160"/>
            <a:ext cx="2743200" cy="777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06927" y="1325880"/>
            <a:ext cx="2743200" cy="777240"/>
          </a:xfrm>
          <a:prstGeom prst="rect">
            <a:avLst/>
          </a:prstGeom>
          <a:noFill/>
        </p:spPr>
        <p:txBody>
          <a:bodyPr wrap="none">
            <a:spAutoFit/>
          </a:bodyPr>
          <a:lstStyle/>
          <a:p>
            <a:pPr algn="ctr"/>
            <a:r>
              <a:rPr sz="2000" b="1">
                <a:solidFill>
                  <a:srgbClr val="FFFFFF"/>
                </a:solidFill>
                <a:latin typeface="Calibri"/>
              </a:rPr>
              <a:t>HCSA</a:t>
            </a:r>
          </a:p>
          <a:p>
            <a:pPr algn="ctr"/>
            <a:r>
              <a:rPr sz="1000">
                <a:solidFill>
                  <a:srgbClr val="FFFFFF"/>
                </a:solidFill>
                <a:latin typeface="Calibri"/>
              </a:rPr>
              <a:t>Healthcare Services Act 2020</a:t>
            </a:r>
          </a:p>
        </p:txBody>
      </p:sp>
      <p:sp>
        <p:nvSpPr>
          <p:cNvPr id="16" name="TextBox 15"/>
          <p:cNvSpPr txBox="1"/>
          <p:nvPr/>
        </p:nvSpPr>
        <p:spPr>
          <a:xfrm>
            <a:off x="3444087" y="2148840"/>
            <a:ext cx="2468880" cy="457200"/>
          </a:xfrm>
          <a:prstGeom prst="rect">
            <a:avLst/>
          </a:prstGeom>
          <a:noFill/>
        </p:spPr>
        <p:txBody>
          <a:bodyPr wrap="square">
            <a:spAutoFit/>
          </a:bodyPr>
          <a:lstStyle/>
          <a:p>
            <a:r>
              <a:rPr sz="900" b="1">
                <a:solidFill>
                  <a:srgbClr val="CC4F1F"/>
                </a:solidFill>
                <a:latin typeface="Calibri"/>
              </a:rPr>
              <a:t>Authority</a:t>
            </a:r>
          </a:p>
          <a:p>
            <a:r>
              <a:rPr sz="1100" b="1">
                <a:solidFill>
                  <a:srgbClr val="2C3E50"/>
                </a:solidFill>
                <a:latin typeface="Calibri"/>
              </a:rPr>
              <a:t>MOH</a:t>
            </a:r>
          </a:p>
        </p:txBody>
      </p:sp>
      <p:sp>
        <p:nvSpPr>
          <p:cNvPr id="17" name="TextBox 16"/>
          <p:cNvSpPr txBox="1"/>
          <p:nvPr/>
        </p:nvSpPr>
        <p:spPr>
          <a:xfrm>
            <a:off x="3444087" y="292608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Licensing for clinical decision support, replaces PHMC 1980</a:t>
            </a:r>
          </a:p>
        </p:txBody>
      </p:sp>
      <p:sp>
        <p:nvSpPr>
          <p:cNvPr id="18" name="TextBox 17"/>
          <p:cNvSpPr txBox="1"/>
          <p:nvPr/>
        </p:nvSpPr>
        <p:spPr>
          <a:xfrm>
            <a:off x="344408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Decision support only, human-in-the-loop, audit ready</a:t>
            </a:r>
          </a:p>
        </p:txBody>
      </p:sp>
      <p:sp>
        <p:nvSpPr>
          <p:cNvPr id="19" name="Rounded Rectangle 18"/>
          <p:cNvSpPr/>
          <p:nvPr/>
        </p:nvSpPr>
        <p:spPr>
          <a:xfrm>
            <a:off x="6141567" y="1280160"/>
            <a:ext cx="2743200" cy="3657600"/>
          </a:xfrm>
          <a:prstGeom prst="roundRect">
            <a:avLst>
              <a:gd name="adj" fmla="val 5000"/>
            </a:avLst>
          </a:prstGeom>
          <a:solidFill>
            <a:srgbClr val="FFFFFF"/>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1567" y="1280160"/>
            <a:ext cx="2743200" cy="77724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1567" y="1325880"/>
            <a:ext cx="2743200" cy="777240"/>
          </a:xfrm>
          <a:prstGeom prst="rect">
            <a:avLst/>
          </a:prstGeom>
          <a:noFill/>
        </p:spPr>
        <p:txBody>
          <a:bodyPr wrap="none">
            <a:spAutoFit/>
          </a:bodyPr>
          <a:lstStyle/>
          <a:p>
            <a:pPr algn="ctr"/>
            <a:r>
              <a:rPr sz="2000" b="1">
                <a:solidFill>
                  <a:srgbClr val="FFFFFF"/>
                </a:solidFill>
                <a:latin typeface="Calibri"/>
              </a:rPr>
              <a:t>Cyber Act</a:t>
            </a:r>
          </a:p>
          <a:p>
            <a:pPr algn="ctr"/>
            <a:r>
              <a:rPr sz="1000">
                <a:solidFill>
                  <a:srgbClr val="FFFFFF"/>
                </a:solidFill>
                <a:latin typeface="Calibri"/>
              </a:rPr>
              <a:t>Cybersecurity Act 2018 (CII)</a:t>
            </a:r>
          </a:p>
        </p:txBody>
      </p:sp>
      <p:sp>
        <p:nvSpPr>
          <p:cNvPr id="22" name="TextBox 21"/>
          <p:cNvSpPr txBox="1"/>
          <p:nvPr/>
        </p:nvSpPr>
        <p:spPr>
          <a:xfrm>
            <a:off x="6278727" y="2148840"/>
            <a:ext cx="2468880" cy="457200"/>
          </a:xfrm>
          <a:prstGeom prst="rect">
            <a:avLst/>
          </a:prstGeom>
          <a:noFill/>
        </p:spPr>
        <p:txBody>
          <a:bodyPr wrap="square">
            <a:spAutoFit/>
          </a:bodyPr>
          <a:lstStyle/>
          <a:p>
            <a:r>
              <a:rPr sz="900" b="1">
                <a:solidFill>
                  <a:srgbClr val="CC4F1F"/>
                </a:solidFill>
                <a:latin typeface="Calibri"/>
              </a:rPr>
              <a:t>Authority</a:t>
            </a:r>
          </a:p>
          <a:p>
            <a:r>
              <a:rPr sz="1100" b="1">
                <a:solidFill>
                  <a:srgbClr val="2C3E50"/>
                </a:solidFill>
                <a:latin typeface="Calibri"/>
              </a:rPr>
              <a:t>CSA</a:t>
            </a:r>
          </a:p>
        </p:txBody>
      </p:sp>
      <p:sp>
        <p:nvSpPr>
          <p:cNvPr id="23" name="TextBox 22"/>
          <p:cNvSpPr txBox="1"/>
          <p:nvPr/>
        </p:nvSpPr>
        <p:spPr>
          <a:xfrm>
            <a:off x="6278727" y="292608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Healthcare CII protection, incident reporting, security audits</a:t>
            </a:r>
          </a:p>
        </p:txBody>
      </p:sp>
      <p:sp>
        <p:nvSpPr>
          <p:cNvPr id="24" name="TextBox 23"/>
          <p:cNvSpPr txBox="1"/>
          <p:nvPr/>
        </p:nvSpPr>
        <p:spPr>
          <a:xfrm>
            <a:off x="627872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GuardDuty + Security Hub + Macie, Security Lake aggregation</a:t>
            </a:r>
          </a:p>
        </p:txBody>
      </p:sp>
      <p:sp>
        <p:nvSpPr>
          <p:cNvPr id="25" name="Rounded Rectangle 24"/>
          <p:cNvSpPr/>
          <p:nvPr/>
        </p:nvSpPr>
        <p:spPr>
          <a:xfrm>
            <a:off x="8976207" y="1280160"/>
            <a:ext cx="2743200" cy="3657600"/>
          </a:xfrm>
          <a:prstGeom prst="roundRect">
            <a:avLst>
              <a:gd name="adj" fmla="val 5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6207" y="1280160"/>
            <a:ext cx="2743200" cy="777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76207" y="1325880"/>
            <a:ext cx="2743200" cy="777240"/>
          </a:xfrm>
          <a:prstGeom prst="rect">
            <a:avLst/>
          </a:prstGeom>
          <a:noFill/>
        </p:spPr>
        <p:txBody>
          <a:bodyPr wrap="none">
            <a:spAutoFit/>
          </a:bodyPr>
          <a:lstStyle/>
          <a:p>
            <a:pPr algn="ctr"/>
            <a:r>
              <a:rPr sz="2000" b="1">
                <a:solidFill>
                  <a:srgbClr val="FFFFFF"/>
                </a:solidFill>
                <a:latin typeface="Calibri"/>
              </a:rPr>
              <a:t>AI Verify</a:t>
            </a:r>
          </a:p>
          <a:p>
            <a:pPr algn="ctr"/>
            <a:r>
              <a:rPr sz="1000">
                <a:solidFill>
                  <a:srgbClr val="FFFFFF"/>
                </a:solidFill>
                <a:latin typeface="Calibri"/>
              </a:rPr>
              <a:t>IMDA Responsible AI</a:t>
            </a:r>
          </a:p>
        </p:txBody>
      </p:sp>
      <p:sp>
        <p:nvSpPr>
          <p:cNvPr id="28" name="TextBox 27"/>
          <p:cNvSpPr txBox="1"/>
          <p:nvPr/>
        </p:nvSpPr>
        <p:spPr>
          <a:xfrm>
            <a:off x="9113367" y="2148840"/>
            <a:ext cx="2468880" cy="457200"/>
          </a:xfrm>
          <a:prstGeom prst="rect">
            <a:avLst/>
          </a:prstGeom>
          <a:noFill/>
        </p:spPr>
        <p:txBody>
          <a:bodyPr wrap="square">
            <a:spAutoFit/>
          </a:bodyPr>
          <a:lstStyle/>
          <a:p>
            <a:r>
              <a:rPr sz="900" b="1">
                <a:solidFill>
                  <a:srgbClr val="CC4F1F"/>
                </a:solidFill>
                <a:latin typeface="Calibri"/>
              </a:rPr>
              <a:t>Authority</a:t>
            </a:r>
          </a:p>
          <a:p>
            <a:r>
              <a:rPr sz="1100" b="1">
                <a:solidFill>
                  <a:srgbClr val="2C3E50"/>
                </a:solidFill>
                <a:latin typeface="Calibri"/>
              </a:rPr>
              <a:t>IMDA</a:t>
            </a:r>
          </a:p>
        </p:txBody>
      </p:sp>
      <p:sp>
        <p:nvSpPr>
          <p:cNvPr id="29" name="TextBox 28"/>
          <p:cNvSpPr txBox="1"/>
          <p:nvPr/>
        </p:nvSpPr>
        <p:spPr>
          <a:xfrm>
            <a:off x="9113367" y="2926080"/>
            <a:ext cx="2468880" cy="1005840"/>
          </a:xfrm>
          <a:prstGeom prst="rect">
            <a:avLst/>
          </a:prstGeom>
          <a:noFill/>
        </p:spPr>
        <p:txBody>
          <a:bodyPr wrap="square">
            <a:spAutoFit/>
          </a:bodyPr>
          <a:lstStyle/>
          <a:p>
            <a:r>
              <a:rPr sz="900" b="1">
                <a:solidFill>
                  <a:srgbClr val="CC4F1F"/>
                </a:solidFill>
                <a:latin typeface="Calibri"/>
              </a:rPr>
              <a:t>Scope</a:t>
            </a:r>
          </a:p>
          <a:p>
            <a:r>
              <a:rPr sz="1000">
                <a:solidFill>
                  <a:srgbClr val="2C3E50"/>
                </a:solidFill>
                <a:latin typeface="Calibri"/>
              </a:rPr>
              <a:t>Transparency, fairness, accountability for AI systems</a:t>
            </a:r>
          </a:p>
        </p:txBody>
      </p:sp>
      <p:sp>
        <p:nvSpPr>
          <p:cNvPr id="30" name="TextBox 29"/>
          <p:cNvSpPr txBox="1"/>
          <p:nvPr/>
        </p:nvSpPr>
        <p:spPr>
          <a:xfrm>
            <a:off x="9113367" y="4069080"/>
            <a:ext cx="2468880" cy="822960"/>
          </a:xfrm>
          <a:prstGeom prst="rect">
            <a:avLst/>
          </a:prstGeom>
          <a:noFill/>
        </p:spPr>
        <p:txBody>
          <a:bodyPr wrap="square">
            <a:spAutoFit/>
          </a:bodyPr>
          <a:lstStyle/>
          <a:p>
            <a:r>
              <a:rPr sz="900" b="1">
                <a:solidFill>
                  <a:srgbClr val="27AE60"/>
                </a:solidFill>
                <a:latin typeface="Calibri"/>
              </a:rPr>
              <a:t>Our Implementation</a:t>
            </a:r>
          </a:p>
          <a:p>
            <a:r>
              <a:rPr sz="1000">
                <a:solidFill>
                  <a:srgbClr val="2C3E50"/>
                </a:solidFill>
                <a:latin typeface="Calibri"/>
              </a:rPr>
              <a:t>chat_trace audit, citation validator, Bedrock Guardrails</a:t>
            </a:r>
          </a:p>
        </p:txBody>
      </p:sp>
      <p:sp>
        <p:nvSpPr>
          <p:cNvPr id="31" name="Rounded Rectangle 30"/>
          <p:cNvSpPr/>
          <p:nvPr/>
        </p:nvSpPr>
        <p:spPr>
          <a:xfrm>
            <a:off x="457200" y="5120640"/>
            <a:ext cx="11247120" cy="1005840"/>
          </a:xfrm>
          <a:prstGeom prst="roundRect">
            <a:avLst>
              <a:gd name="adj" fmla="val 10000"/>
            </a:avLst>
          </a:prstGeom>
          <a:solidFill>
            <a:srgbClr val="FFE8DA"/>
          </a:solidFill>
          <a:ln w="2540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212080"/>
            <a:ext cx="10881360" cy="822960"/>
          </a:xfrm>
          <a:prstGeom prst="rect">
            <a:avLst/>
          </a:prstGeom>
          <a:noFill/>
        </p:spPr>
        <p:txBody>
          <a:bodyPr wrap="square">
            <a:spAutoFit/>
          </a:bodyPr>
          <a:lstStyle/>
          <a:p>
            <a:pPr algn="ctr"/>
            <a:r>
              <a:rPr sz="1500" b="1">
                <a:solidFill>
                  <a:srgbClr val="CC4F1F"/>
                </a:solidFill>
                <a:latin typeface="Calibri"/>
              </a:rPr>
              <a:t>Data Residency Commitment</a:t>
            </a:r>
          </a:p>
          <a:p>
            <a:pPr algn="ctr"/>
            <a:r>
              <a:rPr sz="1200">
                <a:solidFill>
                  <a:srgbClr val="2C3E50"/>
                </a:solidFill>
                <a:latin typeface="Calibri"/>
              </a:rPr>
              <a:t>100% deployment in ap-southeast-1 (Singapore)  ·  Patient cleartext never leaves SG  ·  Cross-region: tokens only  ·  6-year audit retention via S3 Object Lock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Continuing the Challenge</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609447" y="1463040"/>
            <a:ext cx="5303520" cy="4114800"/>
          </a:xfrm>
          <a:prstGeom prst="roundRect">
            <a:avLst>
              <a:gd name="adj" fmla="val 4000"/>
            </a:avLst>
          </a:prstGeom>
          <a:solidFill>
            <a:srgbClr val="FFFFFF"/>
          </a:solidFill>
          <a:ln w="317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447" y="1463040"/>
            <a:ext cx="5303520" cy="6400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447" y="1463040"/>
            <a:ext cx="5303520" cy="640080"/>
          </a:xfrm>
          <a:prstGeom prst="rect">
            <a:avLst/>
          </a:prstGeom>
          <a:noFill/>
        </p:spPr>
        <p:txBody>
          <a:bodyPr wrap="none" anchor="ctr">
            <a:spAutoFit/>
          </a:bodyPr>
          <a:lstStyle/>
          <a:p>
            <a:pPr algn="ctr"/>
            <a:r>
              <a:rPr sz="2200" b="1">
                <a:solidFill>
                  <a:srgbClr val="FFFFFF"/>
                </a:solidFill>
                <a:latin typeface="Calibri"/>
              </a:rPr>
              <a:t>⚡  Speed</a:t>
            </a:r>
          </a:p>
        </p:txBody>
      </p:sp>
      <p:sp>
        <p:nvSpPr>
          <p:cNvPr id="10" name="TextBox 9"/>
          <p:cNvSpPr txBox="1"/>
          <p:nvPr/>
        </p:nvSpPr>
        <p:spPr>
          <a:xfrm>
            <a:off x="975207" y="2331720"/>
            <a:ext cx="4572000" cy="640080"/>
          </a:xfrm>
          <a:prstGeom prst="rect">
            <a:avLst/>
          </a:prstGeom>
          <a:noFill/>
        </p:spPr>
        <p:txBody>
          <a:bodyPr wrap="square">
            <a:spAutoFit/>
          </a:bodyPr>
          <a:lstStyle/>
          <a:p>
            <a:pPr algn="ctr"/>
            <a:r>
              <a:rPr sz="1800" b="1">
                <a:solidFill>
                  <a:srgbClr val="C0392B"/>
                </a:solidFill>
                <a:latin typeface="Calibri"/>
              </a:rPr>
              <a:t>Emergency response &lt; 2 seconds</a:t>
            </a:r>
          </a:p>
        </p:txBody>
      </p:sp>
      <p:sp>
        <p:nvSpPr>
          <p:cNvPr id="11" name="TextBox 10"/>
          <p:cNvSpPr txBox="1"/>
          <p:nvPr/>
        </p:nvSpPr>
        <p:spPr>
          <a:xfrm>
            <a:off x="1066647" y="3154680"/>
            <a:ext cx="4389120" cy="2286000"/>
          </a:xfrm>
          <a:prstGeom prst="rect">
            <a:avLst/>
          </a:prstGeom>
          <a:noFill/>
        </p:spPr>
        <p:txBody>
          <a:bodyPr wrap="square">
            <a:spAutoFit/>
          </a:bodyPr>
          <a:lstStyle/>
          <a:p>
            <a:pPr>
              <a:spcAft>
                <a:spcPts val="800"/>
              </a:spcAft>
            </a:pPr>
            <a:r>
              <a:rPr sz="1400" b="1">
                <a:solidFill>
                  <a:srgbClr val="C0392B"/>
                </a:solidFill>
                <a:latin typeface="Calibri"/>
              </a:rPr>
              <a:t>▸ </a:t>
            </a:r>
            <a:r>
              <a:rPr sz="1300">
                <a:solidFill>
                  <a:srgbClr val="2C3E50"/>
                </a:solidFill>
                <a:latin typeface="Calibri"/>
              </a:rPr>
              <a:t>Every second matters in acute care</a:t>
            </a:r>
          </a:p>
          <a:p>
            <a:pPr>
              <a:spcAft>
                <a:spcPts val="800"/>
              </a:spcAft>
            </a:pPr>
            <a:r>
              <a:rPr sz="1400" b="1">
                <a:solidFill>
                  <a:srgbClr val="C0392B"/>
                </a:solidFill>
                <a:latin typeface="Calibri"/>
              </a:rPr>
              <a:t>▸ </a:t>
            </a:r>
            <a:r>
              <a:rPr sz="1300">
                <a:solidFill>
                  <a:srgbClr val="2C3E50"/>
                </a:solidFill>
                <a:latin typeface="Calibri"/>
              </a:rPr>
              <a:t>Sepsis, STEMI, anaphylaxis decisions</a:t>
            </a:r>
          </a:p>
          <a:p>
            <a:pPr>
              <a:spcAft>
                <a:spcPts val="800"/>
              </a:spcAft>
            </a:pPr>
            <a:r>
              <a:rPr sz="1400" b="1">
                <a:solidFill>
                  <a:srgbClr val="C0392B"/>
                </a:solidFill>
                <a:latin typeface="Calibri"/>
              </a:rPr>
              <a:t>▸ </a:t>
            </a:r>
            <a:r>
              <a:rPr sz="1300">
                <a:solidFill>
                  <a:srgbClr val="2C3E50"/>
                </a:solidFill>
                <a:latin typeface="Calibri"/>
              </a:rPr>
              <a:t>TTFT (time to first token) is the key metric</a:t>
            </a:r>
          </a:p>
          <a:p>
            <a:pPr>
              <a:spcAft>
                <a:spcPts val="800"/>
              </a:spcAft>
            </a:pPr>
            <a:r>
              <a:rPr sz="1400" b="1">
                <a:solidFill>
                  <a:srgbClr val="C0392B"/>
                </a:solidFill>
                <a:latin typeface="Calibri"/>
              </a:rPr>
              <a:t>▸ </a:t>
            </a:r>
            <a:r>
              <a:rPr sz="1300">
                <a:solidFill>
                  <a:srgbClr val="2C3E50"/>
                </a:solidFill>
                <a:latin typeface="Calibri"/>
              </a:rPr>
              <a:t>Streaming response to perceive answer</a:t>
            </a:r>
          </a:p>
        </p:txBody>
      </p:sp>
      <p:sp>
        <p:nvSpPr>
          <p:cNvPr id="12" name="Rounded Rectangle 11"/>
          <p:cNvSpPr/>
          <p:nvPr/>
        </p:nvSpPr>
        <p:spPr>
          <a:xfrm>
            <a:off x="6278727" y="1463040"/>
            <a:ext cx="5303520" cy="4114800"/>
          </a:xfrm>
          <a:prstGeom prst="roundRect">
            <a:avLst>
              <a:gd name="adj" fmla="val 4000"/>
            </a:avLst>
          </a:prstGeom>
          <a:solidFill>
            <a:srgbClr val="FFFFFF"/>
          </a:solidFill>
          <a:ln w="3175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78727" y="1463040"/>
            <a:ext cx="5303520" cy="64008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8727" y="1463040"/>
            <a:ext cx="5303520" cy="640080"/>
          </a:xfrm>
          <a:prstGeom prst="rect">
            <a:avLst/>
          </a:prstGeom>
          <a:noFill/>
        </p:spPr>
        <p:txBody>
          <a:bodyPr wrap="none" anchor="ctr">
            <a:spAutoFit/>
          </a:bodyPr>
          <a:lstStyle/>
          <a:p>
            <a:pPr algn="ctr"/>
            <a:r>
              <a:rPr sz="2200" b="1">
                <a:solidFill>
                  <a:srgbClr val="FFFFFF"/>
                </a:solidFill>
                <a:latin typeface="Calibri"/>
              </a:rPr>
              <a:t>📅  Freshness</a:t>
            </a:r>
          </a:p>
        </p:txBody>
      </p:sp>
      <p:sp>
        <p:nvSpPr>
          <p:cNvPr id="15" name="TextBox 14"/>
          <p:cNvSpPr txBox="1"/>
          <p:nvPr/>
        </p:nvSpPr>
        <p:spPr>
          <a:xfrm>
            <a:off x="6644487" y="2331720"/>
            <a:ext cx="4572000" cy="640080"/>
          </a:xfrm>
          <a:prstGeom prst="rect">
            <a:avLst/>
          </a:prstGeom>
          <a:noFill/>
        </p:spPr>
        <p:txBody>
          <a:bodyPr wrap="square">
            <a:spAutoFit/>
          </a:bodyPr>
          <a:lstStyle/>
          <a:p>
            <a:pPr algn="ctr"/>
            <a:r>
              <a:rPr sz="1800" b="1">
                <a:solidFill>
                  <a:srgbClr val="CC4F1F"/>
                </a:solidFill>
                <a:latin typeface="Calibri"/>
              </a:rPr>
              <a:t>WHO monthly · ICD-11 daily updates</a:t>
            </a:r>
          </a:p>
        </p:txBody>
      </p:sp>
      <p:sp>
        <p:nvSpPr>
          <p:cNvPr id="16" name="TextBox 15"/>
          <p:cNvSpPr txBox="1"/>
          <p:nvPr/>
        </p:nvSpPr>
        <p:spPr>
          <a:xfrm>
            <a:off x="6735927" y="3154680"/>
            <a:ext cx="4389120" cy="2286000"/>
          </a:xfrm>
          <a:prstGeom prst="rect">
            <a:avLst/>
          </a:prstGeom>
          <a:noFill/>
        </p:spPr>
        <p:txBody>
          <a:bodyPr wrap="square">
            <a:spAutoFit/>
          </a:bodyPr>
          <a:lstStyle/>
          <a:p>
            <a:pPr>
              <a:spcAft>
                <a:spcPts val="800"/>
              </a:spcAft>
            </a:pPr>
            <a:r>
              <a:rPr sz="1400" b="1">
                <a:solidFill>
                  <a:srgbClr val="CC4F1F"/>
                </a:solidFill>
                <a:latin typeface="Calibri"/>
              </a:rPr>
              <a:t>▸ </a:t>
            </a:r>
            <a:r>
              <a:rPr sz="1300">
                <a:solidFill>
                  <a:srgbClr val="2C3E50"/>
                </a:solidFill>
                <a:latin typeface="Calibri"/>
              </a:rPr>
              <a:t>WHO publishes guideline revisions every month</a:t>
            </a:r>
          </a:p>
          <a:p>
            <a:pPr>
              <a:spcAft>
                <a:spcPts val="800"/>
              </a:spcAft>
            </a:pPr>
            <a:r>
              <a:rPr sz="1400" b="1">
                <a:solidFill>
                  <a:srgbClr val="CC4F1F"/>
                </a:solidFill>
                <a:latin typeface="Calibri"/>
              </a:rPr>
              <a:t>▸ </a:t>
            </a:r>
            <a:r>
              <a:rPr sz="1300">
                <a:solidFill>
                  <a:srgbClr val="2C3E50"/>
                </a:solidFill>
                <a:latin typeface="Calibri"/>
              </a:rPr>
              <a:t>ICD-11 catalog refreshes on its own cadence</a:t>
            </a:r>
          </a:p>
          <a:p>
            <a:pPr>
              <a:spcAft>
                <a:spcPts val="800"/>
              </a:spcAft>
            </a:pPr>
            <a:r>
              <a:rPr sz="1400" b="1">
                <a:solidFill>
                  <a:srgbClr val="CC4F1F"/>
                </a:solidFill>
                <a:latin typeface="Calibri"/>
              </a:rPr>
              <a:t>▸ </a:t>
            </a:r>
            <a:r>
              <a:rPr sz="1300">
                <a:solidFill>
                  <a:srgbClr val="2C3E50"/>
                </a:solidFill>
                <a:latin typeface="Calibri"/>
              </a:rPr>
              <a:t>Internal trial PDFs uploaded ad hoc</a:t>
            </a:r>
          </a:p>
          <a:p>
            <a:pPr>
              <a:spcAft>
                <a:spcPts val="800"/>
              </a:spcAft>
            </a:pPr>
            <a:r>
              <a:rPr sz="1400" b="1">
                <a:solidFill>
                  <a:srgbClr val="CC4F1F"/>
                </a:solidFill>
                <a:latin typeface="Calibri"/>
              </a:rPr>
              <a:t>▸ </a:t>
            </a:r>
            <a:r>
              <a:rPr sz="1300">
                <a:solidFill>
                  <a:srgbClr val="2C3E50"/>
                </a:solidFill>
                <a:latin typeface="Calibri"/>
              </a:rPr>
              <a:t>Auto-sync with versioning, no manual touch</a:t>
            </a:r>
          </a:p>
        </p:txBody>
      </p:sp>
      <p:sp>
        <p:nvSpPr>
          <p:cNvPr id="17" name="Rounded Rectangle 16"/>
          <p:cNvSpPr/>
          <p:nvPr/>
        </p:nvSpPr>
        <p:spPr>
          <a:xfrm>
            <a:off x="914400" y="5852160"/>
            <a:ext cx="10332720" cy="54864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943600"/>
            <a:ext cx="9966960" cy="411480"/>
          </a:xfrm>
          <a:prstGeom prst="rect">
            <a:avLst/>
          </a:prstGeom>
          <a:noFill/>
        </p:spPr>
        <p:txBody>
          <a:bodyPr wrap="square">
            <a:spAutoFit/>
          </a:bodyPr>
          <a:lstStyle/>
          <a:p>
            <a:pPr algn="ctr"/>
            <a:r>
              <a:rPr sz="1200" i="1">
                <a:solidFill>
                  <a:srgbClr val="CC4F1F"/>
                </a:solidFill>
                <a:latin typeface="Calibri"/>
              </a:rPr>
              <a:t>Plus: consistent clinical tone across answers · legacy PDFs with inconsistent tagging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Solution: Two-Lane Architecture</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457200" y="1280160"/>
            <a:ext cx="5486400" cy="2468880"/>
          </a:xfrm>
          <a:prstGeom prst="roundRect">
            <a:avLst>
              <a:gd name="adj" fmla="val 4000"/>
            </a:avLst>
          </a:prstGeom>
          <a:solidFill>
            <a:srgbClr val="FFFFFF"/>
          </a:solidFill>
          <a:ln w="317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4864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80160"/>
            <a:ext cx="5486400" cy="502920"/>
          </a:xfrm>
          <a:prstGeom prst="rect">
            <a:avLst/>
          </a:prstGeom>
          <a:noFill/>
        </p:spPr>
        <p:txBody>
          <a:bodyPr wrap="none" anchor="ctr">
            <a:spAutoFit/>
          </a:bodyPr>
          <a:lstStyle/>
          <a:p>
            <a:pPr algn="ctr"/>
            <a:r>
              <a:rPr sz="1600" b="1">
                <a:solidFill>
                  <a:srgbClr val="FFFFFF"/>
                </a:solidFill>
                <a:latin typeface="Calibri"/>
              </a:rPr>
              <a:t>EMERGENCY LANE  ·  PoC TTFT 2.5s</a:t>
            </a:r>
          </a:p>
        </p:txBody>
      </p:sp>
      <p:sp>
        <p:nvSpPr>
          <p:cNvPr id="10" name="TextBox 9"/>
          <p:cNvSpPr txBox="1"/>
          <p:nvPr/>
        </p:nvSpPr>
        <p:spPr>
          <a:xfrm>
            <a:off x="731520" y="1920240"/>
            <a:ext cx="5029200" cy="1737360"/>
          </a:xfrm>
          <a:prstGeom prst="rect">
            <a:avLst/>
          </a:prstGeom>
          <a:noFill/>
        </p:spPr>
        <p:txBody>
          <a:bodyPr wrap="square">
            <a:spAutoFit/>
          </a:bodyPr>
          <a:lstStyle/>
          <a:p>
            <a:pPr>
              <a:spcAft>
                <a:spcPts val="400"/>
              </a:spcAft>
            </a:pPr>
            <a:r>
              <a:rPr sz="1300">
                <a:solidFill>
                  <a:srgbClr val="2C3E50"/>
                </a:solidFill>
                <a:latin typeface="Calibri"/>
              </a:rPr>
              <a:t>▸  Claude Haiku 4.5 (fast model)</a:t>
            </a:r>
          </a:p>
          <a:p>
            <a:pPr>
              <a:spcAft>
                <a:spcPts val="400"/>
              </a:spcAft>
            </a:pPr>
            <a:r>
              <a:rPr sz="1300">
                <a:solidFill>
                  <a:srgbClr val="2C3E50"/>
                </a:solidFill>
                <a:latin typeface="Calibri"/>
              </a:rPr>
              <a:t>▸  Vector top-3 + GraphRAG top-2</a:t>
            </a:r>
          </a:p>
          <a:p>
            <a:pPr>
              <a:spcAft>
                <a:spcPts val="400"/>
              </a:spcAft>
            </a:pPr>
            <a:r>
              <a:rPr sz="1300">
                <a:solidFill>
                  <a:srgbClr val="2C3E50"/>
                </a:solidFill>
                <a:latin typeface="Calibri"/>
              </a:rPr>
              <a:t>▸  No router (direct emergency agent)</a:t>
            </a:r>
          </a:p>
          <a:p>
            <a:pPr>
              <a:spcAft>
                <a:spcPts val="400"/>
              </a:spcAft>
            </a:pPr>
            <a:r>
              <a:rPr sz="1300">
                <a:solidFill>
                  <a:srgbClr val="2C3E50"/>
                </a:solidFill>
                <a:latin typeface="Calibri"/>
              </a:rPr>
              <a:t>▸  No guardrails (speed priority)</a:t>
            </a:r>
          </a:p>
          <a:p>
            <a:pPr>
              <a:spcAft>
                <a:spcPts val="400"/>
              </a:spcAft>
            </a:pPr>
            <a:r>
              <a:rPr sz="1300">
                <a:solidFill>
                  <a:srgbClr val="2C3E50"/>
                </a:solidFill>
                <a:latin typeface="Calibri"/>
              </a:rPr>
              <a:t>▸  Streaming SSE, max 300 tokens</a:t>
            </a:r>
          </a:p>
        </p:txBody>
      </p:sp>
      <p:sp>
        <p:nvSpPr>
          <p:cNvPr id="11" name="Rounded Rectangle 10"/>
          <p:cNvSpPr/>
          <p:nvPr/>
        </p:nvSpPr>
        <p:spPr>
          <a:xfrm>
            <a:off x="6217920" y="1280160"/>
            <a:ext cx="5486400" cy="2468880"/>
          </a:xfrm>
          <a:prstGeom prst="roundRect">
            <a:avLst>
              <a:gd name="adj" fmla="val 4000"/>
            </a:avLst>
          </a:prstGeom>
          <a:solidFill>
            <a:srgbClr val="FFFFFF"/>
          </a:solidFill>
          <a:ln w="31750">
            <a:solidFill>
              <a:srgbClr val="CC4F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80160"/>
            <a:ext cx="5486400" cy="502920"/>
          </a:xfrm>
          <a:prstGeom prst="rect">
            <a:avLst/>
          </a:prstGeom>
          <a:solidFill>
            <a:srgbClr val="CC4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280160"/>
            <a:ext cx="5486400" cy="502920"/>
          </a:xfrm>
          <a:prstGeom prst="rect">
            <a:avLst/>
          </a:prstGeom>
          <a:noFill/>
        </p:spPr>
        <p:txBody>
          <a:bodyPr wrap="none" anchor="ctr">
            <a:spAutoFit/>
          </a:bodyPr>
          <a:lstStyle/>
          <a:p>
            <a:pPr algn="ctr"/>
            <a:r>
              <a:rPr sz="1600" b="1">
                <a:solidFill>
                  <a:srgbClr val="FFFFFF"/>
                </a:solidFill>
                <a:latin typeface="Calibri"/>
              </a:rPr>
              <a:t>COMPLEX LANE  ·  PoC TTFT 9.7s</a:t>
            </a:r>
          </a:p>
        </p:txBody>
      </p:sp>
      <p:sp>
        <p:nvSpPr>
          <p:cNvPr id="14" name="TextBox 13"/>
          <p:cNvSpPr txBox="1"/>
          <p:nvPr/>
        </p:nvSpPr>
        <p:spPr>
          <a:xfrm>
            <a:off x="6492240" y="1920240"/>
            <a:ext cx="5029200" cy="1737360"/>
          </a:xfrm>
          <a:prstGeom prst="rect">
            <a:avLst/>
          </a:prstGeom>
          <a:noFill/>
        </p:spPr>
        <p:txBody>
          <a:bodyPr wrap="square">
            <a:spAutoFit/>
          </a:bodyPr>
          <a:lstStyle/>
          <a:p>
            <a:pPr>
              <a:spcAft>
                <a:spcPts val="400"/>
              </a:spcAft>
            </a:pPr>
            <a:r>
              <a:rPr sz="1300">
                <a:solidFill>
                  <a:srgbClr val="2C3E50"/>
                </a:solidFill>
                <a:latin typeface="Calibri"/>
              </a:rPr>
              <a:t>▸  Claude Sonnet 4.5 (deep reasoning)</a:t>
            </a:r>
          </a:p>
          <a:p>
            <a:pPr>
              <a:spcAft>
                <a:spcPts val="400"/>
              </a:spcAft>
            </a:pPr>
            <a:r>
              <a:rPr sz="1300">
                <a:solidFill>
                  <a:srgbClr val="2C3E50"/>
                </a:solidFill>
                <a:latin typeface="Calibri"/>
              </a:rPr>
              <a:t>▸  Vector top-15 + GraphRAG top-3</a:t>
            </a:r>
          </a:p>
          <a:p>
            <a:pPr>
              <a:spcAft>
                <a:spcPts val="400"/>
              </a:spcAft>
            </a:pPr>
            <a:r>
              <a:rPr sz="1300">
                <a:solidFill>
                  <a:srgbClr val="2C3E50"/>
                </a:solidFill>
                <a:latin typeface="Calibri"/>
              </a:rPr>
              <a:t>▸  Nova Micro routes to 12 departments</a:t>
            </a:r>
          </a:p>
          <a:p>
            <a:pPr>
              <a:spcAft>
                <a:spcPts val="400"/>
              </a:spcAft>
            </a:pPr>
            <a:r>
              <a:rPr sz="1300">
                <a:solidFill>
                  <a:srgbClr val="2C3E50"/>
                </a:solidFill>
                <a:latin typeface="Calibri"/>
              </a:rPr>
              <a:t>▸  Bedrock Guardrails enabled</a:t>
            </a:r>
          </a:p>
          <a:p>
            <a:pPr>
              <a:spcAft>
                <a:spcPts val="400"/>
              </a:spcAft>
            </a:pPr>
            <a:r>
              <a:rPr sz="1300">
                <a:solidFill>
                  <a:srgbClr val="2C3E50"/>
                </a:solidFill>
                <a:latin typeface="Calibri"/>
              </a:rPr>
              <a:t>▸  Streaming SSE, max 1500 tokens</a:t>
            </a:r>
          </a:p>
        </p:txBody>
      </p:sp>
      <p:sp>
        <p:nvSpPr>
          <p:cNvPr id="15" name="Rounded Rectangle 14"/>
          <p:cNvSpPr/>
          <p:nvPr/>
        </p:nvSpPr>
        <p:spPr>
          <a:xfrm>
            <a:off x="457200" y="3931920"/>
            <a:ext cx="11247120" cy="1828800"/>
          </a:xfrm>
          <a:prstGeom prst="roundRect">
            <a:avLst>
              <a:gd name="adj" fmla="val 5000"/>
            </a:avLst>
          </a:prstGeom>
          <a:solidFill>
            <a:srgbClr val="FFE8DA"/>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23360"/>
            <a:ext cx="10881360" cy="365760"/>
          </a:xfrm>
          <a:prstGeom prst="rect">
            <a:avLst/>
          </a:prstGeom>
          <a:noFill/>
        </p:spPr>
        <p:txBody>
          <a:bodyPr wrap="none">
            <a:spAutoFit/>
          </a:bodyPr>
          <a:lstStyle/>
          <a:p>
            <a:pPr algn="ctr"/>
            <a:r>
              <a:rPr sz="1500" b="1">
                <a:solidFill>
                  <a:srgbClr val="CC4F1F"/>
                </a:solidFill>
                <a:latin typeface="Calibri"/>
              </a:rPr>
              <a:t>Shared Infrastructure (100% Singapore-Native, ap-southeast-1)</a:t>
            </a:r>
          </a:p>
        </p:txBody>
      </p:sp>
      <p:sp>
        <p:nvSpPr>
          <p:cNvPr id="17" name="TextBox 16"/>
          <p:cNvSpPr txBox="1"/>
          <p:nvPr/>
        </p:nvSpPr>
        <p:spPr>
          <a:xfrm>
            <a:off x="640080" y="4434840"/>
            <a:ext cx="10881360" cy="457200"/>
          </a:xfrm>
          <a:prstGeom prst="rect">
            <a:avLst/>
          </a:prstGeom>
          <a:noFill/>
        </p:spPr>
        <p:txBody>
          <a:bodyPr wrap="square">
            <a:spAutoFit/>
          </a:bodyPr>
          <a:lstStyle/>
          <a:p>
            <a:pPr algn="ctr"/>
            <a:r>
              <a:rPr sz="1200">
                <a:solidFill>
                  <a:srgbClr val="2C3E50"/>
                </a:solidFill>
                <a:latin typeface="Calibri"/>
              </a:rPr>
              <a:t>OpenSearch Serverless · Neptune Analytics · Cohere Embed v3 · Bedrock KB · Bedrock Guardrails</a:t>
            </a:r>
          </a:p>
        </p:txBody>
      </p:sp>
      <p:sp>
        <p:nvSpPr>
          <p:cNvPr id="18" name="TextBox 17"/>
          <p:cNvSpPr txBox="1"/>
          <p:nvPr/>
        </p:nvSpPr>
        <p:spPr>
          <a:xfrm>
            <a:off x="640080" y="4800600"/>
            <a:ext cx="10881360" cy="457200"/>
          </a:xfrm>
          <a:prstGeom prst="rect">
            <a:avLst/>
          </a:prstGeom>
          <a:noFill/>
        </p:spPr>
        <p:txBody>
          <a:bodyPr wrap="square">
            <a:spAutoFit/>
          </a:bodyPr>
          <a:lstStyle/>
          <a:p>
            <a:pPr algn="ctr"/>
            <a:r>
              <a:rPr sz="1200">
                <a:solidFill>
                  <a:srgbClr val="2C3E50"/>
                </a:solidFill>
                <a:latin typeface="Calibri"/>
              </a:rPr>
              <a:t>Comprehend Medical (PHI mask) · ElastiCache Redis (semantic cache) · CloudFront + WAF · Cognito + Entra ID</a:t>
            </a:r>
          </a:p>
        </p:txBody>
      </p:sp>
      <p:sp>
        <p:nvSpPr>
          <p:cNvPr id="19" name="TextBox 18"/>
          <p:cNvSpPr txBox="1"/>
          <p:nvPr/>
        </p:nvSpPr>
        <p:spPr>
          <a:xfrm>
            <a:off x="640080" y="5257800"/>
            <a:ext cx="10881360" cy="365760"/>
          </a:xfrm>
          <a:prstGeom prst="rect">
            <a:avLst/>
          </a:prstGeom>
          <a:noFill/>
        </p:spPr>
        <p:txBody>
          <a:bodyPr wrap="none">
            <a:spAutoFit/>
          </a:bodyPr>
          <a:lstStyle/>
          <a:p>
            <a:pPr algn="ctr"/>
            <a:r>
              <a:rPr sz="1100" i="1">
                <a:solidFill>
                  <a:srgbClr val="CC4F1F"/>
                </a:solidFill>
                <a:latin typeface="Calibri"/>
              </a:rPr>
              <a:t>📐  Full architecture diagram: docs/architecture/diagrams/proposal/01_high_level.svg</a:t>
            </a:r>
          </a:p>
        </p:txBody>
      </p:sp>
      <p:sp>
        <p:nvSpPr>
          <p:cNvPr id="20" name="TextBox 19"/>
          <p:cNvSpPr txBox="1"/>
          <p:nvPr/>
        </p:nvSpPr>
        <p:spPr>
          <a:xfrm>
            <a:off x="457200" y="5943600"/>
            <a:ext cx="11247120" cy="365760"/>
          </a:xfrm>
          <a:prstGeom prst="rect">
            <a:avLst/>
          </a:prstGeom>
          <a:noFill/>
        </p:spPr>
        <p:txBody>
          <a:bodyPr wrap="none">
            <a:spAutoFit/>
          </a:bodyPr>
          <a:lstStyle/>
          <a:p>
            <a:pPr algn="ctr"/>
            <a:r>
              <a:rPr sz="1300" b="1">
                <a:solidFill>
                  <a:srgbClr val="27AE60"/>
                </a:solidFill>
                <a:latin typeface="Calibri"/>
              </a:rPr>
              <a:t>PoC live at http://47.130.120.152/ui/index.html  ·  100% SLA pass on 20 test questions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PoC Results &amp; Cost</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Rounded Rectangle 6"/>
          <p:cNvSpPr/>
          <p:nvPr/>
        </p:nvSpPr>
        <p:spPr>
          <a:xfrm>
            <a:off x="60944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1371600"/>
            <a:ext cx="2606040" cy="274320"/>
          </a:xfrm>
          <a:prstGeom prst="rect">
            <a:avLst/>
          </a:prstGeom>
          <a:noFill/>
        </p:spPr>
        <p:txBody>
          <a:bodyPr wrap="none">
            <a:spAutoFit/>
          </a:bodyPr>
          <a:lstStyle/>
          <a:p>
            <a:pPr algn="ctr"/>
            <a:r>
              <a:rPr sz="1100">
                <a:solidFill>
                  <a:srgbClr val="646464"/>
                </a:solidFill>
                <a:latin typeface="Calibri"/>
              </a:rPr>
              <a:t>Emergency TTFT</a:t>
            </a:r>
          </a:p>
        </p:txBody>
      </p:sp>
      <p:sp>
        <p:nvSpPr>
          <p:cNvPr id="9" name="TextBox 8"/>
          <p:cNvSpPr txBox="1"/>
          <p:nvPr/>
        </p:nvSpPr>
        <p:spPr>
          <a:xfrm>
            <a:off x="609447" y="1600200"/>
            <a:ext cx="2606040" cy="594360"/>
          </a:xfrm>
          <a:prstGeom prst="rect">
            <a:avLst/>
          </a:prstGeom>
          <a:noFill/>
        </p:spPr>
        <p:txBody>
          <a:bodyPr wrap="none">
            <a:spAutoFit/>
          </a:bodyPr>
          <a:lstStyle/>
          <a:p>
            <a:pPr algn="ctr"/>
            <a:r>
              <a:rPr sz="3400" b="1">
                <a:solidFill>
                  <a:srgbClr val="CC4F1F"/>
                </a:solidFill>
                <a:latin typeface="Calibri"/>
              </a:rPr>
              <a:t>2.5s</a:t>
            </a:r>
          </a:p>
        </p:txBody>
      </p:sp>
      <p:sp>
        <p:nvSpPr>
          <p:cNvPr id="10" name="TextBox 9"/>
          <p:cNvSpPr txBox="1"/>
          <p:nvPr/>
        </p:nvSpPr>
        <p:spPr>
          <a:xfrm>
            <a:off x="609447" y="2194560"/>
            <a:ext cx="2606040" cy="320040"/>
          </a:xfrm>
          <a:prstGeom prst="rect">
            <a:avLst/>
          </a:prstGeom>
          <a:noFill/>
        </p:spPr>
        <p:txBody>
          <a:bodyPr wrap="none">
            <a:spAutoFit/>
          </a:bodyPr>
          <a:lstStyle/>
          <a:p>
            <a:pPr algn="ctr"/>
            <a:r>
              <a:rPr sz="1100" i="1">
                <a:solidFill>
                  <a:srgbClr val="2C3E50"/>
                </a:solidFill>
                <a:latin typeface="Calibri"/>
              </a:rPr>
              <a:t>Haiku 4.5 + dual KB</a:t>
            </a:r>
          </a:p>
        </p:txBody>
      </p:sp>
      <p:sp>
        <p:nvSpPr>
          <p:cNvPr id="11" name="Rounded Rectangle 10"/>
          <p:cNvSpPr/>
          <p:nvPr/>
        </p:nvSpPr>
        <p:spPr>
          <a:xfrm>
            <a:off x="339836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8367" y="1371600"/>
            <a:ext cx="2606040" cy="274320"/>
          </a:xfrm>
          <a:prstGeom prst="rect">
            <a:avLst/>
          </a:prstGeom>
          <a:noFill/>
        </p:spPr>
        <p:txBody>
          <a:bodyPr wrap="none">
            <a:spAutoFit/>
          </a:bodyPr>
          <a:lstStyle/>
          <a:p>
            <a:pPr algn="ctr"/>
            <a:r>
              <a:rPr sz="1100">
                <a:solidFill>
                  <a:srgbClr val="646464"/>
                </a:solidFill>
                <a:latin typeface="Calibri"/>
              </a:rPr>
              <a:t>Complex TTFT</a:t>
            </a:r>
          </a:p>
        </p:txBody>
      </p:sp>
      <p:sp>
        <p:nvSpPr>
          <p:cNvPr id="13" name="TextBox 12"/>
          <p:cNvSpPr txBox="1"/>
          <p:nvPr/>
        </p:nvSpPr>
        <p:spPr>
          <a:xfrm>
            <a:off x="3398367" y="1600200"/>
            <a:ext cx="2606040" cy="594360"/>
          </a:xfrm>
          <a:prstGeom prst="rect">
            <a:avLst/>
          </a:prstGeom>
          <a:noFill/>
        </p:spPr>
        <p:txBody>
          <a:bodyPr wrap="none">
            <a:spAutoFit/>
          </a:bodyPr>
          <a:lstStyle/>
          <a:p>
            <a:pPr algn="ctr"/>
            <a:r>
              <a:rPr sz="3400" b="1">
                <a:solidFill>
                  <a:srgbClr val="CC4F1F"/>
                </a:solidFill>
                <a:latin typeface="Calibri"/>
              </a:rPr>
              <a:t>9.7s</a:t>
            </a:r>
          </a:p>
        </p:txBody>
      </p:sp>
      <p:sp>
        <p:nvSpPr>
          <p:cNvPr id="14" name="TextBox 13"/>
          <p:cNvSpPr txBox="1"/>
          <p:nvPr/>
        </p:nvSpPr>
        <p:spPr>
          <a:xfrm>
            <a:off x="3398367" y="2194560"/>
            <a:ext cx="2606040" cy="320040"/>
          </a:xfrm>
          <a:prstGeom prst="rect">
            <a:avLst/>
          </a:prstGeom>
          <a:noFill/>
        </p:spPr>
        <p:txBody>
          <a:bodyPr wrap="none">
            <a:spAutoFit/>
          </a:bodyPr>
          <a:lstStyle/>
          <a:p>
            <a:pPr algn="ctr"/>
            <a:r>
              <a:rPr sz="1100" i="1">
                <a:solidFill>
                  <a:srgbClr val="2C3E50"/>
                </a:solidFill>
                <a:latin typeface="Calibri"/>
              </a:rPr>
              <a:t>Sonnet 4.5 + Guardrails</a:t>
            </a:r>
          </a:p>
        </p:txBody>
      </p:sp>
      <p:sp>
        <p:nvSpPr>
          <p:cNvPr id="15" name="Rounded Rectangle 14"/>
          <p:cNvSpPr/>
          <p:nvPr/>
        </p:nvSpPr>
        <p:spPr>
          <a:xfrm>
            <a:off x="618728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7287" y="1371600"/>
            <a:ext cx="2606040" cy="274320"/>
          </a:xfrm>
          <a:prstGeom prst="rect">
            <a:avLst/>
          </a:prstGeom>
          <a:noFill/>
        </p:spPr>
        <p:txBody>
          <a:bodyPr wrap="none">
            <a:spAutoFit/>
          </a:bodyPr>
          <a:lstStyle/>
          <a:p>
            <a:pPr algn="ctr"/>
            <a:r>
              <a:rPr sz="1100">
                <a:solidFill>
                  <a:srgbClr val="646464"/>
                </a:solidFill>
                <a:latin typeface="Calibri"/>
              </a:rPr>
              <a:t>Answer Rate</a:t>
            </a:r>
          </a:p>
        </p:txBody>
      </p:sp>
      <p:sp>
        <p:nvSpPr>
          <p:cNvPr id="17" name="TextBox 16"/>
          <p:cNvSpPr txBox="1"/>
          <p:nvPr/>
        </p:nvSpPr>
        <p:spPr>
          <a:xfrm>
            <a:off x="6187287" y="1600200"/>
            <a:ext cx="2606040" cy="594360"/>
          </a:xfrm>
          <a:prstGeom prst="rect">
            <a:avLst/>
          </a:prstGeom>
          <a:noFill/>
        </p:spPr>
        <p:txBody>
          <a:bodyPr wrap="none">
            <a:spAutoFit/>
          </a:bodyPr>
          <a:lstStyle/>
          <a:p>
            <a:pPr algn="ctr"/>
            <a:r>
              <a:rPr sz="3400" b="1">
                <a:solidFill>
                  <a:srgbClr val="CC4F1F"/>
                </a:solidFill>
                <a:latin typeface="Calibri"/>
              </a:rPr>
              <a:t>100%</a:t>
            </a:r>
          </a:p>
        </p:txBody>
      </p:sp>
      <p:sp>
        <p:nvSpPr>
          <p:cNvPr id="18" name="TextBox 17"/>
          <p:cNvSpPr txBox="1"/>
          <p:nvPr/>
        </p:nvSpPr>
        <p:spPr>
          <a:xfrm>
            <a:off x="6187287" y="2194560"/>
            <a:ext cx="2606040" cy="320040"/>
          </a:xfrm>
          <a:prstGeom prst="rect">
            <a:avLst/>
          </a:prstGeom>
          <a:noFill/>
        </p:spPr>
        <p:txBody>
          <a:bodyPr wrap="none">
            <a:spAutoFit/>
          </a:bodyPr>
          <a:lstStyle/>
          <a:p>
            <a:pPr algn="ctr"/>
            <a:r>
              <a:rPr sz="1100" i="1">
                <a:solidFill>
                  <a:srgbClr val="2C3E50"/>
                </a:solidFill>
                <a:latin typeface="Calibri"/>
              </a:rPr>
              <a:t>All grounded with citations</a:t>
            </a:r>
          </a:p>
        </p:txBody>
      </p:sp>
      <p:sp>
        <p:nvSpPr>
          <p:cNvPr id="19" name="Rounded Rectangle 18"/>
          <p:cNvSpPr/>
          <p:nvPr/>
        </p:nvSpPr>
        <p:spPr>
          <a:xfrm>
            <a:off x="8976207" y="1280160"/>
            <a:ext cx="2606040" cy="1280160"/>
          </a:xfrm>
          <a:prstGeom prst="roundRect">
            <a:avLst>
              <a:gd name="adj" fmla="val 6000"/>
            </a:avLst>
          </a:prstGeom>
          <a:solidFill>
            <a:srgbClr val="FFFFFF"/>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6207" y="1371600"/>
            <a:ext cx="2606040" cy="274320"/>
          </a:xfrm>
          <a:prstGeom prst="rect">
            <a:avLst/>
          </a:prstGeom>
          <a:noFill/>
        </p:spPr>
        <p:txBody>
          <a:bodyPr wrap="none">
            <a:spAutoFit/>
          </a:bodyPr>
          <a:lstStyle/>
          <a:p>
            <a:pPr algn="ctr"/>
            <a:r>
              <a:rPr sz="1100">
                <a:solidFill>
                  <a:srgbClr val="646464"/>
                </a:solidFill>
                <a:latin typeface="Calibri"/>
              </a:rPr>
              <a:t>SLA Pass</a:t>
            </a:r>
          </a:p>
        </p:txBody>
      </p:sp>
      <p:sp>
        <p:nvSpPr>
          <p:cNvPr id="21" name="TextBox 20"/>
          <p:cNvSpPr txBox="1"/>
          <p:nvPr/>
        </p:nvSpPr>
        <p:spPr>
          <a:xfrm>
            <a:off x="8976207" y="1600200"/>
            <a:ext cx="2606040" cy="594360"/>
          </a:xfrm>
          <a:prstGeom prst="rect">
            <a:avLst/>
          </a:prstGeom>
          <a:noFill/>
        </p:spPr>
        <p:txBody>
          <a:bodyPr wrap="none">
            <a:spAutoFit/>
          </a:bodyPr>
          <a:lstStyle/>
          <a:p>
            <a:pPr algn="ctr"/>
            <a:r>
              <a:rPr sz="3400" b="1">
                <a:solidFill>
                  <a:srgbClr val="CC4F1F"/>
                </a:solidFill>
                <a:latin typeface="Calibri"/>
              </a:rPr>
              <a:t>100%</a:t>
            </a:r>
          </a:p>
        </p:txBody>
      </p:sp>
      <p:sp>
        <p:nvSpPr>
          <p:cNvPr id="22" name="TextBox 21"/>
          <p:cNvSpPr txBox="1"/>
          <p:nvPr/>
        </p:nvSpPr>
        <p:spPr>
          <a:xfrm>
            <a:off x="8976207" y="2194560"/>
            <a:ext cx="2606040" cy="320040"/>
          </a:xfrm>
          <a:prstGeom prst="rect">
            <a:avLst/>
          </a:prstGeom>
          <a:noFill/>
        </p:spPr>
        <p:txBody>
          <a:bodyPr wrap="none">
            <a:spAutoFit/>
          </a:bodyPr>
          <a:lstStyle/>
          <a:p>
            <a:pPr algn="ctr"/>
            <a:r>
              <a:rPr sz="1100" i="1">
                <a:solidFill>
                  <a:srgbClr val="2C3E50"/>
                </a:solidFill>
                <a:latin typeface="Calibri"/>
              </a:rPr>
              <a:t>20/20 test questions</a:t>
            </a:r>
          </a:p>
        </p:txBody>
      </p:sp>
      <p:sp>
        <p:nvSpPr>
          <p:cNvPr id="23" name="TextBox 22"/>
          <p:cNvSpPr txBox="1"/>
          <p:nvPr/>
        </p:nvSpPr>
        <p:spPr>
          <a:xfrm>
            <a:off x="457200" y="2834640"/>
            <a:ext cx="11247120" cy="365760"/>
          </a:xfrm>
          <a:prstGeom prst="rect">
            <a:avLst/>
          </a:prstGeom>
          <a:noFill/>
        </p:spPr>
        <p:txBody>
          <a:bodyPr wrap="none">
            <a:spAutoFit/>
          </a:bodyPr>
          <a:lstStyle/>
          <a:p>
            <a:r>
              <a:rPr sz="1500" b="1">
                <a:solidFill>
                  <a:srgbClr val="CC4F1F"/>
                </a:solidFill>
                <a:latin typeface="Calibri"/>
              </a:rPr>
              <a:t>Monthly Cost (600,000 calls per month, AWS Singapore list price)</a:t>
            </a:r>
          </a:p>
        </p:txBody>
      </p:sp>
      <p:graphicFrame>
        <p:nvGraphicFramePr>
          <p:cNvPr id="24" name="Table 23"/>
          <p:cNvGraphicFramePr>
            <a:graphicFrameLocks noGrp="1"/>
          </p:cNvGraphicFramePr>
          <p:nvPr/>
        </p:nvGraphicFramePr>
        <p:xfrm>
          <a:off x="457200" y="3291840"/>
          <a:ext cx="11247120" cy="2468880"/>
        </p:xfrm>
        <a:graphic>
          <a:graphicData uri="http://schemas.openxmlformats.org/drawingml/2006/table">
            <a:tbl>
              <a:tblPr firstRow="1" bandRow="1">
                <a:tableStyleId>{5C22544A-7EE6-4342-B048-85BDC9FD1C3A}</a:tableStyleId>
              </a:tblPr>
              <a:tblGrid>
                <a:gridCol w="3749040"/>
                <a:gridCol w="3749040"/>
                <a:gridCol w="3749040"/>
              </a:tblGrid>
              <a:tr h="274320">
                <a:tc>
                  <a:txBody>
                    <a:bodyPr lIns="73152" tIns="36576"/>
                    <a:lstStyle/>
                    <a:p>
                      <a:r>
                        <a:rPr sz="1200" b="1">
                          <a:solidFill>
                            <a:srgbClr val="FFFFFF"/>
                          </a:solidFill>
                          <a:latin typeface="Calibri"/>
                        </a:rPr>
                        <a:t>Component</a:t>
                      </a:r>
                    </a:p>
                  </a:txBody>
                  <a:tcPr>
                    <a:solidFill>
                      <a:srgbClr val="FF6B35"/>
                    </a:solidFill>
                  </a:tcPr>
                </a:tc>
                <a:tc>
                  <a:txBody>
                    <a:bodyPr lIns="73152" tIns="36576"/>
                    <a:lstStyle/>
                    <a:p>
                      <a:r>
                        <a:rPr sz="1200" b="1">
                          <a:solidFill>
                            <a:srgbClr val="FFFFFF"/>
                          </a:solidFill>
                          <a:latin typeface="Calibri"/>
                        </a:rPr>
                        <a:t>A1+ (Nova)</a:t>
                      </a:r>
                    </a:p>
                  </a:txBody>
                  <a:tcPr>
                    <a:solidFill>
                      <a:srgbClr val="FF6B35"/>
                    </a:solidFill>
                  </a:tcPr>
                </a:tc>
                <a:tc>
                  <a:txBody>
                    <a:bodyPr lIns="73152" tIns="36576"/>
                    <a:lstStyle/>
                    <a:p>
                      <a:r>
                        <a:rPr sz="1200" b="1">
                          <a:solidFill>
                            <a:srgbClr val="FFFFFF"/>
                          </a:solidFill>
                          <a:latin typeface="Calibri"/>
                        </a:rPr>
                        <a:t>A2 (Claude with student)</a:t>
                      </a:r>
                    </a:p>
                  </a:txBody>
                  <a:tcPr>
                    <a:solidFill>
                      <a:srgbClr val="FF6B35"/>
                    </a:solidFill>
                  </a:tcPr>
                </a:tc>
              </a:tr>
              <a:tr h="274320">
                <a:tc>
                  <a:txBody>
                    <a:bodyPr lIns="73152" tIns="27432"/>
                    <a:lstStyle/>
                    <a:p>
                      <a:r>
                        <a:rPr sz="1000">
                          <a:solidFill>
                            <a:srgbClr val="2C3E50"/>
                          </a:solidFill>
                          <a:latin typeface="Calibri"/>
                        </a:rPr>
                        <a:t>LLM inference (emergency lane)</a:t>
                      </a:r>
                    </a:p>
                  </a:txBody>
                  <a:tcPr>
                    <a:solidFill>
                      <a:srgbClr val="FFFFFF"/>
                    </a:solidFill>
                  </a:tcPr>
                </a:tc>
                <a:tc>
                  <a:txBody>
                    <a:bodyPr lIns="73152" tIns="27432"/>
                    <a:lstStyle/>
                    <a:p>
                      <a:r>
                        <a:rPr sz="1000">
                          <a:solidFill>
                            <a:srgbClr val="2C3E50"/>
                          </a:solidFill>
                          <a:latin typeface="Calibri"/>
                        </a:rPr>
                        <a:t>$70</a:t>
                      </a:r>
                    </a:p>
                  </a:txBody>
                  <a:tcPr>
                    <a:solidFill>
                      <a:srgbClr val="FFFFFF"/>
                    </a:solidFill>
                  </a:tcPr>
                </a:tc>
                <a:tc>
                  <a:txBody>
                    <a:bodyPr lIns="73152" tIns="27432"/>
                    <a:lstStyle/>
                    <a:p>
                      <a:r>
                        <a:rPr sz="1000">
                          <a:solidFill>
                            <a:srgbClr val="2C3E50"/>
                          </a:solidFill>
                          <a:latin typeface="Calibri"/>
                        </a:rPr>
                        <a:t>$350</a:t>
                      </a:r>
                    </a:p>
                  </a:txBody>
                  <a:tcPr>
                    <a:solidFill>
                      <a:srgbClr val="FFFFFF"/>
                    </a:solidFill>
                  </a:tcPr>
                </a:tc>
              </a:tr>
              <a:tr h="274320">
                <a:tc>
                  <a:txBody>
                    <a:bodyPr lIns="73152" tIns="27432"/>
                    <a:lstStyle/>
                    <a:p>
                      <a:r>
                        <a:rPr sz="1000">
                          <a:solidFill>
                            <a:srgbClr val="2C3E50"/>
                          </a:solidFill>
                          <a:latin typeface="Calibri"/>
                        </a:rPr>
                        <a:t>LLM inference (complex lane)</a:t>
                      </a:r>
                    </a:p>
                  </a:txBody>
                  <a:tcPr>
                    <a:solidFill>
                      <a:srgbClr val="FFE8DA"/>
                    </a:solidFill>
                  </a:tcPr>
                </a:tc>
                <a:tc>
                  <a:txBody>
                    <a:bodyPr lIns="73152" tIns="27432"/>
                    <a:lstStyle/>
                    <a:p>
                      <a:r>
                        <a:rPr sz="1000">
                          <a:solidFill>
                            <a:srgbClr val="2C3E50"/>
                          </a:solidFill>
                          <a:latin typeface="Calibri"/>
                        </a:rPr>
                        <a:t>$1,470</a:t>
                      </a:r>
                    </a:p>
                  </a:txBody>
                  <a:tcPr>
                    <a:solidFill>
                      <a:srgbClr val="FFE8DA"/>
                    </a:solidFill>
                  </a:tcPr>
                </a:tc>
                <a:tc>
                  <a:txBody>
                    <a:bodyPr lIns="73152" tIns="27432"/>
                    <a:lstStyle/>
                    <a:p>
                      <a:r>
                        <a:rPr sz="1000">
                          <a:solidFill>
                            <a:srgbClr val="2C3E50"/>
                          </a:solidFill>
                          <a:latin typeface="Calibri"/>
                        </a:rPr>
                        <a:t>$5,460</a:t>
                      </a:r>
                    </a:p>
                  </a:txBody>
                  <a:tcPr>
                    <a:solidFill>
                      <a:srgbClr val="FFE8DA"/>
                    </a:solidFill>
                  </a:tcPr>
                </a:tc>
              </a:tr>
              <a:tr h="274320">
                <a:tc>
                  <a:txBody>
                    <a:bodyPr lIns="73152" tIns="27432"/>
                    <a:lstStyle/>
                    <a:p>
                      <a:r>
                        <a:rPr sz="1000">
                          <a:solidFill>
                            <a:srgbClr val="2C3E50"/>
                          </a:solidFill>
                          <a:latin typeface="Calibri"/>
                        </a:rPr>
                        <a:t>Embedding (Cohere Embed v3 SG)</a:t>
                      </a:r>
                    </a:p>
                  </a:txBody>
                  <a:tcPr>
                    <a:solidFill>
                      <a:srgbClr val="FFFFFF"/>
                    </a:solidFill>
                  </a:tcPr>
                </a:tc>
                <a:tc>
                  <a:txBody>
                    <a:bodyPr lIns="73152" tIns="27432"/>
                    <a:lstStyle/>
                    <a:p>
                      <a:r>
                        <a:rPr sz="1000">
                          <a:solidFill>
                            <a:srgbClr val="2C3E50"/>
                          </a:solidFill>
                          <a:latin typeface="Calibri"/>
                        </a:rPr>
                        <a:t>$10</a:t>
                      </a:r>
                    </a:p>
                  </a:txBody>
                  <a:tcPr>
                    <a:solidFill>
                      <a:srgbClr val="FFFFFF"/>
                    </a:solidFill>
                  </a:tcPr>
                </a:tc>
                <a:tc>
                  <a:txBody>
                    <a:bodyPr lIns="73152" tIns="27432"/>
                    <a:lstStyle/>
                    <a:p>
                      <a:r>
                        <a:rPr sz="1000">
                          <a:solidFill>
                            <a:srgbClr val="2C3E50"/>
                          </a:solidFill>
                          <a:latin typeface="Calibri"/>
                        </a:rPr>
                        <a:t>$10</a:t>
                      </a:r>
                    </a:p>
                  </a:txBody>
                  <a:tcPr>
                    <a:solidFill>
                      <a:srgbClr val="FFFFFF"/>
                    </a:solidFill>
                  </a:tcPr>
                </a:tc>
              </a:tr>
              <a:tr h="274320">
                <a:tc>
                  <a:txBody>
                    <a:bodyPr lIns="73152" tIns="27432"/>
                    <a:lstStyle/>
                    <a:p>
                      <a:r>
                        <a:rPr sz="1000">
                          <a:solidFill>
                            <a:srgbClr val="2C3E50"/>
                          </a:solidFill>
                          <a:latin typeface="Calibri"/>
                        </a:rPr>
                        <a:t>OpenSearch Serverless + Neptune Analytics</a:t>
                      </a:r>
                    </a:p>
                  </a:txBody>
                  <a:tcPr>
                    <a:solidFill>
                      <a:srgbClr val="FFE8DA"/>
                    </a:solidFill>
                  </a:tcPr>
                </a:tc>
                <a:tc>
                  <a:txBody>
                    <a:bodyPr lIns="73152" tIns="27432"/>
                    <a:lstStyle/>
                    <a:p>
                      <a:r>
                        <a:rPr sz="1000">
                          <a:solidFill>
                            <a:srgbClr val="2C3E50"/>
                          </a:solidFill>
                          <a:latin typeface="Calibri"/>
                        </a:rPr>
                        <a:t>$465</a:t>
                      </a:r>
                    </a:p>
                  </a:txBody>
                  <a:tcPr>
                    <a:solidFill>
                      <a:srgbClr val="FFE8DA"/>
                    </a:solidFill>
                  </a:tcPr>
                </a:tc>
                <a:tc>
                  <a:txBody>
                    <a:bodyPr lIns="73152" tIns="27432"/>
                    <a:lstStyle/>
                    <a:p>
                      <a:r>
                        <a:rPr sz="1000">
                          <a:solidFill>
                            <a:srgbClr val="2C3E50"/>
                          </a:solidFill>
                          <a:latin typeface="Calibri"/>
                        </a:rPr>
                        <a:t>$465</a:t>
                      </a:r>
                    </a:p>
                  </a:txBody>
                  <a:tcPr>
                    <a:solidFill>
                      <a:srgbClr val="FFE8DA"/>
                    </a:solidFill>
                  </a:tcPr>
                </a:tc>
              </a:tr>
              <a:tr h="274320">
                <a:tc>
                  <a:txBody>
                    <a:bodyPr lIns="73152" tIns="27432"/>
                    <a:lstStyle/>
                    <a:p>
                      <a:r>
                        <a:rPr sz="1000">
                          <a:solidFill>
                            <a:srgbClr val="2C3E50"/>
                          </a:solidFill>
                          <a:latin typeface="Calibri"/>
                        </a:rPr>
                        <a:t>Bedrock Guardrails + Comprehend Medical</a:t>
                      </a:r>
                    </a:p>
                  </a:txBody>
                  <a:tcPr>
                    <a:solidFill>
                      <a:srgbClr val="FFFFFF"/>
                    </a:solidFill>
                  </a:tcPr>
                </a:tc>
                <a:tc>
                  <a:txBody>
                    <a:bodyPr lIns="73152" tIns="27432"/>
                    <a:lstStyle/>
                    <a:p>
                      <a:r>
                        <a:rPr sz="1000">
                          <a:solidFill>
                            <a:srgbClr val="2C3E50"/>
                          </a:solidFill>
                          <a:latin typeface="Calibri"/>
                        </a:rPr>
                        <a:t>$360</a:t>
                      </a:r>
                    </a:p>
                  </a:txBody>
                  <a:tcPr>
                    <a:solidFill>
                      <a:srgbClr val="FFFFFF"/>
                    </a:solidFill>
                  </a:tcPr>
                </a:tc>
                <a:tc>
                  <a:txBody>
                    <a:bodyPr lIns="73152" tIns="27432"/>
                    <a:lstStyle/>
                    <a:p>
                      <a:r>
                        <a:rPr sz="1000">
                          <a:solidFill>
                            <a:srgbClr val="2C3E50"/>
                          </a:solidFill>
                          <a:latin typeface="Calibri"/>
                        </a:rPr>
                        <a:t>$360</a:t>
                      </a:r>
                    </a:p>
                  </a:txBody>
                  <a:tcPr>
                    <a:solidFill>
                      <a:srgbClr val="FFFFFF"/>
                    </a:solidFill>
                  </a:tcPr>
                </a:tc>
              </a:tr>
              <a:tr h="274320">
                <a:tc>
                  <a:txBody>
                    <a:bodyPr lIns="73152" tIns="27432"/>
                    <a:lstStyle/>
                    <a:p>
                      <a:r>
                        <a:rPr sz="1000">
                          <a:solidFill>
                            <a:srgbClr val="2C3E50"/>
                          </a:solidFill>
                          <a:latin typeface="Calibri"/>
                        </a:rPr>
                        <a:t>ElastiCache Redis + VPN + Lambda + S3 + CloudTrail</a:t>
                      </a:r>
                    </a:p>
                  </a:txBody>
                  <a:tcPr>
                    <a:solidFill>
                      <a:srgbClr val="FFE8DA"/>
                    </a:solidFill>
                  </a:tcPr>
                </a:tc>
                <a:tc>
                  <a:txBody>
                    <a:bodyPr lIns="73152" tIns="27432"/>
                    <a:lstStyle/>
                    <a:p>
                      <a:r>
                        <a:rPr sz="1000">
                          <a:solidFill>
                            <a:srgbClr val="2C3E50"/>
                          </a:solidFill>
                          <a:latin typeface="Calibri"/>
                        </a:rPr>
                        <a:t>$430</a:t>
                      </a:r>
                    </a:p>
                  </a:txBody>
                  <a:tcPr>
                    <a:solidFill>
                      <a:srgbClr val="FFE8DA"/>
                    </a:solidFill>
                  </a:tcPr>
                </a:tc>
                <a:tc>
                  <a:txBody>
                    <a:bodyPr lIns="73152" tIns="27432"/>
                    <a:lstStyle/>
                    <a:p>
                      <a:r>
                        <a:rPr sz="1000">
                          <a:solidFill>
                            <a:srgbClr val="2C3E50"/>
                          </a:solidFill>
                          <a:latin typeface="Calibri"/>
                        </a:rPr>
                        <a:t>$430</a:t>
                      </a:r>
                    </a:p>
                  </a:txBody>
                  <a:tcPr>
                    <a:solidFill>
                      <a:srgbClr val="FFE8DA"/>
                    </a:solidFill>
                  </a:tcPr>
                </a:tc>
              </a:tr>
              <a:tr h="274320">
                <a:tc>
                  <a:txBody>
                    <a:bodyPr lIns="73152" tIns="27432"/>
                    <a:lstStyle/>
                    <a:p>
                      <a:r>
                        <a:rPr sz="1000">
                          <a:solidFill>
                            <a:srgbClr val="2C3E50"/>
                          </a:solidFill>
                          <a:latin typeface="Calibri"/>
                        </a:rPr>
                        <a:t>Distillation amortized (offset by student)</a:t>
                      </a:r>
                    </a:p>
                  </a:txBody>
                  <a:tcPr>
                    <a:solidFill>
                      <a:srgbClr val="FFFFFF"/>
                    </a:solidFill>
                  </a:tcPr>
                </a:tc>
                <a:tc>
                  <a:txBody>
                    <a:bodyPr lIns="73152" tIns="27432"/>
                    <a:lstStyle/>
                    <a:p>
                      <a:r>
                        <a:rPr sz="1000">
                          <a:solidFill>
                            <a:srgbClr val="2C3E50"/>
                          </a:solidFill>
                          <a:latin typeface="Calibri"/>
                        </a:rPr>
                        <a:t>—</a:t>
                      </a:r>
                    </a:p>
                  </a:txBody>
                  <a:tcPr>
                    <a:solidFill>
                      <a:srgbClr val="FFFFFF"/>
                    </a:solidFill>
                  </a:tcPr>
                </a:tc>
                <a:tc>
                  <a:txBody>
                    <a:bodyPr lIns="73152" tIns="27432"/>
                    <a:lstStyle/>
                    <a:p>
                      <a:r>
                        <a:rPr sz="1000">
                          <a:solidFill>
                            <a:srgbClr val="2C3E50"/>
                          </a:solidFill>
                          <a:latin typeface="Calibri"/>
                        </a:rPr>
                        <a:t>−$1,530</a:t>
                      </a:r>
                    </a:p>
                  </a:txBody>
                  <a:tcPr>
                    <a:solidFill>
                      <a:srgbClr val="FFFFFF"/>
                    </a:solidFill>
                  </a:tcPr>
                </a:tc>
              </a:tr>
              <a:tr h="274320">
                <a:tc>
                  <a:txBody>
                    <a:bodyPr lIns="73152" tIns="27432"/>
                    <a:lstStyle/>
                    <a:p>
                      <a:r>
                        <a:rPr sz="1000">
                          <a:solidFill>
                            <a:srgbClr val="2C3E50"/>
                          </a:solidFill>
                          <a:latin typeface="Calibri"/>
                        </a:rPr>
                        <a:t>TOTAL / month</a:t>
                      </a:r>
                    </a:p>
                  </a:txBody>
                  <a:tcPr>
                    <a:solidFill>
                      <a:srgbClr val="FFE8DA"/>
                    </a:solidFill>
                  </a:tcPr>
                </a:tc>
                <a:tc>
                  <a:txBody>
                    <a:bodyPr lIns="73152" tIns="27432"/>
                    <a:lstStyle/>
                    <a:p>
                      <a:r>
                        <a:rPr sz="1000">
                          <a:solidFill>
                            <a:srgbClr val="2C3E50"/>
                          </a:solidFill>
                          <a:latin typeface="Calibri"/>
                        </a:rPr>
                        <a:t>$2,805</a:t>
                      </a:r>
                    </a:p>
                  </a:txBody>
                  <a:tcPr>
                    <a:solidFill>
                      <a:srgbClr val="FFE8DA"/>
                    </a:solidFill>
                  </a:tcPr>
                </a:tc>
                <a:tc>
                  <a:txBody>
                    <a:bodyPr lIns="73152" tIns="27432"/>
                    <a:lstStyle/>
                    <a:p>
                      <a:r>
                        <a:rPr sz="1000">
                          <a:solidFill>
                            <a:srgbClr val="2C3E50"/>
                          </a:solidFill>
                          <a:latin typeface="Calibri"/>
                        </a:rPr>
                        <a:t>$5,545</a:t>
                      </a:r>
                    </a:p>
                  </a:txBody>
                  <a:tcPr>
                    <a:solidFill>
                      <a:srgbClr val="FFE8DA"/>
                    </a:solidFill>
                  </a:tcPr>
                </a:tc>
              </a:tr>
            </a:tbl>
          </a:graphicData>
        </a:graphic>
      </p:graphicFrame>
      <p:sp>
        <p:nvSpPr>
          <p:cNvPr id="25" name="Rounded Rectangle 24"/>
          <p:cNvSpPr/>
          <p:nvPr/>
        </p:nvSpPr>
        <p:spPr>
          <a:xfrm>
            <a:off x="457200" y="5897880"/>
            <a:ext cx="11247120" cy="502920"/>
          </a:xfrm>
          <a:prstGeom prst="roundRect">
            <a:avLst>
              <a:gd name="adj" fmla="val 20000"/>
            </a:avLst>
          </a:prstGeom>
          <a:solidFill>
            <a:srgbClr val="FFE8DA"/>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971032"/>
            <a:ext cx="10881360" cy="365760"/>
          </a:xfrm>
          <a:prstGeom prst="rect">
            <a:avLst/>
          </a:prstGeom>
          <a:noFill/>
        </p:spPr>
        <p:txBody>
          <a:bodyPr wrap="square">
            <a:spAutoFit/>
          </a:bodyPr>
          <a:lstStyle/>
          <a:p>
            <a:pPr algn="ctr"/>
            <a:r>
              <a:rPr sz="1200" b="1">
                <a:solidFill>
                  <a:srgbClr val="CC4F1F"/>
                </a:solidFill>
                <a:latin typeface="Calibri"/>
              </a:rPr>
              <a:t>At 3M calls/month: A1+ scales to $10,500   ·   A2 to $23,500   ·   Optimization: Prompt Caching + ElastiCache semantic cache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1247120" cy="640080"/>
          </a:xfrm>
          <a:prstGeom prst="rect">
            <a:avLst/>
          </a:prstGeom>
          <a:noFill/>
        </p:spPr>
        <p:txBody>
          <a:bodyPr wrap="none" lIns="0" tIns="0">
            <a:spAutoFit/>
          </a:bodyPr>
          <a:lstStyle/>
          <a:p>
            <a:pPr algn="l"/>
            <a:r>
              <a:rPr sz="2800" b="1">
                <a:solidFill>
                  <a:srgbClr val="CC4F1F"/>
                </a:solidFill>
                <a:latin typeface="Calibri"/>
              </a:rPr>
              <a:t>Ready to Deploy</a:t>
            </a:r>
          </a:p>
        </p:txBody>
      </p:sp>
      <p:sp>
        <p:nvSpPr>
          <p:cNvPr id="5" name="Rectangle 4"/>
          <p:cNvSpPr/>
          <p:nvPr/>
        </p:nvSpPr>
        <p:spPr>
          <a:xfrm>
            <a:off x="457200" y="914400"/>
            <a:ext cx="182880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none">
            <a:spAutoFit/>
          </a:bodyPr>
          <a:lstStyle/>
          <a:p>
            <a:pPr algn="r"/>
            <a:r>
              <a:rPr sz="900" i="1">
                <a:solidFill>
                  <a:srgbClr val="646464"/>
                </a:solidFill>
                <a:latin typeface="Calibri"/>
              </a:rPr>
              <a:t>Nova Health Tech · Clinical GenAI Assistant · AWS Singapore</a:t>
            </a:r>
          </a:p>
        </p:txBody>
      </p:sp>
      <p:sp>
        <p:nvSpPr>
          <p:cNvPr id="7" name="TextBox 6"/>
          <p:cNvSpPr txBox="1"/>
          <p:nvPr/>
        </p:nvSpPr>
        <p:spPr>
          <a:xfrm>
            <a:off x="457200" y="1280160"/>
            <a:ext cx="11247120" cy="365760"/>
          </a:xfrm>
          <a:prstGeom prst="rect">
            <a:avLst/>
          </a:prstGeom>
          <a:noFill/>
        </p:spPr>
        <p:txBody>
          <a:bodyPr wrap="none">
            <a:spAutoFit/>
          </a:bodyPr>
          <a:lstStyle/>
          <a:p>
            <a:r>
              <a:rPr sz="1600" b="1">
                <a:solidFill>
                  <a:srgbClr val="CC4F1F"/>
                </a:solidFill>
                <a:latin typeface="Calibri"/>
              </a:rPr>
              <a:t>Implementation Roadmap (6 to 10 weeks)</a:t>
            </a:r>
          </a:p>
        </p:txBody>
      </p:sp>
      <p:sp>
        <p:nvSpPr>
          <p:cNvPr id="8" name="Rectangle 7"/>
          <p:cNvSpPr/>
          <p:nvPr/>
        </p:nvSpPr>
        <p:spPr>
          <a:xfrm>
            <a:off x="457200" y="1783080"/>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783080"/>
            <a:ext cx="1371600" cy="502920"/>
          </a:xfrm>
          <a:prstGeom prst="rect">
            <a:avLst/>
          </a:prstGeom>
          <a:noFill/>
        </p:spPr>
        <p:txBody>
          <a:bodyPr wrap="none" anchor="ctr">
            <a:spAutoFit/>
          </a:bodyPr>
          <a:lstStyle/>
          <a:p>
            <a:pPr algn="ctr"/>
            <a:r>
              <a:rPr sz="1300" b="1">
                <a:solidFill>
                  <a:srgbClr val="FFFFFF"/>
                </a:solidFill>
                <a:latin typeface="Calibri"/>
              </a:rPr>
              <a:t>Wk 1-2</a:t>
            </a:r>
          </a:p>
        </p:txBody>
      </p:sp>
      <p:sp>
        <p:nvSpPr>
          <p:cNvPr id="10" name="TextBox 9"/>
          <p:cNvSpPr txBox="1"/>
          <p:nvPr/>
        </p:nvSpPr>
        <p:spPr>
          <a:xfrm>
            <a:off x="2011680" y="1783080"/>
            <a:ext cx="2194560" cy="502920"/>
          </a:xfrm>
          <a:prstGeom prst="rect">
            <a:avLst/>
          </a:prstGeom>
          <a:noFill/>
        </p:spPr>
        <p:txBody>
          <a:bodyPr wrap="none" anchor="ctr">
            <a:spAutoFit/>
          </a:bodyPr>
          <a:lstStyle/>
          <a:p>
            <a:r>
              <a:rPr sz="1500" b="1">
                <a:solidFill>
                  <a:srgbClr val="CC4F1F"/>
                </a:solidFill>
                <a:latin typeface="Calibri"/>
              </a:rPr>
              <a:t>Foundation</a:t>
            </a:r>
          </a:p>
        </p:txBody>
      </p:sp>
      <p:sp>
        <p:nvSpPr>
          <p:cNvPr id="11" name="TextBox 10"/>
          <p:cNvSpPr txBox="1"/>
          <p:nvPr/>
        </p:nvSpPr>
        <p:spPr>
          <a:xfrm>
            <a:off x="4297680" y="1783080"/>
            <a:ext cx="7315200" cy="502920"/>
          </a:xfrm>
          <a:prstGeom prst="rect">
            <a:avLst/>
          </a:prstGeom>
          <a:noFill/>
        </p:spPr>
        <p:txBody>
          <a:bodyPr wrap="none" anchor="ctr">
            <a:spAutoFit/>
          </a:bodyPr>
          <a:lstStyle/>
          <a:p>
            <a:r>
              <a:rPr sz="1300">
                <a:solidFill>
                  <a:srgbClr val="2C3E50"/>
                </a:solidFill>
                <a:latin typeface="Calibri"/>
              </a:rPr>
              <a:t>SG provisioning, BAA, WHO + ICD-11 ingest</a:t>
            </a:r>
          </a:p>
        </p:txBody>
      </p:sp>
      <p:sp>
        <p:nvSpPr>
          <p:cNvPr id="12" name="Rectangle 11"/>
          <p:cNvSpPr/>
          <p:nvPr/>
        </p:nvSpPr>
        <p:spPr>
          <a:xfrm>
            <a:off x="457200" y="2359152"/>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59152"/>
            <a:ext cx="1371600" cy="502920"/>
          </a:xfrm>
          <a:prstGeom prst="rect">
            <a:avLst/>
          </a:prstGeom>
          <a:noFill/>
        </p:spPr>
        <p:txBody>
          <a:bodyPr wrap="none" anchor="ctr">
            <a:spAutoFit/>
          </a:bodyPr>
          <a:lstStyle/>
          <a:p>
            <a:pPr algn="ctr"/>
            <a:r>
              <a:rPr sz="1300" b="1">
                <a:solidFill>
                  <a:srgbClr val="FFFFFF"/>
                </a:solidFill>
                <a:latin typeface="Calibri"/>
              </a:rPr>
              <a:t>Wk 3-4</a:t>
            </a:r>
          </a:p>
        </p:txBody>
      </p:sp>
      <p:sp>
        <p:nvSpPr>
          <p:cNvPr id="14" name="TextBox 13"/>
          <p:cNvSpPr txBox="1"/>
          <p:nvPr/>
        </p:nvSpPr>
        <p:spPr>
          <a:xfrm>
            <a:off x="2011680" y="2359152"/>
            <a:ext cx="2194560" cy="502920"/>
          </a:xfrm>
          <a:prstGeom prst="rect">
            <a:avLst/>
          </a:prstGeom>
          <a:noFill/>
        </p:spPr>
        <p:txBody>
          <a:bodyPr wrap="none" anchor="ctr">
            <a:spAutoFit/>
          </a:bodyPr>
          <a:lstStyle/>
          <a:p>
            <a:r>
              <a:rPr sz="1500" b="1">
                <a:solidFill>
                  <a:srgbClr val="CC4F1F"/>
                </a:solidFill>
                <a:latin typeface="Calibri"/>
              </a:rPr>
              <a:t>Customization</a:t>
            </a:r>
          </a:p>
        </p:txBody>
      </p:sp>
      <p:sp>
        <p:nvSpPr>
          <p:cNvPr id="15" name="TextBox 14"/>
          <p:cNvSpPr txBox="1"/>
          <p:nvPr/>
        </p:nvSpPr>
        <p:spPr>
          <a:xfrm>
            <a:off x="4297680" y="2359152"/>
            <a:ext cx="7315200" cy="502920"/>
          </a:xfrm>
          <a:prstGeom prst="rect">
            <a:avLst/>
          </a:prstGeom>
          <a:noFill/>
        </p:spPr>
        <p:txBody>
          <a:bodyPr wrap="none" anchor="ctr">
            <a:spAutoFit/>
          </a:bodyPr>
          <a:lstStyle/>
          <a:p>
            <a:r>
              <a:rPr sz="1300">
                <a:solidFill>
                  <a:srgbClr val="2C3E50"/>
                </a:solidFill>
                <a:latin typeface="Calibri"/>
              </a:rPr>
              <a:t>Bedrock Distillation: Nova Lite student</a:t>
            </a:r>
          </a:p>
        </p:txBody>
      </p:sp>
      <p:sp>
        <p:nvSpPr>
          <p:cNvPr id="16" name="Rectangle 15"/>
          <p:cNvSpPr/>
          <p:nvPr/>
        </p:nvSpPr>
        <p:spPr>
          <a:xfrm>
            <a:off x="457200" y="2935224"/>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935224"/>
            <a:ext cx="1371600" cy="502920"/>
          </a:xfrm>
          <a:prstGeom prst="rect">
            <a:avLst/>
          </a:prstGeom>
          <a:noFill/>
        </p:spPr>
        <p:txBody>
          <a:bodyPr wrap="none" anchor="ctr">
            <a:spAutoFit/>
          </a:bodyPr>
          <a:lstStyle/>
          <a:p>
            <a:pPr algn="ctr"/>
            <a:r>
              <a:rPr sz="1300" b="1">
                <a:solidFill>
                  <a:srgbClr val="FFFFFF"/>
                </a:solidFill>
                <a:latin typeface="Calibri"/>
              </a:rPr>
              <a:t>Wk 5-6</a:t>
            </a:r>
          </a:p>
        </p:txBody>
      </p:sp>
      <p:sp>
        <p:nvSpPr>
          <p:cNvPr id="18" name="TextBox 17"/>
          <p:cNvSpPr txBox="1"/>
          <p:nvPr/>
        </p:nvSpPr>
        <p:spPr>
          <a:xfrm>
            <a:off x="2011680" y="2935224"/>
            <a:ext cx="2194560" cy="502920"/>
          </a:xfrm>
          <a:prstGeom prst="rect">
            <a:avLst/>
          </a:prstGeom>
          <a:noFill/>
        </p:spPr>
        <p:txBody>
          <a:bodyPr wrap="none" anchor="ctr">
            <a:spAutoFit/>
          </a:bodyPr>
          <a:lstStyle/>
          <a:p>
            <a:r>
              <a:rPr sz="1500" b="1">
                <a:solidFill>
                  <a:srgbClr val="CC4F1F"/>
                </a:solidFill>
                <a:latin typeface="Calibri"/>
              </a:rPr>
              <a:t>Integration</a:t>
            </a:r>
          </a:p>
        </p:txBody>
      </p:sp>
      <p:sp>
        <p:nvSpPr>
          <p:cNvPr id="19" name="TextBox 18"/>
          <p:cNvSpPr txBox="1"/>
          <p:nvPr/>
        </p:nvSpPr>
        <p:spPr>
          <a:xfrm>
            <a:off x="4297680" y="2935224"/>
            <a:ext cx="7315200" cy="502920"/>
          </a:xfrm>
          <a:prstGeom prst="rect">
            <a:avLst/>
          </a:prstGeom>
          <a:noFill/>
        </p:spPr>
        <p:txBody>
          <a:bodyPr wrap="none" anchor="ctr">
            <a:spAutoFit/>
          </a:bodyPr>
          <a:lstStyle/>
          <a:p>
            <a:r>
              <a:rPr sz="1300">
                <a:solidFill>
                  <a:srgbClr val="2C3E50"/>
                </a:solidFill>
                <a:latin typeface="Calibri"/>
              </a:rPr>
              <a:t>EHR FHIR, SharePoint, Cognito federation</a:t>
            </a:r>
          </a:p>
        </p:txBody>
      </p:sp>
      <p:sp>
        <p:nvSpPr>
          <p:cNvPr id="20" name="Rectangle 19"/>
          <p:cNvSpPr/>
          <p:nvPr/>
        </p:nvSpPr>
        <p:spPr>
          <a:xfrm>
            <a:off x="457200" y="3511296"/>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511296"/>
            <a:ext cx="1371600" cy="502920"/>
          </a:xfrm>
          <a:prstGeom prst="rect">
            <a:avLst/>
          </a:prstGeom>
          <a:noFill/>
        </p:spPr>
        <p:txBody>
          <a:bodyPr wrap="none" anchor="ctr">
            <a:spAutoFit/>
          </a:bodyPr>
          <a:lstStyle/>
          <a:p>
            <a:pPr algn="ctr"/>
            <a:r>
              <a:rPr sz="1300" b="1">
                <a:solidFill>
                  <a:srgbClr val="FFFFFF"/>
                </a:solidFill>
                <a:latin typeface="Calibri"/>
              </a:rPr>
              <a:t>Wk 7-8</a:t>
            </a:r>
          </a:p>
        </p:txBody>
      </p:sp>
      <p:sp>
        <p:nvSpPr>
          <p:cNvPr id="22" name="TextBox 21"/>
          <p:cNvSpPr txBox="1"/>
          <p:nvPr/>
        </p:nvSpPr>
        <p:spPr>
          <a:xfrm>
            <a:off x="2011680" y="3511296"/>
            <a:ext cx="2194560" cy="502920"/>
          </a:xfrm>
          <a:prstGeom prst="rect">
            <a:avLst/>
          </a:prstGeom>
          <a:noFill/>
        </p:spPr>
        <p:txBody>
          <a:bodyPr wrap="none" anchor="ctr">
            <a:spAutoFit/>
          </a:bodyPr>
          <a:lstStyle/>
          <a:p>
            <a:r>
              <a:rPr sz="1500" b="1">
                <a:solidFill>
                  <a:srgbClr val="CC4F1F"/>
                </a:solidFill>
                <a:latin typeface="Calibri"/>
              </a:rPr>
              <a:t>Hardening</a:t>
            </a:r>
          </a:p>
        </p:txBody>
      </p:sp>
      <p:sp>
        <p:nvSpPr>
          <p:cNvPr id="23" name="TextBox 22"/>
          <p:cNvSpPr txBox="1"/>
          <p:nvPr/>
        </p:nvSpPr>
        <p:spPr>
          <a:xfrm>
            <a:off x="4297680" y="3511296"/>
            <a:ext cx="7315200" cy="502920"/>
          </a:xfrm>
          <a:prstGeom prst="rect">
            <a:avLst/>
          </a:prstGeom>
          <a:noFill/>
        </p:spPr>
        <p:txBody>
          <a:bodyPr wrap="none" anchor="ctr">
            <a:spAutoFit/>
          </a:bodyPr>
          <a:lstStyle/>
          <a:p>
            <a:r>
              <a:rPr sz="1300">
                <a:solidFill>
                  <a:srgbClr val="2C3E50"/>
                </a:solidFill>
                <a:latin typeface="Calibri"/>
              </a:rPr>
              <a:t>Red team, Guardrails tune, load test</a:t>
            </a:r>
          </a:p>
        </p:txBody>
      </p:sp>
      <p:sp>
        <p:nvSpPr>
          <p:cNvPr id="24" name="Rectangle 23"/>
          <p:cNvSpPr/>
          <p:nvPr/>
        </p:nvSpPr>
        <p:spPr>
          <a:xfrm>
            <a:off x="457200" y="4087368"/>
            <a:ext cx="137160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87368"/>
            <a:ext cx="1371600" cy="502920"/>
          </a:xfrm>
          <a:prstGeom prst="rect">
            <a:avLst/>
          </a:prstGeom>
          <a:noFill/>
        </p:spPr>
        <p:txBody>
          <a:bodyPr wrap="none" anchor="ctr">
            <a:spAutoFit/>
          </a:bodyPr>
          <a:lstStyle/>
          <a:p>
            <a:pPr algn="ctr"/>
            <a:r>
              <a:rPr sz="1300" b="1">
                <a:solidFill>
                  <a:srgbClr val="FFFFFF"/>
                </a:solidFill>
                <a:latin typeface="Calibri"/>
              </a:rPr>
              <a:t>Launch</a:t>
            </a:r>
          </a:p>
        </p:txBody>
      </p:sp>
      <p:sp>
        <p:nvSpPr>
          <p:cNvPr id="26" name="TextBox 25"/>
          <p:cNvSpPr txBox="1"/>
          <p:nvPr/>
        </p:nvSpPr>
        <p:spPr>
          <a:xfrm>
            <a:off x="2011680" y="4087368"/>
            <a:ext cx="2194560" cy="502920"/>
          </a:xfrm>
          <a:prstGeom prst="rect">
            <a:avLst/>
          </a:prstGeom>
          <a:noFill/>
        </p:spPr>
        <p:txBody>
          <a:bodyPr wrap="none" anchor="ctr">
            <a:spAutoFit/>
          </a:bodyPr>
          <a:lstStyle/>
          <a:p>
            <a:r>
              <a:rPr sz="1500" b="1">
                <a:solidFill>
                  <a:srgbClr val="CC4F1F"/>
                </a:solidFill>
                <a:latin typeface="Calibri"/>
              </a:rPr>
              <a:t>Go-Live</a:t>
            </a:r>
          </a:p>
        </p:txBody>
      </p:sp>
      <p:sp>
        <p:nvSpPr>
          <p:cNvPr id="27" name="TextBox 26"/>
          <p:cNvSpPr txBox="1"/>
          <p:nvPr/>
        </p:nvSpPr>
        <p:spPr>
          <a:xfrm>
            <a:off x="4297680" y="4087368"/>
            <a:ext cx="7315200" cy="502920"/>
          </a:xfrm>
          <a:prstGeom prst="rect">
            <a:avLst/>
          </a:prstGeom>
          <a:noFill/>
        </p:spPr>
        <p:txBody>
          <a:bodyPr wrap="none" anchor="ctr">
            <a:spAutoFit/>
          </a:bodyPr>
          <a:lstStyle/>
          <a:p>
            <a:r>
              <a:rPr sz="1300">
                <a:solidFill>
                  <a:srgbClr val="2C3E50"/>
                </a:solidFill>
                <a:latin typeface="Calibri"/>
              </a:rPr>
              <a:t>All 12 departments, audit + cache live</a:t>
            </a:r>
          </a:p>
        </p:txBody>
      </p:sp>
      <p:sp>
        <p:nvSpPr>
          <p:cNvPr id="28" name="Rounded Rectangle 27"/>
          <p:cNvSpPr/>
          <p:nvPr/>
        </p:nvSpPr>
        <p:spPr>
          <a:xfrm>
            <a:off x="1371600" y="4937760"/>
            <a:ext cx="9418320" cy="1463040"/>
          </a:xfrm>
          <a:prstGeom prst="roundRect">
            <a:avLst>
              <a:gd name="adj" fmla="val 1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54480" y="5074920"/>
            <a:ext cx="9052560" cy="1188720"/>
          </a:xfrm>
          <a:prstGeom prst="rect">
            <a:avLst/>
          </a:prstGeom>
          <a:noFill/>
        </p:spPr>
        <p:txBody>
          <a:bodyPr wrap="square">
            <a:spAutoFit/>
          </a:bodyPr>
          <a:lstStyle/>
          <a:p>
            <a:pPr algn="ctr"/>
            <a:r>
              <a:rPr sz="2200" b="1">
                <a:solidFill>
                  <a:srgbClr val="FFFFFF"/>
                </a:solidFill>
                <a:latin typeface="Calibri"/>
              </a:rPr>
              <a:t>Live PoC Available Now</a:t>
            </a:r>
          </a:p>
          <a:p>
            <a:pPr algn="ctr"/>
            <a:r>
              <a:rPr sz="1600">
                <a:solidFill>
                  <a:srgbClr val="FFFFFF"/>
                </a:solidFill>
                <a:latin typeface="Consolas"/>
              </a:rPr>
              <a:t>http://47.130.120.152/ui/index.html</a:t>
            </a:r>
          </a:p>
          <a:p>
            <a:pPr algn="ctr"/>
            <a:r>
              <a:rPr sz="1500" i="1">
                <a:solidFill>
                  <a:srgbClr val="FFFFFF"/>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
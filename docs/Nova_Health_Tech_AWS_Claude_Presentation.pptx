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a:t>
            </a:r>
          </a:p>
          <a:p/>
          <a:p>
            <a:r>
              <a:t>Xin chào Ban lãnh đạo Nova Health Tech. Hôm nay tôi sẽ trình bày đề xuất kiến trúc kỹ thuật cho trợ lý AI hỗ trợ quyết định lâm sàng của Nova, được xây dựng trên nền tảng AWS với mô hình Claude và đặt tại vùng Singapore.</a:t>
            </a:r>
          </a:p>
          <a:p/>
          <a:p>
            <a:r>
              <a:t>Đề xuất này tập trung vào 3 mục tiêu chính: tốc độ đáp ứng dưới 2 giây cho ca cấp cứu, tính chính xác và truy nguyên được của câu trả lời với trích dẫn nguồn, và tuân thủ đầy đủ các quy định PDPA, HCSA, HIPAA. Tôi sẽ đi qua từ bài toán nghiệp vụ, kiến trúc tổng thể, đến chi phí vận hành chi tiết.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a:t>
            </a:r>
          </a:p>
          <a:p/>
          <a:p>
            <a:r>
              <a:t>Bài trình bày của tôi gồm 8 phần. Bắt đầu với bối cảnh và các nỗi đau của Nova hiện tại, sau đó là tổng quan giải pháp và các thành phần lõi: pipeline dữ liệu, điều phối mô hình, RAG, mạng kết nối, bảo mật. Cuối cùng là chi phí vận hành và lộ trình triển khai. Mỗi phần tôi sẽ tập trung vào quyết định kiến trúc và lý do, không đi sâu vào chi tiết kỹ thuật.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a:t>
            </a:r>
          </a:p>
          <a:p/>
          <a:p>
            <a:r>
              <a:t>Nova Health Tech là công ty Digital Health, sản phẩm chính là công cụ hỗ trợ quyết định lâm sàng. Hiện tại bác sĩ phàn nàn rằng câu trả lời chậm và thiếu tính cụ thể với từng bệnh nhân. Ban lãnh đạo phê duyệt xây dựng trợ lý AI cho nhân viên y tế và bệnh viện đối tác.</a:t>
            </a:r>
          </a:p>
          <a:p/>
          <a:p>
            <a:r>
              <a:t>Có 5 thách thức chính: (1) Cấp cứu cần dưới 2 giây, không có chỗ cho độ trễ. (2) Dữ liệu thử nghiệm nội bộ chứa thông tin bệnh nhân nhạy cảm, không được rò rỉ. (3) WHO cập nhật phác đồ hàng tháng, ICD-11 cập nhật hàng ngày, hệ thống phải tự đồng bộ. (4) Báo cáo thử nghiệm là PDF cũ, gắn nhãn không nhất quán, parsing khó. (5) Bác sĩ muốn giọng văn lâm sàng nhất quán, không phải mỗi câu trả lời một kiểu.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a:t>
            </a:r>
          </a:p>
          <a:p/>
          <a:p>
            <a:r>
              <a:t>Giải pháp gồm 5 lớp xếp chồng, tất cả đặt tại AWS Singapore, không có cross-region hop cho dữ liệu lâm sàng. Lớp Edge xử lý truy cập public với WAF và allow-list IP bệnh viện. Lớp API xác thực qua Cognito federated với Entra ID. Lớp Compute là Lambda + ECS Fargate. Lớp Model là Claude Haiku 4.5 cho cấp cứu, Claude Sonnet 4.5 cho ca phức tạp, Nova Micro định tuyến phòng ban. Lớp Knowledge là OpenSearch Serverless cho vector + Neptune Analytics cho GraphRAG.</a:t>
            </a:r>
          </a:p>
          <a:p/>
          <a:p>
            <a:r>
              <a:t>Hai luồng chạy song song: cấp cứu đi thẳng Haiku 4.5 với 5 chunk context, ca phức tạp qua router phòng ban rồi Sonnet 4.5 với 18 chunk context. Tất cả đều stream SSE để TTFT thấp, có Guardrails kiểm tra nội dung trước khi trả về.</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a:t>
            </a:r>
          </a:p>
          <a:p/>
          <a:p>
            <a:r>
              <a:t>Pipeline dữ liệu xử lý 3 nguồn khác nhau với cadence riêng. WHO PDF cập nhật hàng tháng, ICD-11 API hàng ngày, báo cáo thử nghiệm nội bộ qua SharePoint webhook. Mọi file vào S3 đều qua GuardDuty quét malware và Macie quét PHI bất đồng bộ.</a:t>
            </a:r>
          </a:p>
          <a:p/>
          <a:p>
            <a:r>
              <a:t>PDF được parse bởi Bedrock Data Automation tại Sydney, tách bảng, hình, text. Chunker Lambda áp dụng chiến lược đa dạng: hierarchical 1500/300 cho WHO, semantic max 512 cho clinical trials, dùng tốt nhất cho từng loại tài liệu. Cohere Embed v3 SG-native nhúng vector 1024 chiều, OpenSearch Serverless index hybrid kNN + BM25.</a:t>
            </a:r>
          </a:p>
          <a:p/>
          <a:p>
            <a:r>
              <a:t>Comprehend Medical bóc tách PHI trước khi lập chỉ mục, không có thông tin bệnh nhân nào rời tenant. Step Functions điều phối toàn bộ pipeline, ghi lineage vào Glue và DynamoDB.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a:t>
            </a:r>
          </a:p>
          <a:p/>
          <a:p>
            <a:r>
              <a:t>Khi bác sĩ gửi câu hỏi, hệ thống chạy theo 8 bước. Bước 1, Comprehend Medical che PHI. Bước 2, ElastiCache Redis kiểm tra semantic cache, nếu hit thì trả ngay. Bước 3, phân làn dựa trên emergency toggle - nếu bật thì đi thẳng Haiku, nếu không thì Nova Micro phân loại 12 phòng ban. Bước 4, retrieve song song từ OpenSearch và Neptune GraphRAG. Bước 5, Sonnet 4.5 hoặc Haiku 4.5 generate câu trả lời với citations. Bước 6, Bedrock Guardrails kiểm tra grounding và topic. Bước 7, citation validator xác minh mỗi [N] phải resolve được tới chunk thực tế. Bước 8, stream SSE về browser.</a:t>
            </a:r>
          </a:p>
          <a:p/>
          <a:p>
            <a:r>
              <a:t>Khác biệt giữa 2 luồng: cấp cứu dùng top 3 vector + top 2 graph, không guardrails, max 300 token để TTFT 2.5 giây. Phức tạp dùng top 15 vector + top 3 graph, có guardrails, max 1500 token, TTFT khoảng 9.7 giây.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a:t>
            </a:r>
          </a:p>
          <a:p/>
          <a:p>
            <a:r>
              <a:t>Có 2 đường traffic riêng biệt. Web traffic của bác sĩ đi public HTTPS qua CloudFront, WAF có IP allow-list theo từng bệnh viện đối tác. Đây là đường mass user, scale linear.</a:t>
            </a:r>
          </a:p>
          <a:p/>
          <a:p>
            <a:r>
              <a:t>Data plane traffic là EHR, SharePoint, internal trial reports, admin upload đi qua VPN Site-to-Site IPsec. Mỗi bệnh viện có Customer Gateway peer với AWS Virtual Private Gateway. Đây là đường data nhạy cảm, không bao giờ chạm public internet.</a:t>
            </a:r>
          </a:p>
          <a:p/>
          <a:p>
            <a:r>
              <a:t>Bệnh nhân, bệnh án, kết quả thử nghiệm chỉ đi qua VPN. Câu hỏi của bác sĩ và câu trả lời của AI đi public với token JWT, không bao giờ chứa PHI sau bước Comprehend Medical mask. Tenant isolation enforce bằng JWT claims, KMS key policy, OpenSearch filter.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a:t>
            </a:r>
          </a:p>
          <a:p/>
          <a:p>
            <a:r>
              <a:t>Bảo mật được thiết kế theo 7 lớp defense-in-depth. Lớp Perimeter là CloudFront, WAF, VPN. Lớp Identity là Cognito + IAM Identity Center. Lớp Data là KMS CMK riêng từng tenant, S3 Object Lock cho audit, TLS 1.3 mọi nơi. Lớp PHI là Comprehend Medical detect và tokenize trước khi vào model. Lớp Model Safety là Bedrock Guardrails kiểm tra grounding, topic, PHI. Lớp Audit là CloudTrail + S3 Object Lock 6 năm theo HIPAA. Lớp Threat là GuardDuty, Macie, Security Hub.</a:t>
            </a:r>
          </a:p>
          <a:p/>
          <a:p>
            <a:r>
              <a:t>Về compliance, AWS có signed BAA cho HIPAA. Singapore PDPA và HCSA được hỗ trợ qua region Singapore. GDPR DPA available. FDA 21 CFR 820 cho phần mềm y tế, EU AI Act cho high-risk AI system. Tất cả đều có kiểm soát và logging hỗ trợ sẵn từ AWS.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a:t>
            </a:r>
          </a:p>
          <a:p/>
          <a:p>
            <a:r>
              <a:t>Đây là kết quả PoC chạy trực tiếp trên EC2 t4g.small Singapore, không có Reserved Tier và không có cache. Test 20 câu thật về COVID-19 và clinical trials.</a:t>
            </a:r>
          </a:p>
          <a:p/>
          <a:p>
            <a:r>
              <a:t>Cấp cứu: TTFT trung bình 2.5 giây, total 5 giây, pass 100% SLA 5 giây. Đây là dùng Haiku 4.5, vector top-3 cộng GraphRAG top-2, không guardrails.</a:t>
            </a:r>
          </a:p>
          <a:p/>
          <a:p>
            <a:r>
              <a:t>Phức tạp: TTFT trung bình 9.7 giây, total 12 giây, pass 100% SLA 15 giây. Dùng Sonnet 4.5, vector top-15 cộng GraphRAG top-3, có guardrails.</a:t>
            </a:r>
          </a:p>
          <a:p/>
          <a:p>
            <a:r>
              <a:t>Trên production, thêm Reserved Tier và Prompt Caching sẽ giảm TTFT cấp cứu xuống dưới 2 giây đúng spec gốc. ElastiCache Redis sẽ phục vụ 30-45% câu hỏi lặp dưới 500ms. Câu trả lời 100% có citation, refusal rate 0% sau khi áp dụng multi-strategy chunking.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a:t>
            </a:r>
          </a:p>
          <a:p/>
          <a:p>
            <a:r>
              <a:t>Chi phí được tính cho baseline 600,000 calls/tháng, 30% emergency và 70% complex. Tất cả là AWS list price USD đầu năm 2026.</a:t>
            </a:r>
          </a:p>
          <a:p/>
          <a:p>
            <a:r>
              <a:t>Có 2 phương án model. Phương án A1+ dùng Nova Micro cho emergency và Nova Pro cho complex, khoảng 2,800 USD/tháng. Phương án A2 dùng Claude Haiku 4.5 và Sonnet 4.5, khoảng 7,000 USD/tháng nhưng với student model distillation giảm còn 5,500 USD.</a:t>
            </a:r>
          </a:p>
          <a:p/>
          <a:p>
            <a:r>
              <a:t>Khoản chi lớn nhất là Claude Sonnet 4.5 cho complex lane vì model gần giá cao. OpenSearch Serverless 350 USD, Neptune Analytics 115 USD là 2 chi phí infra cố định không phụ thuộc volume. Bedrock Guardrails 180 USD và Comprehend Medical 180 USD là chi phí compliance bắt buộc.</a:t>
            </a:r>
          </a:p>
          <a:p/>
          <a:p>
            <a:r>
              <a:t>Khi scale lên 3 triệu calls/tháng, A1+ chỉ 10,500 USD nhưng A2 lên tới 23,500 USD. Khuyến nghị: chạy A1+ cho production để tối ưu chi phí, A2 nếu khách hàng yêu cầu Claude branding.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a:t>
            </a:r>
          </a:p>
          <a:p/>
          <a:p>
            <a:r>
              <a:t>Lộ trình triển khai 6-10 tuần. 2 tuần đầu provisioning Singapore và sign BAA, ingest WHO và ICD-11. Tuần 3-4 train Nova Lite student qua Bedrock Model Distillation. Tuần 5-6 tích hợp EHR FHIR, SharePoint Graph, Cognito federation. Tuần 7-8 red team với 200 adversarial prompt, tune Guardrails, load test. Sau 8 tuần là launch full stack.</a:t>
            </a:r>
          </a:p>
          <a:p/>
          <a:p>
            <a:r>
              <a:t>Sau launch: ICD-11 đồng bộ hàng ngày, SharePoint reconciliation hàng tuần, WHO refresh hàng tháng, Nova Lite retrain hàng quý, red team re-run sau mỗi guardrail incident.</a:t>
            </a:r>
          </a:p>
          <a:p/>
          <a:p>
            <a:r>
              <a:t>Kết luận: PoC đã chứng minh kiến trúc hoạt động ổn định trên on-demand tier, 100% SLA pass cho cả emergency và complex. Production sẽ thêm Reserved Tier, Prompt Caching, ElastiCache để đạt mục tiêu 2 giây cấp cứu. Tổng chi phí baseline 600k calls/tháng khoảng 2,800 USD với Nova hoặc 5,500 USD với Claude. Sẵn sàng đi vào triển khai khi Nova Health Tech approve.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a:t>
            </a:r>
          </a:p>
          <a:p/>
          <a:p>
            <a:r>
              <a:t>Cảm ơn Ban lãnh đạo Nova Health Tech đã lắng nghe. Tôi sẵn sàng trả lời các câu hỏi về kiến trúc, chi phí, lộ trình triển khai, hoặc bất kỳ phần kỹ thuật cụ thể nào. Có thể demo PoC trực tiếp tại http://47.130.120.152/ui/index.html nếu Ban lãnh đạo muốn xem.</a:t>
            </a:r>
          </a:p>
          <a:p/>
          <a:p>
            <a:r>
              <a:t>Tài liệu chi tiết: AWS_Claude_Technical_Proposal.md với 15 sections và 12 architecture diagrams. Báo cáo evaluation 900 câu hỏi tại docs/eval_summary_900.md.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inslide.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286000"/>
            <a:ext cx="12191695" cy="2286000"/>
          </a:xfrm>
          <a:prstGeom prst="rect">
            <a:avLst/>
          </a:prstGeom>
          <a:solidFill>
            <a:srgbClr val="000000">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0"/>
            <a:ext cx="10698480" cy="1097280"/>
          </a:xfrm>
          <a:prstGeom prst="rect">
            <a:avLst/>
          </a:prstGeom>
          <a:noFill/>
        </p:spPr>
        <p:txBody>
          <a:bodyPr wrap="square">
            <a:spAutoFit/>
          </a:bodyPr>
          <a:lstStyle/>
          <a:p>
            <a:pPr algn="ctr"/>
            <a:r>
              <a:rPr sz="4000" b="1">
                <a:solidFill>
                  <a:srgbClr val="FFFFFF"/>
                </a:solidFill>
                <a:latin typeface="Calibri"/>
              </a:rPr>
              <a:t>Nova Health Tech · Clinical GenAI Assistant</a:t>
            </a:r>
          </a:p>
        </p:txBody>
      </p:sp>
      <p:sp>
        <p:nvSpPr>
          <p:cNvPr id="5" name="TextBox 4"/>
          <p:cNvSpPr txBox="1"/>
          <p:nvPr/>
        </p:nvSpPr>
        <p:spPr>
          <a:xfrm>
            <a:off x="731520" y="3657600"/>
            <a:ext cx="10698480" cy="640080"/>
          </a:xfrm>
          <a:prstGeom prst="rect">
            <a:avLst/>
          </a:prstGeom>
          <a:noFill/>
        </p:spPr>
        <p:txBody>
          <a:bodyPr wrap="square">
            <a:spAutoFit/>
          </a:bodyPr>
          <a:lstStyle/>
          <a:p>
            <a:pPr algn="ctr"/>
            <a:r>
              <a:rPr sz="2000">
                <a:solidFill>
                  <a:srgbClr val="FFFFFF"/>
                </a:solidFill>
                <a:latin typeface="Calibri"/>
              </a:rPr>
              <a:t>Technical Architecture Proposal · AWS with Claude · Singapore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Agenda</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Oval 6"/>
          <p:cNvSpPr/>
          <p:nvPr/>
        </p:nvSpPr>
        <p:spPr>
          <a:xfrm>
            <a:off x="640080" y="1371600"/>
            <a:ext cx="640080" cy="6400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71600"/>
            <a:ext cx="640080" cy="640080"/>
          </a:xfrm>
          <a:prstGeom prst="rect">
            <a:avLst/>
          </a:prstGeom>
          <a:noFill/>
        </p:spPr>
        <p:txBody>
          <a:bodyPr wrap="none" anchor="ctr">
            <a:spAutoFit/>
          </a:bodyPr>
          <a:lstStyle/>
          <a:p>
            <a:pPr algn="ctr"/>
            <a:r>
              <a:rPr sz="2000" b="1">
                <a:solidFill>
                  <a:srgbClr val="FFFFFF"/>
                </a:solidFill>
                <a:latin typeface="Calibri"/>
              </a:rPr>
              <a:t>1</a:t>
            </a:r>
          </a:p>
        </p:txBody>
      </p:sp>
      <p:sp>
        <p:nvSpPr>
          <p:cNvPr id="9" name="TextBox 8"/>
          <p:cNvSpPr txBox="1"/>
          <p:nvPr/>
        </p:nvSpPr>
        <p:spPr>
          <a:xfrm>
            <a:off x="1463040" y="1371600"/>
            <a:ext cx="4389120" cy="365760"/>
          </a:xfrm>
          <a:prstGeom prst="rect">
            <a:avLst/>
          </a:prstGeom>
          <a:noFill/>
        </p:spPr>
        <p:txBody>
          <a:bodyPr wrap="none">
            <a:spAutoFit/>
          </a:bodyPr>
          <a:lstStyle/>
          <a:p>
            <a:r>
              <a:rPr sz="1500" b="1">
                <a:solidFill>
                  <a:srgbClr val="CC4F1F"/>
                </a:solidFill>
                <a:latin typeface="Calibri"/>
              </a:rPr>
              <a:t>Scenario &amp; Pain Points</a:t>
            </a:r>
          </a:p>
        </p:txBody>
      </p:sp>
      <p:sp>
        <p:nvSpPr>
          <p:cNvPr id="10" name="TextBox 9"/>
          <p:cNvSpPr txBox="1"/>
          <p:nvPr/>
        </p:nvSpPr>
        <p:spPr>
          <a:xfrm>
            <a:off x="1463040" y="1737360"/>
            <a:ext cx="4389120" cy="274320"/>
          </a:xfrm>
          <a:prstGeom prst="rect">
            <a:avLst/>
          </a:prstGeom>
          <a:noFill/>
        </p:spPr>
        <p:txBody>
          <a:bodyPr wrap="none">
            <a:spAutoFit/>
          </a:bodyPr>
          <a:lstStyle/>
          <a:p>
            <a:r>
              <a:rPr sz="1100">
                <a:solidFill>
                  <a:srgbClr val="646464"/>
                </a:solidFill>
                <a:latin typeface="Calibri"/>
              </a:rPr>
              <a:t>Bối cảnh và các thách thức hiện tại</a:t>
            </a:r>
          </a:p>
        </p:txBody>
      </p:sp>
      <p:sp>
        <p:nvSpPr>
          <p:cNvPr id="11" name="Oval 10"/>
          <p:cNvSpPr/>
          <p:nvPr/>
        </p:nvSpPr>
        <p:spPr>
          <a:xfrm>
            <a:off x="6126480" y="1371600"/>
            <a:ext cx="640080" cy="6400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1371600"/>
            <a:ext cx="640080" cy="640080"/>
          </a:xfrm>
          <a:prstGeom prst="rect">
            <a:avLst/>
          </a:prstGeom>
          <a:noFill/>
        </p:spPr>
        <p:txBody>
          <a:bodyPr wrap="none" anchor="ctr">
            <a:spAutoFit/>
          </a:bodyPr>
          <a:lstStyle/>
          <a:p>
            <a:pPr algn="ctr"/>
            <a:r>
              <a:rPr sz="2000" b="1">
                <a:solidFill>
                  <a:srgbClr val="FFFFFF"/>
                </a:solidFill>
                <a:latin typeface="Calibri"/>
              </a:rPr>
              <a:t>2</a:t>
            </a:r>
          </a:p>
        </p:txBody>
      </p:sp>
      <p:sp>
        <p:nvSpPr>
          <p:cNvPr id="13" name="TextBox 12"/>
          <p:cNvSpPr txBox="1"/>
          <p:nvPr/>
        </p:nvSpPr>
        <p:spPr>
          <a:xfrm>
            <a:off x="6949440" y="1371600"/>
            <a:ext cx="4389120" cy="365760"/>
          </a:xfrm>
          <a:prstGeom prst="rect">
            <a:avLst/>
          </a:prstGeom>
          <a:noFill/>
        </p:spPr>
        <p:txBody>
          <a:bodyPr wrap="none">
            <a:spAutoFit/>
          </a:bodyPr>
          <a:lstStyle/>
          <a:p>
            <a:r>
              <a:rPr sz="1500" b="1">
                <a:solidFill>
                  <a:srgbClr val="CC4F1F"/>
                </a:solidFill>
                <a:latin typeface="Calibri"/>
              </a:rPr>
              <a:t>Solution Overview</a:t>
            </a:r>
          </a:p>
        </p:txBody>
      </p:sp>
      <p:sp>
        <p:nvSpPr>
          <p:cNvPr id="14" name="TextBox 13"/>
          <p:cNvSpPr txBox="1"/>
          <p:nvPr/>
        </p:nvSpPr>
        <p:spPr>
          <a:xfrm>
            <a:off x="6949440" y="1737360"/>
            <a:ext cx="4389120" cy="274320"/>
          </a:xfrm>
          <a:prstGeom prst="rect">
            <a:avLst/>
          </a:prstGeom>
          <a:noFill/>
        </p:spPr>
        <p:txBody>
          <a:bodyPr wrap="none">
            <a:spAutoFit/>
          </a:bodyPr>
          <a:lstStyle/>
          <a:p>
            <a:r>
              <a:rPr sz="1100">
                <a:solidFill>
                  <a:srgbClr val="646464"/>
                </a:solidFill>
                <a:latin typeface="Calibri"/>
              </a:rPr>
              <a:t>Tổng quan kiến trúc đề xuất</a:t>
            </a:r>
          </a:p>
        </p:txBody>
      </p:sp>
      <p:sp>
        <p:nvSpPr>
          <p:cNvPr id="15" name="Oval 14"/>
          <p:cNvSpPr/>
          <p:nvPr/>
        </p:nvSpPr>
        <p:spPr>
          <a:xfrm>
            <a:off x="640080" y="2560320"/>
            <a:ext cx="640080" cy="6400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560320"/>
            <a:ext cx="640080" cy="640080"/>
          </a:xfrm>
          <a:prstGeom prst="rect">
            <a:avLst/>
          </a:prstGeom>
          <a:noFill/>
        </p:spPr>
        <p:txBody>
          <a:bodyPr wrap="none" anchor="ctr">
            <a:spAutoFit/>
          </a:bodyPr>
          <a:lstStyle/>
          <a:p>
            <a:pPr algn="ctr"/>
            <a:r>
              <a:rPr sz="2000" b="1">
                <a:solidFill>
                  <a:srgbClr val="FFFFFF"/>
                </a:solidFill>
                <a:latin typeface="Calibri"/>
              </a:rPr>
              <a:t>3</a:t>
            </a:r>
          </a:p>
        </p:txBody>
      </p:sp>
      <p:sp>
        <p:nvSpPr>
          <p:cNvPr id="17" name="TextBox 16"/>
          <p:cNvSpPr txBox="1"/>
          <p:nvPr/>
        </p:nvSpPr>
        <p:spPr>
          <a:xfrm>
            <a:off x="1463040" y="2560320"/>
            <a:ext cx="4389120" cy="365760"/>
          </a:xfrm>
          <a:prstGeom prst="rect">
            <a:avLst/>
          </a:prstGeom>
          <a:noFill/>
        </p:spPr>
        <p:txBody>
          <a:bodyPr wrap="none">
            <a:spAutoFit/>
          </a:bodyPr>
          <a:lstStyle/>
          <a:p>
            <a:r>
              <a:rPr sz="1500" b="1">
                <a:solidFill>
                  <a:srgbClr val="CC4F1F"/>
                </a:solidFill>
                <a:latin typeface="Calibri"/>
              </a:rPr>
              <a:t>Data Pipeline</a:t>
            </a:r>
          </a:p>
        </p:txBody>
      </p:sp>
      <p:sp>
        <p:nvSpPr>
          <p:cNvPr id="18" name="TextBox 17"/>
          <p:cNvSpPr txBox="1"/>
          <p:nvPr/>
        </p:nvSpPr>
        <p:spPr>
          <a:xfrm>
            <a:off x="1463040" y="2926080"/>
            <a:ext cx="4389120" cy="274320"/>
          </a:xfrm>
          <a:prstGeom prst="rect">
            <a:avLst/>
          </a:prstGeom>
          <a:noFill/>
        </p:spPr>
        <p:txBody>
          <a:bodyPr wrap="none">
            <a:spAutoFit/>
          </a:bodyPr>
          <a:lstStyle/>
          <a:p>
            <a:r>
              <a:rPr sz="1100">
                <a:solidFill>
                  <a:srgbClr val="646464"/>
                </a:solidFill>
                <a:latin typeface="Calibri"/>
              </a:rPr>
              <a:t>Quy trình ingest dữ liệu đa nguồn</a:t>
            </a:r>
          </a:p>
        </p:txBody>
      </p:sp>
      <p:sp>
        <p:nvSpPr>
          <p:cNvPr id="19" name="Oval 18"/>
          <p:cNvSpPr/>
          <p:nvPr/>
        </p:nvSpPr>
        <p:spPr>
          <a:xfrm>
            <a:off x="6126480" y="2560320"/>
            <a:ext cx="640080" cy="6400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560320"/>
            <a:ext cx="640080" cy="640080"/>
          </a:xfrm>
          <a:prstGeom prst="rect">
            <a:avLst/>
          </a:prstGeom>
          <a:noFill/>
        </p:spPr>
        <p:txBody>
          <a:bodyPr wrap="none" anchor="ctr">
            <a:spAutoFit/>
          </a:bodyPr>
          <a:lstStyle/>
          <a:p>
            <a:pPr algn="ctr"/>
            <a:r>
              <a:rPr sz="2000" b="1">
                <a:solidFill>
                  <a:srgbClr val="FFFFFF"/>
                </a:solidFill>
                <a:latin typeface="Calibri"/>
              </a:rPr>
              <a:t>4</a:t>
            </a:r>
          </a:p>
        </p:txBody>
      </p:sp>
      <p:sp>
        <p:nvSpPr>
          <p:cNvPr id="21" name="TextBox 20"/>
          <p:cNvSpPr txBox="1"/>
          <p:nvPr/>
        </p:nvSpPr>
        <p:spPr>
          <a:xfrm>
            <a:off x="6949440" y="2560320"/>
            <a:ext cx="4389120" cy="365760"/>
          </a:xfrm>
          <a:prstGeom prst="rect">
            <a:avLst/>
          </a:prstGeom>
          <a:noFill/>
        </p:spPr>
        <p:txBody>
          <a:bodyPr wrap="none">
            <a:spAutoFit/>
          </a:bodyPr>
          <a:lstStyle/>
          <a:p>
            <a:r>
              <a:rPr sz="1500" b="1">
                <a:solidFill>
                  <a:srgbClr val="CC4F1F"/>
                </a:solidFill>
                <a:latin typeface="Calibri"/>
              </a:rPr>
              <a:t>Model Orchestration &amp; RAG</a:t>
            </a:r>
          </a:p>
        </p:txBody>
      </p:sp>
      <p:sp>
        <p:nvSpPr>
          <p:cNvPr id="22" name="TextBox 21"/>
          <p:cNvSpPr txBox="1"/>
          <p:nvPr/>
        </p:nvSpPr>
        <p:spPr>
          <a:xfrm>
            <a:off x="6949440" y="2926080"/>
            <a:ext cx="4389120" cy="274320"/>
          </a:xfrm>
          <a:prstGeom prst="rect">
            <a:avLst/>
          </a:prstGeom>
          <a:noFill/>
        </p:spPr>
        <p:txBody>
          <a:bodyPr wrap="none">
            <a:spAutoFit/>
          </a:bodyPr>
          <a:lstStyle/>
          <a:p>
            <a:r>
              <a:rPr sz="1100">
                <a:solidFill>
                  <a:srgbClr val="646464"/>
                </a:solidFill>
                <a:latin typeface="Calibri"/>
              </a:rPr>
              <a:t>Điều phối mô hình và truy xuất tri thức</a:t>
            </a:r>
          </a:p>
        </p:txBody>
      </p:sp>
      <p:sp>
        <p:nvSpPr>
          <p:cNvPr id="23" name="Oval 22"/>
          <p:cNvSpPr/>
          <p:nvPr/>
        </p:nvSpPr>
        <p:spPr>
          <a:xfrm>
            <a:off x="640080" y="3749039"/>
            <a:ext cx="640080" cy="6400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749039"/>
            <a:ext cx="640080" cy="640080"/>
          </a:xfrm>
          <a:prstGeom prst="rect">
            <a:avLst/>
          </a:prstGeom>
          <a:noFill/>
        </p:spPr>
        <p:txBody>
          <a:bodyPr wrap="none" anchor="ctr">
            <a:spAutoFit/>
          </a:bodyPr>
          <a:lstStyle/>
          <a:p>
            <a:pPr algn="ctr"/>
            <a:r>
              <a:rPr sz="2000" b="1">
                <a:solidFill>
                  <a:srgbClr val="FFFFFF"/>
                </a:solidFill>
                <a:latin typeface="Calibri"/>
              </a:rPr>
              <a:t>5</a:t>
            </a:r>
          </a:p>
        </p:txBody>
      </p:sp>
      <p:sp>
        <p:nvSpPr>
          <p:cNvPr id="25" name="TextBox 24"/>
          <p:cNvSpPr txBox="1"/>
          <p:nvPr/>
        </p:nvSpPr>
        <p:spPr>
          <a:xfrm>
            <a:off x="1463040" y="3749039"/>
            <a:ext cx="4389120" cy="365760"/>
          </a:xfrm>
          <a:prstGeom prst="rect">
            <a:avLst/>
          </a:prstGeom>
          <a:noFill/>
        </p:spPr>
        <p:txBody>
          <a:bodyPr wrap="none">
            <a:spAutoFit/>
          </a:bodyPr>
          <a:lstStyle/>
          <a:p>
            <a:r>
              <a:rPr sz="1500" b="1">
                <a:solidFill>
                  <a:srgbClr val="CC4F1F"/>
                </a:solidFill>
                <a:latin typeface="Calibri"/>
              </a:rPr>
              <a:t>Network &amp; Integration</a:t>
            </a:r>
          </a:p>
        </p:txBody>
      </p:sp>
      <p:sp>
        <p:nvSpPr>
          <p:cNvPr id="26" name="TextBox 25"/>
          <p:cNvSpPr txBox="1"/>
          <p:nvPr/>
        </p:nvSpPr>
        <p:spPr>
          <a:xfrm>
            <a:off x="1463040" y="4114799"/>
            <a:ext cx="4389120" cy="274320"/>
          </a:xfrm>
          <a:prstGeom prst="rect">
            <a:avLst/>
          </a:prstGeom>
          <a:noFill/>
        </p:spPr>
        <p:txBody>
          <a:bodyPr wrap="none">
            <a:spAutoFit/>
          </a:bodyPr>
          <a:lstStyle/>
          <a:p>
            <a:r>
              <a:rPr sz="1100">
                <a:solidFill>
                  <a:srgbClr val="646464"/>
                </a:solidFill>
                <a:latin typeface="Calibri"/>
              </a:rPr>
              <a:t>Tích hợp mạng với hệ thống bệnh viện</a:t>
            </a:r>
          </a:p>
        </p:txBody>
      </p:sp>
      <p:sp>
        <p:nvSpPr>
          <p:cNvPr id="27" name="Oval 26"/>
          <p:cNvSpPr/>
          <p:nvPr/>
        </p:nvSpPr>
        <p:spPr>
          <a:xfrm>
            <a:off x="6126480" y="3749039"/>
            <a:ext cx="640080" cy="6400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0" y="3749039"/>
            <a:ext cx="640080" cy="640080"/>
          </a:xfrm>
          <a:prstGeom prst="rect">
            <a:avLst/>
          </a:prstGeom>
          <a:noFill/>
        </p:spPr>
        <p:txBody>
          <a:bodyPr wrap="none" anchor="ctr">
            <a:spAutoFit/>
          </a:bodyPr>
          <a:lstStyle/>
          <a:p>
            <a:pPr algn="ctr"/>
            <a:r>
              <a:rPr sz="2000" b="1">
                <a:solidFill>
                  <a:srgbClr val="FFFFFF"/>
                </a:solidFill>
                <a:latin typeface="Calibri"/>
              </a:rPr>
              <a:t>6</a:t>
            </a:r>
          </a:p>
        </p:txBody>
      </p:sp>
      <p:sp>
        <p:nvSpPr>
          <p:cNvPr id="29" name="TextBox 28"/>
          <p:cNvSpPr txBox="1"/>
          <p:nvPr/>
        </p:nvSpPr>
        <p:spPr>
          <a:xfrm>
            <a:off x="6949440" y="3749039"/>
            <a:ext cx="4389120" cy="365760"/>
          </a:xfrm>
          <a:prstGeom prst="rect">
            <a:avLst/>
          </a:prstGeom>
          <a:noFill/>
        </p:spPr>
        <p:txBody>
          <a:bodyPr wrap="none">
            <a:spAutoFit/>
          </a:bodyPr>
          <a:lstStyle/>
          <a:p>
            <a:r>
              <a:rPr sz="1500" b="1">
                <a:solidFill>
                  <a:srgbClr val="CC4F1F"/>
                </a:solidFill>
                <a:latin typeface="Calibri"/>
              </a:rPr>
              <a:t>Security &amp; Compliance</a:t>
            </a:r>
          </a:p>
        </p:txBody>
      </p:sp>
      <p:sp>
        <p:nvSpPr>
          <p:cNvPr id="30" name="TextBox 29"/>
          <p:cNvSpPr txBox="1"/>
          <p:nvPr/>
        </p:nvSpPr>
        <p:spPr>
          <a:xfrm>
            <a:off x="6949440" y="4114799"/>
            <a:ext cx="4389120" cy="274320"/>
          </a:xfrm>
          <a:prstGeom prst="rect">
            <a:avLst/>
          </a:prstGeom>
          <a:noFill/>
        </p:spPr>
        <p:txBody>
          <a:bodyPr wrap="none">
            <a:spAutoFit/>
          </a:bodyPr>
          <a:lstStyle/>
          <a:p>
            <a:r>
              <a:rPr sz="1100">
                <a:solidFill>
                  <a:srgbClr val="646464"/>
                </a:solidFill>
                <a:latin typeface="Calibri"/>
              </a:rPr>
              <a:t>Bảo mật và tuân thủ</a:t>
            </a:r>
          </a:p>
        </p:txBody>
      </p:sp>
      <p:sp>
        <p:nvSpPr>
          <p:cNvPr id="31" name="Oval 30"/>
          <p:cNvSpPr/>
          <p:nvPr/>
        </p:nvSpPr>
        <p:spPr>
          <a:xfrm>
            <a:off x="640080" y="4937760"/>
            <a:ext cx="640080" cy="6400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4937760"/>
            <a:ext cx="640080" cy="640080"/>
          </a:xfrm>
          <a:prstGeom prst="rect">
            <a:avLst/>
          </a:prstGeom>
          <a:noFill/>
        </p:spPr>
        <p:txBody>
          <a:bodyPr wrap="none" anchor="ctr">
            <a:spAutoFit/>
          </a:bodyPr>
          <a:lstStyle/>
          <a:p>
            <a:pPr algn="ctr"/>
            <a:r>
              <a:rPr sz="2000" b="1">
                <a:solidFill>
                  <a:srgbClr val="FFFFFF"/>
                </a:solidFill>
                <a:latin typeface="Calibri"/>
              </a:rPr>
              <a:t>7</a:t>
            </a:r>
          </a:p>
        </p:txBody>
      </p:sp>
      <p:sp>
        <p:nvSpPr>
          <p:cNvPr id="33" name="TextBox 32"/>
          <p:cNvSpPr txBox="1"/>
          <p:nvPr/>
        </p:nvSpPr>
        <p:spPr>
          <a:xfrm>
            <a:off x="1463040" y="4937760"/>
            <a:ext cx="4389120" cy="365760"/>
          </a:xfrm>
          <a:prstGeom prst="rect">
            <a:avLst/>
          </a:prstGeom>
          <a:noFill/>
        </p:spPr>
        <p:txBody>
          <a:bodyPr wrap="none">
            <a:spAutoFit/>
          </a:bodyPr>
          <a:lstStyle/>
          <a:p>
            <a:r>
              <a:rPr sz="1500" b="1">
                <a:solidFill>
                  <a:srgbClr val="CC4F1F"/>
                </a:solidFill>
                <a:latin typeface="Calibri"/>
              </a:rPr>
              <a:t>Performance Results</a:t>
            </a:r>
          </a:p>
        </p:txBody>
      </p:sp>
      <p:sp>
        <p:nvSpPr>
          <p:cNvPr id="34" name="TextBox 33"/>
          <p:cNvSpPr txBox="1"/>
          <p:nvPr/>
        </p:nvSpPr>
        <p:spPr>
          <a:xfrm>
            <a:off x="1463040" y="5303520"/>
            <a:ext cx="4389120" cy="274320"/>
          </a:xfrm>
          <a:prstGeom prst="rect">
            <a:avLst/>
          </a:prstGeom>
          <a:noFill/>
        </p:spPr>
        <p:txBody>
          <a:bodyPr wrap="none">
            <a:spAutoFit/>
          </a:bodyPr>
          <a:lstStyle/>
          <a:p>
            <a:r>
              <a:rPr sz="1100">
                <a:solidFill>
                  <a:srgbClr val="646464"/>
                </a:solidFill>
                <a:latin typeface="Calibri"/>
              </a:rPr>
              <a:t>Kết quả PoC: TTFT, SLA</a:t>
            </a:r>
          </a:p>
        </p:txBody>
      </p:sp>
      <p:sp>
        <p:nvSpPr>
          <p:cNvPr id="35" name="Oval 34"/>
          <p:cNvSpPr/>
          <p:nvPr/>
        </p:nvSpPr>
        <p:spPr>
          <a:xfrm>
            <a:off x="6126480" y="4937760"/>
            <a:ext cx="640080" cy="6400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26480" y="4937760"/>
            <a:ext cx="640080" cy="640080"/>
          </a:xfrm>
          <a:prstGeom prst="rect">
            <a:avLst/>
          </a:prstGeom>
          <a:noFill/>
        </p:spPr>
        <p:txBody>
          <a:bodyPr wrap="none" anchor="ctr">
            <a:spAutoFit/>
          </a:bodyPr>
          <a:lstStyle/>
          <a:p>
            <a:pPr algn="ctr"/>
            <a:r>
              <a:rPr sz="2000" b="1">
                <a:solidFill>
                  <a:srgbClr val="FFFFFF"/>
                </a:solidFill>
                <a:latin typeface="Calibri"/>
              </a:rPr>
              <a:t>8</a:t>
            </a:r>
          </a:p>
        </p:txBody>
      </p:sp>
      <p:sp>
        <p:nvSpPr>
          <p:cNvPr id="37" name="TextBox 36"/>
          <p:cNvSpPr txBox="1"/>
          <p:nvPr/>
        </p:nvSpPr>
        <p:spPr>
          <a:xfrm>
            <a:off x="6949440" y="4937760"/>
            <a:ext cx="4389120" cy="365760"/>
          </a:xfrm>
          <a:prstGeom prst="rect">
            <a:avLst/>
          </a:prstGeom>
          <a:noFill/>
        </p:spPr>
        <p:txBody>
          <a:bodyPr wrap="none">
            <a:spAutoFit/>
          </a:bodyPr>
          <a:lstStyle/>
          <a:p>
            <a:r>
              <a:rPr sz="1500" b="1">
                <a:solidFill>
                  <a:srgbClr val="CC4F1F"/>
                </a:solidFill>
                <a:latin typeface="Calibri"/>
              </a:rPr>
              <a:t>Cost Estimation</a:t>
            </a:r>
          </a:p>
        </p:txBody>
      </p:sp>
      <p:sp>
        <p:nvSpPr>
          <p:cNvPr id="38" name="TextBox 37"/>
          <p:cNvSpPr txBox="1"/>
          <p:nvPr/>
        </p:nvSpPr>
        <p:spPr>
          <a:xfrm>
            <a:off x="6949440" y="5303520"/>
            <a:ext cx="4389120" cy="274320"/>
          </a:xfrm>
          <a:prstGeom prst="rect">
            <a:avLst/>
          </a:prstGeom>
          <a:noFill/>
        </p:spPr>
        <p:txBody>
          <a:bodyPr wrap="none">
            <a:spAutoFit/>
          </a:bodyPr>
          <a:lstStyle/>
          <a:p>
            <a:r>
              <a:rPr sz="1100">
                <a:solidFill>
                  <a:srgbClr val="646464"/>
                </a:solidFill>
                <a:latin typeface="Calibri"/>
              </a:rPr>
              <a:t>Dự toán chi phí vận hành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Scenario &amp; Pain Points</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ounded Rectangle 6"/>
          <p:cNvSpPr/>
          <p:nvPr/>
        </p:nvSpPr>
        <p:spPr>
          <a:xfrm>
            <a:off x="457200" y="1097280"/>
            <a:ext cx="11247120" cy="1188720"/>
          </a:xfrm>
          <a:prstGeom prst="roundRect">
            <a:avLst>
              <a:gd name="adj" fmla="val 8000"/>
            </a:avLst>
          </a:prstGeom>
          <a:solidFill>
            <a:srgbClr val="FFE8DA"/>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10881360" cy="1005840"/>
          </a:xfrm>
          <a:prstGeom prst="rect">
            <a:avLst/>
          </a:prstGeom>
          <a:noFill/>
        </p:spPr>
        <p:txBody>
          <a:bodyPr wrap="square">
            <a:spAutoFit/>
          </a:bodyPr>
          <a:lstStyle/>
          <a:p>
            <a:r>
              <a:rPr sz="1300" b="1">
                <a:solidFill>
                  <a:srgbClr val="CC4F1F"/>
                </a:solidFill>
                <a:latin typeface="Calibri"/>
              </a:rPr>
              <a:t>Context</a:t>
            </a:r>
          </a:p>
          <a:p>
            <a:r>
              <a:rPr sz="1200">
                <a:solidFill>
                  <a:srgbClr val="2C3E50"/>
                </a:solidFill>
                <a:latin typeface="Calibri"/>
              </a:rPr>
              <a:t>Nova's flagship clinical decision-support tool is losing physician trust. Answers feel slow and too generic. The board approved building an internal GenAI assistant for clinical staff and hospital clients, grounded in WHO guidelines, ICD-11, and Nova's internal trial reports.</a:t>
            </a:r>
          </a:p>
        </p:txBody>
      </p:sp>
      <p:sp>
        <p:nvSpPr>
          <p:cNvPr id="9" name="Rounded Rectangle 8"/>
          <p:cNvSpPr/>
          <p:nvPr/>
        </p:nvSpPr>
        <p:spPr>
          <a:xfrm>
            <a:off x="518007" y="2651760"/>
            <a:ext cx="2194560" cy="2560320"/>
          </a:xfrm>
          <a:prstGeom prst="roundRect">
            <a:avLst>
              <a:gd name="adj" fmla="val 8000"/>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8007" y="2926080"/>
            <a:ext cx="2194560" cy="731520"/>
          </a:xfrm>
          <a:prstGeom prst="rect">
            <a:avLst/>
          </a:prstGeom>
          <a:noFill/>
        </p:spPr>
        <p:txBody>
          <a:bodyPr wrap="none">
            <a:spAutoFit/>
          </a:bodyPr>
          <a:lstStyle/>
          <a:p>
            <a:pPr algn="ctr"/>
            <a:r>
              <a:rPr sz="3600">
                <a:latin typeface="Segoe UI Emoji"/>
              </a:rPr>
              <a:t>⚡</a:t>
            </a:r>
          </a:p>
        </p:txBody>
      </p:sp>
      <p:sp>
        <p:nvSpPr>
          <p:cNvPr id="11" name="TextBox 10"/>
          <p:cNvSpPr txBox="1"/>
          <p:nvPr/>
        </p:nvSpPr>
        <p:spPr>
          <a:xfrm>
            <a:off x="518007" y="3749040"/>
            <a:ext cx="2194560" cy="457200"/>
          </a:xfrm>
          <a:prstGeom prst="rect">
            <a:avLst/>
          </a:prstGeom>
          <a:noFill/>
        </p:spPr>
        <p:txBody>
          <a:bodyPr wrap="none">
            <a:spAutoFit/>
          </a:bodyPr>
          <a:lstStyle/>
          <a:p>
            <a:pPr algn="ctr"/>
            <a:r>
              <a:rPr sz="1500" b="1">
                <a:solidFill>
                  <a:srgbClr val="CC4F1F"/>
                </a:solidFill>
                <a:latin typeface="Calibri"/>
              </a:rPr>
              <a:t>Speed</a:t>
            </a:r>
          </a:p>
        </p:txBody>
      </p:sp>
      <p:sp>
        <p:nvSpPr>
          <p:cNvPr id="12" name="TextBox 11"/>
          <p:cNvSpPr txBox="1"/>
          <p:nvPr/>
        </p:nvSpPr>
        <p:spPr>
          <a:xfrm>
            <a:off x="609447" y="4206240"/>
            <a:ext cx="2011680" cy="914400"/>
          </a:xfrm>
          <a:prstGeom prst="rect">
            <a:avLst/>
          </a:prstGeom>
          <a:noFill/>
        </p:spPr>
        <p:txBody>
          <a:bodyPr wrap="square">
            <a:spAutoFit/>
          </a:bodyPr>
          <a:lstStyle/>
          <a:p>
            <a:pPr algn="ctr"/>
            <a:r>
              <a:rPr sz="1100">
                <a:solidFill>
                  <a:srgbClr val="2C3E50"/>
                </a:solidFill>
                <a:latin typeface="Calibri"/>
              </a:rPr>
              <a:t>Emergency response
&lt; 2 seconds</a:t>
            </a:r>
          </a:p>
        </p:txBody>
      </p:sp>
      <p:sp>
        <p:nvSpPr>
          <p:cNvPr id="13" name="Rounded Rectangle 12"/>
          <p:cNvSpPr/>
          <p:nvPr/>
        </p:nvSpPr>
        <p:spPr>
          <a:xfrm>
            <a:off x="2758287" y="2651760"/>
            <a:ext cx="2194560" cy="2560320"/>
          </a:xfrm>
          <a:prstGeom prst="roundRect">
            <a:avLst>
              <a:gd name="adj" fmla="val 8000"/>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58287" y="2926080"/>
            <a:ext cx="2194560" cy="731520"/>
          </a:xfrm>
          <a:prstGeom prst="rect">
            <a:avLst/>
          </a:prstGeom>
          <a:noFill/>
        </p:spPr>
        <p:txBody>
          <a:bodyPr wrap="none">
            <a:spAutoFit/>
          </a:bodyPr>
          <a:lstStyle/>
          <a:p>
            <a:pPr algn="ctr"/>
            <a:r>
              <a:rPr sz="3600">
                <a:latin typeface="Segoe UI Emoji"/>
              </a:rPr>
              <a:t>🔒</a:t>
            </a:r>
          </a:p>
        </p:txBody>
      </p:sp>
      <p:sp>
        <p:nvSpPr>
          <p:cNvPr id="15" name="TextBox 14"/>
          <p:cNvSpPr txBox="1"/>
          <p:nvPr/>
        </p:nvSpPr>
        <p:spPr>
          <a:xfrm>
            <a:off x="2758287" y="3749040"/>
            <a:ext cx="2194560" cy="457200"/>
          </a:xfrm>
          <a:prstGeom prst="rect">
            <a:avLst/>
          </a:prstGeom>
          <a:noFill/>
        </p:spPr>
        <p:txBody>
          <a:bodyPr wrap="none">
            <a:spAutoFit/>
          </a:bodyPr>
          <a:lstStyle/>
          <a:p>
            <a:pPr algn="ctr"/>
            <a:r>
              <a:rPr sz="1500" b="1">
                <a:solidFill>
                  <a:srgbClr val="CC4F1F"/>
                </a:solidFill>
                <a:latin typeface="Calibri"/>
              </a:rPr>
              <a:t>Patient PHI</a:t>
            </a:r>
          </a:p>
        </p:txBody>
      </p:sp>
      <p:sp>
        <p:nvSpPr>
          <p:cNvPr id="16" name="TextBox 15"/>
          <p:cNvSpPr txBox="1"/>
          <p:nvPr/>
        </p:nvSpPr>
        <p:spPr>
          <a:xfrm>
            <a:off x="2849727" y="4206240"/>
            <a:ext cx="2011680" cy="914400"/>
          </a:xfrm>
          <a:prstGeom prst="rect">
            <a:avLst/>
          </a:prstGeom>
          <a:noFill/>
        </p:spPr>
        <p:txBody>
          <a:bodyPr wrap="square">
            <a:spAutoFit/>
          </a:bodyPr>
          <a:lstStyle/>
          <a:p>
            <a:pPr algn="ctr"/>
            <a:r>
              <a:rPr sz="1100">
                <a:solidFill>
                  <a:srgbClr val="2C3E50"/>
                </a:solidFill>
                <a:latin typeface="Calibri"/>
              </a:rPr>
              <a:t>Trial data contains
patient-sensitive info</a:t>
            </a:r>
          </a:p>
        </p:txBody>
      </p:sp>
      <p:sp>
        <p:nvSpPr>
          <p:cNvPr id="17" name="Rounded Rectangle 16"/>
          <p:cNvSpPr/>
          <p:nvPr/>
        </p:nvSpPr>
        <p:spPr>
          <a:xfrm>
            <a:off x="4998567" y="2651760"/>
            <a:ext cx="2194560" cy="2560320"/>
          </a:xfrm>
          <a:prstGeom prst="roundRect">
            <a:avLst>
              <a:gd name="adj" fmla="val 8000"/>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98567" y="2926080"/>
            <a:ext cx="2194560" cy="731520"/>
          </a:xfrm>
          <a:prstGeom prst="rect">
            <a:avLst/>
          </a:prstGeom>
          <a:noFill/>
        </p:spPr>
        <p:txBody>
          <a:bodyPr wrap="none">
            <a:spAutoFit/>
          </a:bodyPr>
          <a:lstStyle/>
          <a:p>
            <a:pPr algn="ctr"/>
            <a:r>
              <a:rPr sz="3600">
                <a:latin typeface="Segoe UI Emoji"/>
              </a:rPr>
              <a:t>📅</a:t>
            </a:r>
          </a:p>
        </p:txBody>
      </p:sp>
      <p:sp>
        <p:nvSpPr>
          <p:cNvPr id="19" name="TextBox 18"/>
          <p:cNvSpPr txBox="1"/>
          <p:nvPr/>
        </p:nvSpPr>
        <p:spPr>
          <a:xfrm>
            <a:off x="4998567" y="3749040"/>
            <a:ext cx="2194560" cy="457200"/>
          </a:xfrm>
          <a:prstGeom prst="rect">
            <a:avLst/>
          </a:prstGeom>
          <a:noFill/>
        </p:spPr>
        <p:txBody>
          <a:bodyPr wrap="none">
            <a:spAutoFit/>
          </a:bodyPr>
          <a:lstStyle/>
          <a:p>
            <a:pPr algn="ctr"/>
            <a:r>
              <a:rPr sz="1500" b="1">
                <a:solidFill>
                  <a:srgbClr val="CC4F1F"/>
                </a:solidFill>
                <a:latin typeface="Calibri"/>
              </a:rPr>
              <a:t>Stale Data</a:t>
            </a:r>
          </a:p>
        </p:txBody>
      </p:sp>
      <p:sp>
        <p:nvSpPr>
          <p:cNvPr id="20" name="TextBox 19"/>
          <p:cNvSpPr txBox="1"/>
          <p:nvPr/>
        </p:nvSpPr>
        <p:spPr>
          <a:xfrm>
            <a:off x="5090007" y="4206240"/>
            <a:ext cx="2011680" cy="914400"/>
          </a:xfrm>
          <a:prstGeom prst="rect">
            <a:avLst/>
          </a:prstGeom>
          <a:noFill/>
        </p:spPr>
        <p:txBody>
          <a:bodyPr wrap="square">
            <a:spAutoFit/>
          </a:bodyPr>
          <a:lstStyle/>
          <a:p>
            <a:pPr algn="ctr"/>
            <a:r>
              <a:rPr sz="1100">
                <a:solidFill>
                  <a:srgbClr val="2C3E50"/>
                </a:solidFill>
                <a:latin typeface="Calibri"/>
              </a:rPr>
              <a:t>WHO updates monthly,
ICD-11 daily</a:t>
            </a:r>
          </a:p>
        </p:txBody>
      </p:sp>
      <p:sp>
        <p:nvSpPr>
          <p:cNvPr id="21" name="Rounded Rectangle 20"/>
          <p:cNvSpPr/>
          <p:nvPr/>
        </p:nvSpPr>
        <p:spPr>
          <a:xfrm>
            <a:off x="7238847" y="2651760"/>
            <a:ext cx="2194560" cy="2560320"/>
          </a:xfrm>
          <a:prstGeom prst="roundRect">
            <a:avLst>
              <a:gd name="adj" fmla="val 8000"/>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38847" y="2926080"/>
            <a:ext cx="2194560" cy="731520"/>
          </a:xfrm>
          <a:prstGeom prst="rect">
            <a:avLst/>
          </a:prstGeom>
          <a:noFill/>
        </p:spPr>
        <p:txBody>
          <a:bodyPr wrap="none">
            <a:spAutoFit/>
          </a:bodyPr>
          <a:lstStyle/>
          <a:p>
            <a:pPr algn="ctr"/>
            <a:r>
              <a:rPr sz="3600">
                <a:latin typeface="Segoe UI Emoji"/>
              </a:rPr>
              <a:t>📄</a:t>
            </a:r>
          </a:p>
        </p:txBody>
      </p:sp>
      <p:sp>
        <p:nvSpPr>
          <p:cNvPr id="23" name="TextBox 22"/>
          <p:cNvSpPr txBox="1"/>
          <p:nvPr/>
        </p:nvSpPr>
        <p:spPr>
          <a:xfrm>
            <a:off x="7238847" y="3749040"/>
            <a:ext cx="2194560" cy="457200"/>
          </a:xfrm>
          <a:prstGeom prst="rect">
            <a:avLst/>
          </a:prstGeom>
          <a:noFill/>
        </p:spPr>
        <p:txBody>
          <a:bodyPr wrap="none">
            <a:spAutoFit/>
          </a:bodyPr>
          <a:lstStyle/>
          <a:p>
            <a:pPr algn="ctr"/>
            <a:r>
              <a:rPr sz="1500" b="1">
                <a:solidFill>
                  <a:srgbClr val="CC4F1F"/>
                </a:solidFill>
                <a:latin typeface="Calibri"/>
              </a:rPr>
              <a:t>Legacy PDFs</a:t>
            </a:r>
          </a:p>
        </p:txBody>
      </p:sp>
      <p:sp>
        <p:nvSpPr>
          <p:cNvPr id="24" name="TextBox 23"/>
          <p:cNvSpPr txBox="1"/>
          <p:nvPr/>
        </p:nvSpPr>
        <p:spPr>
          <a:xfrm>
            <a:off x="7330287" y="4206240"/>
            <a:ext cx="2011680" cy="914400"/>
          </a:xfrm>
          <a:prstGeom prst="rect">
            <a:avLst/>
          </a:prstGeom>
          <a:noFill/>
        </p:spPr>
        <p:txBody>
          <a:bodyPr wrap="square">
            <a:spAutoFit/>
          </a:bodyPr>
          <a:lstStyle/>
          <a:p>
            <a:pPr algn="ctr"/>
            <a:r>
              <a:rPr sz="1100">
                <a:solidFill>
                  <a:srgbClr val="2C3E50"/>
                </a:solidFill>
                <a:latin typeface="Calibri"/>
              </a:rPr>
              <a:t>Inconsistent tagging,
mixed formats</a:t>
            </a:r>
          </a:p>
        </p:txBody>
      </p:sp>
      <p:sp>
        <p:nvSpPr>
          <p:cNvPr id="25" name="Rounded Rectangle 24"/>
          <p:cNvSpPr/>
          <p:nvPr/>
        </p:nvSpPr>
        <p:spPr>
          <a:xfrm>
            <a:off x="9479127" y="2651760"/>
            <a:ext cx="2194560" cy="2560320"/>
          </a:xfrm>
          <a:prstGeom prst="roundRect">
            <a:avLst>
              <a:gd name="adj" fmla="val 8000"/>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79127" y="2926080"/>
            <a:ext cx="2194560" cy="731520"/>
          </a:xfrm>
          <a:prstGeom prst="rect">
            <a:avLst/>
          </a:prstGeom>
          <a:noFill/>
        </p:spPr>
        <p:txBody>
          <a:bodyPr wrap="none">
            <a:spAutoFit/>
          </a:bodyPr>
          <a:lstStyle/>
          <a:p>
            <a:pPr algn="ctr"/>
            <a:r>
              <a:rPr sz="3600">
                <a:latin typeface="Segoe UI Emoji"/>
              </a:rPr>
              <a:t>✓</a:t>
            </a:r>
          </a:p>
        </p:txBody>
      </p:sp>
      <p:sp>
        <p:nvSpPr>
          <p:cNvPr id="27" name="TextBox 26"/>
          <p:cNvSpPr txBox="1"/>
          <p:nvPr/>
        </p:nvSpPr>
        <p:spPr>
          <a:xfrm>
            <a:off x="9479127" y="3749040"/>
            <a:ext cx="2194560" cy="457200"/>
          </a:xfrm>
          <a:prstGeom prst="rect">
            <a:avLst/>
          </a:prstGeom>
          <a:noFill/>
        </p:spPr>
        <p:txBody>
          <a:bodyPr wrap="none">
            <a:spAutoFit/>
          </a:bodyPr>
          <a:lstStyle/>
          <a:p>
            <a:pPr algn="ctr"/>
            <a:r>
              <a:rPr sz="1500" b="1">
                <a:solidFill>
                  <a:srgbClr val="CC4F1F"/>
                </a:solidFill>
                <a:latin typeface="Calibri"/>
              </a:rPr>
              <a:t>Tone</a:t>
            </a:r>
          </a:p>
        </p:txBody>
      </p:sp>
      <p:sp>
        <p:nvSpPr>
          <p:cNvPr id="28" name="TextBox 27"/>
          <p:cNvSpPr txBox="1"/>
          <p:nvPr/>
        </p:nvSpPr>
        <p:spPr>
          <a:xfrm>
            <a:off x="9570567" y="4206240"/>
            <a:ext cx="2011680" cy="914400"/>
          </a:xfrm>
          <a:prstGeom prst="rect">
            <a:avLst/>
          </a:prstGeom>
          <a:noFill/>
        </p:spPr>
        <p:txBody>
          <a:bodyPr wrap="square">
            <a:spAutoFit/>
          </a:bodyPr>
          <a:lstStyle/>
          <a:p>
            <a:pPr algn="ctr"/>
            <a:r>
              <a:rPr sz="1100">
                <a:solidFill>
                  <a:srgbClr val="2C3E50"/>
                </a:solidFill>
                <a:latin typeface="Calibri"/>
              </a:rPr>
              <a:t>Consistent clinical
phrasing required</a:t>
            </a:r>
          </a:p>
        </p:txBody>
      </p:sp>
      <p:sp>
        <p:nvSpPr>
          <p:cNvPr id="29" name="TextBox 28"/>
          <p:cNvSpPr txBox="1"/>
          <p:nvPr/>
        </p:nvSpPr>
        <p:spPr>
          <a:xfrm>
            <a:off x="457200" y="5486400"/>
            <a:ext cx="11247120" cy="731520"/>
          </a:xfrm>
          <a:prstGeom prst="rect">
            <a:avLst/>
          </a:prstGeom>
          <a:noFill/>
        </p:spPr>
        <p:txBody>
          <a:bodyPr wrap="square">
            <a:spAutoFit/>
          </a:bodyPr>
          <a:lstStyle/>
          <a:p>
            <a:pPr algn="ctr"/>
            <a:r>
              <a:rPr sz="1100" i="1">
                <a:solidFill>
                  <a:srgbClr val="646464"/>
                </a:solidFill>
                <a:latin typeface="Calibri"/>
              </a:rPr>
              <a:t>Plus: HIPAA, Singapore PDPA, HCSA, FDA 21 CFR 820, EU AI Act compliance · auditable for 6 years · 600k calls/month at launch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Solution Overview</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ectangle 6"/>
          <p:cNvSpPr/>
          <p:nvPr/>
        </p:nvSpPr>
        <p:spPr>
          <a:xfrm>
            <a:off x="457200" y="1280160"/>
            <a:ext cx="2194560" cy="7772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80160"/>
            <a:ext cx="2194560" cy="777240"/>
          </a:xfrm>
          <a:prstGeom prst="rect">
            <a:avLst/>
          </a:prstGeom>
          <a:noFill/>
        </p:spPr>
        <p:txBody>
          <a:bodyPr wrap="none" anchor="ctr">
            <a:spAutoFit/>
          </a:bodyPr>
          <a:lstStyle/>
          <a:p>
            <a:pPr algn="ctr"/>
            <a:r>
              <a:rPr sz="1400" b="1">
                <a:solidFill>
                  <a:srgbClr val="FFFFFF"/>
                </a:solidFill>
                <a:latin typeface="Calibri"/>
              </a:rPr>
              <a:t>Edge Layer</a:t>
            </a:r>
          </a:p>
        </p:txBody>
      </p:sp>
      <p:sp>
        <p:nvSpPr>
          <p:cNvPr id="9" name="Rectangle 8"/>
          <p:cNvSpPr/>
          <p:nvPr/>
        </p:nvSpPr>
        <p:spPr>
          <a:xfrm>
            <a:off x="2743200" y="1280160"/>
            <a:ext cx="8961120" cy="777240"/>
          </a:xfrm>
          <a:prstGeom prst="rect">
            <a:avLst/>
          </a:prstGeom>
          <a:solidFill>
            <a:srgbClr val="FFE8DA"/>
          </a:solidFill>
          <a:ln w="9525">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1325880"/>
            <a:ext cx="8778240" cy="685800"/>
          </a:xfrm>
          <a:prstGeom prst="rect">
            <a:avLst/>
          </a:prstGeom>
          <a:noFill/>
        </p:spPr>
        <p:txBody>
          <a:bodyPr wrap="square" anchor="ctr">
            <a:spAutoFit/>
          </a:bodyPr>
          <a:lstStyle/>
          <a:p>
            <a:r>
              <a:rPr sz="1200" b="1">
                <a:solidFill>
                  <a:srgbClr val="2C3E50"/>
                </a:solidFill>
                <a:latin typeface="Calibri"/>
              </a:rPr>
              <a:t>CloudFront · WAF · Route 53</a:t>
            </a:r>
          </a:p>
          <a:p>
            <a:r>
              <a:rPr sz="1100" i="1">
                <a:solidFill>
                  <a:srgbClr val="646464"/>
                </a:solidFill>
                <a:latin typeface="Calibri"/>
              </a:rPr>
              <a:t>Public entry, IP allow-list, TLS 1.3</a:t>
            </a:r>
          </a:p>
        </p:txBody>
      </p:sp>
      <p:sp>
        <p:nvSpPr>
          <p:cNvPr id="11" name="Rectangle 10"/>
          <p:cNvSpPr/>
          <p:nvPr/>
        </p:nvSpPr>
        <p:spPr>
          <a:xfrm>
            <a:off x="457200" y="2148840"/>
            <a:ext cx="2194560" cy="77724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148840"/>
            <a:ext cx="2194560" cy="777240"/>
          </a:xfrm>
          <a:prstGeom prst="rect">
            <a:avLst/>
          </a:prstGeom>
          <a:noFill/>
        </p:spPr>
        <p:txBody>
          <a:bodyPr wrap="none" anchor="ctr">
            <a:spAutoFit/>
          </a:bodyPr>
          <a:lstStyle/>
          <a:p>
            <a:pPr algn="ctr"/>
            <a:r>
              <a:rPr sz="1400" b="1">
                <a:solidFill>
                  <a:srgbClr val="FFFFFF"/>
                </a:solidFill>
                <a:latin typeface="Calibri"/>
              </a:rPr>
              <a:t>API Layer</a:t>
            </a:r>
          </a:p>
        </p:txBody>
      </p:sp>
      <p:sp>
        <p:nvSpPr>
          <p:cNvPr id="13" name="Rectangle 12"/>
          <p:cNvSpPr/>
          <p:nvPr/>
        </p:nvSpPr>
        <p:spPr>
          <a:xfrm>
            <a:off x="2743200" y="2148840"/>
            <a:ext cx="8961120" cy="777240"/>
          </a:xfrm>
          <a:prstGeom prst="rect">
            <a:avLst/>
          </a:prstGeom>
          <a:solidFill>
            <a:srgbClr val="FFE8DA"/>
          </a:solidFill>
          <a:ln w="9525">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34640" y="2194560"/>
            <a:ext cx="8778240" cy="685800"/>
          </a:xfrm>
          <a:prstGeom prst="rect">
            <a:avLst/>
          </a:prstGeom>
          <a:noFill/>
        </p:spPr>
        <p:txBody>
          <a:bodyPr wrap="square" anchor="ctr">
            <a:spAutoFit/>
          </a:bodyPr>
          <a:lstStyle/>
          <a:p>
            <a:r>
              <a:rPr sz="1200" b="1">
                <a:solidFill>
                  <a:srgbClr val="2C3E50"/>
                </a:solidFill>
                <a:latin typeface="Calibri"/>
              </a:rPr>
              <a:t>API Gateway · Cognito · Entra ID federation</a:t>
            </a:r>
          </a:p>
          <a:p>
            <a:r>
              <a:rPr sz="1100" i="1">
                <a:solidFill>
                  <a:srgbClr val="646464"/>
                </a:solidFill>
                <a:latin typeface="Calibri"/>
              </a:rPr>
              <a:t>Authenticated REST, per-tenant rate limits</a:t>
            </a:r>
          </a:p>
        </p:txBody>
      </p:sp>
      <p:sp>
        <p:nvSpPr>
          <p:cNvPr id="15" name="Rectangle 14"/>
          <p:cNvSpPr/>
          <p:nvPr/>
        </p:nvSpPr>
        <p:spPr>
          <a:xfrm>
            <a:off x="457200" y="3017520"/>
            <a:ext cx="2194560" cy="7772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017520"/>
            <a:ext cx="2194560" cy="777240"/>
          </a:xfrm>
          <a:prstGeom prst="rect">
            <a:avLst/>
          </a:prstGeom>
          <a:noFill/>
        </p:spPr>
        <p:txBody>
          <a:bodyPr wrap="none" anchor="ctr">
            <a:spAutoFit/>
          </a:bodyPr>
          <a:lstStyle/>
          <a:p>
            <a:pPr algn="ctr"/>
            <a:r>
              <a:rPr sz="1400" b="1">
                <a:solidFill>
                  <a:srgbClr val="FFFFFF"/>
                </a:solidFill>
                <a:latin typeface="Calibri"/>
              </a:rPr>
              <a:t>Compute Layer</a:t>
            </a:r>
          </a:p>
        </p:txBody>
      </p:sp>
      <p:sp>
        <p:nvSpPr>
          <p:cNvPr id="17" name="Rectangle 16"/>
          <p:cNvSpPr/>
          <p:nvPr/>
        </p:nvSpPr>
        <p:spPr>
          <a:xfrm>
            <a:off x="2743200" y="3017520"/>
            <a:ext cx="8961120" cy="777240"/>
          </a:xfrm>
          <a:prstGeom prst="rect">
            <a:avLst/>
          </a:prstGeom>
          <a:solidFill>
            <a:srgbClr val="FFE8DA"/>
          </a:solidFill>
          <a:ln w="9525">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34640" y="3063240"/>
            <a:ext cx="8778240" cy="685800"/>
          </a:xfrm>
          <a:prstGeom prst="rect">
            <a:avLst/>
          </a:prstGeom>
          <a:noFill/>
        </p:spPr>
        <p:txBody>
          <a:bodyPr wrap="square" anchor="ctr">
            <a:spAutoFit/>
          </a:bodyPr>
          <a:lstStyle/>
          <a:p>
            <a:r>
              <a:rPr sz="1200" b="1">
                <a:solidFill>
                  <a:srgbClr val="2C3E50"/>
                </a:solidFill>
                <a:latin typeface="Calibri"/>
              </a:rPr>
              <a:t>Lambda · ECS Fargate · LangGraph orchestration</a:t>
            </a:r>
          </a:p>
          <a:p>
            <a:r>
              <a:rPr sz="1100" i="1">
                <a:solidFill>
                  <a:srgbClr val="646464"/>
                </a:solidFill>
                <a:latin typeface="Calibri"/>
              </a:rPr>
              <a:t>Chat runtime with PHI masking, lane routing</a:t>
            </a:r>
          </a:p>
        </p:txBody>
      </p:sp>
      <p:sp>
        <p:nvSpPr>
          <p:cNvPr id="19" name="Rectangle 18"/>
          <p:cNvSpPr/>
          <p:nvPr/>
        </p:nvSpPr>
        <p:spPr>
          <a:xfrm>
            <a:off x="457200" y="3886200"/>
            <a:ext cx="2194560" cy="77724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886200"/>
            <a:ext cx="2194560" cy="777240"/>
          </a:xfrm>
          <a:prstGeom prst="rect">
            <a:avLst/>
          </a:prstGeom>
          <a:noFill/>
        </p:spPr>
        <p:txBody>
          <a:bodyPr wrap="none" anchor="ctr">
            <a:spAutoFit/>
          </a:bodyPr>
          <a:lstStyle/>
          <a:p>
            <a:pPr algn="ctr"/>
            <a:r>
              <a:rPr sz="1400" b="1">
                <a:solidFill>
                  <a:srgbClr val="FFFFFF"/>
                </a:solidFill>
                <a:latin typeface="Calibri"/>
              </a:rPr>
              <a:t>Model Layer</a:t>
            </a:r>
          </a:p>
        </p:txBody>
      </p:sp>
      <p:sp>
        <p:nvSpPr>
          <p:cNvPr id="21" name="Rectangle 20"/>
          <p:cNvSpPr/>
          <p:nvPr/>
        </p:nvSpPr>
        <p:spPr>
          <a:xfrm>
            <a:off x="2743200" y="3886200"/>
            <a:ext cx="8961120" cy="777240"/>
          </a:xfrm>
          <a:prstGeom prst="rect">
            <a:avLst/>
          </a:prstGeom>
          <a:solidFill>
            <a:srgbClr val="FFE8DA"/>
          </a:solidFill>
          <a:ln w="9525">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34640" y="3931920"/>
            <a:ext cx="8778240" cy="685800"/>
          </a:xfrm>
          <a:prstGeom prst="rect">
            <a:avLst/>
          </a:prstGeom>
          <a:noFill/>
        </p:spPr>
        <p:txBody>
          <a:bodyPr wrap="square" anchor="ctr">
            <a:spAutoFit/>
          </a:bodyPr>
          <a:lstStyle/>
          <a:p>
            <a:r>
              <a:rPr sz="1200" b="1">
                <a:solidFill>
                  <a:srgbClr val="2C3E50"/>
                </a:solidFill>
                <a:latin typeface="Calibri"/>
              </a:rPr>
              <a:t>Claude Haiku 4.5 (emergency) · Claude Sonnet 4.5 (complex) · Nova Micro (router)</a:t>
            </a:r>
          </a:p>
          <a:p>
            <a:r>
              <a:rPr sz="1100" i="1">
                <a:solidFill>
                  <a:srgbClr val="646464"/>
                </a:solidFill>
                <a:latin typeface="Calibri"/>
              </a:rPr>
              <a:t>Streaming Converse API, 100% SG-native</a:t>
            </a:r>
          </a:p>
        </p:txBody>
      </p:sp>
      <p:sp>
        <p:nvSpPr>
          <p:cNvPr id="23" name="Rectangle 22"/>
          <p:cNvSpPr/>
          <p:nvPr/>
        </p:nvSpPr>
        <p:spPr>
          <a:xfrm>
            <a:off x="457200" y="4754880"/>
            <a:ext cx="2194560" cy="7772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754880"/>
            <a:ext cx="2194560" cy="777240"/>
          </a:xfrm>
          <a:prstGeom prst="rect">
            <a:avLst/>
          </a:prstGeom>
          <a:noFill/>
        </p:spPr>
        <p:txBody>
          <a:bodyPr wrap="none" anchor="ctr">
            <a:spAutoFit/>
          </a:bodyPr>
          <a:lstStyle/>
          <a:p>
            <a:pPr algn="ctr"/>
            <a:r>
              <a:rPr sz="1400" b="1">
                <a:solidFill>
                  <a:srgbClr val="FFFFFF"/>
                </a:solidFill>
                <a:latin typeface="Calibri"/>
              </a:rPr>
              <a:t>Knowledge Layer</a:t>
            </a:r>
          </a:p>
        </p:txBody>
      </p:sp>
      <p:sp>
        <p:nvSpPr>
          <p:cNvPr id="25" name="Rectangle 24"/>
          <p:cNvSpPr/>
          <p:nvPr/>
        </p:nvSpPr>
        <p:spPr>
          <a:xfrm>
            <a:off x="2743200" y="4754880"/>
            <a:ext cx="8961120" cy="777240"/>
          </a:xfrm>
          <a:prstGeom prst="rect">
            <a:avLst/>
          </a:prstGeom>
          <a:solidFill>
            <a:srgbClr val="FFE8DA"/>
          </a:solidFill>
          <a:ln w="9525">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4640" y="4800600"/>
            <a:ext cx="8778240" cy="685800"/>
          </a:xfrm>
          <a:prstGeom prst="rect">
            <a:avLst/>
          </a:prstGeom>
          <a:noFill/>
        </p:spPr>
        <p:txBody>
          <a:bodyPr wrap="square" anchor="ctr">
            <a:spAutoFit/>
          </a:bodyPr>
          <a:lstStyle/>
          <a:p>
            <a:r>
              <a:rPr sz="1200" b="1">
                <a:solidFill>
                  <a:srgbClr val="2C3E50"/>
                </a:solidFill>
                <a:latin typeface="Calibri"/>
              </a:rPr>
              <a:t>OpenSearch Serverless (vector) · Neptune Analytics (GraphRAG) · Bedrock Guardrails</a:t>
            </a:r>
          </a:p>
          <a:p>
            <a:r>
              <a:rPr sz="1100" i="1">
                <a:solidFill>
                  <a:srgbClr val="646464"/>
                </a:solidFill>
                <a:latin typeface="Calibri"/>
              </a:rPr>
              <a:t>Hybrid retrieval + entity-aware traversal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Data Pipeline</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ounded Rectangle 6"/>
          <p:cNvSpPr/>
          <p:nvPr/>
        </p:nvSpPr>
        <p:spPr>
          <a:xfrm>
            <a:off x="678027" y="1371600"/>
            <a:ext cx="1691640" cy="1645920"/>
          </a:xfrm>
          <a:prstGeom prst="roundRect">
            <a:avLst>
              <a:gd name="adj" fmla="val 8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78027" y="1371600"/>
            <a:ext cx="1691640" cy="4572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8027" y="1371600"/>
            <a:ext cx="1691640" cy="457200"/>
          </a:xfrm>
          <a:prstGeom prst="rect">
            <a:avLst/>
          </a:prstGeom>
          <a:noFill/>
        </p:spPr>
        <p:txBody>
          <a:bodyPr wrap="none" anchor="ctr">
            <a:spAutoFit/>
          </a:bodyPr>
          <a:lstStyle/>
          <a:p>
            <a:pPr algn="ctr"/>
            <a:r>
              <a:rPr sz="1300" b="1">
                <a:solidFill>
                  <a:srgbClr val="FFFFFF"/>
                </a:solidFill>
                <a:latin typeface="Calibri"/>
              </a:rPr>
              <a:t>Sources</a:t>
            </a:r>
          </a:p>
        </p:txBody>
      </p:sp>
      <p:sp>
        <p:nvSpPr>
          <p:cNvPr id="10" name="TextBox 9"/>
          <p:cNvSpPr txBox="1"/>
          <p:nvPr/>
        </p:nvSpPr>
        <p:spPr>
          <a:xfrm>
            <a:off x="769467" y="1920240"/>
            <a:ext cx="1508760" cy="1005840"/>
          </a:xfrm>
          <a:prstGeom prst="rect">
            <a:avLst/>
          </a:prstGeom>
          <a:noFill/>
        </p:spPr>
        <p:txBody>
          <a:bodyPr wrap="square">
            <a:spAutoFit/>
          </a:bodyPr>
          <a:lstStyle/>
          <a:p>
            <a:pPr algn="ctr"/>
            <a:r>
              <a:rPr sz="1050">
                <a:solidFill>
                  <a:srgbClr val="2C3E50"/>
                </a:solidFill>
                <a:latin typeface="Calibri"/>
              </a:rPr>
              <a:t>WHO PDFs
ICD-11 API
SharePoint</a:t>
            </a:r>
          </a:p>
        </p:txBody>
      </p:sp>
      <p:cxnSp>
        <p:nvCxnSpPr>
          <p:cNvPr id="11" name="Connector 10"/>
          <p:cNvCxnSpPr/>
          <p:nvPr/>
        </p:nvCxnSpPr>
        <p:spPr>
          <a:xfrm>
            <a:off x="2369667.5" y="2194560.0"/>
            <a:ext cx="137160.0" cy="0.0"/>
          </a:xfrm>
          <a:prstGeom prst="line">
            <a:avLst/>
          </a:prstGeom>
          <a:ln w="25400">
            <a:solidFill>
              <a:srgbClr val="FF6B35"/>
            </a:solidFill>
            <a:tailEnd type="triangle" w="med" h="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506827" y="1371600"/>
            <a:ext cx="1691640" cy="1645920"/>
          </a:xfrm>
          <a:prstGeom prst="roundRect">
            <a:avLst>
              <a:gd name="adj" fmla="val 8000"/>
            </a:avLst>
          </a:prstGeom>
          <a:solidFill>
            <a:srgbClr val="FFFFFF"/>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06827" y="1371600"/>
            <a:ext cx="1691640" cy="45720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06827" y="1371600"/>
            <a:ext cx="1691640" cy="457200"/>
          </a:xfrm>
          <a:prstGeom prst="rect">
            <a:avLst/>
          </a:prstGeom>
          <a:noFill/>
        </p:spPr>
        <p:txBody>
          <a:bodyPr wrap="none" anchor="ctr">
            <a:spAutoFit/>
          </a:bodyPr>
          <a:lstStyle/>
          <a:p>
            <a:pPr algn="ctr"/>
            <a:r>
              <a:rPr sz="1300" b="1">
                <a:solidFill>
                  <a:srgbClr val="FFFFFF"/>
                </a:solidFill>
                <a:latin typeface="Calibri"/>
              </a:rPr>
              <a:t>Ingest</a:t>
            </a:r>
          </a:p>
        </p:txBody>
      </p:sp>
      <p:sp>
        <p:nvSpPr>
          <p:cNvPr id="15" name="TextBox 14"/>
          <p:cNvSpPr txBox="1"/>
          <p:nvPr/>
        </p:nvSpPr>
        <p:spPr>
          <a:xfrm>
            <a:off x="2598267" y="1920240"/>
            <a:ext cx="1508760" cy="1005840"/>
          </a:xfrm>
          <a:prstGeom prst="rect">
            <a:avLst/>
          </a:prstGeom>
          <a:noFill/>
        </p:spPr>
        <p:txBody>
          <a:bodyPr wrap="square">
            <a:spAutoFit/>
          </a:bodyPr>
          <a:lstStyle/>
          <a:p>
            <a:pPr algn="ctr"/>
            <a:r>
              <a:rPr sz="1050">
                <a:solidFill>
                  <a:srgbClr val="2C3E50"/>
                </a:solidFill>
                <a:latin typeface="Calibri"/>
              </a:rPr>
              <a:t>S3 raw
GuardDuty
Macie scan</a:t>
            </a:r>
          </a:p>
        </p:txBody>
      </p:sp>
      <p:cxnSp>
        <p:nvCxnSpPr>
          <p:cNvPr id="16" name="Connector 15"/>
          <p:cNvCxnSpPr/>
          <p:nvPr/>
        </p:nvCxnSpPr>
        <p:spPr>
          <a:xfrm>
            <a:off x="4198467.5" y="2194560.0"/>
            <a:ext cx="137160.0" cy="0.0"/>
          </a:xfrm>
          <a:prstGeom prst="line">
            <a:avLst/>
          </a:prstGeom>
          <a:ln w="25400">
            <a:solidFill>
              <a:srgbClr val="FF6B35"/>
            </a:solidFill>
            <a:tailEnd type="triangle" w="med" h="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335627" y="1371600"/>
            <a:ext cx="1691640" cy="1645920"/>
          </a:xfrm>
          <a:prstGeom prst="roundRect">
            <a:avLst>
              <a:gd name="adj" fmla="val 8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35627" y="1371600"/>
            <a:ext cx="1691640" cy="4572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35627" y="1371600"/>
            <a:ext cx="1691640" cy="457200"/>
          </a:xfrm>
          <a:prstGeom prst="rect">
            <a:avLst/>
          </a:prstGeom>
          <a:noFill/>
        </p:spPr>
        <p:txBody>
          <a:bodyPr wrap="none" anchor="ctr">
            <a:spAutoFit/>
          </a:bodyPr>
          <a:lstStyle/>
          <a:p>
            <a:pPr algn="ctr"/>
            <a:r>
              <a:rPr sz="1300" b="1">
                <a:solidFill>
                  <a:srgbClr val="FFFFFF"/>
                </a:solidFill>
                <a:latin typeface="Calibri"/>
              </a:rPr>
              <a:t>Parse</a:t>
            </a:r>
          </a:p>
        </p:txBody>
      </p:sp>
      <p:sp>
        <p:nvSpPr>
          <p:cNvPr id="20" name="TextBox 19"/>
          <p:cNvSpPr txBox="1"/>
          <p:nvPr/>
        </p:nvSpPr>
        <p:spPr>
          <a:xfrm>
            <a:off x="4427067" y="1920240"/>
            <a:ext cx="1508760" cy="1005840"/>
          </a:xfrm>
          <a:prstGeom prst="rect">
            <a:avLst/>
          </a:prstGeom>
          <a:noFill/>
        </p:spPr>
        <p:txBody>
          <a:bodyPr wrap="square">
            <a:spAutoFit/>
          </a:bodyPr>
          <a:lstStyle/>
          <a:p>
            <a:pPr algn="ctr"/>
            <a:r>
              <a:rPr sz="1050">
                <a:solidFill>
                  <a:srgbClr val="2C3E50"/>
                </a:solidFill>
                <a:latin typeface="Calibri"/>
              </a:rPr>
              <a:t>Bedrock Data
Automation
(Sydney)</a:t>
            </a:r>
          </a:p>
        </p:txBody>
      </p:sp>
      <p:cxnSp>
        <p:nvCxnSpPr>
          <p:cNvPr id="21" name="Connector 20"/>
          <p:cNvCxnSpPr/>
          <p:nvPr/>
        </p:nvCxnSpPr>
        <p:spPr>
          <a:xfrm>
            <a:off x="6027267.5" y="2194560.0"/>
            <a:ext cx="137160.0" cy="0.0"/>
          </a:xfrm>
          <a:prstGeom prst="line">
            <a:avLst/>
          </a:prstGeom>
          <a:ln w="25400">
            <a:solidFill>
              <a:srgbClr val="FF6B35"/>
            </a:solidFill>
            <a:tailEnd type="triangle" w="med" h="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4427" y="1371600"/>
            <a:ext cx="1691640" cy="1645920"/>
          </a:xfrm>
          <a:prstGeom prst="roundRect">
            <a:avLst>
              <a:gd name="adj" fmla="val 8000"/>
            </a:avLst>
          </a:prstGeom>
          <a:solidFill>
            <a:srgbClr val="FFFFFF"/>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64427" y="1371600"/>
            <a:ext cx="1691640" cy="45720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64427" y="1371600"/>
            <a:ext cx="1691640" cy="457200"/>
          </a:xfrm>
          <a:prstGeom prst="rect">
            <a:avLst/>
          </a:prstGeom>
          <a:noFill/>
        </p:spPr>
        <p:txBody>
          <a:bodyPr wrap="none" anchor="ctr">
            <a:spAutoFit/>
          </a:bodyPr>
          <a:lstStyle/>
          <a:p>
            <a:pPr algn="ctr"/>
            <a:r>
              <a:rPr sz="1300" b="1">
                <a:solidFill>
                  <a:srgbClr val="FFFFFF"/>
                </a:solidFill>
                <a:latin typeface="Calibri"/>
              </a:rPr>
              <a:t>Chunk</a:t>
            </a:r>
          </a:p>
        </p:txBody>
      </p:sp>
      <p:sp>
        <p:nvSpPr>
          <p:cNvPr id="25" name="TextBox 24"/>
          <p:cNvSpPr txBox="1"/>
          <p:nvPr/>
        </p:nvSpPr>
        <p:spPr>
          <a:xfrm>
            <a:off x="6255867" y="1920240"/>
            <a:ext cx="1508760" cy="1005840"/>
          </a:xfrm>
          <a:prstGeom prst="rect">
            <a:avLst/>
          </a:prstGeom>
          <a:noFill/>
        </p:spPr>
        <p:txBody>
          <a:bodyPr wrap="square">
            <a:spAutoFit/>
          </a:bodyPr>
          <a:lstStyle/>
          <a:p>
            <a:pPr algn="ctr"/>
            <a:r>
              <a:rPr sz="1050">
                <a:solidFill>
                  <a:srgbClr val="2C3E50"/>
                </a:solidFill>
                <a:latin typeface="Calibri"/>
              </a:rPr>
              <a:t>Hierarchical
Semantic
Metadata tags</a:t>
            </a:r>
          </a:p>
        </p:txBody>
      </p:sp>
      <p:cxnSp>
        <p:nvCxnSpPr>
          <p:cNvPr id="26" name="Connector 25"/>
          <p:cNvCxnSpPr/>
          <p:nvPr/>
        </p:nvCxnSpPr>
        <p:spPr>
          <a:xfrm>
            <a:off x="7856067.5" y="2194560.0"/>
            <a:ext cx="137160.0" cy="0.0"/>
          </a:xfrm>
          <a:prstGeom prst="line">
            <a:avLst/>
          </a:prstGeom>
          <a:ln w="25400">
            <a:solidFill>
              <a:srgbClr val="FF6B35"/>
            </a:solidFill>
            <a:tailEnd type="triangle" w="med" h="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993227" y="1371600"/>
            <a:ext cx="1691640" cy="1645920"/>
          </a:xfrm>
          <a:prstGeom prst="roundRect">
            <a:avLst>
              <a:gd name="adj" fmla="val 8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93227" y="1371600"/>
            <a:ext cx="1691640" cy="4572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3227" y="1371600"/>
            <a:ext cx="1691640" cy="457200"/>
          </a:xfrm>
          <a:prstGeom prst="rect">
            <a:avLst/>
          </a:prstGeom>
          <a:noFill/>
        </p:spPr>
        <p:txBody>
          <a:bodyPr wrap="none" anchor="ctr">
            <a:spAutoFit/>
          </a:bodyPr>
          <a:lstStyle/>
          <a:p>
            <a:pPr algn="ctr"/>
            <a:r>
              <a:rPr sz="1300" b="1">
                <a:solidFill>
                  <a:srgbClr val="FFFFFF"/>
                </a:solidFill>
                <a:latin typeface="Calibri"/>
              </a:rPr>
              <a:t>Embed</a:t>
            </a:r>
          </a:p>
        </p:txBody>
      </p:sp>
      <p:sp>
        <p:nvSpPr>
          <p:cNvPr id="30" name="TextBox 29"/>
          <p:cNvSpPr txBox="1"/>
          <p:nvPr/>
        </p:nvSpPr>
        <p:spPr>
          <a:xfrm>
            <a:off x="8084667" y="1920240"/>
            <a:ext cx="1508760" cy="1005840"/>
          </a:xfrm>
          <a:prstGeom prst="rect">
            <a:avLst/>
          </a:prstGeom>
          <a:noFill/>
        </p:spPr>
        <p:txBody>
          <a:bodyPr wrap="square">
            <a:spAutoFit/>
          </a:bodyPr>
          <a:lstStyle/>
          <a:p>
            <a:pPr algn="ctr"/>
            <a:r>
              <a:rPr sz="1050">
                <a:solidFill>
                  <a:srgbClr val="2C3E50"/>
                </a:solidFill>
                <a:latin typeface="Calibri"/>
              </a:rPr>
              <a:t>Cohere Embed
Multilingual v3
(SG-native)</a:t>
            </a:r>
          </a:p>
        </p:txBody>
      </p:sp>
      <p:cxnSp>
        <p:nvCxnSpPr>
          <p:cNvPr id="31" name="Connector 30"/>
          <p:cNvCxnSpPr/>
          <p:nvPr/>
        </p:nvCxnSpPr>
        <p:spPr>
          <a:xfrm>
            <a:off x="9684867.5" y="2194560.0"/>
            <a:ext cx="137160.0" cy="0.0"/>
          </a:xfrm>
          <a:prstGeom prst="line">
            <a:avLst/>
          </a:prstGeom>
          <a:ln w="25400">
            <a:solidFill>
              <a:srgbClr val="FF6B35"/>
            </a:solidFill>
            <a:tailEnd type="triangle" w="med" h="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822027" y="1371600"/>
            <a:ext cx="1691640" cy="1645920"/>
          </a:xfrm>
          <a:prstGeom prst="roundRect">
            <a:avLst>
              <a:gd name="adj" fmla="val 8000"/>
            </a:avLst>
          </a:prstGeom>
          <a:solidFill>
            <a:srgbClr val="FFFFFF"/>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822027" y="1371600"/>
            <a:ext cx="1691640" cy="45720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22027" y="1371600"/>
            <a:ext cx="1691640" cy="457200"/>
          </a:xfrm>
          <a:prstGeom prst="rect">
            <a:avLst/>
          </a:prstGeom>
          <a:noFill/>
        </p:spPr>
        <p:txBody>
          <a:bodyPr wrap="none" anchor="ctr">
            <a:spAutoFit/>
          </a:bodyPr>
          <a:lstStyle/>
          <a:p>
            <a:pPr algn="ctr"/>
            <a:r>
              <a:rPr sz="1300" b="1">
                <a:solidFill>
                  <a:srgbClr val="FFFFFF"/>
                </a:solidFill>
                <a:latin typeface="Calibri"/>
              </a:rPr>
              <a:t>Index</a:t>
            </a:r>
          </a:p>
        </p:txBody>
      </p:sp>
      <p:sp>
        <p:nvSpPr>
          <p:cNvPr id="35" name="TextBox 34"/>
          <p:cNvSpPr txBox="1"/>
          <p:nvPr/>
        </p:nvSpPr>
        <p:spPr>
          <a:xfrm>
            <a:off x="9913467" y="1920240"/>
            <a:ext cx="1508760" cy="1005840"/>
          </a:xfrm>
          <a:prstGeom prst="rect">
            <a:avLst/>
          </a:prstGeom>
          <a:noFill/>
        </p:spPr>
        <p:txBody>
          <a:bodyPr wrap="square">
            <a:spAutoFit/>
          </a:bodyPr>
          <a:lstStyle/>
          <a:p>
            <a:pPr algn="ctr"/>
            <a:r>
              <a:rPr sz="1050">
                <a:solidFill>
                  <a:srgbClr val="2C3E50"/>
                </a:solidFill>
                <a:latin typeface="Calibri"/>
              </a:rPr>
              <a:t>OpenSearch SL
+ Neptune
(GraphRAG)</a:t>
            </a:r>
          </a:p>
        </p:txBody>
      </p:sp>
      <p:sp>
        <p:nvSpPr>
          <p:cNvPr id="36" name="Rounded Rectangle 35"/>
          <p:cNvSpPr/>
          <p:nvPr/>
        </p:nvSpPr>
        <p:spPr>
          <a:xfrm>
            <a:off x="457200" y="3383280"/>
            <a:ext cx="5486400" cy="2103120"/>
          </a:xfrm>
          <a:prstGeom prst="roundRect">
            <a:avLst>
              <a:gd name="adj" fmla="val 6000"/>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 y="3383280"/>
            <a:ext cx="5486400" cy="4114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3383280"/>
            <a:ext cx="5486400" cy="411480"/>
          </a:xfrm>
          <a:prstGeom prst="rect">
            <a:avLst/>
          </a:prstGeom>
          <a:noFill/>
        </p:spPr>
        <p:txBody>
          <a:bodyPr wrap="none" lIns="137160" anchor="ctr">
            <a:spAutoFit/>
          </a:bodyPr>
          <a:lstStyle/>
          <a:p>
            <a:r>
              <a:rPr sz="1300" b="1">
                <a:solidFill>
                  <a:srgbClr val="FFFFFF"/>
                </a:solidFill>
                <a:latin typeface="Calibri"/>
              </a:rPr>
              <a:t>Refresh Cadence</a:t>
            </a:r>
          </a:p>
        </p:txBody>
      </p:sp>
      <p:sp>
        <p:nvSpPr>
          <p:cNvPr id="39" name="TextBox 38"/>
          <p:cNvSpPr txBox="1"/>
          <p:nvPr/>
        </p:nvSpPr>
        <p:spPr>
          <a:xfrm>
            <a:off x="548640" y="3886200"/>
            <a:ext cx="5303520" cy="1554480"/>
          </a:xfrm>
          <a:prstGeom prst="rect">
            <a:avLst/>
          </a:prstGeom>
          <a:noFill/>
        </p:spPr>
        <p:txBody>
          <a:bodyPr wrap="square">
            <a:spAutoFit/>
          </a:bodyPr>
          <a:lstStyle/>
          <a:p>
            <a:pPr>
              <a:spcAft>
                <a:spcPts val="300"/>
              </a:spcAft>
            </a:pPr>
            <a:r>
              <a:rPr sz="1100">
                <a:solidFill>
                  <a:srgbClr val="2C3E50"/>
                </a:solidFill>
                <a:latin typeface="Calibri"/>
              </a:rPr>
              <a:t>WHO ICD-11 API:  Daily 02:00 SGT (delta sync)</a:t>
            </a:r>
          </a:p>
          <a:p>
            <a:pPr>
              <a:spcAft>
                <a:spcPts val="300"/>
              </a:spcAft>
            </a:pPr>
            <a:r>
              <a:rPr sz="1100">
                <a:solidFill>
                  <a:srgbClr val="2C3E50"/>
                </a:solidFill>
                <a:latin typeface="Calibri"/>
              </a:rPr>
              <a:t>WHO guideline PDFs:  Monthly day 1 + RSS webhook</a:t>
            </a:r>
          </a:p>
          <a:p>
            <a:pPr>
              <a:spcAft>
                <a:spcPts val="300"/>
              </a:spcAft>
            </a:pPr>
            <a:r>
              <a:rPr sz="1100">
                <a:solidFill>
                  <a:srgbClr val="2C3E50"/>
                </a:solidFill>
                <a:latin typeface="Calibri"/>
              </a:rPr>
              <a:t>SharePoint trials:  Weekly Sun 03:00 SGT + Graph webhook</a:t>
            </a:r>
          </a:p>
          <a:p>
            <a:pPr>
              <a:spcAft>
                <a:spcPts val="300"/>
              </a:spcAft>
            </a:pPr>
            <a:r>
              <a:rPr sz="1100">
                <a:solidFill>
                  <a:srgbClr val="2C3E50"/>
                </a:solidFill>
                <a:latin typeface="Calibri"/>
              </a:rPr>
              <a:t>Manual upload:  Ad hoc via VPN admin portal</a:t>
            </a:r>
          </a:p>
          <a:p>
            <a:pPr>
              <a:spcAft>
                <a:spcPts val="300"/>
              </a:spcAft>
            </a:pPr>
            <a:r>
              <a:rPr sz="1100">
                <a:solidFill>
                  <a:srgbClr val="2C3E50"/>
                </a:solidFill>
                <a:latin typeface="Calibri"/>
              </a:rPr>
              <a:t/>
            </a:r>
          </a:p>
          <a:p>
            <a:pPr>
              <a:spcAft>
                <a:spcPts val="300"/>
              </a:spcAft>
            </a:pPr>
            <a:r>
              <a:rPr sz="1100">
                <a:solidFill>
                  <a:srgbClr val="2C3E50"/>
                </a:solidFill>
                <a:latin typeface="Calibri"/>
              </a:rPr>
              <a:t>Cache invalidation: tag-based, only matching chunks flushed.</a:t>
            </a:r>
          </a:p>
        </p:txBody>
      </p:sp>
      <p:sp>
        <p:nvSpPr>
          <p:cNvPr id="40" name="Rounded Rectangle 39"/>
          <p:cNvSpPr/>
          <p:nvPr/>
        </p:nvSpPr>
        <p:spPr>
          <a:xfrm>
            <a:off x="6217920" y="3383280"/>
            <a:ext cx="5486400" cy="2103120"/>
          </a:xfrm>
          <a:prstGeom prst="roundRect">
            <a:avLst>
              <a:gd name="adj" fmla="val 6000"/>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17920" y="3383280"/>
            <a:ext cx="5486400" cy="4114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0" y="3383280"/>
            <a:ext cx="5486400" cy="411480"/>
          </a:xfrm>
          <a:prstGeom prst="rect">
            <a:avLst/>
          </a:prstGeom>
          <a:noFill/>
        </p:spPr>
        <p:txBody>
          <a:bodyPr wrap="none" lIns="137160" anchor="ctr">
            <a:spAutoFit/>
          </a:bodyPr>
          <a:lstStyle/>
          <a:p>
            <a:r>
              <a:rPr sz="1300" b="1">
                <a:solidFill>
                  <a:srgbClr val="FFFFFF"/>
                </a:solidFill>
                <a:latin typeface="Calibri"/>
              </a:rPr>
              <a:t>Multi-Strategy Chunking</a:t>
            </a:r>
          </a:p>
        </p:txBody>
      </p:sp>
      <p:sp>
        <p:nvSpPr>
          <p:cNvPr id="43" name="TextBox 42"/>
          <p:cNvSpPr txBox="1"/>
          <p:nvPr/>
        </p:nvSpPr>
        <p:spPr>
          <a:xfrm>
            <a:off x="6309360" y="3886200"/>
            <a:ext cx="5303520" cy="1554480"/>
          </a:xfrm>
          <a:prstGeom prst="rect">
            <a:avLst/>
          </a:prstGeom>
          <a:noFill/>
        </p:spPr>
        <p:txBody>
          <a:bodyPr wrap="square">
            <a:spAutoFit/>
          </a:bodyPr>
          <a:lstStyle/>
          <a:p>
            <a:pPr>
              <a:spcAft>
                <a:spcPts val="300"/>
              </a:spcAft>
            </a:pPr>
            <a:r>
              <a:rPr sz="1100">
                <a:solidFill>
                  <a:srgbClr val="2C3E50"/>
                </a:solidFill>
                <a:latin typeface="Calibri"/>
              </a:rPr>
              <a:t>WHO guidelines:  Hierarchical (parent 1500 / child 300)</a:t>
            </a:r>
          </a:p>
          <a:p>
            <a:pPr>
              <a:spcAft>
                <a:spcPts val="300"/>
              </a:spcAft>
            </a:pPr>
            <a:r>
              <a:rPr sz="1100">
                <a:solidFill>
                  <a:srgbClr val="2C3E50"/>
                </a:solidFill>
                <a:latin typeface="Calibri"/>
              </a:rPr>
              <a:t>Clinical trials:  Semantic (max 512, breakpoint 80%)</a:t>
            </a:r>
          </a:p>
          <a:p>
            <a:pPr>
              <a:spcAft>
                <a:spcPts val="300"/>
              </a:spcAft>
            </a:pPr>
            <a:r>
              <a:rPr sz="1100">
                <a:solidFill>
                  <a:srgbClr val="2C3E50"/>
                </a:solidFill>
                <a:latin typeface="Calibri"/>
              </a:rPr>
              <a:t>ICD-11 entries:  No-chunk (1 entity = 1 chunk)</a:t>
            </a:r>
          </a:p>
          <a:p>
            <a:pPr>
              <a:spcAft>
                <a:spcPts val="300"/>
              </a:spcAft>
            </a:pPr>
            <a:r>
              <a:rPr sz="1100">
                <a:solidFill>
                  <a:srgbClr val="2C3E50"/>
                </a:solidFill>
                <a:latin typeface="Calibri"/>
              </a:rPr>
              <a:t/>
            </a:r>
          </a:p>
          <a:p>
            <a:pPr>
              <a:spcAft>
                <a:spcPts val="300"/>
              </a:spcAft>
            </a:pPr>
            <a:r>
              <a:rPr sz="1100">
                <a:solidFill>
                  <a:srgbClr val="2C3E50"/>
                </a:solidFill>
                <a:latin typeface="Calibri"/>
              </a:rPr>
              <a:t>Rationale: each source has different structure;</a:t>
            </a:r>
          </a:p>
          <a:p>
            <a:pPr>
              <a:spcAft>
                <a:spcPts val="300"/>
              </a:spcAft>
            </a:pPr>
            <a:r>
              <a:rPr sz="1100">
                <a:solidFill>
                  <a:srgbClr val="2C3E50"/>
                </a:solidFill>
                <a:latin typeface="Calibri"/>
              </a:rPr>
              <a:t>single chunking strategy cannot fit all formats.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Model Orchestration &amp; RAG</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ounded Rectangle 6"/>
          <p:cNvSpPr/>
          <p:nvPr/>
        </p:nvSpPr>
        <p:spPr>
          <a:xfrm>
            <a:off x="457200" y="1280160"/>
            <a:ext cx="5486400" cy="4114800"/>
          </a:xfrm>
          <a:prstGeom prst="roundRect">
            <a:avLst>
              <a:gd name="adj" fmla="val 4000"/>
            </a:avLst>
          </a:prstGeom>
          <a:solidFill>
            <a:srgbClr val="FFFFFF"/>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548640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80160"/>
            <a:ext cx="5486400" cy="457200"/>
          </a:xfrm>
          <a:prstGeom prst="rect">
            <a:avLst/>
          </a:prstGeom>
          <a:noFill/>
        </p:spPr>
        <p:txBody>
          <a:bodyPr wrap="none" anchor="ctr">
            <a:spAutoFit/>
          </a:bodyPr>
          <a:lstStyle/>
          <a:p>
            <a:pPr algn="ctr"/>
            <a:r>
              <a:rPr sz="1400" b="1">
                <a:solidFill>
                  <a:srgbClr val="FFFFFF"/>
                </a:solidFill>
                <a:latin typeface="Calibri"/>
              </a:rPr>
              <a:t>EMERGENCY LANE  ·  TTFT 2.5s avg</a:t>
            </a:r>
          </a:p>
        </p:txBody>
      </p:sp>
      <p:sp>
        <p:nvSpPr>
          <p:cNvPr id="10" name="TextBox 9"/>
          <p:cNvSpPr txBox="1"/>
          <p:nvPr/>
        </p:nvSpPr>
        <p:spPr>
          <a:xfrm>
            <a:off x="640080" y="1920240"/>
            <a:ext cx="5120640" cy="3383280"/>
          </a:xfrm>
          <a:prstGeom prst="rect">
            <a:avLst/>
          </a:prstGeom>
          <a:noFill/>
        </p:spPr>
        <p:txBody>
          <a:bodyPr wrap="square">
            <a:spAutoFit/>
          </a:bodyPr>
          <a:lstStyle/>
          <a:p>
            <a:pPr>
              <a:spcAft>
                <a:spcPts val="700"/>
              </a:spcAft>
            </a:pPr>
            <a:r>
              <a:rPr sz="1200">
                <a:solidFill>
                  <a:srgbClr val="2C3E50"/>
                </a:solidFill>
                <a:latin typeface="Calibri"/>
              </a:rPr>
              <a:t>1.  PHI mask (Comprehend Medical)</a:t>
            </a:r>
          </a:p>
          <a:p>
            <a:pPr>
              <a:spcAft>
                <a:spcPts val="700"/>
              </a:spcAft>
            </a:pPr>
            <a:r>
              <a:rPr sz="1200">
                <a:solidFill>
                  <a:srgbClr val="2C3E50"/>
                </a:solidFill>
                <a:latin typeface="Calibri"/>
              </a:rPr>
              <a:t>2.  Semantic cache check (Redis)</a:t>
            </a:r>
          </a:p>
          <a:p>
            <a:pPr>
              <a:spcAft>
                <a:spcPts val="700"/>
              </a:spcAft>
            </a:pPr>
            <a:r>
              <a:rPr sz="1200">
                <a:solidFill>
                  <a:srgbClr val="2C3E50"/>
                </a:solidFill>
                <a:latin typeface="Calibri"/>
              </a:rPr>
              <a:t>3.  Direct to Emergency agent (no router)</a:t>
            </a:r>
          </a:p>
          <a:p>
            <a:pPr>
              <a:spcAft>
                <a:spcPts val="700"/>
              </a:spcAft>
            </a:pPr>
            <a:r>
              <a:rPr sz="1200">
                <a:solidFill>
                  <a:srgbClr val="2C3E50"/>
                </a:solidFill>
                <a:latin typeface="Calibri"/>
              </a:rPr>
              <a:t>4.  Vector KB top-3 + GraphRAG top-2 (~5 chunks)</a:t>
            </a:r>
          </a:p>
          <a:p>
            <a:pPr>
              <a:spcAft>
                <a:spcPts val="700"/>
              </a:spcAft>
            </a:pPr>
            <a:r>
              <a:rPr sz="1200">
                <a:solidFill>
                  <a:srgbClr val="2C3E50"/>
                </a:solidFill>
                <a:latin typeface="Calibri"/>
              </a:rPr>
              <a:t>5.  Claude Haiku 4.5 streaming (max 300 tokens)</a:t>
            </a:r>
          </a:p>
          <a:p>
            <a:pPr>
              <a:spcAft>
                <a:spcPts val="700"/>
              </a:spcAft>
            </a:pPr>
            <a:r>
              <a:rPr sz="1200">
                <a:solidFill>
                  <a:srgbClr val="2C3E50"/>
                </a:solidFill>
                <a:latin typeface="Calibri"/>
              </a:rPr>
              <a:t>6.  No guardrails (post-hoc check, speed priority)</a:t>
            </a:r>
          </a:p>
          <a:p>
            <a:pPr>
              <a:spcAft>
                <a:spcPts val="700"/>
              </a:spcAft>
            </a:pPr>
            <a:r>
              <a:rPr sz="1200">
                <a:solidFill>
                  <a:srgbClr val="2C3E50"/>
                </a:solidFill>
                <a:latin typeface="Calibri"/>
              </a:rPr>
              <a:t>7.  Citation validator + chat_trace audit</a:t>
            </a:r>
          </a:p>
          <a:p>
            <a:pPr>
              <a:spcAft>
                <a:spcPts val="700"/>
              </a:spcAft>
            </a:pPr>
            <a:r>
              <a:rPr sz="1200">
                <a:solidFill>
                  <a:srgbClr val="2C3E50"/>
                </a:solidFill>
                <a:latin typeface="Calibri"/>
              </a:rPr>
              <a:t>8.  SSE stream to browser</a:t>
            </a:r>
          </a:p>
        </p:txBody>
      </p:sp>
      <p:sp>
        <p:nvSpPr>
          <p:cNvPr id="11" name="Rounded Rectangle 10"/>
          <p:cNvSpPr/>
          <p:nvPr/>
        </p:nvSpPr>
        <p:spPr>
          <a:xfrm>
            <a:off x="6217920" y="1280160"/>
            <a:ext cx="5486400" cy="4114800"/>
          </a:xfrm>
          <a:prstGeom prst="roundRect">
            <a:avLst>
              <a:gd name="adj" fmla="val 4000"/>
            </a:avLst>
          </a:prstGeom>
          <a:solidFill>
            <a:srgbClr val="FFFFFF"/>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280160"/>
            <a:ext cx="5486400" cy="45720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280160"/>
            <a:ext cx="5486400" cy="457200"/>
          </a:xfrm>
          <a:prstGeom prst="rect">
            <a:avLst/>
          </a:prstGeom>
          <a:noFill/>
        </p:spPr>
        <p:txBody>
          <a:bodyPr wrap="none" anchor="ctr">
            <a:spAutoFit/>
          </a:bodyPr>
          <a:lstStyle/>
          <a:p>
            <a:pPr algn="ctr"/>
            <a:r>
              <a:rPr sz="1400" b="1">
                <a:solidFill>
                  <a:srgbClr val="FFFFFF"/>
                </a:solidFill>
                <a:latin typeface="Calibri"/>
              </a:rPr>
              <a:t>COMPLEX LANE  ·  TTFT 9.7s avg</a:t>
            </a:r>
          </a:p>
        </p:txBody>
      </p:sp>
      <p:sp>
        <p:nvSpPr>
          <p:cNvPr id="14" name="TextBox 13"/>
          <p:cNvSpPr txBox="1"/>
          <p:nvPr/>
        </p:nvSpPr>
        <p:spPr>
          <a:xfrm>
            <a:off x="6400800" y="1920240"/>
            <a:ext cx="5120640" cy="3383280"/>
          </a:xfrm>
          <a:prstGeom prst="rect">
            <a:avLst/>
          </a:prstGeom>
          <a:noFill/>
        </p:spPr>
        <p:txBody>
          <a:bodyPr wrap="square">
            <a:spAutoFit/>
          </a:bodyPr>
          <a:lstStyle/>
          <a:p>
            <a:pPr>
              <a:spcAft>
                <a:spcPts val="700"/>
              </a:spcAft>
            </a:pPr>
            <a:r>
              <a:rPr sz="1200">
                <a:solidFill>
                  <a:srgbClr val="2C3E50"/>
                </a:solidFill>
                <a:latin typeface="Calibri"/>
              </a:rPr>
              <a:t>1.  PHI mask (Comprehend Medical)</a:t>
            </a:r>
          </a:p>
          <a:p>
            <a:pPr>
              <a:spcAft>
                <a:spcPts val="700"/>
              </a:spcAft>
            </a:pPr>
            <a:r>
              <a:rPr sz="1200">
                <a:solidFill>
                  <a:srgbClr val="2C3E50"/>
                </a:solidFill>
                <a:latin typeface="Calibri"/>
              </a:rPr>
              <a:t>2.  Semantic cache check (Redis)</a:t>
            </a:r>
          </a:p>
          <a:p>
            <a:pPr>
              <a:spcAft>
                <a:spcPts val="700"/>
              </a:spcAft>
            </a:pPr>
            <a:r>
              <a:rPr sz="1200">
                <a:solidFill>
                  <a:srgbClr val="2C3E50"/>
                </a:solidFill>
                <a:latin typeface="Calibri"/>
              </a:rPr>
              <a:t>3.  Nova Micro routes to 1 of 12 departments</a:t>
            </a:r>
          </a:p>
          <a:p>
            <a:pPr>
              <a:spcAft>
                <a:spcPts val="700"/>
              </a:spcAft>
            </a:pPr>
            <a:r>
              <a:rPr sz="1200">
                <a:solidFill>
                  <a:srgbClr val="2C3E50"/>
                </a:solidFill>
                <a:latin typeface="Calibri"/>
              </a:rPr>
              <a:t>4.  Vector KB top-15 + GraphRAG top-3 (~18 chunks)</a:t>
            </a:r>
          </a:p>
          <a:p>
            <a:pPr>
              <a:spcAft>
                <a:spcPts val="700"/>
              </a:spcAft>
            </a:pPr>
            <a:r>
              <a:rPr sz="1200">
                <a:solidFill>
                  <a:srgbClr val="2C3E50"/>
                </a:solidFill>
                <a:latin typeface="Calibri"/>
              </a:rPr>
              <a:t>5.  Claude Sonnet 4.5 streaming (max 1500 tokens)</a:t>
            </a:r>
          </a:p>
          <a:p>
            <a:pPr>
              <a:spcAft>
                <a:spcPts val="700"/>
              </a:spcAft>
            </a:pPr>
            <a:r>
              <a:rPr sz="1200">
                <a:solidFill>
                  <a:srgbClr val="2C3E50"/>
                </a:solidFill>
                <a:latin typeface="Calibri"/>
              </a:rPr>
              <a:t>6.  Bedrock Guardrails (grounding, PHI, topic)</a:t>
            </a:r>
          </a:p>
          <a:p>
            <a:pPr>
              <a:spcAft>
                <a:spcPts val="700"/>
              </a:spcAft>
            </a:pPr>
            <a:r>
              <a:rPr sz="1200">
                <a:solidFill>
                  <a:srgbClr val="2C3E50"/>
                </a:solidFill>
                <a:latin typeface="Calibri"/>
              </a:rPr>
              <a:t>7.  Citation validator + chat_trace audit</a:t>
            </a:r>
          </a:p>
          <a:p>
            <a:pPr>
              <a:spcAft>
                <a:spcPts val="700"/>
              </a:spcAft>
            </a:pPr>
            <a:r>
              <a:rPr sz="1200">
                <a:solidFill>
                  <a:srgbClr val="2C3E50"/>
                </a:solidFill>
                <a:latin typeface="Calibri"/>
              </a:rPr>
              <a:t>8.  SSE stream to browser</a:t>
            </a:r>
          </a:p>
        </p:txBody>
      </p:sp>
      <p:sp>
        <p:nvSpPr>
          <p:cNvPr id="15" name="Rounded Rectangle 14"/>
          <p:cNvSpPr/>
          <p:nvPr/>
        </p:nvSpPr>
        <p:spPr>
          <a:xfrm>
            <a:off x="457200" y="5669280"/>
            <a:ext cx="11247120" cy="640080"/>
          </a:xfrm>
          <a:prstGeom prst="roundRect">
            <a:avLst>
              <a:gd name="adj" fmla="val 20000"/>
            </a:avLst>
          </a:prstGeom>
          <a:solidFill>
            <a:srgbClr val="FFE8DA"/>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715000"/>
            <a:ext cx="10972800" cy="548640"/>
          </a:xfrm>
          <a:prstGeom prst="rect">
            <a:avLst/>
          </a:prstGeom>
          <a:noFill/>
        </p:spPr>
        <p:txBody>
          <a:bodyPr wrap="square">
            <a:spAutoFit/>
          </a:bodyPr>
          <a:lstStyle/>
          <a:p>
            <a:pPr algn="ctr"/>
            <a:r>
              <a:rPr sz="1300" b="1">
                <a:solidFill>
                  <a:srgbClr val="CC4F1F"/>
                </a:solidFill>
                <a:latin typeface="Calibri"/>
              </a:rPr>
              <a:t>RAG = OpenSearch Vector (semantic search) + Neptune Analytics (entity-aware GraphRAG)</a:t>
            </a:r>
          </a:p>
          <a:p>
            <a:pPr algn="ctr"/>
            <a:r>
              <a:rPr sz="1000" i="1">
                <a:solidFill>
                  <a:srgbClr val="646464"/>
                </a:solidFill>
                <a:latin typeface="Calibri"/>
              </a:rPr>
              <a:t>Both KBs use Cohere Embed Multilingual v3 (1024-dim, SG-native). No fine-tuning in PoC; production uses Bedrock Model Distillation to Nova Lite.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Network &amp; Integration</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ounded Rectangle 6"/>
          <p:cNvSpPr/>
          <p:nvPr/>
        </p:nvSpPr>
        <p:spPr>
          <a:xfrm>
            <a:off x="457200" y="1280160"/>
            <a:ext cx="5486400" cy="2377440"/>
          </a:xfrm>
          <a:prstGeom prst="roundRect">
            <a:avLst>
              <a:gd name="adj" fmla="val 5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5486400" cy="4572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80160"/>
            <a:ext cx="5486400" cy="457200"/>
          </a:xfrm>
          <a:prstGeom prst="rect">
            <a:avLst/>
          </a:prstGeom>
          <a:noFill/>
        </p:spPr>
        <p:txBody>
          <a:bodyPr wrap="none" anchor="ctr">
            <a:spAutoFit/>
          </a:bodyPr>
          <a:lstStyle/>
          <a:p>
            <a:pPr algn="ctr"/>
            <a:r>
              <a:rPr sz="1400" b="1">
                <a:solidFill>
                  <a:srgbClr val="FFFFFF"/>
                </a:solidFill>
                <a:latin typeface="Calibri"/>
              </a:rPr>
              <a:t>WEB TRAFFIC  ·  Public HTTPS</a:t>
            </a:r>
          </a:p>
        </p:txBody>
      </p:sp>
      <p:sp>
        <p:nvSpPr>
          <p:cNvPr id="10" name="TextBox 9"/>
          <p:cNvSpPr txBox="1"/>
          <p:nvPr/>
        </p:nvSpPr>
        <p:spPr>
          <a:xfrm>
            <a:off x="640080" y="1828800"/>
            <a:ext cx="5120640" cy="1828800"/>
          </a:xfrm>
          <a:prstGeom prst="rect">
            <a:avLst/>
          </a:prstGeom>
          <a:noFill/>
        </p:spPr>
        <p:txBody>
          <a:bodyPr wrap="square">
            <a:spAutoFit/>
          </a:bodyPr>
          <a:lstStyle/>
          <a:p>
            <a:r>
              <a:rPr sz="1100">
                <a:solidFill>
                  <a:srgbClr val="2C3E50"/>
                </a:solidFill>
                <a:latin typeface="Calibri"/>
              </a:rPr>
              <a:t>Path: Clinician browser → CloudFront → WAF → API Gateway → Lambda
WAF allow-list per hospital IP/domain. Cognito JWT auth federated to hospital Entra ID via SAML/OIDC. TLS 1.3 end-to-end. No PHI on this path (masked by Comprehend Medical before any model or cache call).</a:t>
            </a:r>
          </a:p>
        </p:txBody>
      </p:sp>
      <p:sp>
        <p:nvSpPr>
          <p:cNvPr id="11" name="Rounded Rectangle 10"/>
          <p:cNvSpPr/>
          <p:nvPr/>
        </p:nvSpPr>
        <p:spPr>
          <a:xfrm>
            <a:off x="6217920" y="1280160"/>
            <a:ext cx="5486400" cy="2377440"/>
          </a:xfrm>
          <a:prstGeom prst="roundRect">
            <a:avLst>
              <a:gd name="adj" fmla="val 5000"/>
            </a:avLst>
          </a:prstGeom>
          <a:solidFill>
            <a:srgbClr val="FFFFFF"/>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280160"/>
            <a:ext cx="5486400" cy="45720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280160"/>
            <a:ext cx="5486400" cy="457200"/>
          </a:xfrm>
          <a:prstGeom prst="rect">
            <a:avLst/>
          </a:prstGeom>
          <a:noFill/>
        </p:spPr>
        <p:txBody>
          <a:bodyPr wrap="none" anchor="ctr">
            <a:spAutoFit/>
          </a:bodyPr>
          <a:lstStyle/>
          <a:p>
            <a:pPr algn="ctr"/>
            <a:r>
              <a:rPr sz="1400" b="1">
                <a:solidFill>
                  <a:srgbClr val="FFFFFF"/>
                </a:solidFill>
                <a:latin typeface="Calibri"/>
              </a:rPr>
              <a:t>DATA PLANE  ·  Site-to-Site VPN (IPsec)</a:t>
            </a:r>
          </a:p>
        </p:txBody>
      </p:sp>
      <p:sp>
        <p:nvSpPr>
          <p:cNvPr id="14" name="TextBox 13"/>
          <p:cNvSpPr txBox="1"/>
          <p:nvPr/>
        </p:nvSpPr>
        <p:spPr>
          <a:xfrm>
            <a:off x="6400800" y="1828800"/>
            <a:ext cx="5120640" cy="1828800"/>
          </a:xfrm>
          <a:prstGeom prst="rect">
            <a:avLst/>
          </a:prstGeom>
          <a:noFill/>
        </p:spPr>
        <p:txBody>
          <a:bodyPr wrap="square">
            <a:spAutoFit/>
          </a:bodyPr>
          <a:lstStyle/>
          <a:p>
            <a:r>
              <a:rPr sz="1100">
                <a:solidFill>
                  <a:srgbClr val="2C3E50"/>
                </a:solidFill>
                <a:latin typeface="Calibri"/>
              </a:rPr>
              <a:t>Path: Hospital on-prem → Customer Gateway → IPsec tunnel → AWS Virtual Private Gateway → VPC private subnet
Carries: EHR (FHIR R4), SharePoint sync, internal trial PDFs, admin upload portal, SIEM export. Never touches public internet. Per-tenant KMS CMK + ABAC enforces isolation.</a:t>
            </a:r>
          </a:p>
        </p:txBody>
      </p:sp>
      <p:sp>
        <p:nvSpPr>
          <p:cNvPr id="15" name="TextBox 14"/>
          <p:cNvSpPr txBox="1"/>
          <p:nvPr/>
        </p:nvSpPr>
        <p:spPr>
          <a:xfrm>
            <a:off x="457200" y="3931920"/>
            <a:ext cx="11247120" cy="365760"/>
          </a:xfrm>
          <a:prstGeom prst="rect">
            <a:avLst/>
          </a:prstGeom>
          <a:noFill/>
        </p:spPr>
        <p:txBody>
          <a:bodyPr wrap="square" lIns="45720" rIns="45720">
            <a:spAutoFit/>
          </a:bodyPr>
          <a:lstStyle/>
          <a:p>
            <a:pPr algn="l"/>
            <a:r>
              <a:rPr sz="1500" b="1">
                <a:solidFill>
                  <a:srgbClr val="CC4F1F"/>
                </a:solidFill>
                <a:latin typeface="Calibri"/>
              </a:rPr>
              <a:t>Integration Components</a:t>
            </a:r>
          </a:p>
        </p:txBody>
      </p:sp>
      <p:graphicFrame>
        <p:nvGraphicFramePr>
          <p:cNvPr id="16" name="Table 15"/>
          <p:cNvGraphicFramePr>
            <a:graphicFrameLocks noGrp="1"/>
          </p:cNvGraphicFramePr>
          <p:nvPr/>
        </p:nvGraphicFramePr>
        <p:xfrm>
          <a:off x="457200" y="4297680"/>
          <a:ext cx="11247120" cy="2011680"/>
        </p:xfrm>
        <a:graphic>
          <a:graphicData uri="http://schemas.openxmlformats.org/drawingml/2006/table">
            <a:tbl>
              <a:tblPr firstRow="1" bandRow="1">
                <a:tableStyleId>{5C22544A-7EE6-4342-B048-85BDC9FD1C3A}</a:tableStyleId>
              </a:tblPr>
              <a:tblGrid>
                <a:gridCol w="3749040"/>
                <a:gridCol w="3749040"/>
                <a:gridCol w="3749040"/>
              </a:tblGrid>
              <a:tr h="287382">
                <a:tc>
                  <a:txBody>
                    <a:bodyPr lIns="73152" tIns="36576"/>
                    <a:lstStyle/>
                    <a:p>
                      <a:r>
                        <a:rPr sz="1200" b="1">
                          <a:solidFill>
                            <a:srgbClr val="FFFFFF"/>
                          </a:solidFill>
                          <a:latin typeface="Calibri"/>
                        </a:rPr>
                        <a:t>Component</a:t>
                      </a:r>
                    </a:p>
                  </a:txBody>
                  <a:tcPr>
                    <a:solidFill>
                      <a:srgbClr val="FF6B35"/>
                    </a:solidFill>
                  </a:tcPr>
                </a:tc>
                <a:tc>
                  <a:txBody>
                    <a:bodyPr lIns="73152" tIns="36576"/>
                    <a:lstStyle/>
                    <a:p>
                      <a:r>
                        <a:rPr sz="1200" b="1">
                          <a:solidFill>
                            <a:srgbClr val="FFFFFF"/>
                          </a:solidFill>
                          <a:latin typeface="Calibri"/>
                        </a:rPr>
                        <a:t>Purpose</a:t>
                      </a:r>
                    </a:p>
                  </a:txBody>
                  <a:tcPr>
                    <a:solidFill>
                      <a:srgbClr val="FF6B35"/>
                    </a:solidFill>
                  </a:tcPr>
                </a:tc>
                <a:tc>
                  <a:txBody>
                    <a:bodyPr lIns="73152" tIns="36576"/>
                    <a:lstStyle/>
                    <a:p>
                      <a:r>
                        <a:rPr sz="1200" b="1">
                          <a:solidFill>
                            <a:srgbClr val="FFFFFF"/>
                          </a:solidFill>
                          <a:latin typeface="Calibri"/>
                        </a:rPr>
                        <a:t>Protocol</a:t>
                      </a:r>
                    </a:p>
                  </a:txBody>
                  <a:tcPr>
                    <a:solidFill>
                      <a:srgbClr val="FF6B35"/>
                    </a:solidFill>
                  </a:tcPr>
                </a:tc>
              </a:tr>
              <a:tr h="287382">
                <a:tc>
                  <a:txBody>
                    <a:bodyPr lIns="73152" tIns="27432"/>
                    <a:lstStyle/>
                    <a:p>
                      <a:r>
                        <a:rPr sz="1000">
                          <a:solidFill>
                            <a:srgbClr val="2C3E50"/>
                          </a:solidFill>
                          <a:latin typeface="Calibri"/>
                        </a:rPr>
                        <a:t>AWS Customer Gateway</a:t>
                      </a:r>
                    </a:p>
                  </a:txBody>
                  <a:tcPr>
                    <a:solidFill>
                      <a:srgbClr val="FFFFFF"/>
                    </a:solidFill>
                  </a:tcPr>
                </a:tc>
                <a:tc>
                  <a:txBody>
                    <a:bodyPr lIns="73152" tIns="27432"/>
                    <a:lstStyle/>
                    <a:p>
                      <a:r>
                        <a:rPr sz="1000">
                          <a:solidFill>
                            <a:srgbClr val="2C3E50"/>
                          </a:solidFill>
                          <a:latin typeface="Calibri"/>
                        </a:rPr>
                        <a:t>Logical peer for hospital on-prem device</a:t>
                      </a:r>
                    </a:p>
                  </a:txBody>
                  <a:tcPr>
                    <a:solidFill>
                      <a:srgbClr val="FFFFFF"/>
                    </a:solidFill>
                  </a:tcPr>
                </a:tc>
                <a:tc>
                  <a:txBody>
                    <a:bodyPr lIns="73152" tIns="27432"/>
                    <a:lstStyle/>
                    <a:p>
                      <a:r>
                        <a:rPr sz="1000">
                          <a:solidFill>
                            <a:srgbClr val="2C3E50"/>
                          </a:solidFill>
                          <a:latin typeface="Calibri"/>
                        </a:rPr>
                        <a:t>IKEv2 / IPsec</a:t>
                      </a:r>
                    </a:p>
                  </a:txBody>
                  <a:tcPr>
                    <a:solidFill>
                      <a:srgbClr val="FFFFFF"/>
                    </a:solidFill>
                  </a:tcPr>
                </a:tc>
              </a:tr>
              <a:tr h="287382">
                <a:tc>
                  <a:txBody>
                    <a:bodyPr lIns="73152" tIns="27432"/>
                    <a:lstStyle/>
                    <a:p>
                      <a:r>
                        <a:rPr sz="1000">
                          <a:solidFill>
                            <a:srgbClr val="2C3E50"/>
                          </a:solidFill>
                          <a:latin typeface="Calibri"/>
                        </a:rPr>
                        <a:t>AWS VPN Gateway (VPG)</a:t>
                      </a:r>
                    </a:p>
                  </a:txBody>
                  <a:tcPr>
                    <a:solidFill>
                      <a:srgbClr val="FFE8DA"/>
                    </a:solidFill>
                  </a:tcPr>
                </a:tc>
                <a:tc>
                  <a:txBody>
                    <a:bodyPr lIns="73152" tIns="27432"/>
                    <a:lstStyle/>
                    <a:p>
                      <a:r>
                        <a:rPr sz="1000">
                          <a:solidFill>
                            <a:srgbClr val="2C3E50"/>
                          </a:solidFill>
                          <a:latin typeface="Calibri"/>
                        </a:rPr>
                        <a:t>Tunnel termination on AWS side</a:t>
                      </a:r>
                    </a:p>
                  </a:txBody>
                  <a:tcPr>
                    <a:solidFill>
                      <a:srgbClr val="FFE8DA"/>
                    </a:solidFill>
                  </a:tcPr>
                </a:tc>
                <a:tc>
                  <a:txBody>
                    <a:bodyPr lIns="73152" tIns="27432"/>
                    <a:lstStyle/>
                    <a:p>
                      <a:r>
                        <a:rPr sz="1000">
                          <a:solidFill>
                            <a:srgbClr val="2C3E50"/>
                          </a:solidFill>
                          <a:latin typeface="Calibri"/>
                        </a:rPr>
                        <a:t>IPsec / BGP</a:t>
                      </a:r>
                    </a:p>
                  </a:txBody>
                  <a:tcPr>
                    <a:solidFill>
                      <a:srgbClr val="FFE8DA"/>
                    </a:solidFill>
                  </a:tcPr>
                </a:tc>
              </a:tr>
              <a:tr h="287382">
                <a:tc>
                  <a:txBody>
                    <a:bodyPr lIns="73152" tIns="27432"/>
                    <a:lstStyle/>
                    <a:p>
                      <a:r>
                        <a:rPr sz="1000">
                          <a:solidFill>
                            <a:srgbClr val="2C3E50"/>
                          </a:solidFill>
                          <a:latin typeface="Calibri"/>
                        </a:rPr>
                        <a:t>Amazon Cognito</a:t>
                      </a:r>
                    </a:p>
                  </a:txBody>
                  <a:tcPr>
                    <a:solidFill>
                      <a:srgbClr val="FFFFFF"/>
                    </a:solidFill>
                  </a:tcPr>
                </a:tc>
                <a:tc>
                  <a:txBody>
                    <a:bodyPr lIns="73152" tIns="27432"/>
                    <a:lstStyle/>
                    <a:p>
                      <a:r>
                        <a:rPr sz="1000">
                          <a:solidFill>
                            <a:srgbClr val="2C3E50"/>
                          </a:solidFill>
                          <a:latin typeface="Calibri"/>
                        </a:rPr>
                        <a:t>Per-tenant clinician user pool</a:t>
                      </a:r>
                    </a:p>
                  </a:txBody>
                  <a:tcPr>
                    <a:solidFill>
                      <a:srgbClr val="FFFFFF"/>
                    </a:solidFill>
                  </a:tcPr>
                </a:tc>
                <a:tc>
                  <a:txBody>
                    <a:bodyPr lIns="73152" tIns="27432"/>
                    <a:lstStyle/>
                    <a:p>
                      <a:r>
                        <a:rPr sz="1000">
                          <a:solidFill>
                            <a:srgbClr val="2C3E50"/>
                          </a:solidFill>
                          <a:latin typeface="Calibri"/>
                        </a:rPr>
                        <a:t>SAML 2.0 / OIDC</a:t>
                      </a:r>
                    </a:p>
                  </a:txBody>
                  <a:tcPr>
                    <a:solidFill>
                      <a:srgbClr val="FFFFFF"/>
                    </a:solidFill>
                  </a:tcPr>
                </a:tc>
              </a:tr>
              <a:tr h="287382">
                <a:tc>
                  <a:txBody>
                    <a:bodyPr lIns="73152" tIns="27432"/>
                    <a:lstStyle/>
                    <a:p>
                      <a:r>
                        <a:rPr sz="1000">
                          <a:solidFill>
                            <a:srgbClr val="2C3E50"/>
                          </a:solidFill>
                          <a:latin typeface="Calibri"/>
                        </a:rPr>
                        <a:t>Lambda FHIR adapter</a:t>
                      </a:r>
                    </a:p>
                  </a:txBody>
                  <a:tcPr>
                    <a:solidFill>
                      <a:srgbClr val="FFE8DA"/>
                    </a:solidFill>
                  </a:tcPr>
                </a:tc>
                <a:tc>
                  <a:txBody>
                    <a:bodyPr lIns="73152" tIns="27432"/>
                    <a:lstStyle/>
                    <a:p>
                      <a:r>
                        <a:rPr sz="1000">
                          <a:solidFill>
                            <a:srgbClr val="2C3E50"/>
                          </a:solidFill>
                          <a:latin typeface="Calibri"/>
                        </a:rPr>
                        <a:t>EHR read-only via SMART App Launch v2</a:t>
                      </a:r>
                    </a:p>
                  </a:txBody>
                  <a:tcPr>
                    <a:solidFill>
                      <a:srgbClr val="FFE8DA"/>
                    </a:solidFill>
                  </a:tcPr>
                </a:tc>
                <a:tc>
                  <a:txBody>
                    <a:bodyPr lIns="73152" tIns="27432"/>
                    <a:lstStyle/>
                    <a:p>
                      <a:r>
                        <a:rPr sz="1000">
                          <a:solidFill>
                            <a:srgbClr val="2C3E50"/>
                          </a:solidFill>
                          <a:latin typeface="Calibri"/>
                        </a:rPr>
                        <a:t>HL7 FHIR R4</a:t>
                      </a:r>
                    </a:p>
                  </a:txBody>
                  <a:tcPr>
                    <a:solidFill>
                      <a:srgbClr val="FFE8DA"/>
                    </a:solidFill>
                  </a:tcPr>
                </a:tc>
              </a:tr>
              <a:tr h="287382">
                <a:tc>
                  <a:txBody>
                    <a:bodyPr lIns="73152" tIns="27432"/>
                    <a:lstStyle/>
                    <a:p>
                      <a:r>
                        <a:rPr sz="1000">
                          <a:solidFill>
                            <a:srgbClr val="2C3E50"/>
                          </a:solidFill>
                          <a:latin typeface="Calibri"/>
                        </a:rPr>
                        <a:t>SharePoint webhook Lambda</a:t>
                      </a:r>
                    </a:p>
                  </a:txBody>
                  <a:tcPr>
                    <a:solidFill>
                      <a:srgbClr val="FFFFFF"/>
                    </a:solidFill>
                  </a:tcPr>
                </a:tc>
                <a:tc>
                  <a:txBody>
                    <a:bodyPr lIns="73152" tIns="27432"/>
                    <a:lstStyle/>
                    <a:p>
                      <a:r>
                        <a:rPr sz="1000">
                          <a:solidFill>
                            <a:srgbClr val="2C3E50"/>
                          </a:solidFill>
                          <a:latin typeface="Calibri"/>
                        </a:rPr>
                        <a:t>Microsoft Graph subscriptions to S3</a:t>
                      </a:r>
                    </a:p>
                  </a:txBody>
                  <a:tcPr>
                    <a:solidFill>
                      <a:srgbClr val="FFFFFF"/>
                    </a:solidFill>
                  </a:tcPr>
                </a:tc>
                <a:tc>
                  <a:txBody>
                    <a:bodyPr lIns="73152" tIns="27432"/>
                    <a:lstStyle/>
                    <a:p>
                      <a:r>
                        <a:rPr sz="1000">
                          <a:solidFill>
                            <a:srgbClr val="2C3E50"/>
                          </a:solidFill>
                          <a:latin typeface="Calibri"/>
                        </a:rPr>
                        <a:t>MS Graph API</a:t>
                      </a:r>
                    </a:p>
                  </a:txBody>
                  <a:tcPr>
                    <a:solidFill>
                      <a:srgbClr val="FFFFFF"/>
                    </a:solidFill>
                  </a:tcPr>
                </a:tc>
              </a:tr>
              <a:tr h="287388">
                <a:tc>
                  <a:txBody>
                    <a:bodyPr lIns="73152" tIns="27432"/>
                    <a:lstStyle/>
                    <a:p>
                      <a:r>
                        <a:rPr sz="1000">
                          <a:solidFill>
                            <a:srgbClr val="2C3E50"/>
                          </a:solidFill>
                          <a:latin typeface="Calibri"/>
                        </a:rPr>
                        <a:t>CDS Hooks service</a:t>
                      </a:r>
                    </a:p>
                  </a:txBody>
                  <a:tcPr>
                    <a:solidFill>
                      <a:srgbClr val="FFE8DA"/>
                    </a:solidFill>
                  </a:tcPr>
                </a:tc>
                <a:tc>
                  <a:txBody>
                    <a:bodyPr lIns="73152" tIns="27432"/>
                    <a:lstStyle/>
                    <a:p>
                      <a:r>
                        <a:rPr sz="1000">
                          <a:solidFill>
                            <a:srgbClr val="2C3E50"/>
                          </a:solidFill>
                          <a:latin typeface="Calibri"/>
                        </a:rPr>
                        <a:t>Deep-link from Epic / Cerner in-basket</a:t>
                      </a:r>
                    </a:p>
                  </a:txBody>
                  <a:tcPr>
                    <a:solidFill>
                      <a:srgbClr val="FFE8DA"/>
                    </a:solidFill>
                  </a:tcPr>
                </a:tc>
                <a:tc>
                  <a:txBody>
                    <a:bodyPr lIns="73152" tIns="27432"/>
                    <a:lstStyle/>
                    <a:p>
                      <a:r>
                        <a:rPr sz="1000">
                          <a:solidFill>
                            <a:srgbClr val="2C3E50"/>
                          </a:solidFill>
                          <a:latin typeface="Calibri"/>
                        </a:rPr>
                        <a:t>CDS Hooks v1.1</a:t>
                      </a:r>
                    </a:p>
                  </a:txBody>
                  <a:tcPr>
                    <a:solidFill>
                      <a:srgbClr val="FFE8DA"/>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Security &amp; Compliance</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ounded Rectangle 6"/>
          <p:cNvSpPr/>
          <p:nvPr/>
        </p:nvSpPr>
        <p:spPr>
          <a:xfrm>
            <a:off x="357987" y="1280160"/>
            <a:ext cx="1600200" cy="1371600"/>
          </a:xfrm>
          <a:prstGeom prst="roundRect">
            <a:avLst>
              <a:gd name="adj" fmla="val 10000"/>
            </a:avLst>
          </a:prstGeom>
          <a:solidFill>
            <a:srgbClr val="FFE8DA"/>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7987" y="1417320"/>
            <a:ext cx="1600200" cy="365760"/>
          </a:xfrm>
          <a:prstGeom prst="rect">
            <a:avLst/>
          </a:prstGeom>
          <a:noFill/>
        </p:spPr>
        <p:txBody>
          <a:bodyPr wrap="none">
            <a:spAutoFit/>
          </a:bodyPr>
          <a:lstStyle/>
          <a:p>
            <a:pPr algn="ctr"/>
            <a:r>
              <a:rPr sz="1300" b="1">
                <a:solidFill>
                  <a:srgbClr val="CC4F1F"/>
                </a:solidFill>
                <a:latin typeface="Calibri"/>
              </a:rPr>
              <a:t>Perimeter</a:t>
            </a:r>
          </a:p>
        </p:txBody>
      </p:sp>
      <p:sp>
        <p:nvSpPr>
          <p:cNvPr id="9" name="TextBox 8"/>
          <p:cNvSpPr txBox="1"/>
          <p:nvPr/>
        </p:nvSpPr>
        <p:spPr>
          <a:xfrm>
            <a:off x="403707" y="1783080"/>
            <a:ext cx="1508760" cy="822960"/>
          </a:xfrm>
          <a:prstGeom prst="rect">
            <a:avLst/>
          </a:prstGeom>
          <a:noFill/>
        </p:spPr>
        <p:txBody>
          <a:bodyPr wrap="square">
            <a:spAutoFit/>
          </a:bodyPr>
          <a:lstStyle/>
          <a:p>
            <a:pPr algn="ctr"/>
            <a:r>
              <a:rPr sz="1000">
                <a:solidFill>
                  <a:srgbClr val="2C3E50"/>
                </a:solidFill>
                <a:latin typeface="Calibri"/>
              </a:rPr>
              <a:t>CloudFront, WAF
VPN Gateway</a:t>
            </a:r>
          </a:p>
        </p:txBody>
      </p:sp>
      <p:sp>
        <p:nvSpPr>
          <p:cNvPr id="10" name="Rounded Rectangle 9"/>
          <p:cNvSpPr/>
          <p:nvPr/>
        </p:nvSpPr>
        <p:spPr>
          <a:xfrm>
            <a:off x="2003907" y="1280160"/>
            <a:ext cx="1600200" cy="1371600"/>
          </a:xfrm>
          <a:prstGeom prst="roundRect">
            <a:avLst>
              <a:gd name="adj" fmla="val 10000"/>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3907" y="1417320"/>
            <a:ext cx="1600200" cy="365760"/>
          </a:xfrm>
          <a:prstGeom prst="rect">
            <a:avLst/>
          </a:prstGeom>
          <a:noFill/>
        </p:spPr>
        <p:txBody>
          <a:bodyPr wrap="none">
            <a:spAutoFit/>
          </a:bodyPr>
          <a:lstStyle/>
          <a:p>
            <a:pPr algn="ctr"/>
            <a:r>
              <a:rPr sz="1300" b="1">
                <a:solidFill>
                  <a:srgbClr val="CC4F1F"/>
                </a:solidFill>
                <a:latin typeface="Calibri"/>
              </a:rPr>
              <a:t>Identity</a:t>
            </a:r>
          </a:p>
        </p:txBody>
      </p:sp>
      <p:sp>
        <p:nvSpPr>
          <p:cNvPr id="12" name="TextBox 11"/>
          <p:cNvSpPr txBox="1"/>
          <p:nvPr/>
        </p:nvSpPr>
        <p:spPr>
          <a:xfrm>
            <a:off x="2049627" y="1783080"/>
            <a:ext cx="1508760" cy="822960"/>
          </a:xfrm>
          <a:prstGeom prst="rect">
            <a:avLst/>
          </a:prstGeom>
          <a:noFill/>
        </p:spPr>
        <p:txBody>
          <a:bodyPr wrap="square">
            <a:spAutoFit/>
          </a:bodyPr>
          <a:lstStyle/>
          <a:p>
            <a:pPr algn="ctr"/>
            <a:r>
              <a:rPr sz="1000">
                <a:solidFill>
                  <a:srgbClr val="2C3E50"/>
                </a:solidFill>
                <a:latin typeface="Calibri"/>
              </a:rPr>
              <a:t>Cognito, IAM
Identity Center</a:t>
            </a:r>
          </a:p>
        </p:txBody>
      </p:sp>
      <p:sp>
        <p:nvSpPr>
          <p:cNvPr id="13" name="Rounded Rectangle 12"/>
          <p:cNvSpPr/>
          <p:nvPr/>
        </p:nvSpPr>
        <p:spPr>
          <a:xfrm>
            <a:off x="3649827" y="1280160"/>
            <a:ext cx="1600200" cy="1371600"/>
          </a:xfrm>
          <a:prstGeom prst="roundRect">
            <a:avLst>
              <a:gd name="adj" fmla="val 10000"/>
            </a:avLst>
          </a:prstGeom>
          <a:solidFill>
            <a:srgbClr val="FFE8DA"/>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49827" y="1417320"/>
            <a:ext cx="1600200" cy="365760"/>
          </a:xfrm>
          <a:prstGeom prst="rect">
            <a:avLst/>
          </a:prstGeom>
          <a:noFill/>
        </p:spPr>
        <p:txBody>
          <a:bodyPr wrap="none">
            <a:spAutoFit/>
          </a:bodyPr>
          <a:lstStyle/>
          <a:p>
            <a:pPr algn="ctr"/>
            <a:r>
              <a:rPr sz="1300" b="1">
                <a:solidFill>
                  <a:srgbClr val="CC4F1F"/>
                </a:solidFill>
                <a:latin typeface="Calibri"/>
              </a:rPr>
              <a:t>Data</a:t>
            </a:r>
          </a:p>
        </p:txBody>
      </p:sp>
      <p:sp>
        <p:nvSpPr>
          <p:cNvPr id="15" name="TextBox 14"/>
          <p:cNvSpPr txBox="1"/>
          <p:nvPr/>
        </p:nvSpPr>
        <p:spPr>
          <a:xfrm>
            <a:off x="3695547" y="1783080"/>
            <a:ext cx="1508760" cy="822960"/>
          </a:xfrm>
          <a:prstGeom prst="rect">
            <a:avLst/>
          </a:prstGeom>
          <a:noFill/>
        </p:spPr>
        <p:txBody>
          <a:bodyPr wrap="square">
            <a:spAutoFit/>
          </a:bodyPr>
          <a:lstStyle/>
          <a:p>
            <a:pPr algn="ctr"/>
            <a:r>
              <a:rPr sz="1000">
                <a:solidFill>
                  <a:srgbClr val="2C3E50"/>
                </a:solidFill>
                <a:latin typeface="Calibri"/>
              </a:rPr>
              <a:t>KMS CMK, S3
Object Lock</a:t>
            </a:r>
          </a:p>
        </p:txBody>
      </p:sp>
      <p:sp>
        <p:nvSpPr>
          <p:cNvPr id="16" name="Rounded Rectangle 15"/>
          <p:cNvSpPr/>
          <p:nvPr/>
        </p:nvSpPr>
        <p:spPr>
          <a:xfrm>
            <a:off x="5295747" y="1280160"/>
            <a:ext cx="1600200" cy="1371600"/>
          </a:xfrm>
          <a:prstGeom prst="roundRect">
            <a:avLst>
              <a:gd name="adj" fmla="val 10000"/>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95747" y="1417320"/>
            <a:ext cx="1600200" cy="365760"/>
          </a:xfrm>
          <a:prstGeom prst="rect">
            <a:avLst/>
          </a:prstGeom>
          <a:noFill/>
        </p:spPr>
        <p:txBody>
          <a:bodyPr wrap="none">
            <a:spAutoFit/>
          </a:bodyPr>
          <a:lstStyle/>
          <a:p>
            <a:pPr algn="ctr"/>
            <a:r>
              <a:rPr sz="1300" b="1">
                <a:solidFill>
                  <a:srgbClr val="CC4F1F"/>
                </a:solidFill>
                <a:latin typeface="Calibri"/>
              </a:rPr>
              <a:t>PHI</a:t>
            </a:r>
          </a:p>
        </p:txBody>
      </p:sp>
      <p:sp>
        <p:nvSpPr>
          <p:cNvPr id="18" name="TextBox 17"/>
          <p:cNvSpPr txBox="1"/>
          <p:nvPr/>
        </p:nvSpPr>
        <p:spPr>
          <a:xfrm>
            <a:off x="5341467" y="1783080"/>
            <a:ext cx="1508760" cy="822960"/>
          </a:xfrm>
          <a:prstGeom prst="rect">
            <a:avLst/>
          </a:prstGeom>
          <a:noFill/>
        </p:spPr>
        <p:txBody>
          <a:bodyPr wrap="square">
            <a:spAutoFit/>
          </a:bodyPr>
          <a:lstStyle/>
          <a:p>
            <a:pPr algn="ctr"/>
            <a:r>
              <a:rPr sz="1000">
                <a:solidFill>
                  <a:srgbClr val="2C3E50"/>
                </a:solidFill>
                <a:latin typeface="Calibri"/>
              </a:rPr>
              <a:t>Comprehend
Medical, tokenize</a:t>
            </a:r>
          </a:p>
        </p:txBody>
      </p:sp>
      <p:sp>
        <p:nvSpPr>
          <p:cNvPr id="19" name="Rounded Rectangle 18"/>
          <p:cNvSpPr/>
          <p:nvPr/>
        </p:nvSpPr>
        <p:spPr>
          <a:xfrm>
            <a:off x="6941667" y="1280160"/>
            <a:ext cx="1600200" cy="1371600"/>
          </a:xfrm>
          <a:prstGeom prst="roundRect">
            <a:avLst>
              <a:gd name="adj" fmla="val 10000"/>
            </a:avLst>
          </a:prstGeom>
          <a:solidFill>
            <a:srgbClr val="FFE8DA"/>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1667" y="1417320"/>
            <a:ext cx="1600200" cy="365760"/>
          </a:xfrm>
          <a:prstGeom prst="rect">
            <a:avLst/>
          </a:prstGeom>
          <a:noFill/>
        </p:spPr>
        <p:txBody>
          <a:bodyPr wrap="none">
            <a:spAutoFit/>
          </a:bodyPr>
          <a:lstStyle/>
          <a:p>
            <a:pPr algn="ctr"/>
            <a:r>
              <a:rPr sz="1300" b="1">
                <a:solidFill>
                  <a:srgbClr val="CC4F1F"/>
                </a:solidFill>
                <a:latin typeface="Calibri"/>
              </a:rPr>
              <a:t>Model</a:t>
            </a:r>
          </a:p>
        </p:txBody>
      </p:sp>
      <p:sp>
        <p:nvSpPr>
          <p:cNvPr id="21" name="TextBox 20"/>
          <p:cNvSpPr txBox="1"/>
          <p:nvPr/>
        </p:nvSpPr>
        <p:spPr>
          <a:xfrm>
            <a:off x="6987387" y="1783080"/>
            <a:ext cx="1508760" cy="822960"/>
          </a:xfrm>
          <a:prstGeom prst="rect">
            <a:avLst/>
          </a:prstGeom>
          <a:noFill/>
        </p:spPr>
        <p:txBody>
          <a:bodyPr wrap="square">
            <a:spAutoFit/>
          </a:bodyPr>
          <a:lstStyle/>
          <a:p>
            <a:pPr algn="ctr"/>
            <a:r>
              <a:rPr sz="1000">
                <a:solidFill>
                  <a:srgbClr val="2C3E50"/>
                </a:solidFill>
                <a:latin typeface="Calibri"/>
              </a:rPr>
              <a:t>Bedrock
Guardrails</a:t>
            </a:r>
          </a:p>
        </p:txBody>
      </p:sp>
      <p:sp>
        <p:nvSpPr>
          <p:cNvPr id="22" name="Rounded Rectangle 21"/>
          <p:cNvSpPr/>
          <p:nvPr/>
        </p:nvSpPr>
        <p:spPr>
          <a:xfrm>
            <a:off x="8587587" y="1280160"/>
            <a:ext cx="1600200" cy="1371600"/>
          </a:xfrm>
          <a:prstGeom prst="roundRect">
            <a:avLst>
              <a:gd name="adj" fmla="val 10000"/>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87587" y="1417320"/>
            <a:ext cx="1600200" cy="365760"/>
          </a:xfrm>
          <a:prstGeom prst="rect">
            <a:avLst/>
          </a:prstGeom>
          <a:noFill/>
        </p:spPr>
        <p:txBody>
          <a:bodyPr wrap="none">
            <a:spAutoFit/>
          </a:bodyPr>
          <a:lstStyle/>
          <a:p>
            <a:pPr algn="ctr"/>
            <a:r>
              <a:rPr sz="1300" b="1">
                <a:solidFill>
                  <a:srgbClr val="CC4F1F"/>
                </a:solidFill>
                <a:latin typeface="Calibri"/>
              </a:rPr>
              <a:t>Audit</a:t>
            </a:r>
          </a:p>
        </p:txBody>
      </p:sp>
      <p:sp>
        <p:nvSpPr>
          <p:cNvPr id="24" name="TextBox 23"/>
          <p:cNvSpPr txBox="1"/>
          <p:nvPr/>
        </p:nvSpPr>
        <p:spPr>
          <a:xfrm>
            <a:off x="8633307" y="1783080"/>
            <a:ext cx="1508760" cy="822960"/>
          </a:xfrm>
          <a:prstGeom prst="rect">
            <a:avLst/>
          </a:prstGeom>
          <a:noFill/>
        </p:spPr>
        <p:txBody>
          <a:bodyPr wrap="square">
            <a:spAutoFit/>
          </a:bodyPr>
          <a:lstStyle/>
          <a:p>
            <a:pPr algn="ctr"/>
            <a:r>
              <a:rPr sz="1000">
                <a:solidFill>
                  <a:srgbClr val="2C3E50"/>
                </a:solidFill>
                <a:latin typeface="Calibri"/>
              </a:rPr>
              <a:t>CloudTrail, S3
Object Lock 6yr</a:t>
            </a:r>
          </a:p>
        </p:txBody>
      </p:sp>
      <p:sp>
        <p:nvSpPr>
          <p:cNvPr id="25" name="Rounded Rectangle 24"/>
          <p:cNvSpPr/>
          <p:nvPr/>
        </p:nvSpPr>
        <p:spPr>
          <a:xfrm>
            <a:off x="10233507" y="1280160"/>
            <a:ext cx="1600200" cy="1371600"/>
          </a:xfrm>
          <a:prstGeom prst="roundRect">
            <a:avLst>
              <a:gd name="adj" fmla="val 10000"/>
            </a:avLst>
          </a:prstGeom>
          <a:solidFill>
            <a:srgbClr val="FFE8DA"/>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33507" y="1417320"/>
            <a:ext cx="1600200" cy="365760"/>
          </a:xfrm>
          <a:prstGeom prst="rect">
            <a:avLst/>
          </a:prstGeom>
          <a:noFill/>
        </p:spPr>
        <p:txBody>
          <a:bodyPr wrap="none">
            <a:spAutoFit/>
          </a:bodyPr>
          <a:lstStyle/>
          <a:p>
            <a:pPr algn="ctr"/>
            <a:r>
              <a:rPr sz="1300" b="1">
                <a:solidFill>
                  <a:srgbClr val="CC4F1F"/>
                </a:solidFill>
                <a:latin typeface="Calibri"/>
              </a:rPr>
              <a:t>Threat</a:t>
            </a:r>
          </a:p>
        </p:txBody>
      </p:sp>
      <p:sp>
        <p:nvSpPr>
          <p:cNvPr id="27" name="TextBox 26"/>
          <p:cNvSpPr txBox="1"/>
          <p:nvPr/>
        </p:nvSpPr>
        <p:spPr>
          <a:xfrm>
            <a:off x="10279227" y="1783080"/>
            <a:ext cx="1508760" cy="822960"/>
          </a:xfrm>
          <a:prstGeom prst="rect">
            <a:avLst/>
          </a:prstGeom>
          <a:noFill/>
        </p:spPr>
        <p:txBody>
          <a:bodyPr wrap="square">
            <a:spAutoFit/>
          </a:bodyPr>
          <a:lstStyle/>
          <a:p>
            <a:pPr algn="ctr"/>
            <a:r>
              <a:rPr sz="1000">
                <a:solidFill>
                  <a:srgbClr val="2C3E50"/>
                </a:solidFill>
                <a:latin typeface="Calibri"/>
              </a:rPr>
              <a:t>GuardDuty,
Macie, Sec Hub</a:t>
            </a:r>
          </a:p>
        </p:txBody>
      </p:sp>
      <p:sp>
        <p:nvSpPr>
          <p:cNvPr id="28" name="TextBox 27"/>
          <p:cNvSpPr txBox="1"/>
          <p:nvPr/>
        </p:nvSpPr>
        <p:spPr>
          <a:xfrm>
            <a:off x="457200" y="2926080"/>
            <a:ext cx="11247120" cy="365760"/>
          </a:xfrm>
          <a:prstGeom prst="rect">
            <a:avLst/>
          </a:prstGeom>
          <a:noFill/>
        </p:spPr>
        <p:txBody>
          <a:bodyPr wrap="square" lIns="45720" rIns="45720">
            <a:spAutoFit/>
          </a:bodyPr>
          <a:lstStyle/>
          <a:p>
            <a:pPr algn="l"/>
            <a:r>
              <a:rPr sz="1500" b="1">
                <a:solidFill>
                  <a:srgbClr val="CC4F1F"/>
                </a:solidFill>
                <a:latin typeface="Calibri"/>
              </a:rPr>
              <a:t>Compliance Matrix</a:t>
            </a:r>
          </a:p>
        </p:txBody>
      </p:sp>
      <p:graphicFrame>
        <p:nvGraphicFramePr>
          <p:cNvPr id="29" name="Table 28"/>
          <p:cNvGraphicFramePr>
            <a:graphicFrameLocks noGrp="1"/>
          </p:cNvGraphicFramePr>
          <p:nvPr/>
        </p:nvGraphicFramePr>
        <p:xfrm>
          <a:off x="457200" y="3383280"/>
          <a:ext cx="11247120" cy="2926080"/>
        </p:xfrm>
        <a:graphic>
          <a:graphicData uri="http://schemas.openxmlformats.org/drawingml/2006/table">
            <a:tbl>
              <a:tblPr firstRow="1" bandRow="1">
                <a:tableStyleId>{5C22544A-7EE6-4342-B048-85BDC9FD1C3A}</a:tableStyleId>
              </a:tblPr>
              <a:tblGrid>
                <a:gridCol w="3749040"/>
                <a:gridCol w="3749040"/>
                <a:gridCol w="3749040"/>
              </a:tblGrid>
              <a:tr h="365760">
                <a:tc>
                  <a:txBody>
                    <a:bodyPr lIns="73152" tIns="36576"/>
                    <a:lstStyle/>
                    <a:p>
                      <a:r>
                        <a:rPr sz="1200" b="1">
                          <a:solidFill>
                            <a:srgbClr val="FFFFFF"/>
                          </a:solidFill>
                          <a:latin typeface="Calibri"/>
                        </a:rPr>
                        <a:t>Regulation</a:t>
                      </a:r>
                    </a:p>
                  </a:txBody>
                  <a:tcPr>
                    <a:solidFill>
                      <a:srgbClr val="FF6B35"/>
                    </a:solidFill>
                  </a:tcPr>
                </a:tc>
                <a:tc>
                  <a:txBody>
                    <a:bodyPr lIns="73152" tIns="36576"/>
                    <a:lstStyle/>
                    <a:p>
                      <a:r>
                        <a:rPr sz="1200" b="1">
                          <a:solidFill>
                            <a:srgbClr val="FFFFFF"/>
                          </a:solidFill>
                          <a:latin typeface="Calibri"/>
                        </a:rPr>
                        <a:t>AWS Support</a:t>
                      </a:r>
                    </a:p>
                  </a:txBody>
                  <a:tcPr>
                    <a:solidFill>
                      <a:srgbClr val="FF6B35"/>
                    </a:solidFill>
                  </a:tcPr>
                </a:tc>
                <a:tc>
                  <a:txBody>
                    <a:bodyPr lIns="73152" tIns="36576"/>
                    <a:lstStyle/>
                    <a:p>
                      <a:r>
                        <a:rPr sz="1200" b="1">
                          <a:solidFill>
                            <a:srgbClr val="FFFFFF"/>
                          </a:solidFill>
                          <a:latin typeface="Calibri"/>
                        </a:rPr>
                        <a:t>Scope in this Solution</a:t>
                      </a:r>
                    </a:p>
                  </a:txBody>
                  <a:tcPr>
                    <a:solidFill>
                      <a:srgbClr val="FF6B35"/>
                    </a:solidFill>
                  </a:tcPr>
                </a:tc>
              </a:tr>
              <a:tr h="365760">
                <a:tc>
                  <a:txBody>
                    <a:bodyPr lIns="73152" tIns="27432"/>
                    <a:lstStyle/>
                    <a:p>
                      <a:r>
                        <a:rPr sz="1000">
                          <a:solidFill>
                            <a:srgbClr val="2C3E50"/>
                          </a:solidFill>
                          <a:latin typeface="Calibri"/>
                        </a:rPr>
                        <a:t>HIPAA, 45 CFR Part 164</a:t>
                      </a:r>
                    </a:p>
                  </a:txBody>
                  <a:tcPr>
                    <a:solidFill>
                      <a:srgbClr val="FFFFFF"/>
                    </a:solidFill>
                  </a:tcPr>
                </a:tc>
                <a:tc>
                  <a:txBody>
                    <a:bodyPr lIns="73152" tIns="27432"/>
                    <a:lstStyle/>
                    <a:p>
                      <a:r>
                        <a:rPr sz="1000">
                          <a:solidFill>
                            <a:srgbClr val="2C3E50"/>
                          </a:solidFill>
                          <a:latin typeface="Calibri"/>
                        </a:rPr>
                        <a:t>Signed BAA over Bedrock + adjuncts</a:t>
                      </a:r>
                    </a:p>
                  </a:txBody>
                  <a:tcPr>
                    <a:solidFill>
                      <a:srgbClr val="FFFFFF"/>
                    </a:solidFill>
                  </a:tcPr>
                </a:tc>
                <a:tc>
                  <a:txBody>
                    <a:bodyPr lIns="73152" tIns="27432"/>
                    <a:lstStyle/>
                    <a:p>
                      <a:r>
                        <a:rPr sz="1000">
                          <a:solidFill>
                            <a:srgbClr val="2C3E50"/>
                          </a:solidFill>
                          <a:latin typeface="Calibri"/>
                        </a:rPr>
                        <a:t>6-year retention via S3 Object Lock</a:t>
                      </a:r>
                    </a:p>
                  </a:txBody>
                  <a:tcPr>
                    <a:solidFill>
                      <a:srgbClr val="FFFFFF"/>
                    </a:solidFill>
                  </a:tcPr>
                </a:tc>
              </a:tr>
              <a:tr h="365760">
                <a:tc>
                  <a:txBody>
                    <a:bodyPr lIns="73152" tIns="27432"/>
                    <a:lstStyle/>
                    <a:p>
                      <a:r>
                        <a:rPr sz="1000">
                          <a:solidFill>
                            <a:srgbClr val="2C3E50"/>
                          </a:solidFill>
                          <a:latin typeface="Calibri"/>
                        </a:rPr>
                        <a:t>Singapore PDPA</a:t>
                      </a:r>
                    </a:p>
                  </a:txBody>
                  <a:tcPr>
                    <a:solidFill>
                      <a:srgbClr val="FFE8DA"/>
                    </a:solidFill>
                  </a:tcPr>
                </a:tc>
                <a:tc>
                  <a:txBody>
                    <a:bodyPr lIns="73152" tIns="27432"/>
                    <a:lstStyle/>
                    <a:p>
                      <a:r>
                        <a:rPr sz="1000">
                          <a:solidFill>
                            <a:srgbClr val="2C3E50"/>
                          </a:solidFill>
                          <a:latin typeface="Calibri"/>
                        </a:rPr>
                        <a:t>PDPA-compliant, comparable-protection clauses</a:t>
                      </a:r>
                    </a:p>
                  </a:txBody>
                  <a:tcPr>
                    <a:solidFill>
                      <a:srgbClr val="FFE8DA"/>
                    </a:solidFill>
                  </a:tcPr>
                </a:tc>
                <a:tc>
                  <a:txBody>
                    <a:bodyPr lIns="73152" tIns="27432"/>
                    <a:lstStyle/>
                    <a:p>
                      <a:r>
                        <a:rPr sz="1000">
                          <a:solidFill>
                            <a:srgbClr val="2C3E50"/>
                          </a:solidFill>
                          <a:latin typeface="Calibri"/>
                        </a:rPr>
                        <a:t>Primary region SG, no default cross-border transfer</a:t>
                      </a:r>
                    </a:p>
                  </a:txBody>
                  <a:tcPr>
                    <a:solidFill>
                      <a:srgbClr val="FFE8DA"/>
                    </a:solidFill>
                  </a:tcPr>
                </a:tc>
              </a:tr>
              <a:tr h="365760">
                <a:tc>
                  <a:txBody>
                    <a:bodyPr lIns="73152" tIns="27432"/>
                    <a:lstStyle/>
                    <a:p>
                      <a:r>
                        <a:rPr sz="1000">
                          <a:solidFill>
                            <a:srgbClr val="2C3E50"/>
                          </a:solidFill>
                          <a:latin typeface="Calibri"/>
                        </a:rPr>
                        <a:t>Singapore HCSA</a:t>
                      </a:r>
                    </a:p>
                  </a:txBody>
                  <a:tcPr>
                    <a:solidFill>
                      <a:srgbClr val="FFFFFF"/>
                    </a:solidFill>
                  </a:tcPr>
                </a:tc>
                <a:tc>
                  <a:txBody>
                    <a:bodyPr lIns="73152" tIns="27432"/>
                    <a:lstStyle/>
                    <a:p>
                      <a:r>
                        <a:rPr sz="1000">
                          <a:solidFill>
                            <a:srgbClr val="2C3E50"/>
                          </a:solidFill>
                          <a:latin typeface="Calibri"/>
                        </a:rPr>
                        <a:t>AWS Singapore region supports HCSA</a:t>
                      </a:r>
                    </a:p>
                  </a:txBody>
                  <a:tcPr>
                    <a:solidFill>
                      <a:srgbClr val="FFFFFF"/>
                    </a:solidFill>
                  </a:tcPr>
                </a:tc>
                <a:tc>
                  <a:txBody>
                    <a:bodyPr lIns="73152" tIns="27432"/>
                    <a:lstStyle/>
                    <a:p>
                      <a:r>
                        <a:rPr sz="1000">
                          <a:solidFill>
                            <a:srgbClr val="2C3E50"/>
                          </a:solidFill>
                          <a:latin typeface="Calibri"/>
                        </a:rPr>
                        <a:t>Clinical records remain in ap-southeast-1</a:t>
                      </a:r>
                    </a:p>
                  </a:txBody>
                  <a:tcPr>
                    <a:solidFill>
                      <a:srgbClr val="FFFFFF"/>
                    </a:solidFill>
                  </a:tcPr>
                </a:tc>
              </a:tr>
              <a:tr h="365760">
                <a:tc>
                  <a:txBody>
                    <a:bodyPr lIns="73152" tIns="27432"/>
                    <a:lstStyle/>
                    <a:p>
                      <a:r>
                        <a:rPr sz="1000">
                          <a:solidFill>
                            <a:srgbClr val="2C3E50"/>
                          </a:solidFill>
                          <a:latin typeface="Calibri"/>
                        </a:rPr>
                        <a:t>GDPR (EU 2016/679)</a:t>
                      </a:r>
                    </a:p>
                  </a:txBody>
                  <a:tcPr>
                    <a:solidFill>
                      <a:srgbClr val="FFE8DA"/>
                    </a:solidFill>
                  </a:tcPr>
                </a:tc>
                <a:tc>
                  <a:txBody>
                    <a:bodyPr lIns="73152" tIns="27432"/>
                    <a:lstStyle/>
                    <a:p>
                      <a:r>
                        <a:rPr sz="1000">
                          <a:solidFill>
                            <a:srgbClr val="2C3E50"/>
                          </a:solidFill>
                          <a:latin typeface="Calibri"/>
                        </a:rPr>
                        <a:t>GDPR DPA available</a:t>
                      </a:r>
                    </a:p>
                  </a:txBody>
                  <a:tcPr>
                    <a:solidFill>
                      <a:srgbClr val="FFE8DA"/>
                    </a:solidFill>
                  </a:tcPr>
                </a:tc>
                <a:tc>
                  <a:txBody>
                    <a:bodyPr lIns="73152" tIns="27432"/>
                    <a:lstStyle/>
                    <a:p>
                      <a:r>
                        <a:rPr sz="1000">
                          <a:solidFill>
                            <a:srgbClr val="2C3E50"/>
                          </a:solidFill>
                          <a:latin typeface="Calibri"/>
                        </a:rPr>
                        <a:t>DPIA template, right-to-erasure via tombstone</a:t>
                      </a:r>
                    </a:p>
                  </a:txBody>
                  <a:tcPr>
                    <a:solidFill>
                      <a:srgbClr val="FFE8DA"/>
                    </a:solidFill>
                  </a:tcPr>
                </a:tc>
              </a:tr>
              <a:tr h="365760">
                <a:tc>
                  <a:txBody>
                    <a:bodyPr lIns="73152" tIns="27432"/>
                    <a:lstStyle/>
                    <a:p>
                      <a:r>
                        <a:rPr sz="1000">
                          <a:solidFill>
                            <a:srgbClr val="2C3E50"/>
                          </a:solidFill>
                          <a:latin typeface="Calibri"/>
                        </a:rPr>
                        <a:t>FDA 21 CFR 820 (SaMD)</a:t>
                      </a:r>
                    </a:p>
                  </a:txBody>
                  <a:tcPr>
                    <a:solidFill>
                      <a:srgbClr val="FFFFFF"/>
                    </a:solidFill>
                  </a:tcPr>
                </a:tc>
                <a:tc>
                  <a:txBody>
                    <a:bodyPr lIns="73152" tIns="27432"/>
                    <a:lstStyle/>
                    <a:p>
                      <a:r>
                        <a:rPr sz="1000">
                          <a:solidFill>
                            <a:srgbClr val="2C3E50"/>
                          </a:solidFill>
                          <a:latin typeface="Calibri"/>
                        </a:rPr>
                        <a:t>FDA Part 11 capable</a:t>
                      </a:r>
                    </a:p>
                  </a:txBody>
                  <a:tcPr>
                    <a:solidFill>
                      <a:srgbClr val="FFFFFF"/>
                    </a:solidFill>
                  </a:tcPr>
                </a:tc>
                <a:tc>
                  <a:txBody>
                    <a:bodyPr lIns="73152" tIns="27432"/>
                    <a:lstStyle/>
                    <a:p>
                      <a:r>
                        <a:rPr sz="1000">
                          <a:solidFill>
                            <a:srgbClr val="2C3E50"/>
                          </a:solidFill>
                          <a:latin typeface="Calibri"/>
                        </a:rPr>
                        <a:t>Decision-support only, human-in-the-loop</a:t>
                      </a:r>
                    </a:p>
                  </a:txBody>
                  <a:tcPr>
                    <a:solidFill>
                      <a:srgbClr val="FFFFFF"/>
                    </a:solidFill>
                  </a:tcPr>
                </a:tc>
              </a:tr>
              <a:tr h="365760">
                <a:tc>
                  <a:txBody>
                    <a:bodyPr lIns="73152" tIns="27432"/>
                    <a:lstStyle/>
                    <a:p>
                      <a:r>
                        <a:rPr sz="1000">
                          <a:solidFill>
                            <a:srgbClr val="2C3E50"/>
                          </a:solidFill>
                          <a:latin typeface="Calibri"/>
                        </a:rPr>
                        <a:t>EU AI Act (high-risk AI)</a:t>
                      </a:r>
                    </a:p>
                  </a:txBody>
                  <a:tcPr>
                    <a:solidFill>
                      <a:srgbClr val="FFE8DA"/>
                    </a:solidFill>
                  </a:tcPr>
                </a:tc>
                <a:tc>
                  <a:txBody>
                    <a:bodyPr lIns="73152" tIns="27432"/>
                    <a:lstStyle/>
                    <a:p>
                      <a:r>
                        <a:rPr sz="1000">
                          <a:solidFill>
                            <a:srgbClr val="2C3E50"/>
                          </a:solidFill>
                          <a:latin typeface="Calibri"/>
                        </a:rPr>
                        <a:t>Logging + transparency services</a:t>
                      </a:r>
                    </a:p>
                  </a:txBody>
                  <a:tcPr>
                    <a:solidFill>
                      <a:srgbClr val="FFE8DA"/>
                    </a:solidFill>
                  </a:tcPr>
                </a:tc>
                <a:tc>
                  <a:txBody>
                    <a:bodyPr lIns="73152" tIns="27432"/>
                    <a:lstStyle/>
                    <a:p>
                      <a:r>
                        <a:rPr sz="1000">
                          <a:solidFill>
                            <a:srgbClr val="2C3E50"/>
                          </a:solidFill>
                          <a:latin typeface="Calibri"/>
                        </a:rPr>
                        <a:t>Decision logs, human oversight, post-market monitoring</a:t>
                      </a:r>
                    </a:p>
                  </a:txBody>
                  <a:tcPr>
                    <a:solidFill>
                      <a:srgbClr val="FFE8DA"/>
                    </a:solidFill>
                  </a:tcPr>
                </a:tc>
              </a:tr>
              <a:tr h="365760">
                <a:tc>
                  <a:txBody>
                    <a:bodyPr lIns="73152" tIns="27432"/>
                    <a:lstStyle/>
                    <a:p>
                      <a:r>
                        <a:rPr sz="1000">
                          <a:solidFill>
                            <a:srgbClr val="2C3E50"/>
                          </a:solidFill>
                          <a:latin typeface="Calibri"/>
                        </a:rPr>
                        <a:t>ISO 27001 / SOC 2 Type II</a:t>
                      </a:r>
                    </a:p>
                  </a:txBody>
                  <a:tcPr>
                    <a:solidFill>
                      <a:srgbClr val="FFFFFF"/>
                    </a:solidFill>
                  </a:tcPr>
                </a:tc>
                <a:tc>
                  <a:txBody>
                    <a:bodyPr lIns="73152" tIns="27432"/>
                    <a:lstStyle/>
                    <a:p>
                      <a:r>
                        <a:rPr sz="1000">
                          <a:solidFill>
                            <a:srgbClr val="2C3E50"/>
                          </a:solidFill>
                          <a:latin typeface="Calibri"/>
                        </a:rPr>
                        <a:t>AWS certified</a:t>
                      </a:r>
                    </a:p>
                  </a:txBody>
                  <a:tcPr>
                    <a:solidFill>
                      <a:srgbClr val="FFFFFF"/>
                    </a:solidFill>
                  </a:tcPr>
                </a:tc>
                <a:tc>
                  <a:txBody>
                    <a:bodyPr lIns="73152" tIns="27432"/>
                    <a:lstStyle/>
                    <a:p>
                      <a:r>
                        <a:rPr sz="1000">
                          <a:solidFill>
                            <a:srgbClr val="2C3E50"/>
                          </a:solidFill>
                          <a:latin typeface="Calibri"/>
                        </a:rPr>
                        <a:t>Inherited controls, Nova responsibilities documented</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Performance Results · PoC Live (v4)</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ounded Rectangle 6"/>
          <p:cNvSpPr/>
          <p:nvPr/>
        </p:nvSpPr>
        <p:spPr>
          <a:xfrm>
            <a:off x="609447" y="1280160"/>
            <a:ext cx="2606040" cy="1280160"/>
          </a:xfrm>
          <a:prstGeom prst="roundRect">
            <a:avLst>
              <a:gd name="adj" fmla="val 6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447" y="1417320"/>
            <a:ext cx="2606040" cy="274320"/>
          </a:xfrm>
          <a:prstGeom prst="rect">
            <a:avLst/>
          </a:prstGeom>
          <a:noFill/>
        </p:spPr>
        <p:txBody>
          <a:bodyPr wrap="none">
            <a:spAutoFit/>
          </a:bodyPr>
          <a:lstStyle/>
          <a:p>
            <a:pPr algn="ctr"/>
            <a:r>
              <a:rPr sz="1100">
                <a:solidFill>
                  <a:srgbClr val="646464"/>
                </a:solidFill>
                <a:latin typeface="Calibri"/>
              </a:rPr>
              <a:t>TTFT</a:t>
            </a:r>
          </a:p>
        </p:txBody>
      </p:sp>
      <p:sp>
        <p:nvSpPr>
          <p:cNvPr id="9" name="TextBox 8"/>
          <p:cNvSpPr txBox="1"/>
          <p:nvPr/>
        </p:nvSpPr>
        <p:spPr>
          <a:xfrm>
            <a:off x="609447" y="1645920"/>
            <a:ext cx="2606040" cy="548640"/>
          </a:xfrm>
          <a:prstGeom prst="rect">
            <a:avLst/>
          </a:prstGeom>
          <a:noFill/>
        </p:spPr>
        <p:txBody>
          <a:bodyPr wrap="none">
            <a:spAutoFit/>
          </a:bodyPr>
          <a:lstStyle/>
          <a:p>
            <a:pPr algn="ctr"/>
            <a:r>
              <a:rPr sz="2800" b="1">
                <a:solidFill>
                  <a:srgbClr val="CC4F1F"/>
                </a:solidFill>
                <a:latin typeface="Calibri"/>
              </a:rPr>
              <a:t>2.5s</a:t>
            </a:r>
          </a:p>
        </p:txBody>
      </p:sp>
      <p:sp>
        <p:nvSpPr>
          <p:cNvPr id="10" name="TextBox 9"/>
          <p:cNvSpPr txBox="1"/>
          <p:nvPr/>
        </p:nvSpPr>
        <p:spPr>
          <a:xfrm>
            <a:off x="609447" y="2194560"/>
            <a:ext cx="2606040" cy="274320"/>
          </a:xfrm>
          <a:prstGeom prst="rect">
            <a:avLst/>
          </a:prstGeom>
          <a:noFill/>
        </p:spPr>
        <p:txBody>
          <a:bodyPr wrap="none">
            <a:spAutoFit/>
          </a:bodyPr>
          <a:lstStyle/>
          <a:p>
            <a:pPr algn="ctr"/>
            <a:r>
              <a:rPr sz="1100" i="1">
                <a:solidFill>
                  <a:srgbClr val="2C3E50"/>
                </a:solidFill>
                <a:latin typeface="Calibri"/>
              </a:rPr>
              <a:t>Emergency</a:t>
            </a:r>
          </a:p>
        </p:txBody>
      </p:sp>
      <p:sp>
        <p:nvSpPr>
          <p:cNvPr id="11" name="Rounded Rectangle 10"/>
          <p:cNvSpPr/>
          <p:nvPr/>
        </p:nvSpPr>
        <p:spPr>
          <a:xfrm>
            <a:off x="3398367" y="1280160"/>
            <a:ext cx="2606040" cy="1280160"/>
          </a:xfrm>
          <a:prstGeom prst="roundRect">
            <a:avLst>
              <a:gd name="adj" fmla="val 6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98367" y="1417320"/>
            <a:ext cx="2606040" cy="274320"/>
          </a:xfrm>
          <a:prstGeom prst="rect">
            <a:avLst/>
          </a:prstGeom>
          <a:noFill/>
        </p:spPr>
        <p:txBody>
          <a:bodyPr wrap="none">
            <a:spAutoFit/>
          </a:bodyPr>
          <a:lstStyle/>
          <a:p>
            <a:pPr algn="ctr"/>
            <a:r>
              <a:rPr sz="1100">
                <a:solidFill>
                  <a:srgbClr val="646464"/>
                </a:solidFill>
                <a:latin typeface="Calibri"/>
              </a:rPr>
              <a:t>TTFT</a:t>
            </a:r>
          </a:p>
        </p:txBody>
      </p:sp>
      <p:sp>
        <p:nvSpPr>
          <p:cNvPr id="13" name="TextBox 12"/>
          <p:cNvSpPr txBox="1"/>
          <p:nvPr/>
        </p:nvSpPr>
        <p:spPr>
          <a:xfrm>
            <a:off x="3398367" y="1645920"/>
            <a:ext cx="2606040" cy="548640"/>
          </a:xfrm>
          <a:prstGeom prst="rect">
            <a:avLst/>
          </a:prstGeom>
          <a:noFill/>
        </p:spPr>
        <p:txBody>
          <a:bodyPr wrap="none">
            <a:spAutoFit/>
          </a:bodyPr>
          <a:lstStyle/>
          <a:p>
            <a:pPr algn="ctr"/>
            <a:r>
              <a:rPr sz="2800" b="1">
                <a:solidFill>
                  <a:srgbClr val="CC4F1F"/>
                </a:solidFill>
                <a:latin typeface="Calibri"/>
              </a:rPr>
              <a:t>9.7s</a:t>
            </a:r>
          </a:p>
        </p:txBody>
      </p:sp>
      <p:sp>
        <p:nvSpPr>
          <p:cNvPr id="14" name="TextBox 13"/>
          <p:cNvSpPr txBox="1"/>
          <p:nvPr/>
        </p:nvSpPr>
        <p:spPr>
          <a:xfrm>
            <a:off x="3398367" y="2194560"/>
            <a:ext cx="2606040" cy="274320"/>
          </a:xfrm>
          <a:prstGeom prst="rect">
            <a:avLst/>
          </a:prstGeom>
          <a:noFill/>
        </p:spPr>
        <p:txBody>
          <a:bodyPr wrap="none">
            <a:spAutoFit/>
          </a:bodyPr>
          <a:lstStyle/>
          <a:p>
            <a:pPr algn="ctr"/>
            <a:r>
              <a:rPr sz="1100" i="1">
                <a:solidFill>
                  <a:srgbClr val="2C3E50"/>
                </a:solidFill>
                <a:latin typeface="Calibri"/>
              </a:rPr>
              <a:t>Complex</a:t>
            </a:r>
          </a:p>
        </p:txBody>
      </p:sp>
      <p:sp>
        <p:nvSpPr>
          <p:cNvPr id="15" name="Rounded Rectangle 14"/>
          <p:cNvSpPr/>
          <p:nvPr/>
        </p:nvSpPr>
        <p:spPr>
          <a:xfrm>
            <a:off x="6187287" y="1280160"/>
            <a:ext cx="2606040" cy="1280160"/>
          </a:xfrm>
          <a:prstGeom prst="roundRect">
            <a:avLst>
              <a:gd name="adj" fmla="val 6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7287" y="1417320"/>
            <a:ext cx="2606040" cy="274320"/>
          </a:xfrm>
          <a:prstGeom prst="rect">
            <a:avLst/>
          </a:prstGeom>
          <a:noFill/>
        </p:spPr>
        <p:txBody>
          <a:bodyPr wrap="none">
            <a:spAutoFit/>
          </a:bodyPr>
          <a:lstStyle/>
          <a:p>
            <a:pPr algn="ctr"/>
            <a:r>
              <a:rPr sz="1100">
                <a:solidFill>
                  <a:srgbClr val="646464"/>
                </a:solidFill>
                <a:latin typeface="Calibri"/>
              </a:rPr>
              <a:t>Answer Rate</a:t>
            </a:r>
          </a:p>
        </p:txBody>
      </p:sp>
      <p:sp>
        <p:nvSpPr>
          <p:cNvPr id="17" name="TextBox 16"/>
          <p:cNvSpPr txBox="1"/>
          <p:nvPr/>
        </p:nvSpPr>
        <p:spPr>
          <a:xfrm>
            <a:off x="6187287" y="1645920"/>
            <a:ext cx="2606040" cy="548640"/>
          </a:xfrm>
          <a:prstGeom prst="rect">
            <a:avLst/>
          </a:prstGeom>
          <a:noFill/>
        </p:spPr>
        <p:txBody>
          <a:bodyPr wrap="none">
            <a:spAutoFit/>
          </a:bodyPr>
          <a:lstStyle/>
          <a:p>
            <a:pPr algn="ctr"/>
            <a:r>
              <a:rPr sz="2800" b="1">
                <a:solidFill>
                  <a:srgbClr val="CC4F1F"/>
                </a:solidFill>
                <a:latin typeface="Calibri"/>
              </a:rPr>
              <a:t>100%</a:t>
            </a:r>
          </a:p>
        </p:txBody>
      </p:sp>
      <p:sp>
        <p:nvSpPr>
          <p:cNvPr id="18" name="TextBox 17"/>
          <p:cNvSpPr txBox="1"/>
          <p:nvPr/>
        </p:nvSpPr>
        <p:spPr>
          <a:xfrm>
            <a:off x="6187287" y="2194560"/>
            <a:ext cx="2606040" cy="274320"/>
          </a:xfrm>
          <a:prstGeom prst="rect">
            <a:avLst/>
          </a:prstGeom>
          <a:noFill/>
        </p:spPr>
        <p:txBody>
          <a:bodyPr wrap="none">
            <a:spAutoFit/>
          </a:bodyPr>
          <a:lstStyle/>
          <a:p>
            <a:pPr algn="ctr"/>
            <a:r>
              <a:rPr sz="1100" i="1">
                <a:solidFill>
                  <a:srgbClr val="2C3E50"/>
                </a:solidFill>
                <a:latin typeface="Calibri"/>
              </a:rPr>
              <a:t>20/20 grounded</a:t>
            </a:r>
          </a:p>
        </p:txBody>
      </p:sp>
      <p:sp>
        <p:nvSpPr>
          <p:cNvPr id="19" name="Rounded Rectangle 18"/>
          <p:cNvSpPr/>
          <p:nvPr/>
        </p:nvSpPr>
        <p:spPr>
          <a:xfrm>
            <a:off x="8976207" y="1280160"/>
            <a:ext cx="2606040" cy="1280160"/>
          </a:xfrm>
          <a:prstGeom prst="roundRect">
            <a:avLst>
              <a:gd name="adj" fmla="val 6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76207" y="1417320"/>
            <a:ext cx="2606040" cy="274320"/>
          </a:xfrm>
          <a:prstGeom prst="rect">
            <a:avLst/>
          </a:prstGeom>
          <a:noFill/>
        </p:spPr>
        <p:txBody>
          <a:bodyPr wrap="none">
            <a:spAutoFit/>
          </a:bodyPr>
          <a:lstStyle/>
          <a:p>
            <a:pPr algn="ctr"/>
            <a:r>
              <a:rPr sz="1100">
                <a:solidFill>
                  <a:srgbClr val="646464"/>
                </a:solidFill>
                <a:latin typeface="Calibri"/>
              </a:rPr>
              <a:t>SLA Pass</a:t>
            </a:r>
          </a:p>
        </p:txBody>
      </p:sp>
      <p:sp>
        <p:nvSpPr>
          <p:cNvPr id="21" name="TextBox 20"/>
          <p:cNvSpPr txBox="1"/>
          <p:nvPr/>
        </p:nvSpPr>
        <p:spPr>
          <a:xfrm>
            <a:off x="8976207" y="1645920"/>
            <a:ext cx="2606040" cy="548640"/>
          </a:xfrm>
          <a:prstGeom prst="rect">
            <a:avLst/>
          </a:prstGeom>
          <a:noFill/>
        </p:spPr>
        <p:txBody>
          <a:bodyPr wrap="none">
            <a:spAutoFit/>
          </a:bodyPr>
          <a:lstStyle/>
          <a:p>
            <a:pPr algn="ctr"/>
            <a:r>
              <a:rPr sz="2800" b="1">
                <a:solidFill>
                  <a:srgbClr val="CC4F1F"/>
                </a:solidFill>
                <a:latin typeface="Calibri"/>
              </a:rPr>
              <a:t>100%</a:t>
            </a:r>
          </a:p>
        </p:txBody>
      </p:sp>
      <p:sp>
        <p:nvSpPr>
          <p:cNvPr id="22" name="TextBox 21"/>
          <p:cNvSpPr txBox="1"/>
          <p:nvPr/>
        </p:nvSpPr>
        <p:spPr>
          <a:xfrm>
            <a:off x="8976207" y="2194560"/>
            <a:ext cx="2606040" cy="274320"/>
          </a:xfrm>
          <a:prstGeom prst="rect">
            <a:avLst/>
          </a:prstGeom>
          <a:noFill/>
        </p:spPr>
        <p:txBody>
          <a:bodyPr wrap="none">
            <a:spAutoFit/>
          </a:bodyPr>
          <a:lstStyle/>
          <a:p>
            <a:pPr algn="ctr"/>
            <a:r>
              <a:rPr sz="1100" i="1">
                <a:solidFill>
                  <a:srgbClr val="2C3E50"/>
                </a:solidFill>
                <a:latin typeface="Calibri"/>
              </a:rPr>
              <a:t>20/20 within target</a:t>
            </a:r>
          </a:p>
        </p:txBody>
      </p:sp>
      <p:sp>
        <p:nvSpPr>
          <p:cNvPr id="23" name="TextBox 22"/>
          <p:cNvSpPr txBox="1"/>
          <p:nvPr/>
        </p:nvSpPr>
        <p:spPr>
          <a:xfrm>
            <a:off x="457200" y="2743200"/>
            <a:ext cx="11247120" cy="365760"/>
          </a:xfrm>
          <a:prstGeom prst="rect">
            <a:avLst/>
          </a:prstGeom>
          <a:noFill/>
        </p:spPr>
        <p:txBody>
          <a:bodyPr wrap="square" lIns="45720" rIns="45720">
            <a:spAutoFit/>
          </a:bodyPr>
          <a:lstStyle/>
          <a:p>
            <a:pPr algn="l"/>
            <a:r>
              <a:rPr sz="1500" b="1">
                <a:solidFill>
                  <a:srgbClr val="CC4F1F"/>
                </a:solidFill>
                <a:latin typeface="Calibri"/>
              </a:rPr>
              <a:t>Latency Breakdown (avg of 10 questions per lane)</a:t>
            </a:r>
          </a:p>
        </p:txBody>
      </p:sp>
      <p:graphicFrame>
        <p:nvGraphicFramePr>
          <p:cNvPr id="24" name="Table 23"/>
          <p:cNvGraphicFramePr>
            <a:graphicFrameLocks noGrp="1"/>
          </p:cNvGraphicFramePr>
          <p:nvPr/>
        </p:nvGraphicFramePr>
        <p:xfrm>
          <a:off x="457200" y="3200400"/>
          <a:ext cx="11247120" cy="2560320"/>
        </p:xfrm>
        <a:graphic>
          <a:graphicData uri="http://schemas.openxmlformats.org/drawingml/2006/table">
            <a:tbl>
              <a:tblPr firstRow="1" bandRow="1">
                <a:tableStyleId>{5C22544A-7EE6-4342-B048-85BDC9FD1C3A}</a:tableStyleId>
              </a:tblPr>
              <a:tblGrid>
                <a:gridCol w="3749040"/>
                <a:gridCol w="3749040"/>
                <a:gridCol w="3749040"/>
              </a:tblGrid>
              <a:tr h="320040">
                <a:tc>
                  <a:txBody>
                    <a:bodyPr lIns="73152" tIns="36576"/>
                    <a:lstStyle/>
                    <a:p>
                      <a:r>
                        <a:rPr sz="1200" b="1">
                          <a:solidFill>
                            <a:srgbClr val="FFFFFF"/>
                          </a:solidFill>
                          <a:latin typeface="Calibri"/>
                        </a:rPr>
                        <a:t>Phase</a:t>
                      </a:r>
                    </a:p>
                  </a:txBody>
                  <a:tcPr>
                    <a:solidFill>
                      <a:srgbClr val="FF6B35"/>
                    </a:solidFill>
                  </a:tcPr>
                </a:tc>
                <a:tc>
                  <a:txBody>
                    <a:bodyPr lIns="73152" tIns="36576"/>
                    <a:lstStyle/>
                    <a:p>
                      <a:r>
                        <a:rPr sz="1200" b="1">
                          <a:solidFill>
                            <a:srgbClr val="FFFFFF"/>
                          </a:solidFill>
                          <a:latin typeface="Calibri"/>
                        </a:rPr>
                        <a:t>Emergency Lane</a:t>
                      </a:r>
                    </a:p>
                  </a:txBody>
                  <a:tcPr>
                    <a:solidFill>
                      <a:srgbClr val="FF6B35"/>
                    </a:solidFill>
                  </a:tcPr>
                </a:tc>
                <a:tc>
                  <a:txBody>
                    <a:bodyPr lIns="73152" tIns="36576"/>
                    <a:lstStyle/>
                    <a:p>
                      <a:r>
                        <a:rPr sz="1200" b="1">
                          <a:solidFill>
                            <a:srgbClr val="FFFFFF"/>
                          </a:solidFill>
                          <a:latin typeface="Calibri"/>
                        </a:rPr>
                        <a:t>Complex Lane</a:t>
                      </a:r>
                    </a:p>
                  </a:txBody>
                  <a:tcPr>
                    <a:solidFill>
                      <a:srgbClr val="FF6B35"/>
                    </a:solidFill>
                  </a:tcPr>
                </a:tc>
              </a:tr>
              <a:tr h="320040">
                <a:tc>
                  <a:txBody>
                    <a:bodyPr lIns="73152" tIns="27432"/>
                    <a:lstStyle/>
                    <a:p>
                      <a:r>
                        <a:rPr sz="1000">
                          <a:solidFill>
                            <a:srgbClr val="2C3E50"/>
                          </a:solidFill>
                          <a:latin typeface="Calibri"/>
                        </a:rPr>
                        <a:t>Pre-generate (PHI mask, route)</a:t>
                      </a:r>
                    </a:p>
                  </a:txBody>
                  <a:tcPr>
                    <a:solidFill>
                      <a:srgbClr val="FFFFFF"/>
                    </a:solidFill>
                  </a:tcPr>
                </a:tc>
                <a:tc>
                  <a:txBody>
                    <a:bodyPr lIns="73152" tIns="27432"/>
                    <a:lstStyle/>
                    <a:p>
                      <a:r>
                        <a:rPr sz="1000">
                          <a:solidFill>
                            <a:srgbClr val="2C3E50"/>
                          </a:solidFill>
                          <a:latin typeface="Calibri"/>
                        </a:rPr>
                        <a:t>~50ms</a:t>
                      </a:r>
                    </a:p>
                  </a:txBody>
                  <a:tcPr>
                    <a:solidFill>
                      <a:srgbClr val="FFFFFF"/>
                    </a:solidFill>
                  </a:tcPr>
                </a:tc>
                <a:tc>
                  <a:txBody>
                    <a:bodyPr lIns="73152" tIns="27432"/>
                    <a:lstStyle/>
                    <a:p>
                      <a:r>
                        <a:rPr sz="1000">
                          <a:solidFill>
                            <a:srgbClr val="2C3E50"/>
                          </a:solidFill>
                          <a:latin typeface="Calibri"/>
                        </a:rPr>
                        <a:t>~450ms (Nova Micro routing)</a:t>
                      </a:r>
                    </a:p>
                  </a:txBody>
                  <a:tcPr>
                    <a:solidFill>
                      <a:srgbClr val="FFFFFF"/>
                    </a:solidFill>
                  </a:tcPr>
                </a:tc>
              </a:tr>
              <a:tr h="320040">
                <a:tc>
                  <a:txBody>
                    <a:bodyPr lIns="73152" tIns="27432"/>
                    <a:lstStyle/>
                    <a:p>
                      <a:r>
                        <a:rPr sz="1000">
                          <a:solidFill>
                            <a:srgbClr val="2C3E50"/>
                          </a:solidFill>
                          <a:latin typeface="Calibri"/>
                        </a:rPr>
                        <a:t>KB Retrieve (Vector + GraphRAG)</a:t>
                      </a:r>
                    </a:p>
                  </a:txBody>
                  <a:tcPr>
                    <a:solidFill>
                      <a:srgbClr val="FFE8DA"/>
                    </a:solidFill>
                  </a:tcPr>
                </a:tc>
                <a:tc>
                  <a:txBody>
                    <a:bodyPr lIns="73152" tIns="27432"/>
                    <a:lstStyle/>
                    <a:p>
                      <a:r>
                        <a:rPr sz="1000">
                          <a:solidFill>
                            <a:srgbClr val="2C3E50"/>
                          </a:solidFill>
                          <a:latin typeface="Calibri"/>
                        </a:rPr>
                        <a:t>~1,300ms</a:t>
                      </a:r>
                    </a:p>
                  </a:txBody>
                  <a:tcPr>
                    <a:solidFill>
                      <a:srgbClr val="FFE8DA"/>
                    </a:solidFill>
                  </a:tcPr>
                </a:tc>
                <a:tc>
                  <a:txBody>
                    <a:bodyPr lIns="73152" tIns="27432"/>
                    <a:lstStyle/>
                    <a:p>
                      <a:r>
                        <a:rPr sz="1000">
                          <a:solidFill>
                            <a:srgbClr val="2C3E50"/>
                          </a:solidFill>
                          <a:latin typeface="Calibri"/>
                        </a:rPr>
                        <a:t>~1,500ms</a:t>
                      </a:r>
                    </a:p>
                  </a:txBody>
                  <a:tcPr>
                    <a:solidFill>
                      <a:srgbClr val="FFE8DA"/>
                    </a:solidFill>
                  </a:tcPr>
                </a:tc>
              </a:tr>
              <a:tr h="320040">
                <a:tc>
                  <a:txBody>
                    <a:bodyPr lIns="73152" tIns="27432"/>
                    <a:lstStyle/>
                    <a:p>
                      <a:r>
                        <a:rPr sz="1000">
                          <a:solidFill>
                            <a:srgbClr val="2C3E50"/>
                          </a:solidFill>
                          <a:latin typeface="Calibri"/>
                        </a:rPr>
                        <a:t>Bedrock model TTFT</a:t>
                      </a:r>
                    </a:p>
                  </a:txBody>
                  <a:tcPr>
                    <a:solidFill>
                      <a:srgbClr val="FFFFFF"/>
                    </a:solidFill>
                  </a:tcPr>
                </a:tc>
                <a:tc>
                  <a:txBody>
                    <a:bodyPr lIns="73152" tIns="27432"/>
                    <a:lstStyle/>
                    <a:p>
                      <a:r>
                        <a:rPr sz="1000">
                          <a:solidFill>
                            <a:srgbClr val="2C3E50"/>
                          </a:solidFill>
                          <a:latin typeface="Calibri"/>
                        </a:rPr>
                        <a:t>~1,100ms</a:t>
                      </a:r>
                    </a:p>
                  </a:txBody>
                  <a:tcPr>
                    <a:solidFill>
                      <a:srgbClr val="FFFFFF"/>
                    </a:solidFill>
                  </a:tcPr>
                </a:tc>
                <a:tc>
                  <a:txBody>
                    <a:bodyPr lIns="73152" tIns="27432"/>
                    <a:lstStyle/>
                    <a:p>
                      <a:r>
                        <a:rPr sz="1000">
                          <a:solidFill>
                            <a:srgbClr val="2C3E50"/>
                          </a:solidFill>
                          <a:latin typeface="Calibri"/>
                        </a:rPr>
                        <a:t>~7,700ms (Sonnet + 18 chunks)</a:t>
                      </a:r>
                    </a:p>
                  </a:txBody>
                  <a:tcPr>
                    <a:solidFill>
                      <a:srgbClr val="FFFFFF"/>
                    </a:solidFill>
                  </a:tcPr>
                </a:tc>
              </a:tr>
              <a:tr h="320040">
                <a:tc>
                  <a:txBody>
                    <a:bodyPr lIns="73152" tIns="27432"/>
                    <a:lstStyle/>
                    <a:p>
                      <a:r>
                        <a:rPr sz="1000">
                          <a:solidFill>
                            <a:srgbClr val="2C3E50"/>
                          </a:solidFill>
                          <a:latin typeface="Calibri"/>
                        </a:rPr>
                        <a:t>Network + uvicorn overhead</a:t>
                      </a:r>
                    </a:p>
                  </a:txBody>
                  <a:tcPr>
                    <a:solidFill>
                      <a:srgbClr val="FFE8DA"/>
                    </a:solidFill>
                  </a:tcPr>
                </a:tc>
                <a:tc>
                  <a:txBody>
                    <a:bodyPr lIns="73152" tIns="27432"/>
                    <a:lstStyle/>
                    <a:p>
                      <a:r>
                        <a:rPr sz="1000">
                          <a:solidFill>
                            <a:srgbClr val="2C3E50"/>
                          </a:solidFill>
                          <a:latin typeface="Calibri"/>
                        </a:rPr>
                        <a:t>~50ms</a:t>
                      </a:r>
                    </a:p>
                  </a:txBody>
                  <a:tcPr>
                    <a:solidFill>
                      <a:srgbClr val="FFE8DA"/>
                    </a:solidFill>
                  </a:tcPr>
                </a:tc>
                <a:tc>
                  <a:txBody>
                    <a:bodyPr lIns="73152" tIns="27432"/>
                    <a:lstStyle/>
                    <a:p>
                      <a:r>
                        <a:rPr sz="1000">
                          <a:solidFill>
                            <a:srgbClr val="2C3E50"/>
                          </a:solidFill>
                          <a:latin typeface="Calibri"/>
                        </a:rPr>
                        <a:t>~50ms</a:t>
                      </a:r>
                    </a:p>
                  </a:txBody>
                  <a:tcPr>
                    <a:solidFill>
                      <a:srgbClr val="FFE8DA"/>
                    </a:solidFill>
                  </a:tcPr>
                </a:tc>
              </a:tr>
              <a:tr h="320040">
                <a:tc>
                  <a:txBody>
                    <a:bodyPr lIns="73152" tIns="27432"/>
                    <a:lstStyle/>
                    <a:p>
                      <a:r>
                        <a:rPr sz="1000">
                          <a:solidFill>
                            <a:srgbClr val="2C3E50"/>
                          </a:solidFill>
                          <a:latin typeface="Calibri"/>
                        </a:rPr>
                        <a:t>TOTAL TTFT</a:t>
                      </a:r>
                    </a:p>
                  </a:txBody>
                  <a:tcPr>
                    <a:solidFill>
                      <a:srgbClr val="FFFFFF"/>
                    </a:solidFill>
                  </a:tcPr>
                </a:tc>
                <a:tc>
                  <a:txBody>
                    <a:bodyPr lIns="73152" tIns="27432"/>
                    <a:lstStyle/>
                    <a:p>
                      <a:r>
                        <a:rPr sz="1000">
                          <a:solidFill>
                            <a:srgbClr val="2C3E50"/>
                          </a:solidFill>
                          <a:latin typeface="Calibri"/>
                        </a:rPr>
                        <a:t>2,463ms</a:t>
                      </a:r>
                    </a:p>
                  </a:txBody>
                  <a:tcPr>
                    <a:solidFill>
                      <a:srgbClr val="FFFFFF"/>
                    </a:solidFill>
                  </a:tcPr>
                </a:tc>
                <a:tc>
                  <a:txBody>
                    <a:bodyPr lIns="73152" tIns="27432"/>
                    <a:lstStyle/>
                    <a:p>
                      <a:r>
                        <a:rPr sz="1000">
                          <a:solidFill>
                            <a:srgbClr val="2C3E50"/>
                          </a:solidFill>
                          <a:latin typeface="Calibri"/>
                        </a:rPr>
                        <a:t>9,576ms</a:t>
                      </a:r>
                    </a:p>
                  </a:txBody>
                  <a:tcPr>
                    <a:solidFill>
                      <a:srgbClr val="FFFFFF"/>
                    </a:solidFill>
                  </a:tcPr>
                </a:tc>
              </a:tr>
              <a:tr h="320040">
                <a:tc>
                  <a:txBody>
                    <a:bodyPr lIns="73152" tIns="27432"/>
                    <a:lstStyle/>
                    <a:p>
                      <a:r>
                        <a:rPr sz="1000">
                          <a:solidFill>
                            <a:srgbClr val="2C3E50"/>
                          </a:solidFill>
                          <a:latin typeface="Calibri"/>
                        </a:rPr>
                        <a:t>Token streaming + post-process</a:t>
                      </a:r>
                    </a:p>
                  </a:txBody>
                  <a:tcPr>
                    <a:solidFill>
                      <a:srgbClr val="FFE8DA"/>
                    </a:solidFill>
                  </a:tcPr>
                </a:tc>
                <a:tc>
                  <a:txBody>
                    <a:bodyPr lIns="73152" tIns="27432"/>
                    <a:lstStyle/>
                    <a:p>
                      <a:r>
                        <a:rPr sz="1000">
                          <a:solidFill>
                            <a:srgbClr val="2C3E50"/>
                          </a:solidFill>
                          <a:latin typeface="Calibri"/>
                        </a:rPr>
                        <a:t>~2,600ms</a:t>
                      </a:r>
                    </a:p>
                  </a:txBody>
                  <a:tcPr>
                    <a:solidFill>
                      <a:srgbClr val="FFE8DA"/>
                    </a:solidFill>
                  </a:tcPr>
                </a:tc>
                <a:tc>
                  <a:txBody>
                    <a:bodyPr lIns="73152" tIns="27432"/>
                    <a:lstStyle/>
                    <a:p>
                      <a:r>
                        <a:rPr sz="1000">
                          <a:solidFill>
                            <a:srgbClr val="2C3E50"/>
                          </a:solidFill>
                          <a:latin typeface="Calibri"/>
                        </a:rPr>
                        <a:t>~2,400ms</a:t>
                      </a:r>
                    </a:p>
                  </a:txBody>
                  <a:tcPr>
                    <a:solidFill>
                      <a:srgbClr val="FFE8DA"/>
                    </a:solidFill>
                  </a:tcPr>
                </a:tc>
              </a:tr>
              <a:tr h="320040">
                <a:tc>
                  <a:txBody>
                    <a:bodyPr lIns="73152" tIns="27432"/>
                    <a:lstStyle/>
                    <a:p>
                      <a:r>
                        <a:rPr sz="1000">
                          <a:solidFill>
                            <a:srgbClr val="2C3E50"/>
                          </a:solidFill>
                          <a:latin typeface="Calibri"/>
                        </a:rPr>
                        <a:t>TOTAL end-to-end</a:t>
                      </a:r>
                    </a:p>
                  </a:txBody>
                  <a:tcPr>
                    <a:solidFill>
                      <a:srgbClr val="FFFFFF"/>
                    </a:solidFill>
                  </a:tcPr>
                </a:tc>
                <a:tc>
                  <a:txBody>
                    <a:bodyPr lIns="73152" tIns="27432"/>
                    <a:lstStyle/>
                    <a:p>
                      <a:r>
                        <a:rPr sz="1000">
                          <a:solidFill>
                            <a:srgbClr val="2C3E50"/>
                          </a:solidFill>
                          <a:latin typeface="Calibri"/>
                        </a:rPr>
                        <a:t>5,079ms</a:t>
                      </a:r>
                    </a:p>
                  </a:txBody>
                  <a:tcPr>
                    <a:solidFill>
                      <a:srgbClr val="FFFFFF"/>
                    </a:solidFill>
                  </a:tcPr>
                </a:tc>
                <a:tc>
                  <a:txBody>
                    <a:bodyPr lIns="73152" tIns="27432"/>
                    <a:lstStyle/>
                    <a:p>
                      <a:r>
                        <a:rPr sz="1000">
                          <a:solidFill>
                            <a:srgbClr val="2C3E50"/>
                          </a:solidFill>
                          <a:latin typeface="Calibri"/>
                        </a:rPr>
                        <a:t>11,980ms</a:t>
                      </a:r>
                    </a:p>
                  </a:txBody>
                  <a:tcPr>
                    <a:solidFill>
                      <a:srgbClr val="FFFFFF"/>
                    </a:solidFill>
                  </a:tcPr>
                </a:tc>
              </a:tr>
            </a:tbl>
          </a:graphicData>
        </a:graphic>
      </p:graphicFrame>
      <p:sp>
        <p:nvSpPr>
          <p:cNvPr id="25" name="Rounded Rectangle 24"/>
          <p:cNvSpPr/>
          <p:nvPr/>
        </p:nvSpPr>
        <p:spPr>
          <a:xfrm>
            <a:off x="457200" y="5852160"/>
            <a:ext cx="11247120" cy="548640"/>
          </a:xfrm>
          <a:prstGeom prst="roundRect">
            <a:avLst>
              <a:gd name="adj" fmla="val 20000"/>
            </a:avLst>
          </a:prstGeom>
          <a:solidFill>
            <a:srgbClr val="FFE8DA"/>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897880"/>
            <a:ext cx="10972800" cy="457200"/>
          </a:xfrm>
          <a:prstGeom prst="rect">
            <a:avLst/>
          </a:prstGeom>
          <a:noFill/>
        </p:spPr>
        <p:txBody>
          <a:bodyPr wrap="square">
            <a:spAutoFit/>
          </a:bodyPr>
          <a:lstStyle/>
          <a:p>
            <a:pPr algn="ctr"/>
            <a:r>
              <a:rPr sz="1100" b="1">
                <a:solidFill>
                  <a:srgbClr val="CC4F1F"/>
                </a:solidFill>
                <a:latin typeface="Calibri"/>
              </a:rPr>
              <a:t>Production targets (2s emergency, 6s complex) achievable with: Reserved Tier + Prompt Caching + ElastiCache Redis + Amazon Rerank when SG-available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Cost Estimation</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ounded Rectangle 6"/>
          <p:cNvSpPr/>
          <p:nvPr/>
        </p:nvSpPr>
        <p:spPr>
          <a:xfrm>
            <a:off x="457200" y="1280160"/>
            <a:ext cx="5486400" cy="3200400"/>
          </a:xfrm>
          <a:prstGeom prst="roundRect">
            <a:avLst>
              <a:gd name="adj" fmla="val 4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5486400" cy="4572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80160"/>
            <a:ext cx="5486400" cy="457200"/>
          </a:xfrm>
          <a:prstGeom prst="rect">
            <a:avLst/>
          </a:prstGeom>
          <a:noFill/>
        </p:spPr>
        <p:txBody>
          <a:bodyPr wrap="none" anchor="ctr">
            <a:spAutoFit/>
          </a:bodyPr>
          <a:lstStyle/>
          <a:p>
            <a:pPr algn="ctr"/>
            <a:r>
              <a:rPr sz="1400" b="1">
                <a:solidFill>
                  <a:srgbClr val="FFFFFF"/>
                </a:solidFill>
                <a:latin typeface="Calibri"/>
              </a:rPr>
              <a:t>Variant A1+  ·  Amazon Nova</a:t>
            </a:r>
          </a:p>
        </p:txBody>
      </p:sp>
      <p:graphicFrame>
        <p:nvGraphicFramePr>
          <p:cNvPr id="10" name="Table 9"/>
          <p:cNvGraphicFramePr>
            <a:graphicFrameLocks noGrp="1"/>
          </p:cNvGraphicFramePr>
          <p:nvPr/>
        </p:nvGraphicFramePr>
        <p:xfrm>
          <a:off x="640080" y="1828800"/>
          <a:ext cx="5120640" cy="2606040"/>
        </p:xfrm>
        <a:graphic>
          <a:graphicData uri="http://schemas.openxmlformats.org/drawingml/2006/table">
            <a:tbl>
              <a:tblPr firstRow="1" bandRow="1">
                <a:tableStyleId>{5C22544A-7EE6-4342-B048-85BDC9FD1C3A}</a:tableStyleId>
              </a:tblPr>
              <a:tblGrid>
                <a:gridCol w="2560320"/>
                <a:gridCol w="2560320"/>
              </a:tblGrid>
              <a:tr h="200464">
                <a:tc>
                  <a:txBody>
                    <a:bodyPr lIns="73152" tIns="36576"/>
                    <a:lstStyle/>
                    <a:p>
                      <a:r>
                        <a:rPr sz="1200" b="1">
                          <a:solidFill>
                            <a:srgbClr val="FFFFFF"/>
                          </a:solidFill>
                          <a:latin typeface="Calibri"/>
                        </a:rPr>
                        <a:t>Item</a:t>
                      </a:r>
                    </a:p>
                  </a:txBody>
                  <a:tcPr>
                    <a:solidFill>
                      <a:srgbClr val="FF6B35"/>
                    </a:solidFill>
                  </a:tcPr>
                </a:tc>
                <a:tc>
                  <a:txBody>
                    <a:bodyPr lIns="73152" tIns="36576"/>
                    <a:lstStyle/>
                    <a:p>
                      <a:r>
                        <a:rPr sz="1200" b="1">
                          <a:solidFill>
                            <a:srgbClr val="FFFFFF"/>
                          </a:solidFill>
                          <a:latin typeface="Calibri"/>
                        </a:rPr>
                        <a:t>Monthly USD</a:t>
                      </a:r>
                    </a:p>
                  </a:txBody>
                  <a:tcPr>
                    <a:solidFill>
                      <a:srgbClr val="FF6B35"/>
                    </a:solidFill>
                  </a:tcPr>
                </a:tc>
              </a:tr>
              <a:tr h="200464">
                <a:tc>
                  <a:txBody>
                    <a:bodyPr lIns="73152" tIns="27432"/>
                    <a:lstStyle/>
                    <a:p>
                      <a:r>
                        <a:rPr sz="1000">
                          <a:solidFill>
                            <a:srgbClr val="2C3E50"/>
                          </a:solidFill>
                          <a:latin typeface="Calibri"/>
                        </a:rPr>
                        <a:t>Emergency, Nova Micro</a:t>
                      </a:r>
                    </a:p>
                  </a:txBody>
                  <a:tcPr>
                    <a:solidFill>
                      <a:srgbClr val="FFFFFF"/>
                    </a:solidFill>
                  </a:tcPr>
                </a:tc>
                <a:tc>
                  <a:txBody>
                    <a:bodyPr lIns="73152" tIns="27432"/>
                    <a:lstStyle/>
                    <a:p>
                      <a:r>
                        <a:rPr sz="1000">
                          <a:solidFill>
                            <a:srgbClr val="2C3E50"/>
                          </a:solidFill>
                          <a:latin typeface="Calibri"/>
                        </a:rPr>
                        <a:t>$70</a:t>
                      </a:r>
                    </a:p>
                  </a:txBody>
                  <a:tcPr>
                    <a:solidFill>
                      <a:srgbClr val="FFFFFF"/>
                    </a:solidFill>
                  </a:tcPr>
                </a:tc>
              </a:tr>
              <a:tr h="200464">
                <a:tc>
                  <a:txBody>
                    <a:bodyPr lIns="73152" tIns="27432"/>
                    <a:lstStyle/>
                    <a:p>
                      <a:r>
                        <a:rPr sz="1000">
                          <a:solidFill>
                            <a:srgbClr val="2C3E50"/>
                          </a:solidFill>
                          <a:latin typeface="Calibri"/>
                        </a:rPr>
                        <a:t>Complex, Nova Pro</a:t>
                      </a:r>
                    </a:p>
                  </a:txBody>
                  <a:tcPr>
                    <a:solidFill>
                      <a:srgbClr val="FFE8DA"/>
                    </a:solidFill>
                  </a:tcPr>
                </a:tc>
                <a:tc>
                  <a:txBody>
                    <a:bodyPr lIns="73152" tIns="27432"/>
                    <a:lstStyle/>
                    <a:p>
                      <a:r>
                        <a:rPr sz="1000">
                          <a:solidFill>
                            <a:srgbClr val="2C3E50"/>
                          </a:solidFill>
                          <a:latin typeface="Calibri"/>
                        </a:rPr>
                        <a:t>$1,470</a:t>
                      </a:r>
                    </a:p>
                  </a:txBody>
                  <a:tcPr>
                    <a:solidFill>
                      <a:srgbClr val="FFE8DA"/>
                    </a:solidFill>
                  </a:tcPr>
                </a:tc>
              </a:tr>
              <a:tr h="200464">
                <a:tc>
                  <a:txBody>
                    <a:bodyPr lIns="73152" tIns="27432"/>
                    <a:lstStyle/>
                    <a:p>
                      <a:r>
                        <a:rPr sz="1000">
                          <a:solidFill>
                            <a:srgbClr val="2C3E50"/>
                          </a:solidFill>
                          <a:latin typeface="Calibri"/>
                        </a:rPr>
                        <a:t>Cohere Embed v3 (SG)</a:t>
                      </a:r>
                    </a:p>
                  </a:txBody>
                  <a:tcPr>
                    <a:solidFill>
                      <a:srgbClr val="FFFFFF"/>
                    </a:solidFill>
                  </a:tcPr>
                </a:tc>
                <a:tc>
                  <a:txBody>
                    <a:bodyPr lIns="73152" tIns="27432"/>
                    <a:lstStyle/>
                    <a:p>
                      <a:r>
                        <a:rPr sz="1000">
                          <a:solidFill>
                            <a:srgbClr val="2C3E50"/>
                          </a:solidFill>
                          <a:latin typeface="Calibri"/>
                        </a:rPr>
                        <a:t>$10</a:t>
                      </a:r>
                    </a:p>
                  </a:txBody>
                  <a:tcPr>
                    <a:solidFill>
                      <a:srgbClr val="FFFFFF"/>
                    </a:solidFill>
                  </a:tcPr>
                </a:tc>
              </a:tr>
              <a:tr h="200464">
                <a:tc>
                  <a:txBody>
                    <a:bodyPr lIns="73152" tIns="27432"/>
                    <a:lstStyle/>
                    <a:p>
                      <a:r>
                        <a:rPr sz="1000">
                          <a:solidFill>
                            <a:srgbClr val="2C3E50"/>
                          </a:solidFill>
                          <a:latin typeface="Calibri"/>
                        </a:rPr>
                        <a:t>Bedrock Guardrails</a:t>
                      </a:r>
                    </a:p>
                  </a:txBody>
                  <a:tcPr>
                    <a:solidFill>
                      <a:srgbClr val="FFE8DA"/>
                    </a:solidFill>
                  </a:tcPr>
                </a:tc>
                <a:tc>
                  <a:txBody>
                    <a:bodyPr lIns="73152" tIns="27432"/>
                    <a:lstStyle/>
                    <a:p>
                      <a:r>
                        <a:rPr sz="1000">
                          <a:solidFill>
                            <a:srgbClr val="2C3E50"/>
                          </a:solidFill>
                          <a:latin typeface="Calibri"/>
                        </a:rPr>
                        <a:t>$180</a:t>
                      </a:r>
                    </a:p>
                  </a:txBody>
                  <a:tcPr>
                    <a:solidFill>
                      <a:srgbClr val="FFE8DA"/>
                    </a:solidFill>
                  </a:tcPr>
                </a:tc>
              </a:tr>
              <a:tr h="200464">
                <a:tc>
                  <a:txBody>
                    <a:bodyPr lIns="73152" tIns="27432"/>
                    <a:lstStyle/>
                    <a:p>
                      <a:r>
                        <a:rPr sz="1000">
                          <a:solidFill>
                            <a:srgbClr val="2C3E50"/>
                          </a:solidFill>
                          <a:latin typeface="Calibri"/>
                        </a:rPr>
                        <a:t>OpenSearch Serverless</a:t>
                      </a:r>
                    </a:p>
                  </a:txBody>
                  <a:tcPr>
                    <a:solidFill>
                      <a:srgbClr val="FFFFFF"/>
                    </a:solidFill>
                  </a:tcPr>
                </a:tc>
                <a:tc>
                  <a:txBody>
                    <a:bodyPr lIns="73152" tIns="27432"/>
                    <a:lstStyle/>
                    <a:p>
                      <a:r>
                        <a:rPr sz="1000">
                          <a:solidFill>
                            <a:srgbClr val="2C3E50"/>
                          </a:solidFill>
                          <a:latin typeface="Calibri"/>
                        </a:rPr>
                        <a:t>$350</a:t>
                      </a:r>
                    </a:p>
                  </a:txBody>
                  <a:tcPr>
                    <a:solidFill>
                      <a:srgbClr val="FFFFFF"/>
                    </a:solidFill>
                  </a:tcPr>
                </a:tc>
              </a:tr>
              <a:tr h="200464">
                <a:tc>
                  <a:txBody>
                    <a:bodyPr lIns="73152" tIns="27432"/>
                    <a:lstStyle/>
                    <a:p>
                      <a:r>
                        <a:rPr sz="1000">
                          <a:solidFill>
                            <a:srgbClr val="2C3E50"/>
                          </a:solidFill>
                          <a:latin typeface="Calibri"/>
                        </a:rPr>
                        <a:t>Neptune Analytics (32 m-NCU)</a:t>
                      </a:r>
                    </a:p>
                  </a:txBody>
                  <a:tcPr>
                    <a:solidFill>
                      <a:srgbClr val="FFE8DA"/>
                    </a:solidFill>
                  </a:tcPr>
                </a:tc>
                <a:tc>
                  <a:txBody>
                    <a:bodyPr lIns="73152" tIns="27432"/>
                    <a:lstStyle/>
                    <a:p>
                      <a:r>
                        <a:rPr sz="1000">
                          <a:solidFill>
                            <a:srgbClr val="2C3E50"/>
                          </a:solidFill>
                          <a:latin typeface="Calibri"/>
                        </a:rPr>
                        <a:t>$115</a:t>
                      </a:r>
                    </a:p>
                  </a:txBody>
                  <a:tcPr>
                    <a:solidFill>
                      <a:srgbClr val="FFE8DA"/>
                    </a:solidFill>
                  </a:tcPr>
                </a:tc>
              </a:tr>
              <a:tr h="200464">
                <a:tc>
                  <a:txBody>
                    <a:bodyPr lIns="73152" tIns="27432"/>
                    <a:lstStyle/>
                    <a:p>
                      <a:r>
                        <a:rPr sz="1000">
                          <a:solidFill>
                            <a:srgbClr val="2C3E50"/>
                          </a:solidFill>
                          <a:latin typeface="Calibri"/>
                        </a:rPr>
                        <a:t>Comprehend Medical</a:t>
                      </a:r>
                    </a:p>
                  </a:txBody>
                  <a:tcPr>
                    <a:solidFill>
                      <a:srgbClr val="FFFFFF"/>
                    </a:solidFill>
                  </a:tcPr>
                </a:tc>
                <a:tc>
                  <a:txBody>
                    <a:bodyPr lIns="73152" tIns="27432"/>
                    <a:lstStyle/>
                    <a:p>
                      <a:r>
                        <a:rPr sz="1000">
                          <a:solidFill>
                            <a:srgbClr val="2C3E50"/>
                          </a:solidFill>
                          <a:latin typeface="Calibri"/>
                        </a:rPr>
                        <a:t>$180</a:t>
                      </a:r>
                    </a:p>
                  </a:txBody>
                  <a:tcPr>
                    <a:solidFill>
                      <a:srgbClr val="FFFFFF"/>
                    </a:solidFill>
                  </a:tcPr>
                </a:tc>
              </a:tr>
              <a:tr h="200464">
                <a:tc>
                  <a:txBody>
                    <a:bodyPr lIns="73152" tIns="27432"/>
                    <a:lstStyle/>
                    <a:p>
                      <a:r>
                        <a:rPr sz="1000">
                          <a:solidFill>
                            <a:srgbClr val="2C3E50"/>
                          </a:solidFill>
                          <a:latin typeface="Calibri"/>
                        </a:rPr>
                        <a:t>Lambda, API GW, CloudFront, WAF</a:t>
                      </a:r>
                    </a:p>
                  </a:txBody>
                  <a:tcPr>
                    <a:solidFill>
                      <a:srgbClr val="FFE8DA"/>
                    </a:solidFill>
                  </a:tcPr>
                </a:tc>
                <a:tc>
                  <a:txBody>
                    <a:bodyPr lIns="73152" tIns="27432"/>
                    <a:lstStyle/>
                    <a:p>
                      <a:r>
                        <a:rPr sz="1000">
                          <a:solidFill>
                            <a:srgbClr val="2C3E50"/>
                          </a:solidFill>
                          <a:latin typeface="Calibri"/>
                        </a:rPr>
                        <a:t>$150</a:t>
                      </a:r>
                    </a:p>
                  </a:txBody>
                  <a:tcPr>
                    <a:solidFill>
                      <a:srgbClr val="FFE8DA"/>
                    </a:solidFill>
                  </a:tcPr>
                </a:tc>
              </a:tr>
              <a:tr h="200464">
                <a:tc>
                  <a:txBody>
                    <a:bodyPr lIns="73152" tIns="27432"/>
                    <a:lstStyle/>
                    <a:p>
                      <a:r>
                        <a:rPr sz="1000">
                          <a:solidFill>
                            <a:srgbClr val="2C3E50"/>
                          </a:solidFill>
                          <a:latin typeface="Calibri"/>
                        </a:rPr>
                        <a:t>S3, CloudTrail, Macie</a:t>
                      </a:r>
                    </a:p>
                  </a:txBody>
                  <a:tcPr>
                    <a:solidFill>
                      <a:srgbClr val="FFFFFF"/>
                    </a:solidFill>
                  </a:tcPr>
                </a:tc>
                <a:tc>
                  <a:txBody>
                    <a:bodyPr lIns="73152" tIns="27432"/>
                    <a:lstStyle/>
                    <a:p>
                      <a:r>
                        <a:rPr sz="1000">
                          <a:solidFill>
                            <a:srgbClr val="2C3E50"/>
                          </a:solidFill>
                          <a:latin typeface="Calibri"/>
                        </a:rPr>
                        <a:t>$120</a:t>
                      </a:r>
                    </a:p>
                  </a:txBody>
                  <a:tcPr>
                    <a:solidFill>
                      <a:srgbClr val="FFFFFF"/>
                    </a:solidFill>
                  </a:tcPr>
                </a:tc>
              </a:tr>
              <a:tr h="200464">
                <a:tc>
                  <a:txBody>
                    <a:bodyPr lIns="73152" tIns="27432"/>
                    <a:lstStyle/>
                    <a:p>
                      <a:r>
                        <a:rPr sz="1000">
                          <a:solidFill>
                            <a:srgbClr val="2C3E50"/>
                          </a:solidFill>
                          <a:latin typeface="Calibri"/>
                        </a:rPr>
                        <a:t>ElastiCache Redis OSS</a:t>
                      </a:r>
                    </a:p>
                  </a:txBody>
                  <a:tcPr>
                    <a:solidFill>
                      <a:srgbClr val="FFE8DA"/>
                    </a:solidFill>
                  </a:tcPr>
                </a:tc>
                <a:tc>
                  <a:txBody>
                    <a:bodyPr lIns="73152" tIns="27432"/>
                    <a:lstStyle/>
                    <a:p>
                      <a:r>
                        <a:rPr sz="1000">
                          <a:solidFill>
                            <a:srgbClr val="2C3E50"/>
                          </a:solidFill>
                          <a:latin typeface="Calibri"/>
                        </a:rPr>
                        <a:t>$80</a:t>
                      </a:r>
                    </a:p>
                  </a:txBody>
                  <a:tcPr>
                    <a:solidFill>
                      <a:srgbClr val="FFE8DA"/>
                    </a:solidFill>
                  </a:tcPr>
                </a:tc>
              </a:tr>
              <a:tr h="200464">
                <a:tc>
                  <a:txBody>
                    <a:bodyPr lIns="73152" tIns="27432"/>
                    <a:lstStyle/>
                    <a:p>
                      <a:r>
                        <a:rPr sz="1000">
                          <a:solidFill>
                            <a:srgbClr val="2C3E50"/>
                          </a:solidFill>
                          <a:latin typeface="Calibri"/>
                        </a:rPr>
                        <a:t>Site-to-Site VPN</a:t>
                      </a:r>
                    </a:p>
                  </a:txBody>
                  <a:tcPr>
                    <a:solidFill>
                      <a:srgbClr val="FFFFFF"/>
                    </a:solidFill>
                  </a:tcPr>
                </a:tc>
                <a:tc>
                  <a:txBody>
                    <a:bodyPr lIns="73152" tIns="27432"/>
                    <a:lstStyle/>
                    <a:p>
                      <a:r>
                        <a:rPr sz="1000">
                          <a:solidFill>
                            <a:srgbClr val="2C3E50"/>
                          </a:solidFill>
                          <a:latin typeface="Calibri"/>
                        </a:rPr>
                        <a:t>$80</a:t>
                      </a:r>
                    </a:p>
                  </a:txBody>
                  <a:tcPr>
                    <a:solidFill>
                      <a:srgbClr val="FFFFFF"/>
                    </a:solidFill>
                  </a:tcPr>
                </a:tc>
              </a:tr>
              <a:tr h="200472">
                <a:tc>
                  <a:txBody>
                    <a:bodyPr lIns="73152" tIns="27432"/>
                    <a:lstStyle/>
                    <a:p>
                      <a:r>
                        <a:rPr sz="1000">
                          <a:solidFill>
                            <a:srgbClr val="2C3E50"/>
                          </a:solidFill>
                          <a:latin typeface="Calibri"/>
                        </a:rPr>
                        <a:t>TOTAL / month</a:t>
                      </a:r>
                    </a:p>
                  </a:txBody>
                  <a:tcPr>
                    <a:solidFill>
                      <a:srgbClr val="FFE8DA"/>
                    </a:solidFill>
                  </a:tcPr>
                </a:tc>
                <a:tc>
                  <a:txBody>
                    <a:bodyPr lIns="73152" tIns="27432"/>
                    <a:lstStyle/>
                    <a:p>
                      <a:r>
                        <a:rPr sz="1000">
                          <a:solidFill>
                            <a:srgbClr val="2C3E50"/>
                          </a:solidFill>
                          <a:latin typeface="Calibri"/>
                        </a:rPr>
                        <a:t>$2,805</a:t>
                      </a:r>
                    </a:p>
                  </a:txBody>
                  <a:tcPr>
                    <a:solidFill>
                      <a:srgbClr val="FFE8DA"/>
                    </a:solidFill>
                  </a:tcPr>
                </a:tc>
              </a:tr>
            </a:tbl>
          </a:graphicData>
        </a:graphic>
      </p:graphicFrame>
      <p:sp>
        <p:nvSpPr>
          <p:cNvPr id="11" name="Rounded Rectangle 10"/>
          <p:cNvSpPr/>
          <p:nvPr/>
        </p:nvSpPr>
        <p:spPr>
          <a:xfrm>
            <a:off x="6217920" y="1280160"/>
            <a:ext cx="5486400" cy="3200400"/>
          </a:xfrm>
          <a:prstGeom prst="roundRect">
            <a:avLst>
              <a:gd name="adj" fmla="val 4000"/>
            </a:avLst>
          </a:prstGeom>
          <a:solidFill>
            <a:srgbClr val="FFFFFF"/>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280160"/>
            <a:ext cx="5486400" cy="45720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280160"/>
            <a:ext cx="5486400" cy="457200"/>
          </a:xfrm>
          <a:prstGeom prst="rect">
            <a:avLst/>
          </a:prstGeom>
          <a:noFill/>
        </p:spPr>
        <p:txBody>
          <a:bodyPr wrap="none" anchor="ctr">
            <a:spAutoFit/>
          </a:bodyPr>
          <a:lstStyle/>
          <a:p>
            <a:pPr algn="ctr"/>
            <a:r>
              <a:rPr sz="1400" b="1">
                <a:solidFill>
                  <a:srgbClr val="FFFFFF"/>
                </a:solidFill>
                <a:latin typeface="Calibri"/>
              </a:rPr>
              <a:t>Variant A2  ·  Anthropic Claude</a:t>
            </a:r>
          </a:p>
        </p:txBody>
      </p:sp>
      <p:graphicFrame>
        <p:nvGraphicFramePr>
          <p:cNvPr id="14" name="Table 13"/>
          <p:cNvGraphicFramePr>
            <a:graphicFrameLocks noGrp="1"/>
          </p:cNvGraphicFramePr>
          <p:nvPr/>
        </p:nvGraphicFramePr>
        <p:xfrm>
          <a:off x="6400800" y="1828800"/>
          <a:ext cx="5120640" cy="2606040"/>
        </p:xfrm>
        <a:graphic>
          <a:graphicData uri="http://schemas.openxmlformats.org/drawingml/2006/table">
            <a:tbl>
              <a:tblPr firstRow="1" bandRow="1">
                <a:tableStyleId>{5C22544A-7EE6-4342-B048-85BDC9FD1C3A}</a:tableStyleId>
              </a:tblPr>
              <a:tblGrid>
                <a:gridCol w="2560320"/>
                <a:gridCol w="2560320"/>
              </a:tblGrid>
              <a:tr h="200464">
                <a:tc>
                  <a:txBody>
                    <a:bodyPr lIns="73152" tIns="36576"/>
                    <a:lstStyle/>
                    <a:p>
                      <a:r>
                        <a:rPr sz="1200" b="1">
                          <a:solidFill>
                            <a:srgbClr val="FFFFFF"/>
                          </a:solidFill>
                          <a:latin typeface="Calibri"/>
                        </a:rPr>
                        <a:t>Item</a:t>
                      </a:r>
                    </a:p>
                  </a:txBody>
                  <a:tcPr>
                    <a:solidFill>
                      <a:srgbClr val="FF6B35"/>
                    </a:solidFill>
                  </a:tcPr>
                </a:tc>
                <a:tc>
                  <a:txBody>
                    <a:bodyPr lIns="73152" tIns="36576"/>
                    <a:lstStyle/>
                    <a:p>
                      <a:r>
                        <a:rPr sz="1200" b="1">
                          <a:solidFill>
                            <a:srgbClr val="FFFFFF"/>
                          </a:solidFill>
                          <a:latin typeface="Calibri"/>
                        </a:rPr>
                        <a:t>Monthly USD</a:t>
                      </a:r>
                    </a:p>
                  </a:txBody>
                  <a:tcPr>
                    <a:solidFill>
                      <a:srgbClr val="FF6B35"/>
                    </a:solidFill>
                  </a:tcPr>
                </a:tc>
              </a:tr>
              <a:tr h="200464">
                <a:tc>
                  <a:txBody>
                    <a:bodyPr lIns="73152" tIns="27432"/>
                    <a:lstStyle/>
                    <a:p>
                      <a:r>
                        <a:rPr sz="1000">
                          <a:solidFill>
                            <a:srgbClr val="2C3E50"/>
                          </a:solidFill>
                          <a:latin typeface="Calibri"/>
                        </a:rPr>
                        <a:t>Emergency, Claude Haiku 4.5</a:t>
                      </a:r>
                    </a:p>
                  </a:txBody>
                  <a:tcPr>
                    <a:solidFill>
                      <a:srgbClr val="FFFFFF"/>
                    </a:solidFill>
                  </a:tcPr>
                </a:tc>
                <a:tc>
                  <a:txBody>
                    <a:bodyPr lIns="73152" tIns="27432"/>
                    <a:lstStyle/>
                    <a:p>
                      <a:r>
                        <a:rPr sz="1000">
                          <a:solidFill>
                            <a:srgbClr val="2C3E50"/>
                          </a:solidFill>
                          <a:latin typeface="Calibri"/>
                        </a:rPr>
                        <a:t>$350</a:t>
                      </a:r>
                    </a:p>
                  </a:txBody>
                  <a:tcPr>
                    <a:solidFill>
                      <a:srgbClr val="FFFFFF"/>
                    </a:solidFill>
                  </a:tcPr>
                </a:tc>
              </a:tr>
              <a:tr h="200464">
                <a:tc>
                  <a:txBody>
                    <a:bodyPr lIns="73152" tIns="27432"/>
                    <a:lstStyle/>
                    <a:p>
                      <a:r>
                        <a:rPr sz="1000">
                          <a:solidFill>
                            <a:srgbClr val="2C3E50"/>
                          </a:solidFill>
                          <a:latin typeface="Calibri"/>
                        </a:rPr>
                        <a:t>Complex, Claude Sonnet 4.5</a:t>
                      </a:r>
                    </a:p>
                  </a:txBody>
                  <a:tcPr>
                    <a:solidFill>
                      <a:srgbClr val="FFE8DA"/>
                    </a:solidFill>
                  </a:tcPr>
                </a:tc>
                <a:tc>
                  <a:txBody>
                    <a:bodyPr lIns="73152" tIns="27432"/>
                    <a:lstStyle/>
                    <a:p>
                      <a:r>
                        <a:rPr sz="1000">
                          <a:solidFill>
                            <a:srgbClr val="2C3E50"/>
                          </a:solidFill>
                          <a:latin typeface="Calibri"/>
                        </a:rPr>
                        <a:t>$5,460</a:t>
                      </a:r>
                    </a:p>
                  </a:txBody>
                  <a:tcPr>
                    <a:solidFill>
                      <a:srgbClr val="FFE8DA"/>
                    </a:solidFill>
                  </a:tcPr>
                </a:tc>
              </a:tr>
              <a:tr h="200464">
                <a:tc>
                  <a:txBody>
                    <a:bodyPr lIns="73152" tIns="27432"/>
                    <a:lstStyle/>
                    <a:p>
                      <a:r>
                        <a:rPr sz="1000">
                          <a:solidFill>
                            <a:srgbClr val="2C3E50"/>
                          </a:solidFill>
                          <a:latin typeface="Calibri"/>
                        </a:rPr>
                        <a:t>Cohere Embed v3 (SG)</a:t>
                      </a:r>
                    </a:p>
                  </a:txBody>
                  <a:tcPr>
                    <a:solidFill>
                      <a:srgbClr val="FFFFFF"/>
                    </a:solidFill>
                  </a:tcPr>
                </a:tc>
                <a:tc>
                  <a:txBody>
                    <a:bodyPr lIns="73152" tIns="27432"/>
                    <a:lstStyle/>
                    <a:p>
                      <a:r>
                        <a:rPr sz="1000">
                          <a:solidFill>
                            <a:srgbClr val="2C3E50"/>
                          </a:solidFill>
                          <a:latin typeface="Calibri"/>
                        </a:rPr>
                        <a:t>$10</a:t>
                      </a:r>
                    </a:p>
                  </a:txBody>
                  <a:tcPr>
                    <a:solidFill>
                      <a:srgbClr val="FFFFFF"/>
                    </a:solidFill>
                  </a:tcPr>
                </a:tc>
              </a:tr>
              <a:tr h="200464">
                <a:tc>
                  <a:txBody>
                    <a:bodyPr lIns="73152" tIns="27432"/>
                    <a:lstStyle/>
                    <a:p>
                      <a:r>
                        <a:rPr sz="1000">
                          <a:solidFill>
                            <a:srgbClr val="2C3E50"/>
                          </a:solidFill>
                          <a:latin typeface="Calibri"/>
                        </a:rPr>
                        <a:t>Bedrock Guardrails</a:t>
                      </a:r>
                    </a:p>
                  </a:txBody>
                  <a:tcPr>
                    <a:solidFill>
                      <a:srgbClr val="FFE8DA"/>
                    </a:solidFill>
                  </a:tcPr>
                </a:tc>
                <a:tc>
                  <a:txBody>
                    <a:bodyPr lIns="73152" tIns="27432"/>
                    <a:lstStyle/>
                    <a:p>
                      <a:r>
                        <a:rPr sz="1000">
                          <a:solidFill>
                            <a:srgbClr val="2C3E50"/>
                          </a:solidFill>
                          <a:latin typeface="Calibri"/>
                        </a:rPr>
                        <a:t>$180</a:t>
                      </a:r>
                    </a:p>
                  </a:txBody>
                  <a:tcPr>
                    <a:solidFill>
                      <a:srgbClr val="FFE8DA"/>
                    </a:solidFill>
                  </a:tcPr>
                </a:tc>
              </a:tr>
              <a:tr h="200464">
                <a:tc>
                  <a:txBody>
                    <a:bodyPr lIns="73152" tIns="27432"/>
                    <a:lstStyle/>
                    <a:p>
                      <a:r>
                        <a:rPr sz="1000">
                          <a:solidFill>
                            <a:srgbClr val="2C3E50"/>
                          </a:solidFill>
                          <a:latin typeface="Calibri"/>
                        </a:rPr>
                        <a:t>OpenSearch Serverless</a:t>
                      </a:r>
                    </a:p>
                  </a:txBody>
                  <a:tcPr>
                    <a:solidFill>
                      <a:srgbClr val="FFFFFF"/>
                    </a:solidFill>
                  </a:tcPr>
                </a:tc>
                <a:tc>
                  <a:txBody>
                    <a:bodyPr lIns="73152" tIns="27432"/>
                    <a:lstStyle/>
                    <a:p>
                      <a:r>
                        <a:rPr sz="1000">
                          <a:solidFill>
                            <a:srgbClr val="2C3E50"/>
                          </a:solidFill>
                          <a:latin typeface="Calibri"/>
                        </a:rPr>
                        <a:t>$350</a:t>
                      </a:r>
                    </a:p>
                  </a:txBody>
                  <a:tcPr>
                    <a:solidFill>
                      <a:srgbClr val="FFFFFF"/>
                    </a:solidFill>
                  </a:tcPr>
                </a:tc>
              </a:tr>
              <a:tr h="200464">
                <a:tc>
                  <a:txBody>
                    <a:bodyPr lIns="73152" tIns="27432"/>
                    <a:lstStyle/>
                    <a:p>
                      <a:r>
                        <a:rPr sz="1000">
                          <a:solidFill>
                            <a:srgbClr val="2C3E50"/>
                          </a:solidFill>
                          <a:latin typeface="Calibri"/>
                        </a:rPr>
                        <a:t>Neptune Analytics (32 m-NCU)</a:t>
                      </a:r>
                    </a:p>
                  </a:txBody>
                  <a:tcPr>
                    <a:solidFill>
                      <a:srgbClr val="FFE8DA"/>
                    </a:solidFill>
                  </a:tcPr>
                </a:tc>
                <a:tc>
                  <a:txBody>
                    <a:bodyPr lIns="73152" tIns="27432"/>
                    <a:lstStyle/>
                    <a:p>
                      <a:r>
                        <a:rPr sz="1000">
                          <a:solidFill>
                            <a:srgbClr val="2C3E50"/>
                          </a:solidFill>
                          <a:latin typeface="Calibri"/>
                        </a:rPr>
                        <a:t>$115</a:t>
                      </a:r>
                    </a:p>
                  </a:txBody>
                  <a:tcPr>
                    <a:solidFill>
                      <a:srgbClr val="FFE8DA"/>
                    </a:solidFill>
                  </a:tcPr>
                </a:tc>
              </a:tr>
              <a:tr h="200464">
                <a:tc>
                  <a:txBody>
                    <a:bodyPr lIns="73152" tIns="27432"/>
                    <a:lstStyle/>
                    <a:p>
                      <a:r>
                        <a:rPr sz="1000">
                          <a:solidFill>
                            <a:srgbClr val="2C3E50"/>
                          </a:solidFill>
                          <a:latin typeface="Calibri"/>
                        </a:rPr>
                        <a:t>Comprehend Medical</a:t>
                      </a:r>
                    </a:p>
                  </a:txBody>
                  <a:tcPr>
                    <a:solidFill>
                      <a:srgbClr val="FFFFFF"/>
                    </a:solidFill>
                  </a:tcPr>
                </a:tc>
                <a:tc>
                  <a:txBody>
                    <a:bodyPr lIns="73152" tIns="27432"/>
                    <a:lstStyle/>
                    <a:p>
                      <a:r>
                        <a:rPr sz="1000">
                          <a:solidFill>
                            <a:srgbClr val="2C3E50"/>
                          </a:solidFill>
                          <a:latin typeface="Calibri"/>
                        </a:rPr>
                        <a:t>$180</a:t>
                      </a:r>
                    </a:p>
                  </a:txBody>
                  <a:tcPr>
                    <a:solidFill>
                      <a:srgbClr val="FFFFFF"/>
                    </a:solidFill>
                  </a:tcPr>
                </a:tc>
              </a:tr>
              <a:tr h="200464">
                <a:tc>
                  <a:txBody>
                    <a:bodyPr lIns="73152" tIns="27432"/>
                    <a:lstStyle/>
                    <a:p>
                      <a:r>
                        <a:rPr sz="1000">
                          <a:solidFill>
                            <a:srgbClr val="2C3E50"/>
                          </a:solidFill>
                          <a:latin typeface="Calibri"/>
                        </a:rPr>
                        <a:t>Lambda, API GW, CloudFront, WAF</a:t>
                      </a:r>
                    </a:p>
                  </a:txBody>
                  <a:tcPr>
                    <a:solidFill>
                      <a:srgbClr val="FFE8DA"/>
                    </a:solidFill>
                  </a:tcPr>
                </a:tc>
                <a:tc>
                  <a:txBody>
                    <a:bodyPr lIns="73152" tIns="27432"/>
                    <a:lstStyle/>
                    <a:p>
                      <a:r>
                        <a:rPr sz="1000">
                          <a:solidFill>
                            <a:srgbClr val="2C3E50"/>
                          </a:solidFill>
                          <a:latin typeface="Calibri"/>
                        </a:rPr>
                        <a:t>$150</a:t>
                      </a:r>
                    </a:p>
                  </a:txBody>
                  <a:tcPr>
                    <a:solidFill>
                      <a:srgbClr val="FFE8DA"/>
                    </a:solidFill>
                  </a:tcPr>
                </a:tc>
              </a:tr>
              <a:tr h="200464">
                <a:tc>
                  <a:txBody>
                    <a:bodyPr lIns="73152" tIns="27432"/>
                    <a:lstStyle/>
                    <a:p>
                      <a:r>
                        <a:rPr sz="1000">
                          <a:solidFill>
                            <a:srgbClr val="2C3E50"/>
                          </a:solidFill>
                          <a:latin typeface="Calibri"/>
                        </a:rPr>
                        <a:t>S3, CloudTrail, Macie</a:t>
                      </a:r>
                    </a:p>
                  </a:txBody>
                  <a:tcPr>
                    <a:solidFill>
                      <a:srgbClr val="FFFFFF"/>
                    </a:solidFill>
                  </a:tcPr>
                </a:tc>
                <a:tc>
                  <a:txBody>
                    <a:bodyPr lIns="73152" tIns="27432"/>
                    <a:lstStyle/>
                    <a:p>
                      <a:r>
                        <a:rPr sz="1000">
                          <a:solidFill>
                            <a:srgbClr val="2C3E50"/>
                          </a:solidFill>
                          <a:latin typeface="Calibri"/>
                        </a:rPr>
                        <a:t>$120</a:t>
                      </a:r>
                    </a:p>
                  </a:txBody>
                  <a:tcPr>
                    <a:solidFill>
                      <a:srgbClr val="FFFFFF"/>
                    </a:solidFill>
                  </a:tcPr>
                </a:tc>
              </a:tr>
              <a:tr h="200464">
                <a:tc>
                  <a:txBody>
                    <a:bodyPr lIns="73152" tIns="27432"/>
                    <a:lstStyle/>
                    <a:p>
                      <a:r>
                        <a:rPr sz="1000">
                          <a:solidFill>
                            <a:srgbClr val="2C3E50"/>
                          </a:solidFill>
                          <a:latin typeface="Calibri"/>
                        </a:rPr>
                        <a:t>ElastiCache Redis OSS</a:t>
                      </a:r>
                    </a:p>
                  </a:txBody>
                  <a:tcPr>
                    <a:solidFill>
                      <a:srgbClr val="FFE8DA"/>
                    </a:solidFill>
                  </a:tcPr>
                </a:tc>
                <a:tc>
                  <a:txBody>
                    <a:bodyPr lIns="73152" tIns="27432"/>
                    <a:lstStyle/>
                    <a:p>
                      <a:r>
                        <a:rPr sz="1000">
                          <a:solidFill>
                            <a:srgbClr val="2C3E50"/>
                          </a:solidFill>
                          <a:latin typeface="Calibri"/>
                        </a:rPr>
                        <a:t>$80</a:t>
                      </a:r>
                    </a:p>
                  </a:txBody>
                  <a:tcPr>
                    <a:solidFill>
                      <a:srgbClr val="FFE8DA"/>
                    </a:solidFill>
                  </a:tcPr>
                </a:tc>
              </a:tr>
              <a:tr h="200464">
                <a:tc>
                  <a:txBody>
                    <a:bodyPr lIns="73152" tIns="27432"/>
                    <a:lstStyle/>
                    <a:p>
                      <a:r>
                        <a:rPr sz="1000">
                          <a:solidFill>
                            <a:srgbClr val="2C3E50"/>
                          </a:solidFill>
                          <a:latin typeface="Calibri"/>
                        </a:rPr>
                        <a:t>Site-to-Site VPN</a:t>
                      </a:r>
                    </a:p>
                  </a:txBody>
                  <a:tcPr>
                    <a:solidFill>
                      <a:srgbClr val="FFFFFF"/>
                    </a:solidFill>
                  </a:tcPr>
                </a:tc>
                <a:tc>
                  <a:txBody>
                    <a:bodyPr lIns="73152" tIns="27432"/>
                    <a:lstStyle/>
                    <a:p>
                      <a:r>
                        <a:rPr sz="1000">
                          <a:solidFill>
                            <a:srgbClr val="2C3E50"/>
                          </a:solidFill>
                          <a:latin typeface="Calibri"/>
                        </a:rPr>
                        <a:t>$80</a:t>
                      </a:r>
                    </a:p>
                  </a:txBody>
                  <a:tcPr>
                    <a:solidFill>
                      <a:srgbClr val="FFFFFF"/>
                    </a:solidFill>
                  </a:tcPr>
                </a:tc>
              </a:tr>
              <a:tr h="200472">
                <a:tc>
                  <a:txBody>
                    <a:bodyPr lIns="73152" tIns="27432"/>
                    <a:lstStyle/>
                    <a:p>
                      <a:r>
                        <a:rPr sz="1000">
                          <a:solidFill>
                            <a:srgbClr val="2C3E50"/>
                          </a:solidFill>
                          <a:latin typeface="Calibri"/>
                        </a:rPr>
                        <a:t>TOTAL / month (with student offset)</a:t>
                      </a:r>
                    </a:p>
                  </a:txBody>
                  <a:tcPr>
                    <a:solidFill>
                      <a:srgbClr val="FFE8DA"/>
                    </a:solidFill>
                  </a:tcPr>
                </a:tc>
                <a:tc>
                  <a:txBody>
                    <a:bodyPr lIns="73152" tIns="27432"/>
                    <a:lstStyle/>
                    <a:p>
                      <a:r>
                        <a:rPr sz="1000">
                          <a:solidFill>
                            <a:srgbClr val="2C3E50"/>
                          </a:solidFill>
                          <a:latin typeface="Calibri"/>
                        </a:rPr>
                        <a:t>$5,545</a:t>
                      </a:r>
                    </a:p>
                  </a:txBody>
                  <a:tcPr>
                    <a:solidFill>
                      <a:srgbClr val="FFE8DA"/>
                    </a:solidFill>
                  </a:tcPr>
                </a:tc>
              </a:tr>
            </a:tbl>
          </a:graphicData>
        </a:graphic>
      </p:graphicFrame>
      <p:sp>
        <p:nvSpPr>
          <p:cNvPr id="15" name="TextBox 14"/>
          <p:cNvSpPr txBox="1"/>
          <p:nvPr/>
        </p:nvSpPr>
        <p:spPr>
          <a:xfrm>
            <a:off x="457200" y="4663440"/>
            <a:ext cx="11247120" cy="365760"/>
          </a:xfrm>
          <a:prstGeom prst="rect">
            <a:avLst/>
          </a:prstGeom>
          <a:noFill/>
        </p:spPr>
        <p:txBody>
          <a:bodyPr wrap="square" lIns="45720" rIns="45720">
            <a:spAutoFit/>
          </a:bodyPr>
          <a:lstStyle/>
          <a:p>
            <a:pPr algn="l"/>
            <a:r>
              <a:rPr sz="1500" b="1">
                <a:solidFill>
                  <a:srgbClr val="CC4F1F"/>
                </a:solidFill>
                <a:latin typeface="Calibri"/>
              </a:rPr>
              <a:t>Scale Sensitivity (monthly cost USD)</a:t>
            </a:r>
          </a:p>
        </p:txBody>
      </p:sp>
      <p:graphicFrame>
        <p:nvGraphicFramePr>
          <p:cNvPr id="16" name="Table 15"/>
          <p:cNvGraphicFramePr>
            <a:graphicFrameLocks noGrp="1"/>
          </p:cNvGraphicFramePr>
          <p:nvPr/>
        </p:nvGraphicFramePr>
        <p:xfrm>
          <a:off x="457200" y="5029200"/>
          <a:ext cx="11247120" cy="1280160"/>
        </p:xfrm>
        <a:graphic>
          <a:graphicData uri="http://schemas.openxmlformats.org/drawingml/2006/table">
            <a:tbl>
              <a:tblPr firstRow="1" bandRow="1">
                <a:tableStyleId>{5C22544A-7EE6-4342-B048-85BDC9FD1C3A}</a:tableStyleId>
              </a:tblPr>
              <a:tblGrid>
                <a:gridCol w="3749040"/>
                <a:gridCol w="3749040"/>
                <a:gridCol w="3749040"/>
              </a:tblGrid>
              <a:tr h="256032">
                <a:tc>
                  <a:txBody>
                    <a:bodyPr lIns="73152" tIns="36576"/>
                    <a:lstStyle/>
                    <a:p>
                      <a:r>
                        <a:rPr sz="1200" b="1">
                          <a:solidFill>
                            <a:srgbClr val="FFFFFF"/>
                          </a:solidFill>
                          <a:latin typeface="Calibri"/>
                        </a:rPr>
                        <a:t>Call Volume / Month</a:t>
                      </a:r>
                    </a:p>
                  </a:txBody>
                  <a:tcPr>
                    <a:solidFill>
                      <a:srgbClr val="FF6B35"/>
                    </a:solidFill>
                  </a:tcPr>
                </a:tc>
                <a:tc>
                  <a:txBody>
                    <a:bodyPr lIns="73152" tIns="36576"/>
                    <a:lstStyle/>
                    <a:p>
                      <a:r>
                        <a:rPr sz="1200" b="1">
                          <a:solidFill>
                            <a:srgbClr val="FFFFFF"/>
                          </a:solidFill>
                          <a:latin typeface="Calibri"/>
                        </a:rPr>
                        <a:t>Variant A1+ (Nova)</a:t>
                      </a:r>
                    </a:p>
                  </a:txBody>
                  <a:tcPr>
                    <a:solidFill>
                      <a:srgbClr val="FF6B35"/>
                    </a:solidFill>
                  </a:tcPr>
                </a:tc>
                <a:tc>
                  <a:txBody>
                    <a:bodyPr lIns="73152" tIns="36576"/>
                    <a:lstStyle/>
                    <a:p>
                      <a:r>
                        <a:rPr sz="1200" b="1">
                          <a:solidFill>
                            <a:srgbClr val="FFFFFF"/>
                          </a:solidFill>
                          <a:latin typeface="Calibri"/>
                        </a:rPr>
                        <a:t>Variant A2 (Claude with student)</a:t>
                      </a:r>
                    </a:p>
                  </a:txBody>
                  <a:tcPr>
                    <a:solidFill>
                      <a:srgbClr val="FF6B35"/>
                    </a:solidFill>
                  </a:tcPr>
                </a:tc>
              </a:tr>
              <a:tr h="256032">
                <a:tc>
                  <a:txBody>
                    <a:bodyPr lIns="73152" tIns="27432"/>
                    <a:lstStyle/>
                    <a:p>
                      <a:r>
                        <a:rPr sz="1000">
                          <a:solidFill>
                            <a:srgbClr val="2C3E50"/>
                          </a:solidFill>
                          <a:latin typeface="Calibri"/>
                        </a:rPr>
                        <a:t>300k</a:t>
                      </a:r>
                    </a:p>
                  </a:txBody>
                  <a:tcPr>
                    <a:solidFill>
                      <a:srgbClr val="FFFFFF"/>
                    </a:solidFill>
                  </a:tcPr>
                </a:tc>
                <a:tc>
                  <a:txBody>
                    <a:bodyPr lIns="73152" tIns="27432"/>
                    <a:lstStyle/>
                    <a:p>
                      <a:r>
                        <a:rPr sz="1000">
                          <a:solidFill>
                            <a:srgbClr val="2C3E50"/>
                          </a:solidFill>
                          <a:latin typeface="Calibri"/>
                        </a:rPr>
                        <a:t>$2,100</a:t>
                      </a:r>
                    </a:p>
                  </a:txBody>
                  <a:tcPr>
                    <a:solidFill>
                      <a:srgbClr val="FFFFFF"/>
                    </a:solidFill>
                  </a:tcPr>
                </a:tc>
                <a:tc>
                  <a:txBody>
                    <a:bodyPr lIns="73152" tIns="27432"/>
                    <a:lstStyle/>
                    <a:p>
                      <a:r>
                        <a:rPr sz="1000">
                          <a:solidFill>
                            <a:srgbClr val="2C3E50"/>
                          </a:solidFill>
                          <a:latin typeface="Calibri"/>
                        </a:rPr>
                        <a:t>$3,400</a:t>
                      </a:r>
                    </a:p>
                  </a:txBody>
                  <a:tcPr>
                    <a:solidFill>
                      <a:srgbClr val="FFFFFF"/>
                    </a:solidFill>
                  </a:tcPr>
                </a:tc>
              </a:tr>
              <a:tr h="256032">
                <a:tc>
                  <a:txBody>
                    <a:bodyPr lIns="73152" tIns="27432"/>
                    <a:lstStyle/>
                    <a:p>
                      <a:r>
                        <a:rPr sz="1000">
                          <a:solidFill>
                            <a:srgbClr val="2C3E50"/>
                          </a:solidFill>
                          <a:latin typeface="Calibri"/>
                        </a:rPr>
                        <a:t>600k (baseline)</a:t>
                      </a:r>
                    </a:p>
                  </a:txBody>
                  <a:tcPr>
                    <a:solidFill>
                      <a:srgbClr val="FFE8DA"/>
                    </a:solidFill>
                  </a:tcPr>
                </a:tc>
                <a:tc>
                  <a:txBody>
                    <a:bodyPr lIns="73152" tIns="27432"/>
                    <a:lstStyle/>
                    <a:p>
                      <a:r>
                        <a:rPr sz="1000">
                          <a:solidFill>
                            <a:srgbClr val="2C3E50"/>
                          </a:solidFill>
                          <a:latin typeface="Calibri"/>
                        </a:rPr>
                        <a:t>$2,955</a:t>
                      </a:r>
                    </a:p>
                  </a:txBody>
                  <a:tcPr>
                    <a:solidFill>
                      <a:srgbClr val="FFE8DA"/>
                    </a:solidFill>
                  </a:tcPr>
                </a:tc>
                <a:tc>
                  <a:txBody>
                    <a:bodyPr lIns="73152" tIns="27432"/>
                    <a:lstStyle/>
                    <a:p>
                      <a:r>
                        <a:rPr sz="1000">
                          <a:solidFill>
                            <a:srgbClr val="2C3E50"/>
                          </a:solidFill>
                          <a:latin typeface="Calibri"/>
                        </a:rPr>
                        <a:t>$5,765</a:t>
                      </a:r>
                    </a:p>
                  </a:txBody>
                  <a:tcPr>
                    <a:solidFill>
                      <a:srgbClr val="FFE8DA"/>
                    </a:solidFill>
                  </a:tcPr>
                </a:tc>
              </a:tr>
              <a:tr h="256032">
                <a:tc>
                  <a:txBody>
                    <a:bodyPr lIns="73152" tIns="27432"/>
                    <a:lstStyle/>
                    <a:p>
                      <a:r>
                        <a:rPr sz="1000">
                          <a:solidFill>
                            <a:srgbClr val="2C3E50"/>
                          </a:solidFill>
                          <a:latin typeface="Calibri"/>
                        </a:rPr>
                        <a:t>1.2M</a:t>
                      </a:r>
                    </a:p>
                  </a:txBody>
                  <a:tcPr>
                    <a:solidFill>
                      <a:srgbClr val="FFFFFF"/>
                    </a:solidFill>
                  </a:tcPr>
                </a:tc>
                <a:tc>
                  <a:txBody>
                    <a:bodyPr lIns="73152" tIns="27432"/>
                    <a:lstStyle/>
                    <a:p>
                      <a:r>
                        <a:rPr sz="1000">
                          <a:solidFill>
                            <a:srgbClr val="2C3E50"/>
                          </a:solidFill>
                          <a:latin typeface="Calibri"/>
                        </a:rPr>
                        <a:t>$4,700</a:t>
                      </a:r>
                    </a:p>
                  </a:txBody>
                  <a:tcPr>
                    <a:solidFill>
                      <a:srgbClr val="FFFFFF"/>
                    </a:solidFill>
                  </a:tcPr>
                </a:tc>
                <a:tc>
                  <a:txBody>
                    <a:bodyPr lIns="73152" tIns="27432"/>
                    <a:lstStyle/>
                    <a:p>
                      <a:r>
                        <a:rPr sz="1000">
                          <a:solidFill>
                            <a:srgbClr val="2C3E50"/>
                          </a:solidFill>
                          <a:latin typeface="Calibri"/>
                        </a:rPr>
                        <a:t>$10,100</a:t>
                      </a:r>
                    </a:p>
                  </a:txBody>
                  <a:tcPr>
                    <a:solidFill>
                      <a:srgbClr val="FFFFFF"/>
                    </a:solidFill>
                  </a:tcPr>
                </a:tc>
              </a:tr>
              <a:tr h="256032">
                <a:tc>
                  <a:txBody>
                    <a:bodyPr lIns="73152" tIns="27432"/>
                    <a:lstStyle/>
                    <a:p>
                      <a:r>
                        <a:rPr sz="1000">
                          <a:solidFill>
                            <a:srgbClr val="2C3E50"/>
                          </a:solidFill>
                          <a:latin typeface="Calibri"/>
                        </a:rPr>
                        <a:t>3M</a:t>
                      </a:r>
                    </a:p>
                  </a:txBody>
                  <a:tcPr>
                    <a:solidFill>
                      <a:srgbClr val="FFE8DA"/>
                    </a:solidFill>
                  </a:tcPr>
                </a:tc>
                <a:tc>
                  <a:txBody>
                    <a:bodyPr lIns="73152" tIns="27432"/>
                    <a:lstStyle/>
                    <a:p>
                      <a:r>
                        <a:rPr sz="1000">
                          <a:solidFill>
                            <a:srgbClr val="2C3E50"/>
                          </a:solidFill>
                          <a:latin typeface="Calibri"/>
                        </a:rPr>
                        <a:t>$10,500</a:t>
                      </a:r>
                    </a:p>
                  </a:txBody>
                  <a:tcPr>
                    <a:solidFill>
                      <a:srgbClr val="FFE8DA"/>
                    </a:solidFill>
                  </a:tcPr>
                </a:tc>
                <a:tc>
                  <a:txBody>
                    <a:bodyPr lIns="73152" tIns="27432"/>
                    <a:lstStyle/>
                    <a:p>
                      <a:r>
                        <a:rPr sz="1000">
                          <a:solidFill>
                            <a:srgbClr val="2C3E50"/>
                          </a:solidFill>
                          <a:latin typeface="Calibri"/>
                        </a:rPr>
                        <a:t>$23,500</a:t>
                      </a:r>
                    </a:p>
                  </a:txBody>
                  <a:tcPr>
                    <a:solidFill>
                      <a:srgbClr val="FFE8DA"/>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Implementation Roadmap &amp; Summary</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TextBox 6"/>
          <p:cNvSpPr txBox="1"/>
          <p:nvPr/>
        </p:nvSpPr>
        <p:spPr>
          <a:xfrm>
            <a:off x="457200" y="1280160"/>
            <a:ext cx="11247120" cy="365760"/>
          </a:xfrm>
          <a:prstGeom prst="rect">
            <a:avLst/>
          </a:prstGeom>
          <a:noFill/>
        </p:spPr>
        <p:txBody>
          <a:bodyPr wrap="square" lIns="45720" rIns="45720">
            <a:spAutoFit/>
          </a:bodyPr>
          <a:lstStyle/>
          <a:p>
            <a:pPr algn="l"/>
            <a:r>
              <a:rPr sz="1500" b="1">
                <a:solidFill>
                  <a:srgbClr val="CC4F1F"/>
                </a:solidFill>
                <a:latin typeface="Calibri"/>
              </a:rPr>
              <a:t>Pre-Launch Build (6 to 10 weeks)</a:t>
            </a:r>
          </a:p>
        </p:txBody>
      </p:sp>
      <p:sp>
        <p:nvSpPr>
          <p:cNvPr id="8" name="Rectangle 7"/>
          <p:cNvSpPr/>
          <p:nvPr/>
        </p:nvSpPr>
        <p:spPr>
          <a:xfrm>
            <a:off x="457200" y="1737360"/>
            <a:ext cx="1463040" cy="4572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737360"/>
            <a:ext cx="1463040" cy="457200"/>
          </a:xfrm>
          <a:prstGeom prst="rect">
            <a:avLst/>
          </a:prstGeom>
          <a:noFill/>
        </p:spPr>
        <p:txBody>
          <a:bodyPr wrap="none" anchor="ctr">
            <a:spAutoFit/>
          </a:bodyPr>
          <a:lstStyle/>
          <a:p>
            <a:pPr algn="ctr"/>
            <a:r>
              <a:rPr sz="1100" b="1">
                <a:solidFill>
                  <a:srgbClr val="FFFFFF"/>
                </a:solidFill>
                <a:latin typeface="Calibri"/>
              </a:rPr>
              <a:t>Week 1-2</a:t>
            </a:r>
          </a:p>
        </p:txBody>
      </p:sp>
      <p:sp>
        <p:nvSpPr>
          <p:cNvPr id="10" name="TextBox 9"/>
          <p:cNvSpPr txBox="1"/>
          <p:nvPr/>
        </p:nvSpPr>
        <p:spPr>
          <a:xfrm>
            <a:off x="2103120" y="1737360"/>
            <a:ext cx="1828800" cy="457200"/>
          </a:xfrm>
          <a:prstGeom prst="rect">
            <a:avLst/>
          </a:prstGeom>
          <a:noFill/>
        </p:spPr>
        <p:txBody>
          <a:bodyPr wrap="none" anchor="ctr">
            <a:spAutoFit/>
          </a:bodyPr>
          <a:lstStyle/>
          <a:p>
            <a:r>
              <a:rPr sz="1300" b="1">
                <a:solidFill>
                  <a:srgbClr val="CC4F1F"/>
                </a:solidFill>
                <a:latin typeface="Calibri"/>
              </a:rPr>
              <a:t>Foundation</a:t>
            </a:r>
          </a:p>
        </p:txBody>
      </p:sp>
      <p:sp>
        <p:nvSpPr>
          <p:cNvPr id="11" name="TextBox 10"/>
          <p:cNvSpPr txBox="1"/>
          <p:nvPr/>
        </p:nvSpPr>
        <p:spPr>
          <a:xfrm>
            <a:off x="3931920" y="1737360"/>
            <a:ext cx="7772400" cy="457200"/>
          </a:xfrm>
          <a:prstGeom prst="rect">
            <a:avLst/>
          </a:prstGeom>
          <a:noFill/>
        </p:spPr>
        <p:txBody>
          <a:bodyPr wrap="square" anchor="ctr">
            <a:spAutoFit/>
          </a:bodyPr>
          <a:lstStyle/>
          <a:p>
            <a:r>
              <a:rPr sz="1100">
                <a:solidFill>
                  <a:srgbClr val="2C3E50"/>
                </a:solidFill>
                <a:latin typeface="Calibri"/>
              </a:rPr>
              <a:t>SG resources, BAA, WHO+ICD-11 ingest, Cohere embed, GraphRAG extraction</a:t>
            </a:r>
          </a:p>
        </p:txBody>
      </p:sp>
      <p:sp>
        <p:nvSpPr>
          <p:cNvPr id="12" name="Rectangle 11"/>
          <p:cNvSpPr/>
          <p:nvPr/>
        </p:nvSpPr>
        <p:spPr>
          <a:xfrm>
            <a:off x="457200" y="2240280"/>
            <a:ext cx="1463040" cy="4572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240280"/>
            <a:ext cx="1463040" cy="457200"/>
          </a:xfrm>
          <a:prstGeom prst="rect">
            <a:avLst/>
          </a:prstGeom>
          <a:noFill/>
        </p:spPr>
        <p:txBody>
          <a:bodyPr wrap="none" anchor="ctr">
            <a:spAutoFit/>
          </a:bodyPr>
          <a:lstStyle/>
          <a:p>
            <a:pPr algn="ctr"/>
            <a:r>
              <a:rPr sz="1100" b="1">
                <a:solidFill>
                  <a:srgbClr val="FFFFFF"/>
                </a:solidFill>
                <a:latin typeface="Calibri"/>
              </a:rPr>
              <a:t>Week 3-4</a:t>
            </a:r>
          </a:p>
        </p:txBody>
      </p:sp>
      <p:sp>
        <p:nvSpPr>
          <p:cNvPr id="14" name="TextBox 13"/>
          <p:cNvSpPr txBox="1"/>
          <p:nvPr/>
        </p:nvSpPr>
        <p:spPr>
          <a:xfrm>
            <a:off x="2103120" y="2240280"/>
            <a:ext cx="1828800" cy="457200"/>
          </a:xfrm>
          <a:prstGeom prst="rect">
            <a:avLst/>
          </a:prstGeom>
          <a:noFill/>
        </p:spPr>
        <p:txBody>
          <a:bodyPr wrap="none" anchor="ctr">
            <a:spAutoFit/>
          </a:bodyPr>
          <a:lstStyle/>
          <a:p>
            <a:r>
              <a:rPr sz="1300" b="1">
                <a:solidFill>
                  <a:srgbClr val="CC4F1F"/>
                </a:solidFill>
                <a:latin typeface="Calibri"/>
              </a:rPr>
              <a:t>Customization</a:t>
            </a:r>
          </a:p>
        </p:txBody>
      </p:sp>
      <p:sp>
        <p:nvSpPr>
          <p:cNvPr id="15" name="TextBox 14"/>
          <p:cNvSpPr txBox="1"/>
          <p:nvPr/>
        </p:nvSpPr>
        <p:spPr>
          <a:xfrm>
            <a:off x="3931920" y="2240280"/>
            <a:ext cx="7772400" cy="457200"/>
          </a:xfrm>
          <a:prstGeom prst="rect">
            <a:avLst/>
          </a:prstGeom>
          <a:noFill/>
        </p:spPr>
        <p:txBody>
          <a:bodyPr wrap="square" anchor="ctr">
            <a:spAutoFit/>
          </a:bodyPr>
          <a:lstStyle/>
          <a:p>
            <a:r>
              <a:rPr sz="1100">
                <a:solidFill>
                  <a:srgbClr val="2C3E50"/>
                </a:solidFill>
                <a:latin typeface="Calibri"/>
              </a:rPr>
              <a:t>Bedrock Model Distillation: Nova Lite student, eval harness pass</a:t>
            </a:r>
          </a:p>
        </p:txBody>
      </p:sp>
      <p:sp>
        <p:nvSpPr>
          <p:cNvPr id="16" name="Rectangle 15"/>
          <p:cNvSpPr/>
          <p:nvPr/>
        </p:nvSpPr>
        <p:spPr>
          <a:xfrm>
            <a:off x="457200" y="2743200"/>
            <a:ext cx="1463040" cy="4572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743200"/>
            <a:ext cx="1463040" cy="457200"/>
          </a:xfrm>
          <a:prstGeom prst="rect">
            <a:avLst/>
          </a:prstGeom>
          <a:noFill/>
        </p:spPr>
        <p:txBody>
          <a:bodyPr wrap="none" anchor="ctr">
            <a:spAutoFit/>
          </a:bodyPr>
          <a:lstStyle/>
          <a:p>
            <a:pPr algn="ctr"/>
            <a:r>
              <a:rPr sz="1100" b="1">
                <a:solidFill>
                  <a:srgbClr val="FFFFFF"/>
                </a:solidFill>
                <a:latin typeface="Calibri"/>
              </a:rPr>
              <a:t>Week 5-6</a:t>
            </a:r>
          </a:p>
        </p:txBody>
      </p:sp>
      <p:sp>
        <p:nvSpPr>
          <p:cNvPr id="18" name="TextBox 17"/>
          <p:cNvSpPr txBox="1"/>
          <p:nvPr/>
        </p:nvSpPr>
        <p:spPr>
          <a:xfrm>
            <a:off x="2103120" y="2743200"/>
            <a:ext cx="1828800" cy="457200"/>
          </a:xfrm>
          <a:prstGeom prst="rect">
            <a:avLst/>
          </a:prstGeom>
          <a:noFill/>
        </p:spPr>
        <p:txBody>
          <a:bodyPr wrap="none" anchor="ctr">
            <a:spAutoFit/>
          </a:bodyPr>
          <a:lstStyle/>
          <a:p>
            <a:r>
              <a:rPr sz="1300" b="1">
                <a:solidFill>
                  <a:srgbClr val="CC4F1F"/>
                </a:solidFill>
                <a:latin typeface="Calibri"/>
              </a:rPr>
              <a:t>Integration</a:t>
            </a:r>
          </a:p>
        </p:txBody>
      </p:sp>
      <p:sp>
        <p:nvSpPr>
          <p:cNvPr id="19" name="TextBox 18"/>
          <p:cNvSpPr txBox="1"/>
          <p:nvPr/>
        </p:nvSpPr>
        <p:spPr>
          <a:xfrm>
            <a:off x="3931920" y="2743200"/>
            <a:ext cx="7772400" cy="457200"/>
          </a:xfrm>
          <a:prstGeom prst="rect">
            <a:avLst/>
          </a:prstGeom>
          <a:noFill/>
        </p:spPr>
        <p:txBody>
          <a:bodyPr wrap="square" anchor="ctr">
            <a:spAutoFit/>
          </a:bodyPr>
          <a:lstStyle/>
          <a:p>
            <a:r>
              <a:rPr sz="1100">
                <a:solidFill>
                  <a:srgbClr val="2C3E50"/>
                </a:solidFill>
                <a:latin typeface="Calibri"/>
              </a:rPr>
              <a:t>EHR FHIR R4, SharePoint Graph, Cognito federation</a:t>
            </a:r>
          </a:p>
        </p:txBody>
      </p:sp>
      <p:sp>
        <p:nvSpPr>
          <p:cNvPr id="20" name="Rectangle 19"/>
          <p:cNvSpPr/>
          <p:nvPr/>
        </p:nvSpPr>
        <p:spPr>
          <a:xfrm>
            <a:off x="457200" y="3246120"/>
            <a:ext cx="1463040" cy="4572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246120"/>
            <a:ext cx="1463040" cy="457200"/>
          </a:xfrm>
          <a:prstGeom prst="rect">
            <a:avLst/>
          </a:prstGeom>
          <a:noFill/>
        </p:spPr>
        <p:txBody>
          <a:bodyPr wrap="none" anchor="ctr">
            <a:spAutoFit/>
          </a:bodyPr>
          <a:lstStyle/>
          <a:p>
            <a:pPr algn="ctr"/>
            <a:r>
              <a:rPr sz="1100" b="1">
                <a:solidFill>
                  <a:srgbClr val="FFFFFF"/>
                </a:solidFill>
                <a:latin typeface="Calibri"/>
              </a:rPr>
              <a:t>Week 7-8</a:t>
            </a:r>
          </a:p>
        </p:txBody>
      </p:sp>
      <p:sp>
        <p:nvSpPr>
          <p:cNvPr id="22" name="TextBox 21"/>
          <p:cNvSpPr txBox="1"/>
          <p:nvPr/>
        </p:nvSpPr>
        <p:spPr>
          <a:xfrm>
            <a:off x="2103120" y="3246120"/>
            <a:ext cx="1828800" cy="457200"/>
          </a:xfrm>
          <a:prstGeom prst="rect">
            <a:avLst/>
          </a:prstGeom>
          <a:noFill/>
        </p:spPr>
        <p:txBody>
          <a:bodyPr wrap="none" anchor="ctr">
            <a:spAutoFit/>
          </a:bodyPr>
          <a:lstStyle/>
          <a:p>
            <a:r>
              <a:rPr sz="1300" b="1">
                <a:solidFill>
                  <a:srgbClr val="CC4F1F"/>
                </a:solidFill>
                <a:latin typeface="Calibri"/>
              </a:rPr>
              <a:t>Hardening</a:t>
            </a:r>
          </a:p>
        </p:txBody>
      </p:sp>
      <p:sp>
        <p:nvSpPr>
          <p:cNvPr id="23" name="TextBox 22"/>
          <p:cNvSpPr txBox="1"/>
          <p:nvPr/>
        </p:nvSpPr>
        <p:spPr>
          <a:xfrm>
            <a:off x="3931920" y="3246120"/>
            <a:ext cx="7772400" cy="457200"/>
          </a:xfrm>
          <a:prstGeom prst="rect">
            <a:avLst/>
          </a:prstGeom>
          <a:noFill/>
        </p:spPr>
        <p:txBody>
          <a:bodyPr wrap="square" anchor="ctr">
            <a:spAutoFit/>
          </a:bodyPr>
          <a:lstStyle/>
          <a:p>
            <a:r>
              <a:rPr sz="1100">
                <a:solidFill>
                  <a:srgbClr val="2C3E50"/>
                </a:solidFill>
                <a:latin typeface="Calibri"/>
              </a:rPr>
              <a:t>Red team 200 adversarial prompts, Guardrails tune, Reserved Tier sizing, load test</a:t>
            </a:r>
          </a:p>
        </p:txBody>
      </p:sp>
      <p:sp>
        <p:nvSpPr>
          <p:cNvPr id="24" name="Rectangle 23"/>
          <p:cNvSpPr/>
          <p:nvPr/>
        </p:nvSpPr>
        <p:spPr>
          <a:xfrm>
            <a:off x="457200" y="3749040"/>
            <a:ext cx="1463040" cy="4572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749040"/>
            <a:ext cx="1463040" cy="457200"/>
          </a:xfrm>
          <a:prstGeom prst="rect">
            <a:avLst/>
          </a:prstGeom>
          <a:noFill/>
        </p:spPr>
        <p:txBody>
          <a:bodyPr wrap="none" anchor="ctr">
            <a:spAutoFit/>
          </a:bodyPr>
          <a:lstStyle/>
          <a:p>
            <a:pPr algn="ctr"/>
            <a:r>
              <a:rPr sz="1100" b="1">
                <a:solidFill>
                  <a:srgbClr val="FFFFFF"/>
                </a:solidFill>
                <a:latin typeface="Calibri"/>
              </a:rPr>
              <a:t>Launch</a:t>
            </a:r>
          </a:p>
        </p:txBody>
      </p:sp>
      <p:sp>
        <p:nvSpPr>
          <p:cNvPr id="26" name="TextBox 25"/>
          <p:cNvSpPr txBox="1"/>
          <p:nvPr/>
        </p:nvSpPr>
        <p:spPr>
          <a:xfrm>
            <a:off x="2103120" y="3749040"/>
            <a:ext cx="1828800" cy="457200"/>
          </a:xfrm>
          <a:prstGeom prst="rect">
            <a:avLst/>
          </a:prstGeom>
          <a:noFill/>
        </p:spPr>
        <p:txBody>
          <a:bodyPr wrap="none" anchor="ctr">
            <a:spAutoFit/>
          </a:bodyPr>
          <a:lstStyle/>
          <a:p>
            <a:r>
              <a:rPr sz="1300" b="1">
                <a:solidFill>
                  <a:srgbClr val="CC4F1F"/>
                </a:solidFill>
                <a:latin typeface="Calibri"/>
              </a:rPr>
              <a:t>Go-live</a:t>
            </a:r>
          </a:p>
        </p:txBody>
      </p:sp>
      <p:sp>
        <p:nvSpPr>
          <p:cNvPr id="27" name="TextBox 26"/>
          <p:cNvSpPr txBox="1"/>
          <p:nvPr/>
        </p:nvSpPr>
        <p:spPr>
          <a:xfrm>
            <a:off x="3931920" y="3749040"/>
            <a:ext cx="7772400" cy="457200"/>
          </a:xfrm>
          <a:prstGeom prst="rect">
            <a:avLst/>
          </a:prstGeom>
          <a:noFill/>
        </p:spPr>
        <p:txBody>
          <a:bodyPr wrap="square" anchor="ctr">
            <a:spAutoFit/>
          </a:bodyPr>
          <a:lstStyle/>
          <a:p>
            <a:r>
              <a:rPr sz="1100">
                <a:solidFill>
                  <a:srgbClr val="2C3E50"/>
                </a:solidFill>
                <a:latin typeface="Calibri"/>
              </a:rPr>
              <a:t>Full stack live, all 12 departments, audit + cache + monitoring active</a:t>
            </a:r>
          </a:p>
        </p:txBody>
      </p:sp>
      <p:sp>
        <p:nvSpPr>
          <p:cNvPr id="28" name="TextBox 27"/>
          <p:cNvSpPr txBox="1"/>
          <p:nvPr/>
        </p:nvSpPr>
        <p:spPr>
          <a:xfrm>
            <a:off x="457200" y="4572000"/>
            <a:ext cx="11247120" cy="365760"/>
          </a:xfrm>
          <a:prstGeom prst="rect">
            <a:avLst/>
          </a:prstGeom>
          <a:noFill/>
        </p:spPr>
        <p:txBody>
          <a:bodyPr wrap="square" lIns="45720" rIns="45720">
            <a:spAutoFit/>
          </a:bodyPr>
          <a:lstStyle/>
          <a:p>
            <a:pPr algn="l"/>
            <a:r>
              <a:rPr sz="1500" b="1">
                <a:solidFill>
                  <a:srgbClr val="CC4F1F"/>
                </a:solidFill>
                <a:latin typeface="Calibri"/>
              </a:rPr>
              <a:t>Key Takeaways</a:t>
            </a:r>
          </a:p>
        </p:txBody>
      </p:sp>
      <p:sp>
        <p:nvSpPr>
          <p:cNvPr id="29" name="TextBox 28"/>
          <p:cNvSpPr txBox="1"/>
          <p:nvPr/>
        </p:nvSpPr>
        <p:spPr>
          <a:xfrm>
            <a:off x="457200" y="5029200"/>
            <a:ext cx="365760" cy="274320"/>
          </a:xfrm>
          <a:prstGeom prst="rect">
            <a:avLst/>
          </a:prstGeom>
          <a:noFill/>
        </p:spPr>
        <p:txBody>
          <a:bodyPr wrap="none">
            <a:spAutoFit/>
          </a:bodyPr>
          <a:lstStyle/>
          <a:p>
            <a:pPr algn="ctr"/>
            <a:r>
              <a:rPr sz="1400" b="1">
                <a:solidFill>
                  <a:srgbClr val="27AE60"/>
                </a:solidFill>
                <a:latin typeface="Calibri"/>
              </a:rPr>
              <a:t>✓</a:t>
            </a:r>
          </a:p>
        </p:txBody>
      </p:sp>
      <p:sp>
        <p:nvSpPr>
          <p:cNvPr id="30" name="TextBox 29"/>
          <p:cNvSpPr txBox="1"/>
          <p:nvPr/>
        </p:nvSpPr>
        <p:spPr>
          <a:xfrm>
            <a:off x="914400" y="5029200"/>
            <a:ext cx="3200400" cy="274320"/>
          </a:xfrm>
          <a:prstGeom prst="rect">
            <a:avLst/>
          </a:prstGeom>
          <a:noFill/>
        </p:spPr>
        <p:txBody>
          <a:bodyPr wrap="none">
            <a:spAutoFit/>
          </a:bodyPr>
          <a:lstStyle/>
          <a:p>
            <a:r>
              <a:rPr sz="1200" b="1">
                <a:solidFill>
                  <a:srgbClr val="CC4F1F"/>
                </a:solidFill>
                <a:latin typeface="Calibri"/>
              </a:rPr>
              <a:t>PoC live and verified</a:t>
            </a:r>
          </a:p>
        </p:txBody>
      </p:sp>
      <p:sp>
        <p:nvSpPr>
          <p:cNvPr id="31" name="TextBox 30"/>
          <p:cNvSpPr txBox="1"/>
          <p:nvPr/>
        </p:nvSpPr>
        <p:spPr>
          <a:xfrm>
            <a:off x="4114800" y="5029200"/>
            <a:ext cx="7589520" cy="274320"/>
          </a:xfrm>
          <a:prstGeom prst="rect">
            <a:avLst/>
          </a:prstGeom>
          <a:noFill/>
        </p:spPr>
        <p:txBody>
          <a:bodyPr wrap="none">
            <a:spAutoFit/>
          </a:bodyPr>
          <a:lstStyle/>
          <a:p>
            <a:r>
              <a:rPr sz="1100">
                <a:solidFill>
                  <a:srgbClr val="2C3E50"/>
                </a:solidFill>
                <a:latin typeface="Calibri"/>
              </a:rPr>
              <a:t>Emergency 2.5s avg, Complex 9.7s avg, 100% SLA pass on on-demand tier</a:t>
            </a:r>
          </a:p>
        </p:txBody>
      </p:sp>
      <p:sp>
        <p:nvSpPr>
          <p:cNvPr id="32" name="TextBox 31"/>
          <p:cNvSpPr txBox="1"/>
          <p:nvPr/>
        </p:nvSpPr>
        <p:spPr>
          <a:xfrm>
            <a:off x="457200" y="5321808"/>
            <a:ext cx="365760" cy="274320"/>
          </a:xfrm>
          <a:prstGeom prst="rect">
            <a:avLst/>
          </a:prstGeom>
          <a:noFill/>
        </p:spPr>
        <p:txBody>
          <a:bodyPr wrap="none">
            <a:spAutoFit/>
          </a:bodyPr>
          <a:lstStyle/>
          <a:p>
            <a:pPr algn="ctr"/>
            <a:r>
              <a:rPr sz="1400" b="1">
                <a:solidFill>
                  <a:srgbClr val="27AE60"/>
                </a:solidFill>
                <a:latin typeface="Calibri"/>
              </a:rPr>
              <a:t>✓</a:t>
            </a:r>
          </a:p>
        </p:txBody>
      </p:sp>
      <p:sp>
        <p:nvSpPr>
          <p:cNvPr id="33" name="TextBox 32"/>
          <p:cNvSpPr txBox="1"/>
          <p:nvPr/>
        </p:nvSpPr>
        <p:spPr>
          <a:xfrm>
            <a:off x="914400" y="5321808"/>
            <a:ext cx="3200400" cy="274320"/>
          </a:xfrm>
          <a:prstGeom prst="rect">
            <a:avLst/>
          </a:prstGeom>
          <a:noFill/>
        </p:spPr>
        <p:txBody>
          <a:bodyPr wrap="none">
            <a:spAutoFit/>
          </a:bodyPr>
          <a:lstStyle/>
          <a:p>
            <a:r>
              <a:rPr sz="1200" b="1">
                <a:solidFill>
                  <a:srgbClr val="CC4F1F"/>
                </a:solidFill>
                <a:latin typeface="Calibri"/>
              </a:rPr>
              <a:t>100% answer rate</a:t>
            </a:r>
          </a:p>
        </p:txBody>
      </p:sp>
      <p:sp>
        <p:nvSpPr>
          <p:cNvPr id="34" name="TextBox 33"/>
          <p:cNvSpPr txBox="1"/>
          <p:nvPr/>
        </p:nvSpPr>
        <p:spPr>
          <a:xfrm>
            <a:off x="4114800" y="5321808"/>
            <a:ext cx="7589520" cy="274320"/>
          </a:xfrm>
          <a:prstGeom prst="rect">
            <a:avLst/>
          </a:prstGeom>
          <a:noFill/>
        </p:spPr>
        <p:txBody>
          <a:bodyPr wrap="none">
            <a:spAutoFit/>
          </a:bodyPr>
          <a:lstStyle/>
          <a:p>
            <a:r>
              <a:rPr sz="1100">
                <a:solidFill>
                  <a:srgbClr val="2C3E50"/>
                </a:solidFill>
                <a:latin typeface="Calibri"/>
              </a:rPr>
              <a:t>Multi-strategy chunking eliminated refusals; every answer cites sources</a:t>
            </a:r>
          </a:p>
        </p:txBody>
      </p:sp>
      <p:sp>
        <p:nvSpPr>
          <p:cNvPr id="35" name="TextBox 34"/>
          <p:cNvSpPr txBox="1"/>
          <p:nvPr/>
        </p:nvSpPr>
        <p:spPr>
          <a:xfrm>
            <a:off x="457200" y="5614416"/>
            <a:ext cx="365760" cy="274320"/>
          </a:xfrm>
          <a:prstGeom prst="rect">
            <a:avLst/>
          </a:prstGeom>
          <a:noFill/>
        </p:spPr>
        <p:txBody>
          <a:bodyPr wrap="none">
            <a:spAutoFit/>
          </a:bodyPr>
          <a:lstStyle/>
          <a:p>
            <a:pPr algn="ctr"/>
            <a:r>
              <a:rPr sz="1400" b="1">
                <a:solidFill>
                  <a:srgbClr val="27AE60"/>
                </a:solidFill>
                <a:latin typeface="Calibri"/>
              </a:rPr>
              <a:t>✓</a:t>
            </a:r>
          </a:p>
        </p:txBody>
      </p:sp>
      <p:sp>
        <p:nvSpPr>
          <p:cNvPr id="36" name="TextBox 35"/>
          <p:cNvSpPr txBox="1"/>
          <p:nvPr/>
        </p:nvSpPr>
        <p:spPr>
          <a:xfrm>
            <a:off x="914400" y="5614416"/>
            <a:ext cx="3200400" cy="274320"/>
          </a:xfrm>
          <a:prstGeom prst="rect">
            <a:avLst/>
          </a:prstGeom>
          <a:noFill/>
        </p:spPr>
        <p:txBody>
          <a:bodyPr wrap="none">
            <a:spAutoFit/>
          </a:bodyPr>
          <a:lstStyle/>
          <a:p>
            <a:r>
              <a:rPr sz="1200" b="1">
                <a:solidFill>
                  <a:srgbClr val="CC4F1F"/>
                </a:solidFill>
                <a:latin typeface="Calibri"/>
              </a:rPr>
              <a:t>PHI never leaves tenant</a:t>
            </a:r>
          </a:p>
        </p:txBody>
      </p:sp>
      <p:sp>
        <p:nvSpPr>
          <p:cNvPr id="37" name="TextBox 36"/>
          <p:cNvSpPr txBox="1"/>
          <p:nvPr/>
        </p:nvSpPr>
        <p:spPr>
          <a:xfrm>
            <a:off x="4114800" y="5614416"/>
            <a:ext cx="7589520" cy="274320"/>
          </a:xfrm>
          <a:prstGeom prst="rect">
            <a:avLst/>
          </a:prstGeom>
          <a:noFill/>
        </p:spPr>
        <p:txBody>
          <a:bodyPr wrap="none">
            <a:spAutoFit/>
          </a:bodyPr>
          <a:lstStyle/>
          <a:p>
            <a:r>
              <a:rPr sz="1100">
                <a:solidFill>
                  <a:srgbClr val="2C3E50"/>
                </a:solidFill>
                <a:latin typeface="Calibri"/>
              </a:rPr>
              <a:t>Comprehend Medical mask + tenant-scoped KMS + VPC endpoints</a:t>
            </a:r>
          </a:p>
        </p:txBody>
      </p:sp>
      <p:sp>
        <p:nvSpPr>
          <p:cNvPr id="38" name="TextBox 37"/>
          <p:cNvSpPr txBox="1"/>
          <p:nvPr/>
        </p:nvSpPr>
        <p:spPr>
          <a:xfrm>
            <a:off x="457200" y="5907024"/>
            <a:ext cx="365760" cy="274320"/>
          </a:xfrm>
          <a:prstGeom prst="rect">
            <a:avLst/>
          </a:prstGeom>
          <a:noFill/>
        </p:spPr>
        <p:txBody>
          <a:bodyPr wrap="none">
            <a:spAutoFit/>
          </a:bodyPr>
          <a:lstStyle/>
          <a:p>
            <a:pPr algn="ctr"/>
            <a:r>
              <a:rPr sz="1400" b="1">
                <a:solidFill>
                  <a:srgbClr val="27AE60"/>
                </a:solidFill>
                <a:latin typeface="Calibri"/>
              </a:rPr>
              <a:t>✓</a:t>
            </a:r>
          </a:p>
        </p:txBody>
      </p:sp>
      <p:sp>
        <p:nvSpPr>
          <p:cNvPr id="39" name="TextBox 38"/>
          <p:cNvSpPr txBox="1"/>
          <p:nvPr/>
        </p:nvSpPr>
        <p:spPr>
          <a:xfrm>
            <a:off x="914400" y="5907024"/>
            <a:ext cx="3200400" cy="274320"/>
          </a:xfrm>
          <a:prstGeom prst="rect">
            <a:avLst/>
          </a:prstGeom>
          <a:noFill/>
        </p:spPr>
        <p:txBody>
          <a:bodyPr wrap="none">
            <a:spAutoFit/>
          </a:bodyPr>
          <a:lstStyle/>
          <a:p>
            <a:r>
              <a:rPr sz="1200" b="1">
                <a:solidFill>
                  <a:srgbClr val="CC4F1F"/>
                </a:solidFill>
                <a:latin typeface="Calibri"/>
              </a:rPr>
              <a:t>Compliance-ready</a:t>
            </a:r>
          </a:p>
        </p:txBody>
      </p:sp>
      <p:sp>
        <p:nvSpPr>
          <p:cNvPr id="40" name="TextBox 39"/>
          <p:cNvSpPr txBox="1"/>
          <p:nvPr/>
        </p:nvSpPr>
        <p:spPr>
          <a:xfrm>
            <a:off x="4114800" y="5907024"/>
            <a:ext cx="7589520" cy="274320"/>
          </a:xfrm>
          <a:prstGeom prst="rect">
            <a:avLst/>
          </a:prstGeom>
          <a:noFill/>
        </p:spPr>
        <p:txBody>
          <a:bodyPr wrap="none">
            <a:spAutoFit/>
          </a:bodyPr>
          <a:lstStyle/>
          <a:p>
            <a:r>
              <a:rPr sz="1100">
                <a:solidFill>
                  <a:srgbClr val="2C3E50"/>
                </a:solidFill>
                <a:latin typeface="Calibri"/>
              </a:rPr>
              <a:t>HIPAA, PDPA, HCSA, FDA, EU AI Act mapping documented and supported by AWS</a:t>
            </a:r>
          </a:p>
        </p:txBody>
      </p:sp>
      <p:sp>
        <p:nvSpPr>
          <p:cNvPr id="41" name="TextBox 40"/>
          <p:cNvSpPr txBox="1"/>
          <p:nvPr/>
        </p:nvSpPr>
        <p:spPr>
          <a:xfrm>
            <a:off x="457200" y="6199632"/>
            <a:ext cx="365760" cy="274320"/>
          </a:xfrm>
          <a:prstGeom prst="rect">
            <a:avLst/>
          </a:prstGeom>
          <a:noFill/>
        </p:spPr>
        <p:txBody>
          <a:bodyPr wrap="none">
            <a:spAutoFit/>
          </a:bodyPr>
          <a:lstStyle/>
          <a:p>
            <a:pPr algn="ctr"/>
            <a:r>
              <a:rPr sz="1400" b="1">
                <a:solidFill>
                  <a:srgbClr val="27AE60"/>
                </a:solidFill>
                <a:latin typeface="Calibri"/>
              </a:rPr>
              <a:t>✓</a:t>
            </a:r>
          </a:p>
        </p:txBody>
      </p:sp>
      <p:sp>
        <p:nvSpPr>
          <p:cNvPr id="42" name="TextBox 41"/>
          <p:cNvSpPr txBox="1"/>
          <p:nvPr/>
        </p:nvSpPr>
        <p:spPr>
          <a:xfrm>
            <a:off x="914400" y="6199632"/>
            <a:ext cx="3200400" cy="274320"/>
          </a:xfrm>
          <a:prstGeom prst="rect">
            <a:avLst/>
          </a:prstGeom>
          <a:noFill/>
        </p:spPr>
        <p:txBody>
          <a:bodyPr wrap="none">
            <a:spAutoFit/>
          </a:bodyPr>
          <a:lstStyle/>
          <a:p>
            <a:r>
              <a:rPr sz="1200" b="1">
                <a:solidFill>
                  <a:srgbClr val="CC4F1F"/>
                </a:solidFill>
                <a:latin typeface="Calibri"/>
              </a:rPr>
              <a:t>SG-native query path</a:t>
            </a:r>
          </a:p>
        </p:txBody>
      </p:sp>
      <p:sp>
        <p:nvSpPr>
          <p:cNvPr id="43" name="TextBox 42"/>
          <p:cNvSpPr txBox="1"/>
          <p:nvPr/>
        </p:nvSpPr>
        <p:spPr>
          <a:xfrm>
            <a:off x="4114800" y="6199632"/>
            <a:ext cx="7589520" cy="274320"/>
          </a:xfrm>
          <a:prstGeom prst="rect">
            <a:avLst/>
          </a:prstGeom>
          <a:noFill/>
        </p:spPr>
        <p:txBody>
          <a:bodyPr wrap="none">
            <a:spAutoFit/>
          </a:bodyPr>
          <a:lstStyle/>
          <a:p>
            <a:r>
              <a:rPr sz="1100">
                <a:solidFill>
                  <a:srgbClr val="2C3E50"/>
                </a:solidFill>
                <a:latin typeface="Calibri"/>
              </a:rPr>
              <a:t>Zero cross-region hops for clinical data; Cohere Embed v3 in Singapore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Thank You</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TextBox 6"/>
          <p:cNvSpPr txBox="1"/>
          <p:nvPr/>
        </p:nvSpPr>
        <p:spPr>
          <a:xfrm>
            <a:off x="1828800" y="2286000"/>
            <a:ext cx="8503920" cy="1371600"/>
          </a:xfrm>
          <a:prstGeom prst="rect">
            <a:avLst/>
          </a:prstGeom>
          <a:noFill/>
        </p:spPr>
        <p:txBody>
          <a:bodyPr wrap="none">
            <a:spAutoFit/>
          </a:bodyPr>
          <a:lstStyle/>
          <a:p>
            <a:pPr algn="ctr"/>
            <a:r>
              <a:rPr sz="4800" b="1">
                <a:solidFill>
                  <a:srgbClr val="CC4F1F"/>
                </a:solidFill>
                <a:latin typeface="Calibri"/>
              </a:rPr>
              <a:t>Questions &amp; Discussion</a:t>
            </a:r>
          </a:p>
        </p:txBody>
      </p:sp>
      <p:sp>
        <p:nvSpPr>
          <p:cNvPr id="8" name="TextBox 7"/>
          <p:cNvSpPr txBox="1"/>
          <p:nvPr/>
        </p:nvSpPr>
        <p:spPr>
          <a:xfrm>
            <a:off x="1828800" y="3657600"/>
            <a:ext cx="8503920" cy="548640"/>
          </a:xfrm>
          <a:prstGeom prst="rect">
            <a:avLst/>
          </a:prstGeom>
          <a:noFill/>
        </p:spPr>
        <p:txBody>
          <a:bodyPr wrap="none">
            <a:spAutoFit/>
          </a:bodyPr>
          <a:lstStyle/>
          <a:p>
            <a:pPr algn="ctr"/>
            <a:r>
              <a:rPr sz="1800">
                <a:solidFill>
                  <a:srgbClr val="2C3E50"/>
                </a:solidFill>
                <a:latin typeface="Calibri"/>
              </a:rPr>
              <a:t>Live PoC: http://47.130.120.152/ui/index.html</a:t>
            </a:r>
          </a:p>
        </p:txBody>
      </p:sp>
      <p:sp>
        <p:nvSpPr>
          <p:cNvPr id="9" name="TextBox 8"/>
          <p:cNvSpPr txBox="1"/>
          <p:nvPr/>
        </p:nvSpPr>
        <p:spPr>
          <a:xfrm>
            <a:off x="1828800" y="4572000"/>
            <a:ext cx="8503920" cy="1371600"/>
          </a:xfrm>
          <a:prstGeom prst="rect">
            <a:avLst/>
          </a:prstGeom>
          <a:noFill/>
        </p:spPr>
        <p:txBody>
          <a:bodyPr wrap="none">
            <a:spAutoFit/>
          </a:bodyPr>
          <a:lstStyle/>
          <a:p>
            <a:pPr algn="ctr"/>
            <a:r>
              <a:rPr sz="1400" b="1">
                <a:solidFill>
                  <a:srgbClr val="CC4F1F"/>
                </a:solidFill>
                <a:latin typeface="Calibri"/>
              </a:rPr>
              <a:t>Reference Documents</a:t>
            </a:r>
          </a:p>
          <a:p>
            <a:pPr algn="ctr"/>
            <a:r>
              <a:rPr sz="1200">
                <a:solidFill>
                  <a:srgbClr val="2C3E50"/>
                </a:solidFill>
                <a:latin typeface="Calibri"/>
              </a:rPr>
              <a:t>Full proposal · 900-question evaluation report · Architecture diagrams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
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C4F1F"/>
                </a:solidFill>
                <a:latin typeface="Calibri"/>
              </a:rPr>
              <a:t>Customer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21945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646464"/>
                </a:solidFill>
                <a:latin typeface="Calibri"/>
              </a:rPr>
              <a:t>Nova Health Tech  ·  Clinical GenAI Assistant  ·  AWS Singapore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960120"/>
            <a:ext cx="27432" cy="4754880"/>
          </a:xfrm>
          <a:prstGeom prst="rect">
            <a:avLst/>
          </a:prstGeom>
          <a:solidFill>
            <a:srgbClr val="FF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029200" cy="1463040"/>
          </a:xfrm>
          <a:prstGeom prst="roundRect">
            <a:avLst>
              <a:gd name="adj" fmla="val 6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C4F1F"/>
                </a:solidFill>
                <a:latin typeface="Calibri"/>
              </a:rPr>
              <a:t>Nova Health Tech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2C3E50"/>
                </a:solidFill>
                <a:latin typeface="Calibri"/>
              </a:rPr>
              <a:t>Digital Health / Clinical Decision Support company. Flagship clinical support tool is struggling to meet physician expectations for speed and medical relevance. Executive board approves a GenAI assistant initiative.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33472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33472"/>
            <a:ext cx="5029200" cy="402336"/>
          </a:xfrm>
          <a:prstGeom prst="rect">
            <a:avLst/>
          </a:prstGeom>
          <a:solidFill>
            <a:srgbClr val="CC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90672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Build a GenAI assistant for internal clinical staff and hospital clients that is fast, accurate, auditable, and compliant with healthcare regulations.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4F1F"/>
                </a:solidFill>
                <a:latin typeface="Calibri"/>
              </a:rPr>
              <a:t>The assistant must: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5029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2C3E50"/>
                </a:solidFill>
                <a:latin typeface="Calibri"/>
              </a:rPr>
              <a:t>Answer complex medical questions in natural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5029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2C3E50"/>
                </a:solidFill>
                <a:latin typeface="Calibri"/>
              </a:rPr>
              <a:t>Rely on internal trials, treatment protocols, WHO, PubMed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02352"/>
            <a:ext cx="5029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6B35"/>
                </a:solidFill>
                <a:latin typeface="Calibri"/>
              </a:rPr>
              <a:t>▸ </a:t>
            </a:r>
            <a:r>
              <a:rPr sz="1100">
                <a:solidFill>
                  <a:srgbClr val="2C3E50"/>
                </a:solidFill>
                <a:latin typeface="Calibri"/>
              </a:rPr>
              <a:t>Be auditable, compliant, and fast enough for diagnosis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005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4F1F"/>
                </a:solidFill>
                <a:latin typeface="Calibri"/>
              </a:rPr>
              <a:t>Use Case Scenarios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463040"/>
            <a:ext cx="5943600" cy="9326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463040"/>
            <a:ext cx="73152" cy="9326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554480"/>
            <a:ext cx="59436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155448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Calibri"/>
              </a:rPr>
              <a:t>Emergency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19202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3E50"/>
                </a:solidFill>
                <a:latin typeface="Calibri"/>
              </a:rPr>
              <a:t>Emergency care needs 2-second response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468880"/>
            <a:ext cx="5943600" cy="932688"/>
          </a:xfrm>
          <a:prstGeom prst="roundRect">
            <a:avLst>
              <a:gd name="adj" fmla="val 8000"/>
            </a:avLst>
          </a:prstGeom>
          <a:solidFill>
            <a:srgbClr val="FFE8DA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0" y="2468880"/>
            <a:ext cx="73152" cy="932688"/>
          </a:xfrm>
          <a:prstGeom prst="rect">
            <a:avLst/>
          </a:prstGeom>
          <a:solidFill>
            <a:srgbClr val="CC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2560320"/>
            <a:ext cx="59436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5603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C4F1F"/>
                </a:solidFill>
                <a:latin typeface="Calibri"/>
              </a:rPr>
              <a:t>WHO Monthly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29260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3E50"/>
                </a:solidFill>
                <a:latin typeface="Calibri"/>
              </a:rPr>
              <a:t>WHO publishes monthly protocol updates via structured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3474720"/>
            <a:ext cx="5943600" cy="932688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3474720"/>
            <a:ext cx="73152" cy="9326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3566160"/>
            <a:ext cx="59436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56616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Calibri"/>
              </a:rPr>
              <a:t>Patient-Sensitive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39319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3E50"/>
                </a:solidFill>
                <a:latin typeface="Calibri"/>
              </a:rPr>
              <a:t>Internal trials include patient-sensitive data (PHI)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480560"/>
            <a:ext cx="5943600" cy="932688"/>
          </a:xfrm>
          <a:prstGeom prst="roundRect">
            <a:avLst>
              <a:gd name="adj" fmla="val 8000"/>
            </a:avLst>
          </a:prstGeom>
          <a:solidFill>
            <a:srgbClr val="FFE8DA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4480560"/>
            <a:ext cx="73152" cy="9326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4572000"/>
            <a:ext cx="59436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✍️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57200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Calibri"/>
              </a:rPr>
              <a:t>Consistent Tone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49377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3E50"/>
                </a:solidFill>
                <a:latin typeface="Calibri"/>
              </a:rPr>
              <a:t>Users want consistent clinical tone and phrasing across answers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5486400"/>
            <a:ext cx="5943600" cy="932688"/>
          </a:xfrm>
          <a:prstGeom prst="roundRect">
            <a:avLst>
              <a:gd name="adj" fmla="val 8000"/>
            </a:avLst>
          </a:prstGeom>
          <a:solidFill>
            <a:srgbClr val="FFE8DA"/>
          </a:solidFill>
          <a:ln w="19050">
            <a:solidFill>
              <a:srgbClr val="CC4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5486400"/>
            <a:ext cx="73152" cy="932688"/>
          </a:xfrm>
          <a:prstGeom prst="rect">
            <a:avLst/>
          </a:prstGeom>
          <a:solidFill>
            <a:srgbClr val="CC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5577840"/>
            <a:ext cx="59436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>
                <a:latin typeface="Segoe UI Emoji"/>
              </a:rPr>
              <a:t>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557784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C4F1F"/>
                </a:solidFill>
                <a:latin typeface="Calibri"/>
              </a:rPr>
              <a:t>Legacy PDF Ingestion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9436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C3E50"/>
                </a:solidFill>
                <a:latin typeface="Calibri"/>
              </a:rPr>
              <a:t>Internal trial reports in legacy PDFs with inconsistent tagging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870448"/>
            <a:ext cx="11247120" cy="749808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253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Architecture Deliverables Required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Data Pipeline  ·  Model Orchestration  ·  Security Architecture  ·  Deployment Approach (RAG vs Fine-tuning, Cloud/Hybrid)  ·  Performance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
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C4F1F"/>
                </a:solidFill>
                <a:latin typeface="Calibri"/>
              </a:rPr>
              <a:t>Customer Scenario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41248"/>
            <a:ext cx="2194560" cy="36576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1">
                <a:solidFill>
                  <a:srgbClr val="646464"/>
                </a:solidFill>
                <a:latin typeface="Calibri"/>
              </a:rPr>
              <a:t>Nova Health Tech  ·  Clinical GenAI Assistant  ·  AWS Singapore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0" y="960120"/>
            <a:ext cx="27432" cy="4754880"/>
          </a:xfrm>
          <a:prstGeom prst="rect">
            <a:avLst/>
          </a:prstGeom>
          <a:solidFill>
            <a:srgbClr val="FFE8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05840"/>
            <a:ext cx="5029200" cy="1463040"/>
          </a:xfrm>
          <a:prstGeom prst="roundRect">
            <a:avLst>
              <a:gd name="adj" fmla="val 6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05156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C4F1F"/>
                </a:solidFill>
                <a:latin typeface="Calibri"/>
              </a:rPr>
              <a:t>Nova Health Tech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2C3E50"/>
                </a:solidFill>
                <a:latin typeface="Calibri"/>
              </a:rPr>
              <a:t>Digital Health / Clinical Decision Support company. Flagship clinical support tool is struggling to meet physician expectations for speed and medical relevance. Executive board approves a GenAI assistant initiative.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33472"/>
            <a:ext cx="5029200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33472"/>
            <a:ext cx="5029200" cy="402336"/>
          </a:xfrm>
          <a:prstGeom prst="rect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33472"/>
            <a:ext cx="5029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90672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Build a GenAI assistant for internal clinical staff and hospital clients that is fast, accurate, auditable, and compliant with healthcare regulations.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77639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4F1F"/>
                </a:solidFill>
                <a:latin typeface="Calibri"/>
              </a:rPr>
              <a:t>The assistant must: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07408"/>
            <a:ext cx="5029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2C3E50"/>
                </a:solidFill>
                <a:latin typeface="Calibri"/>
              </a:rPr>
              <a:t>Answer complex medical questions in natural language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54880"/>
            <a:ext cx="5029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2C3E50"/>
                </a:solidFill>
                <a:latin typeface="Calibri"/>
              </a:rPr>
              <a:t>Rely on internal trials, treatment protocols, WHO, PubMed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02352"/>
            <a:ext cx="502920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6B35"/>
                </a:solidFill>
                <a:latin typeface="Calibri"/>
              </a:rPr>
              <a:t>▸ </a:t>
            </a:r>
            <a:r>
              <a:rPr sz="1100">
                <a:solidFill>
                  <a:srgbClr val="2C3E50"/>
                </a:solidFill>
                <a:latin typeface="Calibri"/>
              </a:rPr>
              <a:t>Be auditable, compliant, and fast enough for diagnosis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10058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4F1F"/>
                </a:solidFill>
                <a:latin typeface="Calibri"/>
              </a:rPr>
              <a:t>Use Case Scenarios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63040"/>
            <a:ext cx="5943600" cy="9326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60720" y="1463040"/>
            <a:ext cx="73152" cy="9326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97880" y="1554480"/>
            <a:ext cx="59436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latin typeface="Segoe UI Emoji"/>
              </a:rPr>
              <a:t>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5392" y="155448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392B"/>
                </a:solidFill>
                <a:latin typeface="Calibri"/>
              </a:rPr>
              <a:t>Emergency 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65392" y="19202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C3E50"/>
                </a:solidFill>
                <a:latin typeface="Calibri"/>
              </a:rPr>
              <a:t>Emergency care needs 2-second response time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2468880"/>
            <a:ext cx="5943600" cy="932688"/>
          </a:xfrm>
          <a:prstGeom prst="roundRect">
            <a:avLst>
              <a:gd name="adj" fmla="val 8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760720" y="2468880"/>
            <a:ext cx="73152" cy="932688"/>
          </a:xfrm>
          <a:prstGeom prst="rect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2560320"/>
            <a:ext cx="59436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latin typeface="Segoe UI Emoji"/>
              </a:rPr>
              <a:t>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5392" y="256032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C4F1F"/>
                </a:solidFill>
                <a:latin typeface="Calibri"/>
              </a:rPr>
              <a:t>WHO Monthly Updates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29260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C3E50"/>
                </a:solidFill>
                <a:latin typeface="Calibri"/>
              </a:rPr>
              <a:t>WHO publishes monthly protocol updates via structured API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3474720"/>
            <a:ext cx="5943600" cy="932688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760720" y="3474720"/>
            <a:ext cx="73152" cy="9326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97880" y="3566160"/>
            <a:ext cx="59436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latin typeface="Segoe UI Emoji"/>
              </a:rPr>
              <a:t>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65392" y="356616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392B"/>
                </a:solidFill>
                <a:latin typeface="Calibri"/>
              </a:rPr>
              <a:t>Patient-Sensitive Data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93192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C3E50"/>
                </a:solidFill>
                <a:latin typeface="Calibri"/>
              </a:rPr>
              <a:t>Internal trials include patient-sensitive data (PHI)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760720" y="4480560"/>
            <a:ext cx="5943600" cy="932688"/>
          </a:xfrm>
          <a:prstGeom prst="roundRect">
            <a:avLst>
              <a:gd name="adj" fmla="val 8000"/>
            </a:avLst>
          </a:prstGeom>
          <a:solidFill>
            <a:srgbClr val="FFE8DA"/>
          </a:solidFill>
          <a:ln w="190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760720" y="4480560"/>
            <a:ext cx="73152" cy="93268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4572000"/>
            <a:ext cx="59436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latin typeface="Segoe UI Emoji"/>
              </a:rPr>
              <a:t>✍️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65392" y="457200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Calibri"/>
              </a:rPr>
              <a:t>Consistent Tone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65392" y="4937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C3E50"/>
                </a:solidFill>
                <a:latin typeface="Calibri"/>
              </a:rPr>
              <a:t>Users want consistent clinical tone and phrasing across answers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760720" y="5486400"/>
            <a:ext cx="5943600" cy="932688"/>
          </a:xfrm>
          <a:prstGeom prst="roundRect">
            <a:avLst>
              <a:gd name="adj" fmla="val 8000"/>
            </a:avLst>
          </a:prstGeom>
          <a:solidFill>
            <a:srgbClr val="FFE8DA"/>
          </a:solidFill>
          <a:ln w="19050">
            <a:solidFill>
              <a:srgbClr val="CC4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760720" y="5486400"/>
            <a:ext cx="73152" cy="932688"/>
          </a:xfrm>
          <a:prstGeom prst="rect">
            <a:avLst/>
          </a:prstGeom>
          <a:solidFill>
            <a:srgbClr val="CC4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5577840"/>
            <a:ext cx="594360" cy="7498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>
                <a:latin typeface="Segoe UI Emoji"/>
              </a:rPr>
              <a:t>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392" y="5577840"/>
            <a:ext cx="50292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C4F1F"/>
                </a:solidFill>
                <a:latin typeface="Calibri"/>
              </a:rPr>
              <a:t>Legacy PDF Ingestion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65392" y="594360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2C3E50"/>
                </a:solidFill>
                <a:latin typeface="Calibri"/>
              </a:rPr>
              <a:t>Internal trial reports in legacy PDFs with inconsistent tagging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870448"/>
            <a:ext cx="11247120" cy="749808"/>
          </a:xfrm>
          <a:prstGeom prst="roundRect">
            <a:avLst>
              <a:gd name="adj" fmla="val 10000"/>
            </a:avLst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592531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Architecture Deliverables Required</a:t>
            </a:r>
          </a:p>
          <a:p>
            <a:pPr algn="ctr"/>
            <a:r>
              <a:rPr sz="1100">
                <a:solidFill>
                  <a:srgbClr val="FFFFFF"/>
                </a:solidFill>
                <a:latin typeface="Calibri"/>
              </a:rPr>
              <a:t>Data Pipeline  ·  Model Orchestration  ·  Security Architecture  ·  Deployment Approach (RAG vs Fine-tuning, Cloud/Hybrid)  ·  Performance Optimization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
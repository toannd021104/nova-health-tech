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[10s opening]</a:t>
            </a:r>
          </a:p>
          <a:p/>
          <a:p>
            <a:r>
              <a:t>Đề xuất kiến trúc trợ lý AI lâm sàng cho Nova Health Tech: Alibaba Cloud Singapore International, mô hình Qwen, tuân thủ PDPA và HCSA ngay từ thiết kế.</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[40s]</a:t>
            </a:r>
          </a:p>
          <a:p/>
          <a:p>
            <a:r>
              <a:t>Nova Health Tech là công ty Healthcare Tech cung cấp công cụ hỗ trợ quyết định lâm sàng cho các bệnh viện Đông Nam Á. Có 3 thách thức lớn nhất.</a:t>
            </a:r>
          </a:p>
          <a:p/>
          <a:p>
            <a:r>
              <a:t>Quan trọng nhất: dữ liệu thử nghiệm nội bộ và bệnh án chứa thông tin bệnh nhân nhạy cảm. Đây không chỉ là yêu cầu kỹ thuật, mà là nghĩa vụ pháp lý nghiêm ngặt theo luật y tế Singapore. PHI phải được mask trước khi đến model, audit trail đầy đủ, và data residency phải đảm bảo. Trước khi nói tiếp 2 thách thức còn lại, để tôi đi sâu vào tuân thủ Singapore.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[75s, KEY SLIDE]</a:t>
            </a:r>
          </a:p>
          <a:p/>
          <a:p>
            <a:r>
              <a:t>Singapore có hệ thống regulation chặt chẽ áp dụng cho hệ thống AI lâm sàng. Bốn quy định chính cần lưu ý.</a:t>
            </a:r>
          </a:p>
          <a:p/>
          <a:p>
            <a:r>
              <a:t>PDPA do PDPC quản, bảo vệ dữ liệu cá nhân, yêu cầu Data Protection Officer, vi phạm phải báo trong 72 giờ. HCSA 2020 do MOH ban hành thay thế PHMC 1980, bắt buộc license cho dịch vụ y tế bao gồm clinical decision support. Cybersecurity Act 2018 bảo vệ Critical Information Infrastructure trong y tế. IMDA AI Verify framework cho AI có trách nhiệm.</a:t>
            </a:r>
          </a:p>
          <a:p/>
          <a:p>
            <a:r>
              <a:t>Cộng thêm các quy định ngành: MOH HIE Act, Clinical Trial Regulations, HSA Therapeutic Products. Triển khai của chúng tôi: 100 phần trăm tại ap-southeast-1 Singapore International, PHI mask trước khi đến model qua DataWorks SDDP, KMS BYOK, ActionTrail audit 6 năm WORM. Alibaba Cloud có ISO 27001, ISO 27017, ISO 27018, ISO 27701, SOC 1/2/3, PCI-DSS, NIST 800-53 R5.</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[30s]</a:t>
            </a:r>
          </a:p>
          <a:p/>
          <a:p>
            <a:r>
              <a:t>Quay lại 2 thách thức còn lại. Speed: cấp cứu cần dưới 2 giây, mỗi giây có thể là sống chết. Sepsis, STEMI, anaphylaxis đều cần quyết định ngay. Freshness: WHO cập nhật hàng tháng, ICD-11 hàng ngày, hệ thống phải tự đồng bộ. Internal trial PDFs có legacy format với tagging không nhất quán, parsing khó.</a:t>
            </a:r>
          </a:p>
          <a:p/>
          <a:p>
            <a:r>
              <a:t>Cộng thêm yêu cầu tone consistency: phải có giọng văn lâm sàng nhất quán giữa các câu trả lời, không phải mỗi câu một kiểu.</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[60s]</a:t>
            </a:r>
          </a:p>
          <a:p/>
          <a:p>
            <a:r>
              <a:t>Giải pháp là kiến trúc 2 luồng trên Alibaba Cloud Singapore International. Cấp cứu chạy Workflow Application deterministic với Qwen3.5-Flash, retrieve và stream trong 2 giây.</a:t>
            </a:r>
          </a:p>
          <a:p/>
          <a:p>
            <a:r>
              <a:t>Phức tạp dùng Router Agent Qwen3.5-Flash phân loại 12 phòng ban, rồi 60 phần trăm traffic đi đến Qwen3-8B student fine-tuned trên PAI-EAS, 40 phần trăm đến Qwen3.5-Plus teacher. Routing đặc biệt: ảnh thì force qua Qwen3-VL-Plus Radiology, prescribing thì invoke Clinical Pharmacy side-channel.</a:t>
            </a:r>
          </a:p>
          <a:p/>
          <a:p>
            <a:r>
              <a:t>Hai loại RAG: OpenSearch Vector Search Edition cho hybrid BM25+kNN, AnalyticDB PG GraphRAG cho multi-hop reasoning. Embedding text-embedding-v4 và tongyi-embedding-vision-plus, rerank qwen3-rerank. Tất cả đều ở Singapore International, zero cross-region hop runtime.</a:t>
            </a:r>
          </a:p>
          <a:p/>
          <a:p>
            <a:r>
              <a:t>Kiến trúc chi tiết xem AlibabaCloud_SA_proposal_technical_architecture.docx mục 3.1</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[40s]</a:t>
            </a:r>
          </a:p>
          <a:p/>
          <a:p>
            <a:r>
              <a:t>Pipeline dữ liệu xử lý 3 nguồn với cadence riêng. WHO PDF cập nhật hàng tháng qua HTTP download và RSS webhook. ICD-11 API hàng ngày qua OAuth2 client. SharePoint qua Graph subscription với webhook real-time, plus reconciliation hàng tuần.</a:t>
            </a:r>
          </a:p>
          <a:p/>
          <a:p>
            <a:r>
              <a:t>Mọi file vào OSS đều qua Security Center quét malware và DataWorks SDDP quét PHI. Match thì quarantine và alert admin. DocMind parse PDF, Qwen-VL-Max xử lý complex pages với table và figure. Hierarchical chunker 1500/300 với 15 phần trăm overlap, respect section và table boundaries.</a:t>
            </a:r>
          </a:p>
          <a:p/>
          <a:p>
            <a:r>
              <a:t>Pipeline idempotent dựa trên document_id và revision hash. Chunk metadata: source, page, publication_date, review_date, evidence_grade, specialty, tenant_id.</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[50s]</a:t>
            </a:r>
          </a:p>
          <a:p/>
          <a:p>
            <a:r>
              <a:t>RAG dùng cho factual grounding, fine-tuning chỉ cho tone và latency. Không bao giờ train trên PHI: training data phải qua DataWorks SDDP de-identification trước.</a:t>
            </a:r>
          </a:p>
          <a:p/>
          <a:p>
            <a:r>
              <a:t>Hai store: OpenSearch Vector Search HA dual-zone với HNSW M=16, efConstruction=200, efSearch=80. AnalyticDB for PostgreSQL 7.0 với extension adbpg_graphrag, 4-core 32GB, 3 zones. Hybrid search: BM25 + HNSW fuse qua Reciprocal Rank Fusion. Query expansion: khi detect disease mention thì icd11_expand_query inject synonyms và codes.</a:t>
            </a:r>
          </a:p>
          <a:p/>
          <a:p>
            <a:r>
              <a:t>Fine-tuning trên PAI: SFT+LoRA primary, DPO monthly trên clinician preference pairs, GRPO ad-hoc cho tool-calling regression. Chi phí 15-40 USD mỗi run, 2-4 GPU-hours trên A10. Eval harness dùng Qwen3.5-Plus judge: accuracy, citation coverage, PHI leakage, tone, emergency fit. Promote to PAI-EAS qua feature flag với 5 phần trăm canary 72 giờ.</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[40s]</a:t>
            </a:r>
          </a:p>
          <a:p/>
          <a:p>
            <a:r>
              <a:t>Bảo mật theo defense-in-depth. Edge có CDN, Anti-DDoS, WAF. API Gateway xác thực JWT từ IDaaS EIAM 2.0. Compute là Function Compute serverless không expose public.</a:t>
            </a:r>
          </a:p>
          <a:p/>
          <a:p>
            <a:r>
              <a:t>PHI handling 2 cấp: ingest time DataWorks SDDP scan với healthcare PHI rule pack, match thì quarantine. Runtime FC chạy SDDP preflight, PHI biến thành reversible KMS tokens kiểu NAME_0, MRN_0, DOB_0. LLM chỉ thấy tokens, de-tokenize trong UI thôi. Audit log lưu tokenized form.</a:t>
            </a:r>
          </a:p>
          <a:p/>
          <a:p>
            <a:r>
              <a:t>Encryption: TLS 1.3 mọi nơi, KMS BYOK at-rest. Network zero-trust với VPC default-deny, PrivateLink cho service calls, NAT Gateway egress allow-list chỉ WHO và PubMed. Audit: ActionTrail + SLS + OSS WORM 6 năm, Object Lock không xóa được kể cả admin.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[50s]</a:t>
            </a:r>
          </a:p>
          <a:p/>
          <a:p>
            <a:r>
              <a:t>Chi phí monthly cho 500 physicians, 40 queries mỗi ngày, split 30/70 emergency-complex. Total launch-day khoảng 2,280 đến 3,060 USD. Khoản lớn nhất là PAI-EAS A10 always-on cho student model, 720 đến 1,500 USD. AnalyticDB PG GraphRAG 300 USD, OpenSearch HA 180 USD. Per-call cost: emergency với cache hit chỉ 0.0008 USD, complex với cache 0.0026, vision không cache 0.004 USD.</a:t>
            </a:r>
          </a:p>
          <a:p/>
          <a:p>
            <a:r>
              <a:t>Lộ trình triển khai 6 đến 10 tuần. Foundation 1-2 tuần: provisioning, IDaaS, OpenSearch HA, AnalyticDB PG. Data pipeline và RAG 1-4 tuần. Model fine-tuning 3-5 tuần. Orchestration multi-agent 3-6 tuần. Clinical embedding và security 5-7 tuần. Performance compliance hardening 6-9 tuần. Clinical pilot và cut-over 9-10 tuần.</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[15s closing]</a:t>
            </a:r>
          </a:p>
          <a:p/>
          <a:p>
            <a:r>
              <a:t>Tóm lại: kiến trúc Singapore International, tuân thủ PDPA HCSA Cybersecurity Act, chi phí từ 2,280 USD per tenant. Lộ trình 6-10 tuần. Sẵn sàng PoC khi Nova approve. Xin cảm ơn.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mainslide.png"/>
          <p:cNvPicPr>
            <a:picLocks noChangeAspect="1"/>
          </p:cNvPicPr>
          <p:nvPr/>
        </p:nvPicPr>
        <p:blipFill>
          <a:blip r:embed="rId2"/>
          <a:stretch>
            <a:fillRect/>
          </a:stretch>
        </p:blipFill>
        <p:spPr>
          <a:xfrm>
            <a:off x="0" y="0"/>
            <a:ext cx="12191695" cy="6858000"/>
          </a:xfrm>
          <a:prstGeom prst="rect">
            <a:avLst/>
          </a:prstGeom>
        </p:spPr>
      </p:pic>
      <p:sp>
        <p:nvSpPr>
          <p:cNvPr id="3" name="Rectangle 2"/>
          <p:cNvSpPr/>
          <p:nvPr/>
        </p:nvSpPr>
        <p:spPr>
          <a:xfrm>
            <a:off x="0" y="2286000"/>
            <a:ext cx="12191695" cy="2286000"/>
          </a:xfrm>
          <a:prstGeom prst="rect">
            <a:avLst/>
          </a:prstGeom>
          <a:solidFill>
            <a:srgbClr val="000000">
              <a:alpha val="4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2468880"/>
            <a:ext cx="10698480" cy="1188720"/>
          </a:xfrm>
          <a:prstGeom prst="rect">
            <a:avLst/>
          </a:prstGeom>
          <a:noFill/>
        </p:spPr>
        <p:txBody>
          <a:bodyPr wrap="square">
            <a:spAutoFit/>
          </a:bodyPr>
          <a:lstStyle/>
          <a:p>
            <a:pPr algn="ctr"/>
            <a:r>
              <a:rPr sz="3800" b="1">
                <a:solidFill>
                  <a:srgbClr val="FFFFFF"/>
                </a:solidFill>
                <a:latin typeface="Calibri"/>
              </a:rPr>
              <a:t>Nova Health Tech · Clinical GenAI Assistant</a:t>
            </a:r>
          </a:p>
        </p:txBody>
      </p:sp>
      <p:sp>
        <p:nvSpPr>
          <p:cNvPr id="5" name="TextBox 4"/>
          <p:cNvSpPr txBox="1"/>
          <p:nvPr/>
        </p:nvSpPr>
        <p:spPr>
          <a:xfrm>
            <a:off x="731520" y="3657600"/>
            <a:ext cx="10698480" cy="640080"/>
          </a:xfrm>
          <a:prstGeom prst="rect">
            <a:avLst/>
          </a:prstGeom>
          <a:noFill/>
        </p:spPr>
        <p:txBody>
          <a:bodyPr wrap="square">
            <a:spAutoFit/>
          </a:bodyPr>
          <a:lstStyle/>
          <a:p>
            <a:pPr algn="ctr"/>
            <a:r>
              <a:rPr sz="2000">
                <a:solidFill>
                  <a:srgbClr val="FFFFFF"/>
                </a:solidFill>
                <a:latin typeface="Calibri"/>
              </a:rPr>
              <a:t>Alibaba Cloud Singapore International · PDPA &amp; HCSA compliant by design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FF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28600"/>
            <a:ext cx="11247120" cy="640080"/>
          </a:xfrm>
          <a:prstGeom prst="rect">
            <a:avLst/>
          </a:prstGeom>
          <a:noFill/>
        </p:spPr>
        <p:txBody>
          <a:bodyPr wrap="none" lIns="0" tIns="0">
            <a:spAutoFit/>
          </a:bodyPr>
          <a:lstStyle/>
          <a:p>
            <a:pPr algn="l"/>
            <a:r>
              <a:rPr sz="2600" b="1">
                <a:solidFill>
                  <a:srgbClr val="CC4F1F"/>
                </a:solidFill>
                <a:latin typeface="Calibri"/>
              </a:rPr>
              <a:t>The Challenge</a:t>
            </a:r>
          </a:p>
        </p:txBody>
      </p:sp>
      <p:sp>
        <p:nvSpPr>
          <p:cNvPr id="5" name="Rectangle 4"/>
          <p:cNvSpPr/>
          <p:nvPr/>
        </p:nvSpPr>
        <p:spPr>
          <a:xfrm>
            <a:off x="457200" y="868680"/>
            <a:ext cx="1828800" cy="36576"/>
          </a:xfrm>
          <a:prstGeom prst="rect">
            <a:avLst/>
          </a:prstGeom>
          <a:solidFill>
            <a:srgbClr val="FF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446520"/>
            <a:ext cx="11247120" cy="274320"/>
          </a:xfrm>
          <a:prstGeom prst="rect">
            <a:avLst/>
          </a:prstGeom>
          <a:noFill/>
        </p:spPr>
        <p:txBody>
          <a:bodyPr wrap="none">
            <a:spAutoFit/>
          </a:bodyPr>
          <a:lstStyle/>
          <a:p>
            <a:pPr algn="r"/>
            <a:r>
              <a:rPr sz="900" i="1">
                <a:solidFill>
                  <a:srgbClr val="646464"/>
                </a:solidFill>
                <a:latin typeface="Calibri"/>
              </a:rPr>
              <a:t>Nova Health Tech · Clinical GenAI Assistant · Alibaba Cloud Singapore</a:t>
            </a:r>
          </a:p>
        </p:txBody>
      </p:sp>
      <p:sp>
        <p:nvSpPr>
          <p:cNvPr id="7" name="Rounded Rectangle 6"/>
          <p:cNvSpPr/>
          <p:nvPr/>
        </p:nvSpPr>
        <p:spPr>
          <a:xfrm>
            <a:off x="609447" y="1371600"/>
            <a:ext cx="3474720" cy="3200400"/>
          </a:xfrm>
          <a:prstGeom prst="roundRect">
            <a:avLst>
              <a:gd name="adj" fmla="val 6000"/>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09447" y="1737360"/>
            <a:ext cx="3474720" cy="914400"/>
          </a:xfrm>
          <a:prstGeom prst="rect">
            <a:avLst/>
          </a:prstGeom>
          <a:noFill/>
        </p:spPr>
        <p:txBody>
          <a:bodyPr wrap="none">
            <a:spAutoFit/>
          </a:bodyPr>
          <a:lstStyle/>
          <a:p>
            <a:pPr algn="ctr"/>
            <a:r>
              <a:rPr sz="5600">
                <a:latin typeface="Segoe UI Emoji"/>
              </a:rPr>
              <a:t>⚡</a:t>
            </a:r>
          </a:p>
        </p:txBody>
      </p:sp>
      <p:sp>
        <p:nvSpPr>
          <p:cNvPr id="9" name="TextBox 8"/>
          <p:cNvSpPr txBox="1"/>
          <p:nvPr/>
        </p:nvSpPr>
        <p:spPr>
          <a:xfrm>
            <a:off x="609447" y="2834640"/>
            <a:ext cx="3474720" cy="457200"/>
          </a:xfrm>
          <a:prstGeom prst="rect">
            <a:avLst/>
          </a:prstGeom>
          <a:noFill/>
        </p:spPr>
        <p:txBody>
          <a:bodyPr wrap="none">
            <a:spAutoFit/>
          </a:bodyPr>
          <a:lstStyle/>
          <a:p>
            <a:pPr algn="ctr"/>
            <a:r>
              <a:rPr sz="2200" b="1">
                <a:solidFill>
                  <a:srgbClr val="2C3E50"/>
                </a:solidFill>
                <a:latin typeface="Calibri"/>
              </a:rPr>
              <a:t>Speed</a:t>
            </a:r>
          </a:p>
        </p:txBody>
      </p:sp>
      <p:sp>
        <p:nvSpPr>
          <p:cNvPr id="10" name="TextBox 9"/>
          <p:cNvSpPr txBox="1"/>
          <p:nvPr/>
        </p:nvSpPr>
        <p:spPr>
          <a:xfrm>
            <a:off x="792327" y="3474720"/>
            <a:ext cx="3108960" cy="1005840"/>
          </a:xfrm>
          <a:prstGeom prst="rect">
            <a:avLst/>
          </a:prstGeom>
          <a:noFill/>
        </p:spPr>
        <p:txBody>
          <a:bodyPr wrap="square">
            <a:spAutoFit/>
          </a:bodyPr>
          <a:lstStyle/>
          <a:p>
            <a:pPr algn="ctr"/>
            <a:r>
              <a:rPr sz="1400" b="0">
                <a:solidFill>
                  <a:srgbClr val="2C3E50"/>
                </a:solidFill>
                <a:latin typeface="Calibri"/>
              </a:rPr>
              <a:t>Emergency response
p95 ≤ 2 seconds</a:t>
            </a:r>
          </a:p>
        </p:txBody>
      </p:sp>
      <p:sp>
        <p:nvSpPr>
          <p:cNvPr id="11" name="Rounded Rectangle 10"/>
          <p:cNvSpPr/>
          <p:nvPr/>
        </p:nvSpPr>
        <p:spPr>
          <a:xfrm>
            <a:off x="4358487" y="1371600"/>
            <a:ext cx="3474720" cy="3200400"/>
          </a:xfrm>
          <a:prstGeom prst="roundRect">
            <a:avLst>
              <a:gd name="adj" fmla="val 6000"/>
            </a:avLst>
          </a:prstGeom>
          <a:solidFill>
            <a:srgbClr val="FEF2F2"/>
          </a:solidFill>
          <a:ln w="50800">
            <a:solidFill>
              <a:srgbClr val="C0392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358487" y="1737360"/>
            <a:ext cx="3474720" cy="914400"/>
          </a:xfrm>
          <a:prstGeom prst="rect">
            <a:avLst/>
          </a:prstGeom>
          <a:noFill/>
        </p:spPr>
        <p:txBody>
          <a:bodyPr wrap="none">
            <a:spAutoFit/>
          </a:bodyPr>
          <a:lstStyle/>
          <a:p>
            <a:pPr algn="ctr"/>
            <a:r>
              <a:rPr sz="5600">
                <a:latin typeface="Segoe UI Emoji"/>
              </a:rPr>
              <a:t>🔒</a:t>
            </a:r>
          </a:p>
        </p:txBody>
      </p:sp>
      <p:sp>
        <p:nvSpPr>
          <p:cNvPr id="13" name="TextBox 12"/>
          <p:cNvSpPr txBox="1"/>
          <p:nvPr/>
        </p:nvSpPr>
        <p:spPr>
          <a:xfrm>
            <a:off x="4358487" y="2834640"/>
            <a:ext cx="3474720" cy="457200"/>
          </a:xfrm>
          <a:prstGeom prst="rect">
            <a:avLst/>
          </a:prstGeom>
          <a:noFill/>
        </p:spPr>
        <p:txBody>
          <a:bodyPr wrap="none">
            <a:spAutoFit/>
          </a:bodyPr>
          <a:lstStyle/>
          <a:p>
            <a:pPr algn="ctr"/>
            <a:r>
              <a:rPr sz="2600" b="1">
                <a:solidFill>
                  <a:srgbClr val="C0392B"/>
                </a:solidFill>
                <a:latin typeface="Calibri"/>
              </a:rPr>
              <a:t>Patient PHI</a:t>
            </a:r>
          </a:p>
        </p:txBody>
      </p:sp>
      <p:sp>
        <p:nvSpPr>
          <p:cNvPr id="14" name="TextBox 13"/>
          <p:cNvSpPr txBox="1"/>
          <p:nvPr/>
        </p:nvSpPr>
        <p:spPr>
          <a:xfrm>
            <a:off x="4541367" y="3474720"/>
            <a:ext cx="3108960" cy="1005840"/>
          </a:xfrm>
          <a:prstGeom prst="rect">
            <a:avLst/>
          </a:prstGeom>
          <a:noFill/>
        </p:spPr>
        <p:txBody>
          <a:bodyPr wrap="square">
            <a:spAutoFit/>
          </a:bodyPr>
          <a:lstStyle/>
          <a:p>
            <a:pPr algn="ctr"/>
            <a:r>
              <a:rPr sz="1400" b="1">
                <a:solidFill>
                  <a:srgbClr val="C0392B"/>
                </a:solidFill>
                <a:latin typeface="Calibri"/>
              </a:rPr>
              <a:t>Healthcare data protection
obligations are strict</a:t>
            </a:r>
          </a:p>
        </p:txBody>
      </p:sp>
      <p:sp>
        <p:nvSpPr>
          <p:cNvPr id="15" name="Rounded Rectangle 14"/>
          <p:cNvSpPr/>
          <p:nvPr/>
        </p:nvSpPr>
        <p:spPr>
          <a:xfrm>
            <a:off x="8107527" y="1371600"/>
            <a:ext cx="3474720" cy="3200400"/>
          </a:xfrm>
          <a:prstGeom prst="roundRect">
            <a:avLst>
              <a:gd name="adj" fmla="val 6000"/>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107527" y="1737360"/>
            <a:ext cx="3474720" cy="914400"/>
          </a:xfrm>
          <a:prstGeom prst="rect">
            <a:avLst/>
          </a:prstGeom>
          <a:noFill/>
        </p:spPr>
        <p:txBody>
          <a:bodyPr wrap="none">
            <a:spAutoFit/>
          </a:bodyPr>
          <a:lstStyle/>
          <a:p>
            <a:pPr algn="ctr"/>
            <a:r>
              <a:rPr sz="5600">
                <a:latin typeface="Segoe UI Emoji"/>
              </a:rPr>
              <a:t>📅</a:t>
            </a:r>
          </a:p>
        </p:txBody>
      </p:sp>
      <p:sp>
        <p:nvSpPr>
          <p:cNvPr id="17" name="TextBox 16"/>
          <p:cNvSpPr txBox="1"/>
          <p:nvPr/>
        </p:nvSpPr>
        <p:spPr>
          <a:xfrm>
            <a:off x="8107527" y="2834640"/>
            <a:ext cx="3474720" cy="457200"/>
          </a:xfrm>
          <a:prstGeom prst="rect">
            <a:avLst/>
          </a:prstGeom>
          <a:noFill/>
        </p:spPr>
        <p:txBody>
          <a:bodyPr wrap="none">
            <a:spAutoFit/>
          </a:bodyPr>
          <a:lstStyle/>
          <a:p>
            <a:pPr algn="ctr"/>
            <a:r>
              <a:rPr sz="2200" b="1">
                <a:solidFill>
                  <a:srgbClr val="2C3E50"/>
                </a:solidFill>
                <a:latin typeface="Calibri"/>
              </a:rPr>
              <a:t>Freshness</a:t>
            </a:r>
          </a:p>
        </p:txBody>
      </p:sp>
      <p:sp>
        <p:nvSpPr>
          <p:cNvPr id="18" name="TextBox 17"/>
          <p:cNvSpPr txBox="1"/>
          <p:nvPr/>
        </p:nvSpPr>
        <p:spPr>
          <a:xfrm>
            <a:off x="8290407" y="3474720"/>
            <a:ext cx="3108960" cy="1005840"/>
          </a:xfrm>
          <a:prstGeom prst="rect">
            <a:avLst/>
          </a:prstGeom>
          <a:noFill/>
        </p:spPr>
        <p:txBody>
          <a:bodyPr wrap="square">
            <a:spAutoFit/>
          </a:bodyPr>
          <a:lstStyle/>
          <a:p>
            <a:pPr algn="ctr"/>
            <a:r>
              <a:rPr sz="1400" b="0">
                <a:solidFill>
                  <a:srgbClr val="2C3E50"/>
                </a:solidFill>
                <a:latin typeface="Calibri"/>
              </a:rPr>
              <a:t>WHO monthly · ICD-11 daily
Legacy PDFs everywhere</a:t>
            </a:r>
          </a:p>
        </p:txBody>
      </p:sp>
      <p:sp>
        <p:nvSpPr>
          <p:cNvPr id="19" name="TextBox 18"/>
          <p:cNvSpPr txBox="1"/>
          <p:nvPr/>
        </p:nvSpPr>
        <p:spPr>
          <a:xfrm>
            <a:off x="3840480" y="4754880"/>
            <a:ext cx="4572000" cy="457200"/>
          </a:xfrm>
          <a:prstGeom prst="rect">
            <a:avLst/>
          </a:prstGeom>
          <a:noFill/>
        </p:spPr>
        <p:txBody>
          <a:bodyPr wrap="none">
            <a:spAutoFit/>
          </a:bodyPr>
          <a:lstStyle/>
          <a:p>
            <a:pPr algn="ctr"/>
            <a:r>
              <a:rPr sz="1300" b="1" i="1">
                <a:solidFill>
                  <a:srgbClr val="C0392B"/>
                </a:solidFill>
                <a:latin typeface="Calibri"/>
              </a:rPr>
              <a:t>↑ Singapore healthcare regulation makes this non-negotiable</a:t>
            </a:r>
          </a:p>
        </p:txBody>
      </p:sp>
      <p:sp>
        <p:nvSpPr>
          <p:cNvPr id="20" name="Rounded Rectangle 19"/>
          <p:cNvSpPr/>
          <p:nvPr/>
        </p:nvSpPr>
        <p:spPr>
          <a:xfrm>
            <a:off x="914400" y="5349240"/>
            <a:ext cx="10332720" cy="914400"/>
          </a:xfrm>
          <a:prstGeom prst="roundRect">
            <a:avLst>
              <a:gd name="adj" fmla="val 20000"/>
            </a:avLst>
          </a:prstGeom>
          <a:solidFill>
            <a:srgbClr val="FFE8DA"/>
          </a:solidFill>
          <a:ln w="12700">
            <a:solidFill>
              <a:srgbClr val="FF6B3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097280" y="5440680"/>
            <a:ext cx="9966960" cy="777240"/>
          </a:xfrm>
          <a:prstGeom prst="rect">
            <a:avLst/>
          </a:prstGeom>
          <a:noFill/>
        </p:spPr>
        <p:txBody>
          <a:bodyPr wrap="square">
            <a:spAutoFit/>
          </a:bodyPr>
          <a:lstStyle/>
          <a:p>
            <a:pPr algn="ctr"/>
            <a:r>
              <a:rPr sz="1300" b="1">
                <a:solidFill>
                  <a:srgbClr val="CC4F1F"/>
                </a:solidFill>
                <a:latin typeface="Calibri"/>
              </a:rPr>
              <a:t>Data sources: WHO guidelines · ICD-11 API · internal trial PDFs · treatment protocols · PubMed · EHR (FHIR R4)</a:t>
            </a:r>
          </a:p>
          <a:p>
            <a:pPr algn="ctr"/>
            <a:r>
              <a:rPr sz="1100" i="1">
                <a:solidFill>
                  <a:srgbClr val="646464"/>
                </a:solidFill>
                <a:latin typeface="Calibri"/>
              </a:rPr>
              <a:t>Workload: 500 physicians · 40 queries/day · 30/70 emergency-to-complex split · 6-year audit retention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FF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28600"/>
            <a:ext cx="11247120" cy="640080"/>
          </a:xfrm>
          <a:prstGeom prst="rect">
            <a:avLst/>
          </a:prstGeom>
          <a:noFill/>
        </p:spPr>
        <p:txBody>
          <a:bodyPr wrap="none" lIns="0" tIns="0">
            <a:spAutoFit/>
          </a:bodyPr>
          <a:lstStyle/>
          <a:p>
            <a:pPr algn="l"/>
            <a:r>
              <a:rPr sz="2600" b="1">
                <a:solidFill>
                  <a:srgbClr val="CC4F1F"/>
                </a:solidFill>
                <a:latin typeface="Calibri"/>
              </a:rPr>
              <a:t>Singapore Healthcare Compliance &amp; Regulations</a:t>
            </a:r>
          </a:p>
        </p:txBody>
      </p:sp>
      <p:sp>
        <p:nvSpPr>
          <p:cNvPr id="5" name="Rectangle 4"/>
          <p:cNvSpPr/>
          <p:nvPr/>
        </p:nvSpPr>
        <p:spPr>
          <a:xfrm>
            <a:off x="457200" y="868680"/>
            <a:ext cx="1828800" cy="36576"/>
          </a:xfrm>
          <a:prstGeom prst="rect">
            <a:avLst/>
          </a:prstGeom>
          <a:solidFill>
            <a:srgbClr val="FF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446520"/>
            <a:ext cx="11247120" cy="274320"/>
          </a:xfrm>
          <a:prstGeom prst="rect">
            <a:avLst/>
          </a:prstGeom>
          <a:noFill/>
        </p:spPr>
        <p:txBody>
          <a:bodyPr wrap="none">
            <a:spAutoFit/>
          </a:bodyPr>
          <a:lstStyle/>
          <a:p>
            <a:pPr algn="r"/>
            <a:r>
              <a:rPr sz="900" i="1">
                <a:solidFill>
                  <a:srgbClr val="646464"/>
                </a:solidFill>
                <a:latin typeface="Calibri"/>
              </a:rPr>
              <a:t>Nova Health Tech · Clinical GenAI Assistant · Alibaba Cloud Singapore</a:t>
            </a:r>
          </a:p>
        </p:txBody>
      </p:sp>
      <p:sp>
        <p:nvSpPr>
          <p:cNvPr id="7" name="Rounded Rectangle 6"/>
          <p:cNvSpPr/>
          <p:nvPr/>
        </p:nvSpPr>
        <p:spPr>
          <a:xfrm>
            <a:off x="472287" y="1097280"/>
            <a:ext cx="2743200" cy="3017520"/>
          </a:xfrm>
          <a:prstGeom prst="roundRect">
            <a:avLst>
              <a:gd name="adj" fmla="val 5000"/>
            </a:avLst>
          </a:prstGeom>
          <a:solidFill>
            <a:srgbClr val="FFFFFF"/>
          </a:solidFill>
          <a:ln w="25400">
            <a:solidFill>
              <a:srgbClr val="CC4F1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72287" y="1097280"/>
            <a:ext cx="2743200" cy="685800"/>
          </a:xfrm>
          <a:prstGeom prst="rect">
            <a:avLst/>
          </a:prstGeom>
          <a:solidFill>
            <a:srgbClr val="CC4F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72287" y="1143000"/>
            <a:ext cx="2743200" cy="685800"/>
          </a:xfrm>
          <a:prstGeom prst="rect">
            <a:avLst/>
          </a:prstGeom>
          <a:noFill/>
        </p:spPr>
        <p:txBody>
          <a:bodyPr wrap="none">
            <a:spAutoFit/>
          </a:bodyPr>
          <a:lstStyle/>
          <a:p>
            <a:pPr algn="ctr"/>
            <a:r>
              <a:rPr sz="1800" b="1">
                <a:solidFill>
                  <a:srgbClr val="FFFFFF"/>
                </a:solidFill>
                <a:latin typeface="Calibri"/>
              </a:rPr>
              <a:t>PDPA</a:t>
            </a:r>
          </a:p>
          <a:p>
            <a:pPr algn="ctr"/>
            <a:r>
              <a:rPr sz="900">
                <a:solidFill>
                  <a:srgbClr val="FFFFFF"/>
                </a:solidFill>
                <a:latin typeface="Calibri"/>
              </a:rPr>
              <a:t>Personal Data Protection Act</a:t>
            </a:r>
          </a:p>
        </p:txBody>
      </p:sp>
      <p:sp>
        <p:nvSpPr>
          <p:cNvPr id="10" name="TextBox 9"/>
          <p:cNvSpPr txBox="1"/>
          <p:nvPr/>
        </p:nvSpPr>
        <p:spPr>
          <a:xfrm>
            <a:off x="609447" y="1874520"/>
            <a:ext cx="2468880" cy="411480"/>
          </a:xfrm>
          <a:prstGeom prst="rect">
            <a:avLst/>
          </a:prstGeom>
          <a:noFill/>
        </p:spPr>
        <p:txBody>
          <a:bodyPr wrap="square">
            <a:spAutoFit/>
          </a:bodyPr>
          <a:lstStyle/>
          <a:p>
            <a:r>
              <a:rPr sz="850" b="1">
                <a:solidFill>
                  <a:srgbClr val="CC4F1F"/>
                </a:solidFill>
                <a:latin typeface="Calibri"/>
              </a:rPr>
              <a:t>Authority</a:t>
            </a:r>
          </a:p>
          <a:p>
            <a:r>
              <a:rPr sz="1100" b="1">
                <a:solidFill>
                  <a:srgbClr val="2C3E50"/>
                </a:solidFill>
                <a:latin typeface="Calibri"/>
              </a:rPr>
              <a:t>PDPC</a:t>
            </a:r>
          </a:p>
        </p:txBody>
      </p:sp>
      <p:sp>
        <p:nvSpPr>
          <p:cNvPr id="11" name="TextBox 10"/>
          <p:cNvSpPr txBox="1"/>
          <p:nvPr/>
        </p:nvSpPr>
        <p:spPr>
          <a:xfrm>
            <a:off x="609447" y="2514600"/>
            <a:ext cx="2468880" cy="868680"/>
          </a:xfrm>
          <a:prstGeom prst="rect">
            <a:avLst/>
          </a:prstGeom>
          <a:noFill/>
        </p:spPr>
        <p:txBody>
          <a:bodyPr wrap="square">
            <a:spAutoFit/>
          </a:bodyPr>
          <a:lstStyle/>
          <a:p>
            <a:r>
              <a:rPr sz="850" b="1">
                <a:solidFill>
                  <a:srgbClr val="CC4F1F"/>
                </a:solidFill>
                <a:latin typeface="Calibri"/>
              </a:rPr>
              <a:t>Scope</a:t>
            </a:r>
          </a:p>
          <a:p>
            <a:r>
              <a:rPr sz="950">
                <a:solidFill>
                  <a:srgbClr val="2C3E50"/>
                </a:solidFill>
                <a:latin typeface="Calibri"/>
              </a:rPr>
              <a:t>Patient data, consent, breach in 72h, DPO required</a:t>
            </a:r>
          </a:p>
        </p:txBody>
      </p:sp>
      <p:sp>
        <p:nvSpPr>
          <p:cNvPr id="12" name="TextBox 11"/>
          <p:cNvSpPr txBox="1"/>
          <p:nvPr/>
        </p:nvSpPr>
        <p:spPr>
          <a:xfrm>
            <a:off x="609447" y="3383280"/>
            <a:ext cx="2468880" cy="685800"/>
          </a:xfrm>
          <a:prstGeom prst="rect">
            <a:avLst/>
          </a:prstGeom>
          <a:noFill/>
        </p:spPr>
        <p:txBody>
          <a:bodyPr wrap="square">
            <a:spAutoFit/>
          </a:bodyPr>
          <a:lstStyle/>
          <a:p>
            <a:r>
              <a:rPr sz="850" b="1">
                <a:solidFill>
                  <a:srgbClr val="27AE60"/>
                </a:solidFill>
                <a:latin typeface="Calibri"/>
              </a:rPr>
              <a:t>Our Implementation</a:t>
            </a:r>
          </a:p>
          <a:p>
            <a:r>
              <a:rPr sz="950">
                <a:solidFill>
                  <a:srgbClr val="2C3E50"/>
                </a:solidFill>
                <a:latin typeface="Calibri"/>
              </a:rPr>
              <a:t>DataWorks SDDP PHI mask, KMS BYOK, ActionTrail audit</a:t>
            </a:r>
          </a:p>
        </p:txBody>
      </p:sp>
      <p:sp>
        <p:nvSpPr>
          <p:cNvPr id="13" name="Rounded Rectangle 12"/>
          <p:cNvSpPr/>
          <p:nvPr/>
        </p:nvSpPr>
        <p:spPr>
          <a:xfrm>
            <a:off x="3306927" y="1097280"/>
            <a:ext cx="2743200" cy="3017520"/>
          </a:xfrm>
          <a:prstGeom prst="roundRect">
            <a:avLst>
              <a:gd name="adj" fmla="val 5000"/>
            </a:avLst>
          </a:prstGeom>
          <a:solidFill>
            <a:srgbClr val="FFFFFF"/>
          </a:solidFill>
          <a:ln w="25400">
            <a:solidFill>
              <a:srgbClr val="FF6B3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306927" y="1097280"/>
            <a:ext cx="2743200" cy="685800"/>
          </a:xfrm>
          <a:prstGeom prst="rect">
            <a:avLst/>
          </a:prstGeom>
          <a:solidFill>
            <a:srgbClr val="FF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306927" y="1143000"/>
            <a:ext cx="2743200" cy="685800"/>
          </a:xfrm>
          <a:prstGeom prst="rect">
            <a:avLst/>
          </a:prstGeom>
          <a:noFill/>
        </p:spPr>
        <p:txBody>
          <a:bodyPr wrap="none">
            <a:spAutoFit/>
          </a:bodyPr>
          <a:lstStyle/>
          <a:p>
            <a:pPr algn="ctr"/>
            <a:r>
              <a:rPr sz="1800" b="1">
                <a:solidFill>
                  <a:srgbClr val="FFFFFF"/>
                </a:solidFill>
                <a:latin typeface="Calibri"/>
              </a:rPr>
              <a:t>HCSA 2020</a:t>
            </a:r>
          </a:p>
          <a:p>
            <a:pPr algn="ctr"/>
            <a:r>
              <a:rPr sz="900">
                <a:solidFill>
                  <a:srgbClr val="FFFFFF"/>
                </a:solidFill>
                <a:latin typeface="Calibri"/>
              </a:rPr>
              <a:t>Healthcare Services Act</a:t>
            </a:r>
          </a:p>
        </p:txBody>
      </p:sp>
      <p:sp>
        <p:nvSpPr>
          <p:cNvPr id="16" name="TextBox 15"/>
          <p:cNvSpPr txBox="1"/>
          <p:nvPr/>
        </p:nvSpPr>
        <p:spPr>
          <a:xfrm>
            <a:off x="3444087" y="1874520"/>
            <a:ext cx="2468880" cy="411480"/>
          </a:xfrm>
          <a:prstGeom prst="rect">
            <a:avLst/>
          </a:prstGeom>
          <a:noFill/>
        </p:spPr>
        <p:txBody>
          <a:bodyPr wrap="square">
            <a:spAutoFit/>
          </a:bodyPr>
          <a:lstStyle/>
          <a:p>
            <a:r>
              <a:rPr sz="850" b="1">
                <a:solidFill>
                  <a:srgbClr val="CC4F1F"/>
                </a:solidFill>
                <a:latin typeface="Calibri"/>
              </a:rPr>
              <a:t>Authority</a:t>
            </a:r>
          </a:p>
          <a:p>
            <a:r>
              <a:rPr sz="1100" b="1">
                <a:solidFill>
                  <a:srgbClr val="2C3E50"/>
                </a:solidFill>
                <a:latin typeface="Calibri"/>
              </a:rPr>
              <a:t>MOH</a:t>
            </a:r>
          </a:p>
        </p:txBody>
      </p:sp>
      <p:sp>
        <p:nvSpPr>
          <p:cNvPr id="17" name="TextBox 16"/>
          <p:cNvSpPr txBox="1"/>
          <p:nvPr/>
        </p:nvSpPr>
        <p:spPr>
          <a:xfrm>
            <a:off x="3444087" y="2514600"/>
            <a:ext cx="2468880" cy="868680"/>
          </a:xfrm>
          <a:prstGeom prst="rect">
            <a:avLst/>
          </a:prstGeom>
          <a:noFill/>
        </p:spPr>
        <p:txBody>
          <a:bodyPr wrap="square">
            <a:spAutoFit/>
          </a:bodyPr>
          <a:lstStyle/>
          <a:p>
            <a:r>
              <a:rPr sz="850" b="1">
                <a:solidFill>
                  <a:srgbClr val="CC4F1F"/>
                </a:solidFill>
                <a:latin typeface="Calibri"/>
              </a:rPr>
              <a:t>Scope</a:t>
            </a:r>
          </a:p>
          <a:p>
            <a:r>
              <a:rPr sz="950">
                <a:solidFill>
                  <a:srgbClr val="2C3E50"/>
                </a:solidFill>
                <a:latin typeface="Calibri"/>
              </a:rPr>
              <a:t>Clinical decision support license (replaces PHMC 1980)</a:t>
            </a:r>
          </a:p>
        </p:txBody>
      </p:sp>
      <p:sp>
        <p:nvSpPr>
          <p:cNvPr id="18" name="TextBox 17"/>
          <p:cNvSpPr txBox="1"/>
          <p:nvPr/>
        </p:nvSpPr>
        <p:spPr>
          <a:xfrm>
            <a:off x="3444087" y="3383280"/>
            <a:ext cx="2468880" cy="685800"/>
          </a:xfrm>
          <a:prstGeom prst="rect">
            <a:avLst/>
          </a:prstGeom>
          <a:noFill/>
        </p:spPr>
        <p:txBody>
          <a:bodyPr wrap="square">
            <a:spAutoFit/>
          </a:bodyPr>
          <a:lstStyle/>
          <a:p>
            <a:r>
              <a:rPr sz="850" b="1">
                <a:solidFill>
                  <a:srgbClr val="27AE60"/>
                </a:solidFill>
                <a:latin typeface="Calibri"/>
              </a:rPr>
              <a:t>Our Implementation</a:t>
            </a:r>
          </a:p>
          <a:p>
            <a:r>
              <a:rPr sz="950">
                <a:solidFill>
                  <a:srgbClr val="2C3E50"/>
                </a:solidFill>
                <a:latin typeface="Calibri"/>
              </a:rPr>
              <a:t>Decision support only, human-in-the-loop, audit ready</a:t>
            </a:r>
          </a:p>
        </p:txBody>
      </p:sp>
      <p:sp>
        <p:nvSpPr>
          <p:cNvPr id="19" name="Rounded Rectangle 18"/>
          <p:cNvSpPr/>
          <p:nvPr/>
        </p:nvSpPr>
        <p:spPr>
          <a:xfrm>
            <a:off x="6141567" y="1097280"/>
            <a:ext cx="2743200" cy="3017520"/>
          </a:xfrm>
          <a:prstGeom prst="roundRect">
            <a:avLst>
              <a:gd name="adj" fmla="val 5000"/>
            </a:avLst>
          </a:prstGeom>
          <a:solidFill>
            <a:srgbClr val="FFFFFF"/>
          </a:solidFill>
          <a:ln w="25400">
            <a:solidFill>
              <a:srgbClr val="CC4F1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41567" y="1097280"/>
            <a:ext cx="2743200" cy="685800"/>
          </a:xfrm>
          <a:prstGeom prst="rect">
            <a:avLst/>
          </a:prstGeom>
          <a:solidFill>
            <a:srgbClr val="CC4F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141567" y="1143000"/>
            <a:ext cx="2743200" cy="685800"/>
          </a:xfrm>
          <a:prstGeom prst="rect">
            <a:avLst/>
          </a:prstGeom>
          <a:noFill/>
        </p:spPr>
        <p:txBody>
          <a:bodyPr wrap="none">
            <a:spAutoFit/>
          </a:bodyPr>
          <a:lstStyle/>
          <a:p>
            <a:pPr algn="ctr"/>
            <a:r>
              <a:rPr sz="1800" b="1">
                <a:solidFill>
                  <a:srgbClr val="FFFFFF"/>
                </a:solidFill>
                <a:latin typeface="Calibri"/>
              </a:rPr>
              <a:t>Cyber Act</a:t>
            </a:r>
          </a:p>
          <a:p>
            <a:pPr algn="ctr"/>
            <a:r>
              <a:rPr sz="900">
                <a:solidFill>
                  <a:srgbClr val="FFFFFF"/>
                </a:solidFill>
                <a:latin typeface="Calibri"/>
              </a:rPr>
              <a:t>Cybersecurity Act 2018</a:t>
            </a:r>
          </a:p>
        </p:txBody>
      </p:sp>
      <p:sp>
        <p:nvSpPr>
          <p:cNvPr id="22" name="TextBox 21"/>
          <p:cNvSpPr txBox="1"/>
          <p:nvPr/>
        </p:nvSpPr>
        <p:spPr>
          <a:xfrm>
            <a:off x="6278727" y="1874520"/>
            <a:ext cx="2468880" cy="411480"/>
          </a:xfrm>
          <a:prstGeom prst="rect">
            <a:avLst/>
          </a:prstGeom>
          <a:noFill/>
        </p:spPr>
        <p:txBody>
          <a:bodyPr wrap="square">
            <a:spAutoFit/>
          </a:bodyPr>
          <a:lstStyle/>
          <a:p>
            <a:r>
              <a:rPr sz="850" b="1">
                <a:solidFill>
                  <a:srgbClr val="CC4F1F"/>
                </a:solidFill>
                <a:latin typeface="Calibri"/>
              </a:rPr>
              <a:t>Authority</a:t>
            </a:r>
          </a:p>
          <a:p>
            <a:r>
              <a:rPr sz="1100" b="1">
                <a:solidFill>
                  <a:srgbClr val="2C3E50"/>
                </a:solidFill>
                <a:latin typeface="Calibri"/>
              </a:rPr>
              <a:t>CSA</a:t>
            </a:r>
          </a:p>
        </p:txBody>
      </p:sp>
      <p:sp>
        <p:nvSpPr>
          <p:cNvPr id="23" name="TextBox 22"/>
          <p:cNvSpPr txBox="1"/>
          <p:nvPr/>
        </p:nvSpPr>
        <p:spPr>
          <a:xfrm>
            <a:off x="6278727" y="2514600"/>
            <a:ext cx="2468880" cy="868680"/>
          </a:xfrm>
          <a:prstGeom prst="rect">
            <a:avLst/>
          </a:prstGeom>
          <a:noFill/>
        </p:spPr>
        <p:txBody>
          <a:bodyPr wrap="square">
            <a:spAutoFit/>
          </a:bodyPr>
          <a:lstStyle/>
          <a:p>
            <a:r>
              <a:rPr sz="850" b="1">
                <a:solidFill>
                  <a:srgbClr val="CC4F1F"/>
                </a:solidFill>
                <a:latin typeface="Calibri"/>
              </a:rPr>
              <a:t>Scope</a:t>
            </a:r>
          </a:p>
          <a:p>
            <a:r>
              <a:rPr sz="950">
                <a:solidFill>
                  <a:srgbClr val="2C3E50"/>
                </a:solidFill>
                <a:latin typeface="Calibri"/>
              </a:rPr>
              <a:t>Healthcare CII protection, incident reporting</a:t>
            </a:r>
          </a:p>
        </p:txBody>
      </p:sp>
      <p:sp>
        <p:nvSpPr>
          <p:cNvPr id="24" name="TextBox 23"/>
          <p:cNvSpPr txBox="1"/>
          <p:nvPr/>
        </p:nvSpPr>
        <p:spPr>
          <a:xfrm>
            <a:off x="6278727" y="3383280"/>
            <a:ext cx="2468880" cy="685800"/>
          </a:xfrm>
          <a:prstGeom prst="rect">
            <a:avLst/>
          </a:prstGeom>
          <a:noFill/>
        </p:spPr>
        <p:txBody>
          <a:bodyPr wrap="square">
            <a:spAutoFit/>
          </a:bodyPr>
          <a:lstStyle/>
          <a:p>
            <a:r>
              <a:rPr sz="850" b="1">
                <a:solidFill>
                  <a:srgbClr val="27AE60"/>
                </a:solidFill>
                <a:latin typeface="Calibri"/>
              </a:rPr>
              <a:t>Our Implementation</a:t>
            </a:r>
          </a:p>
          <a:p>
            <a:r>
              <a:rPr sz="950">
                <a:solidFill>
                  <a:srgbClr val="2C3E50"/>
                </a:solidFill>
                <a:latin typeface="Calibri"/>
              </a:rPr>
              <a:t>Anti-DDoS, WAF, Security Center, Content Moderation 2.0</a:t>
            </a:r>
          </a:p>
        </p:txBody>
      </p:sp>
      <p:sp>
        <p:nvSpPr>
          <p:cNvPr id="25" name="Rounded Rectangle 24"/>
          <p:cNvSpPr/>
          <p:nvPr/>
        </p:nvSpPr>
        <p:spPr>
          <a:xfrm>
            <a:off x="8976207" y="1097280"/>
            <a:ext cx="2743200" cy="3017520"/>
          </a:xfrm>
          <a:prstGeom prst="roundRect">
            <a:avLst>
              <a:gd name="adj" fmla="val 5000"/>
            </a:avLst>
          </a:prstGeom>
          <a:solidFill>
            <a:srgbClr val="FFFFFF"/>
          </a:solidFill>
          <a:ln w="25400">
            <a:solidFill>
              <a:srgbClr val="FF6B3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976207" y="1097280"/>
            <a:ext cx="2743200" cy="685800"/>
          </a:xfrm>
          <a:prstGeom prst="rect">
            <a:avLst/>
          </a:prstGeom>
          <a:solidFill>
            <a:srgbClr val="FF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976207" y="1143000"/>
            <a:ext cx="2743200" cy="685800"/>
          </a:xfrm>
          <a:prstGeom prst="rect">
            <a:avLst/>
          </a:prstGeom>
          <a:noFill/>
        </p:spPr>
        <p:txBody>
          <a:bodyPr wrap="none">
            <a:spAutoFit/>
          </a:bodyPr>
          <a:lstStyle/>
          <a:p>
            <a:pPr algn="ctr"/>
            <a:r>
              <a:rPr sz="1800" b="1">
                <a:solidFill>
                  <a:srgbClr val="FFFFFF"/>
                </a:solidFill>
                <a:latin typeface="Calibri"/>
              </a:rPr>
              <a:t>AI Verify</a:t>
            </a:r>
          </a:p>
          <a:p>
            <a:pPr algn="ctr"/>
            <a:r>
              <a:rPr sz="900">
                <a:solidFill>
                  <a:srgbClr val="FFFFFF"/>
                </a:solidFill>
                <a:latin typeface="Calibri"/>
              </a:rPr>
              <a:t>IMDA Responsible AI</a:t>
            </a:r>
          </a:p>
        </p:txBody>
      </p:sp>
      <p:sp>
        <p:nvSpPr>
          <p:cNvPr id="28" name="TextBox 27"/>
          <p:cNvSpPr txBox="1"/>
          <p:nvPr/>
        </p:nvSpPr>
        <p:spPr>
          <a:xfrm>
            <a:off x="9113367" y="1874520"/>
            <a:ext cx="2468880" cy="411480"/>
          </a:xfrm>
          <a:prstGeom prst="rect">
            <a:avLst/>
          </a:prstGeom>
          <a:noFill/>
        </p:spPr>
        <p:txBody>
          <a:bodyPr wrap="square">
            <a:spAutoFit/>
          </a:bodyPr>
          <a:lstStyle/>
          <a:p>
            <a:r>
              <a:rPr sz="850" b="1">
                <a:solidFill>
                  <a:srgbClr val="CC4F1F"/>
                </a:solidFill>
                <a:latin typeface="Calibri"/>
              </a:rPr>
              <a:t>Authority</a:t>
            </a:r>
          </a:p>
          <a:p>
            <a:r>
              <a:rPr sz="1100" b="1">
                <a:solidFill>
                  <a:srgbClr val="2C3E50"/>
                </a:solidFill>
                <a:latin typeface="Calibri"/>
              </a:rPr>
              <a:t>IMDA</a:t>
            </a:r>
          </a:p>
        </p:txBody>
      </p:sp>
      <p:sp>
        <p:nvSpPr>
          <p:cNvPr id="29" name="TextBox 28"/>
          <p:cNvSpPr txBox="1"/>
          <p:nvPr/>
        </p:nvSpPr>
        <p:spPr>
          <a:xfrm>
            <a:off x="9113367" y="2514600"/>
            <a:ext cx="2468880" cy="868680"/>
          </a:xfrm>
          <a:prstGeom prst="rect">
            <a:avLst/>
          </a:prstGeom>
          <a:noFill/>
        </p:spPr>
        <p:txBody>
          <a:bodyPr wrap="square">
            <a:spAutoFit/>
          </a:bodyPr>
          <a:lstStyle/>
          <a:p>
            <a:r>
              <a:rPr sz="850" b="1">
                <a:solidFill>
                  <a:srgbClr val="CC4F1F"/>
                </a:solidFill>
                <a:latin typeface="Calibri"/>
              </a:rPr>
              <a:t>Scope</a:t>
            </a:r>
          </a:p>
          <a:p>
            <a:r>
              <a:rPr sz="950">
                <a:solidFill>
                  <a:srgbClr val="2C3E50"/>
                </a:solidFill>
                <a:latin typeface="Calibri"/>
              </a:rPr>
              <a:t>Transparency, fairness, accountability for AI</a:t>
            </a:r>
          </a:p>
        </p:txBody>
      </p:sp>
      <p:sp>
        <p:nvSpPr>
          <p:cNvPr id="30" name="TextBox 29"/>
          <p:cNvSpPr txBox="1"/>
          <p:nvPr/>
        </p:nvSpPr>
        <p:spPr>
          <a:xfrm>
            <a:off x="9113367" y="3383280"/>
            <a:ext cx="2468880" cy="685800"/>
          </a:xfrm>
          <a:prstGeom prst="rect">
            <a:avLst/>
          </a:prstGeom>
          <a:noFill/>
        </p:spPr>
        <p:txBody>
          <a:bodyPr wrap="square">
            <a:spAutoFit/>
          </a:bodyPr>
          <a:lstStyle/>
          <a:p>
            <a:r>
              <a:rPr sz="850" b="1">
                <a:solidFill>
                  <a:srgbClr val="27AE60"/>
                </a:solidFill>
                <a:latin typeface="Calibri"/>
              </a:rPr>
              <a:t>Our Implementation</a:t>
            </a:r>
          </a:p>
          <a:p>
            <a:r>
              <a:rPr sz="950">
                <a:solidFill>
                  <a:srgbClr val="2C3E50"/>
                </a:solidFill>
                <a:latin typeface="Calibri"/>
              </a:rPr>
              <a:t>ARMS LLM Trace, citation validator, grounding score ≥ 0.7</a:t>
            </a:r>
          </a:p>
        </p:txBody>
      </p:sp>
      <p:sp>
        <p:nvSpPr>
          <p:cNvPr id="31" name="Rounded Rectangle 30"/>
          <p:cNvSpPr/>
          <p:nvPr/>
        </p:nvSpPr>
        <p:spPr>
          <a:xfrm>
            <a:off x="457200" y="4251960"/>
            <a:ext cx="11247120" cy="914400"/>
          </a:xfrm>
          <a:prstGeom prst="roundRect">
            <a:avLst>
              <a:gd name="adj" fmla="val 10000"/>
            </a:avLst>
          </a:prstGeom>
          <a:solidFill>
            <a:srgbClr val="FFE8DA"/>
          </a:solidFill>
          <a:ln w="12700">
            <a:solidFill>
              <a:srgbClr val="FF6B3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40080" y="4343400"/>
            <a:ext cx="10881360" cy="777240"/>
          </a:xfrm>
          <a:prstGeom prst="rect">
            <a:avLst/>
          </a:prstGeom>
          <a:noFill/>
        </p:spPr>
        <p:txBody>
          <a:bodyPr wrap="square">
            <a:spAutoFit/>
          </a:bodyPr>
          <a:lstStyle/>
          <a:p>
            <a:pPr algn="ctr"/>
            <a:r>
              <a:rPr sz="1300" b="1">
                <a:solidFill>
                  <a:srgbClr val="CC4F1F"/>
                </a:solidFill>
                <a:latin typeface="Calibri"/>
              </a:rPr>
              <a:t>Sectoral Regulations Also Considered</a:t>
            </a:r>
          </a:p>
          <a:p>
            <a:pPr algn="ctr"/>
            <a:r>
              <a:rPr sz="1100">
                <a:solidFill>
                  <a:srgbClr val="2C3E50"/>
                </a:solidFill>
                <a:latin typeface="Calibri"/>
              </a:rPr>
              <a:t>MOH HIE Act (Health Information Exchange)  ·  Clinical Trials Regulations  ·  HSA Therapeutic Products  ·  Singapore Standard SS 564 (Healthcare IT)</a:t>
            </a:r>
          </a:p>
        </p:txBody>
      </p:sp>
      <p:sp>
        <p:nvSpPr>
          <p:cNvPr id="33" name="Rounded Rectangle 32"/>
          <p:cNvSpPr/>
          <p:nvPr/>
        </p:nvSpPr>
        <p:spPr>
          <a:xfrm>
            <a:off x="457200" y="5349240"/>
            <a:ext cx="11247120" cy="960120"/>
          </a:xfrm>
          <a:prstGeom prst="roundRect">
            <a:avLst>
              <a:gd name="adj" fmla="val 10000"/>
            </a:avLst>
          </a:prstGeom>
          <a:solidFill>
            <a:srgbClr val="FFFFFF"/>
          </a:solidFill>
          <a:ln w="25400">
            <a:solidFill>
              <a:srgbClr val="CC4F1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40080" y="5440680"/>
            <a:ext cx="10881360" cy="777240"/>
          </a:xfrm>
          <a:prstGeom prst="rect">
            <a:avLst/>
          </a:prstGeom>
          <a:noFill/>
        </p:spPr>
        <p:txBody>
          <a:bodyPr wrap="square">
            <a:spAutoFit/>
          </a:bodyPr>
          <a:lstStyle/>
          <a:p>
            <a:pPr algn="ctr"/>
            <a:r>
              <a:rPr sz="1300" b="1">
                <a:solidFill>
                  <a:srgbClr val="CC4F1F"/>
                </a:solidFill>
                <a:latin typeface="Calibri"/>
              </a:rPr>
              <a:t>Alibaba Cloud Certifications + Data Residency Commitment</a:t>
            </a:r>
          </a:p>
          <a:p>
            <a:pPr algn="ctr"/>
            <a:r>
              <a:rPr sz="1100">
                <a:solidFill>
                  <a:srgbClr val="2C3E50"/>
                </a:solidFill>
                <a:latin typeface="Calibri"/>
              </a:rPr>
              <a:t>ISO 27001/27017/27018/27701  ·  SOC 1/2/3  ·  PCI-DSS  ·  NIST 800-53 R5  ·  100% deployment in ap-southeast-1 Singapore International  ·  Zero cross-border at runtime  ·  6-year WORM audit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FF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28600"/>
            <a:ext cx="11247120" cy="640080"/>
          </a:xfrm>
          <a:prstGeom prst="rect">
            <a:avLst/>
          </a:prstGeom>
          <a:noFill/>
        </p:spPr>
        <p:txBody>
          <a:bodyPr wrap="none" lIns="0" tIns="0">
            <a:spAutoFit/>
          </a:bodyPr>
          <a:lstStyle/>
          <a:p>
            <a:pPr algn="l"/>
            <a:r>
              <a:rPr sz="2600" b="1">
                <a:solidFill>
                  <a:srgbClr val="CC4F1F"/>
                </a:solidFill>
                <a:latin typeface="Calibri"/>
              </a:rPr>
              <a:t>Continuing the Challenge</a:t>
            </a:r>
          </a:p>
        </p:txBody>
      </p:sp>
      <p:sp>
        <p:nvSpPr>
          <p:cNvPr id="5" name="Rectangle 4"/>
          <p:cNvSpPr/>
          <p:nvPr/>
        </p:nvSpPr>
        <p:spPr>
          <a:xfrm>
            <a:off x="457200" y="868680"/>
            <a:ext cx="1828800" cy="36576"/>
          </a:xfrm>
          <a:prstGeom prst="rect">
            <a:avLst/>
          </a:prstGeom>
          <a:solidFill>
            <a:srgbClr val="FF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446520"/>
            <a:ext cx="11247120" cy="274320"/>
          </a:xfrm>
          <a:prstGeom prst="rect">
            <a:avLst/>
          </a:prstGeom>
          <a:noFill/>
        </p:spPr>
        <p:txBody>
          <a:bodyPr wrap="none">
            <a:spAutoFit/>
          </a:bodyPr>
          <a:lstStyle/>
          <a:p>
            <a:pPr algn="r"/>
            <a:r>
              <a:rPr sz="900" i="1">
                <a:solidFill>
                  <a:srgbClr val="646464"/>
                </a:solidFill>
                <a:latin typeface="Calibri"/>
              </a:rPr>
              <a:t>Nova Health Tech · Clinical GenAI Assistant · Alibaba Cloud Singapore</a:t>
            </a:r>
          </a:p>
        </p:txBody>
      </p:sp>
      <p:sp>
        <p:nvSpPr>
          <p:cNvPr id="7" name="Rounded Rectangle 6"/>
          <p:cNvSpPr/>
          <p:nvPr/>
        </p:nvSpPr>
        <p:spPr>
          <a:xfrm>
            <a:off x="609447" y="1371600"/>
            <a:ext cx="5303520" cy="4114800"/>
          </a:xfrm>
          <a:prstGeom prst="roundRect">
            <a:avLst>
              <a:gd name="adj" fmla="val 4000"/>
            </a:avLst>
          </a:prstGeom>
          <a:solidFill>
            <a:srgbClr val="FFFFFF"/>
          </a:solidFill>
          <a:ln w="31750">
            <a:solidFill>
              <a:srgbClr val="C0392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09447" y="1371600"/>
            <a:ext cx="5303520" cy="640080"/>
          </a:xfrm>
          <a:prstGeom prst="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09447" y="1371600"/>
            <a:ext cx="5303520" cy="640080"/>
          </a:xfrm>
          <a:prstGeom prst="rect">
            <a:avLst/>
          </a:prstGeom>
          <a:noFill/>
        </p:spPr>
        <p:txBody>
          <a:bodyPr wrap="none" anchor="ctr">
            <a:spAutoFit/>
          </a:bodyPr>
          <a:lstStyle/>
          <a:p>
            <a:pPr algn="ctr"/>
            <a:r>
              <a:rPr sz="2200" b="1">
                <a:solidFill>
                  <a:srgbClr val="FFFFFF"/>
                </a:solidFill>
                <a:latin typeface="Calibri"/>
              </a:rPr>
              <a:t>⚡  Speed</a:t>
            </a:r>
          </a:p>
        </p:txBody>
      </p:sp>
      <p:sp>
        <p:nvSpPr>
          <p:cNvPr id="10" name="TextBox 9"/>
          <p:cNvSpPr txBox="1"/>
          <p:nvPr/>
        </p:nvSpPr>
        <p:spPr>
          <a:xfrm>
            <a:off x="975207" y="2240280"/>
            <a:ext cx="4572000" cy="640080"/>
          </a:xfrm>
          <a:prstGeom prst="rect">
            <a:avLst/>
          </a:prstGeom>
          <a:noFill/>
        </p:spPr>
        <p:txBody>
          <a:bodyPr wrap="square">
            <a:spAutoFit/>
          </a:bodyPr>
          <a:lstStyle/>
          <a:p>
            <a:pPr algn="ctr"/>
            <a:r>
              <a:rPr sz="1700" b="1">
                <a:solidFill>
                  <a:srgbClr val="C0392B"/>
                </a:solidFill>
                <a:latin typeface="Calibri"/>
              </a:rPr>
              <a:t>Emergency p95 ≤ 2 seconds</a:t>
            </a:r>
          </a:p>
        </p:txBody>
      </p:sp>
      <p:sp>
        <p:nvSpPr>
          <p:cNvPr id="11" name="TextBox 10"/>
          <p:cNvSpPr txBox="1"/>
          <p:nvPr/>
        </p:nvSpPr>
        <p:spPr>
          <a:xfrm>
            <a:off x="1066647" y="3063240"/>
            <a:ext cx="4389120" cy="2286000"/>
          </a:xfrm>
          <a:prstGeom prst="rect">
            <a:avLst/>
          </a:prstGeom>
          <a:noFill/>
        </p:spPr>
        <p:txBody>
          <a:bodyPr wrap="square">
            <a:spAutoFit/>
          </a:bodyPr>
          <a:lstStyle/>
          <a:p>
            <a:pPr>
              <a:spcAft>
                <a:spcPts val="800"/>
              </a:spcAft>
            </a:pPr>
            <a:r>
              <a:rPr sz="1400" b="1">
                <a:solidFill>
                  <a:srgbClr val="C0392B"/>
                </a:solidFill>
                <a:latin typeface="Calibri"/>
              </a:rPr>
              <a:t>▸ </a:t>
            </a:r>
            <a:r>
              <a:rPr sz="1300">
                <a:solidFill>
                  <a:srgbClr val="2C3E50"/>
                </a:solidFill>
                <a:latin typeface="Calibri"/>
              </a:rPr>
              <a:t>Every second matters in acute care</a:t>
            </a:r>
          </a:p>
          <a:p>
            <a:pPr>
              <a:spcAft>
                <a:spcPts val="800"/>
              </a:spcAft>
            </a:pPr>
            <a:r>
              <a:rPr sz="1400" b="1">
                <a:solidFill>
                  <a:srgbClr val="C0392B"/>
                </a:solidFill>
                <a:latin typeface="Calibri"/>
              </a:rPr>
              <a:t>▸ </a:t>
            </a:r>
            <a:r>
              <a:rPr sz="1300">
                <a:solidFill>
                  <a:srgbClr val="2C3E50"/>
                </a:solidFill>
                <a:latin typeface="Calibri"/>
              </a:rPr>
              <a:t>Sepsis, STEMI, anaphylaxis decisions</a:t>
            </a:r>
          </a:p>
          <a:p>
            <a:pPr>
              <a:spcAft>
                <a:spcPts val="800"/>
              </a:spcAft>
            </a:pPr>
            <a:r>
              <a:rPr sz="1400" b="1">
                <a:solidFill>
                  <a:srgbClr val="C0392B"/>
                </a:solidFill>
                <a:latin typeface="Calibri"/>
              </a:rPr>
              <a:t>▸ </a:t>
            </a:r>
            <a:r>
              <a:rPr sz="1300">
                <a:solidFill>
                  <a:srgbClr val="2C3E50"/>
                </a:solidFill>
                <a:latin typeface="Calibri"/>
              </a:rPr>
              <a:t>Time-to-first-token (TTFT) is the key metric</a:t>
            </a:r>
          </a:p>
          <a:p>
            <a:pPr>
              <a:spcAft>
                <a:spcPts val="800"/>
              </a:spcAft>
            </a:pPr>
            <a:r>
              <a:rPr sz="1400" b="1">
                <a:solidFill>
                  <a:srgbClr val="C0392B"/>
                </a:solidFill>
                <a:latin typeface="Calibri"/>
              </a:rPr>
              <a:t>▸ </a:t>
            </a:r>
            <a:r>
              <a:rPr sz="1300">
                <a:solidFill>
                  <a:srgbClr val="2C3E50"/>
                </a:solidFill>
                <a:latin typeface="Calibri"/>
              </a:rPr>
              <a:t>Streaming response for perceived speed</a:t>
            </a:r>
          </a:p>
        </p:txBody>
      </p:sp>
      <p:sp>
        <p:nvSpPr>
          <p:cNvPr id="12" name="Rounded Rectangle 11"/>
          <p:cNvSpPr/>
          <p:nvPr/>
        </p:nvSpPr>
        <p:spPr>
          <a:xfrm>
            <a:off x="6278727" y="1371600"/>
            <a:ext cx="5303520" cy="4114800"/>
          </a:xfrm>
          <a:prstGeom prst="roundRect">
            <a:avLst>
              <a:gd name="adj" fmla="val 4000"/>
            </a:avLst>
          </a:prstGeom>
          <a:solidFill>
            <a:srgbClr val="FFFFFF"/>
          </a:solidFill>
          <a:ln w="31750">
            <a:solidFill>
              <a:srgbClr val="CC4F1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78727" y="1371600"/>
            <a:ext cx="5303520" cy="640080"/>
          </a:xfrm>
          <a:prstGeom prst="rect">
            <a:avLst/>
          </a:prstGeom>
          <a:solidFill>
            <a:srgbClr val="CC4F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278727" y="1371600"/>
            <a:ext cx="5303520" cy="640080"/>
          </a:xfrm>
          <a:prstGeom prst="rect">
            <a:avLst/>
          </a:prstGeom>
          <a:noFill/>
        </p:spPr>
        <p:txBody>
          <a:bodyPr wrap="none" anchor="ctr">
            <a:spAutoFit/>
          </a:bodyPr>
          <a:lstStyle/>
          <a:p>
            <a:pPr algn="ctr"/>
            <a:r>
              <a:rPr sz="2200" b="1">
                <a:solidFill>
                  <a:srgbClr val="FFFFFF"/>
                </a:solidFill>
                <a:latin typeface="Calibri"/>
              </a:rPr>
              <a:t>📅  Freshness + Tone</a:t>
            </a:r>
          </a:p>
        </p:txBody>
      </p:sp>
      <p:sp>
        <p:nvSpPr>
          <p:cNvPr id="15" name="TextBox 14"/>
          <p:cNvSpPr txBox="1"/>
          <p:nvPr/>
        </p:nvSpPr>
        <p:spPr>
          <a:xfrm>
            <a:off x="6644487" y="2240280"/>
            <a:ext cx="4572000" cy="640080"/>
          </a:xfrm>
          <a:prstGeom prst="rect">
            <a:avLst/>
          </a:prstGeom>
          <a:noFill/>
        </p:spPr>
        <p:txBody>
          <a:bodyPr wrap="square">
            <a:spAutoFit/>
          </a:bodyPr>
          <a:lstStyle/>
          <a:p>
            <a:pPr algn="ctr"/>
            <a:r>
              <a:rPr sz="1700" b="1">
                <a:solidFill>
                  <a:srgbClr val="CC4F1F"/>
                </a:solidFill>
                <a:latin typeface="Calibri"/>
              </a:rPr>
              <a:t>WHO monthly · ICD-11 daily · consistent tone</a:t>
            </a:r>
          </a:p>
        </p:txBody>
      </p:sp>
      <p:sp>
        <p:nvSpPr>
          <p:cNvPr id="16" name="TextBox 15"/>
          <p:cNvSpPr txBox="1"/>
          <p:nvPr/>
        </p:nvSpPr>
        <p:spPr>
          <a:xfrm>
            <a:off x="6735927" y="3063240"/>
            <a:ext cx="4389120" cy="2286000"/>
          </a:xfrm>
          <a:prstGeom prst="rect">
            <a:avLst/>
          </a:prstGeom>
          <a:noFill/>
        </p:spPr>
        <p:txBody>
          <a:bodyPr wrap="square">
            <a:spAutoFit/>
          </a:bodyPr>
          <a:lstStyle/>
          <a:p>
            <a:pPr>
              <a:spcAft>
                <a:spcPts val="800"/>
              </a:spcAft>
            </a:pPr>
            <a:r>
              <a:rPr sz="1400" b="1">
                <a:solidFill>
                  <a:srgbClr val="CC4F1F"/>
                </a:solidFill>
                <a:latin typeface="Calibri"/>
              </a:rPr>
              <a:t>▸ </a:t>
            </a:r>
            <a:r>
              <a:rPr sz="1300">
                <a:solidFill>
                  <a:srgbClr val="2C3E50"/>
                </a:solidFill>
                <a:latin typeface="Calibri"/>
              </a:rPr>
              <a:t>WHO publishes guideline revisions monthly</a:t>
            </a:r>
          </a:p>
          <a:p>
            <a:pPr>
              <a:spcAft>
                <a:spcPts val="800"/>
              </a:spcAft>
            </a:pPr>
            <a:r>
              <a:rPr sz="1400" b="1">
                <a:solidFill>
                  <a:srgbClr val="CC4F1F"/>
                </a:solidFill>
                <a:latin typeface="Calibri"/>
              </a:rPr>
              <a:t>▸ </a:t>
            </a:r>
            <a:r>
              <a:rPr sz="1300">
                <a:solidFill>
                  <a:srgbClr val="2C3E50"/>
                </a:solidFill>
                <a:latin typeface="Calibri"/>
              </a:rPr>
              <a:t>ICD-11 catalog refreshes daily</a:t>
            </a:r>
          </a:p>
          <a:p>
            <a:pPr>
              <a:spcAft>
                <a:spcPts val="800"/>
              </a:spcAft>
            </a:pPr>
            <a:r>
              <a:rPr sz="1400" b="1">
                <a:solidFill>
                  <a:srgbClr val="CC4F1F"/>
                </a:solidFill>
                <a:latin typeface="Calibri"/>
              </a:rPr>
              <a:t>▸ </a:t>
            </a:r>
            <a:r>
              <a:rPr sz="1300">
                <a:solidFill>
                  <a:srgbClr val="2C3E50"/>
                </a:solidFill>
                <a:latin typeface="Calibri"/>
              </a:rPr>
              <a:t>Internal trial PDFs uploaded ad hoc</a:t>
            </a:r>
          </a:p>
          <a:p>
            <a:pPr>
              <a:spcAft>
                <a:spcPts val="800"/>
              </a:spcAft>
            </a:pPr>
            <a:r>
              <a:rPr sz="1400" b="1">
                <a:solidFill>
                  <a:srgbClr val="CC4F1F"/>
                </a:solidFill>
                <a:latin typeface="Calibri"/>
              </a:rPr>
              <a:t>▸ </a:t>
            </a:r>
            <a:r>
              <a:rPr sz="1300">
                <a:solidFill>
                  <a:srgbClr val="2C3E50"/>
                </a:solidFill>
                <a:latin typeface="Calibri"/>
              </a:rPr>
              <a:t>Tone consistency: SFT on Nova-approved answers</a:t>
            </a:r>
          </a:p>
        </p:txBody>
      </p:sp>
      <p:sp>
        <p:nvSpPr>
          <p:cNvPr id="17" name="Rounded Rectangle 16"/>
          <p:cNvSpPr/>
          <p:nvPr/>
        </p:nvSpPr>
        <p:spPr>
          <a:xfrm>
            <a:off x="914400" y="5760720"/>
            <a:ext cx="10332720" cy="640080"/>
          </a:xfrm>
          <a:prstGeom prst="roundRect">
            <a:avLst>
              <a:gd name="adj" fmla="val 20000"/>
            </a:avLst>
          </a:prstGeom>
          <a:solidFill>
            <a:srgbClr val="FFE8DA"/>
          </a:solidFill>
          <a:ln w="12700">
            <a:solidFill>
              <a:srgbClr val="FF6B3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97280" y="5852160"/>
            <a:ext cx="9966960" cy="502920"/>
          </a:xfrm>
          <a:prstGeom prst="rect">
            <a:avLst/>
          </a:prstGeom>
          <a:noFill/>
        </p:spPr>
        <p:txBody>
          <a:bodyPr wrap="square">
            <a:spAutoFit/>
          </a:bodyPr>
          <a:lstStyle/>
          <a:p>
            <a:pPr algn="ctr"/>
            <a:r>
              <a:rPr sz="1200" i="1">
                <a:solidFill>
                  <a:srgbClr val="CC4F1F"/>
                </a:solidFill>
                <a:latin typeface="Calibri"/>
              </a:rPr>
              <a:t>NFR targets: 99.9% uptime · RPO ≤ 1h · RTO ≤ 4h · accuracy ≥ 95% vs gold-standard · zero PHI leakage tolerance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FF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28600"/>
            <a:ext cx="11247120" cy="640080"/>
          </a:xfrm>
          <a:prstGeom prst="rect">
            <a:avLst/>
          </a:prstGeom>
          <a:noFill/>
        </p:spPr>
        <p:txBody>
          <a:bodyPr wrap="none" lIns="0" tIns="0">
            <a:spAutoFit/>
          </a:bodyPr>
          <a:lstStyle/>
          <a:p>
            <a:pPr algn="l"/>
            <a:r>
              <a:rPr sz="2600" b="1">
                <a:solidFill>
                  <a:srgbClr val="CC4F1F"/>
                </a:solidFill>
                <a:latin typeface="Calibri"/>
              </a:rPr>
              <a:t>Solution: Two-Lane Architecture, Singapore International</a:t>
            </a:r>
          </a:p>
        </p:txBody>
      </p:sp>
      <p:sp>
        <p:nvSpPr>
          <p:cNvPr id="5" name="Rectangle 4"/>
          <p:cNvSpPr/>
          <p:nvPr/>
        </p:nvSpPr>
        <p:spPr>
          <a:xfrm>
            <a:off x="457200" y="868680"/>
            <a:ext cx="1828800" cy="36576"/>
          </a:xfrm>
          <a:prstGeom prst="rect">
            <a:avLst/>
          </a:prstGeom>
          <a:solidFill>
            <a:srgbClr val="FF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446520"/>
            <a:ext cx="11247120" cy="274320"/>
          </a:xfrm>
          <a:prstGeom prst="rect">
            <a:avLst/>
          </a:prstGeom>
          <a:noFill/>
        </p:spPr>
        <p:txBody>
          <a:bodyPr wrap="none">
            <a:spAutoFit/>
          </a:bodyPr>
          <a:lstStyle/>
          <a:p>
            <a:pPr algn="r"/>
            <a:r>
              <a:rPr sz="900" i="1">
                <a:solidFill>
                  <a:srgbClr val="646464"/>
                </a:solidFill>
                <a:latin typeface="Calibri"/>
              </a:rPr>
              <a:t>Nova Health Tech · Clinical GenAI Assistant · Alibaba Cloud Singapore</a:t>
            </a:r>
          </a:p>
        </p:txBody>
      </p:sp>
      <p:sp>
        <p:nvSpPr>
          <p:cNvPr id="7" name="Rounded Rectangle 6"/>
          <p:cNvSpPr/>
          <p:nvPr/>
        </p:nvSpPr>
        <p:spPr>
          <a:xfrm>
            <a:off x="457200" y="1188720"/>
            <a:ext cx="5486400" cy="2468880"/>
          </a:xfrm>
          <a:prstGeom prst="roundRect">
            <a:avLst>
              <a:gd name="adj" fmla="val 4000"/>
            </a:avLst>
          </a:prstGeom>
          <a:solidFill>
            <a:srgbClr val="FFFFFF"/>
          </a:solidFill>
          <a:ln w="31750">
            <a:solidFill>
              <a:srgbClr val="C0392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57200" y="1188720"/>
            <a:ext cx="5486400" cy="502920"/>
          </a:xfrm>
          <a:prstGeom prst="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7200" y="1188720"/>
            <a:ext cx="5486400" cy="502920"/>
          </a:xfrm>
          <a:prstGeom prst="rect">
            <a:avLst/>
          </a:prstGeom>
          <a:noFill/>
        </p:spPr>
        <p:txBody>
          <a:bodyPr wrap="none" anchor="ctr">
            <a:spAutoFit/>
          </a:bodyPr>
          <a:lstStyle/>
          <a:p>
            <a:pPr algn="ctr"/>
            <a:r>
              <a:rPr sz="1600" b="1">
                <a:solidFill>
                  <a:srgbClr val="FFFFFF"/>
                </a:solidFill>
                <a:latin typeface="Calibri"/>
              </a:rPr>
              <a:t>EMERGENCY LANE  ·  p95 ≤ 2s</a:t>
            </a:r>
          </a:p>
        </p:txBody>
      </p:sp>
      <p:sp>
        <p:nvSpPr>
          <p:cNvPr id="10" name="TextBox 9"/>
          <p:cNvSpPr txBox="1"/>
          <p:nvPr/>
        </p:nvSpPr>
        <p:spPr>
          <a:xfrm>
            <a:off x="731520" y="1828800"/>
            <a:ext cx="5029200" cy="1737360"/>
          </a:xfrm>
          <a:prstGeom prst="rect">
            <a:avLst/>
          </a:prstGeom>
          <a:noFill/>
        </p:spPr>
        <p:txBody>
          <a:bodyPr wrap="square">
            <a:spAutoFit/>
          </a:bodyPr>
          <a:lstStyle/>
          <a:p>
            <a:pPr>
              <a:spcAft>
                <a:spcPts val="400"/>
              </a:spcAft>
            </a:pPr>
            <a:r>
              <a:rPr sz="1300">
                <a:solidFill>
                  <a:srgbClr val="2C3E50"/>
                </a:solidFill>
                <a:latin typeface="Calibri"/>
              </a:rPr>
              <a:t>▸  Qwen3.5-Flash (1M context, streaming)</a:t>
            </a:r>
          </a:p>
          <a:p>
            <a:pPr>
              <a:spcAft>
                <a:spcPts val="400"/>
              </a:spcAft>
            </a:pPr>
            <a:r>
              <a:rPr sz="1300">
                <a:solidFill>
                  <a:srgbClr val="2C3E50"/>
                </a:solidFill>
                <a:latin typeface="Calibri"/>
              </a:rPr>
              <a:t>▸  Workflow Application (deterministic DAG)</a:t>
            </a:r>
          </a:p>
          <a:p>
            <a:pPr>
              <a:spcAft>
                <a:spcPts val="400"/>
              </a:spcAft>
            </a:pPr>
            <a:r>
              <a:rPr sz="1300">
                <a:solidFill>
                  <a:srgbClr val="2C3E50"/>
                </a:solidFill>
                <a:latin typeface="Calibri"/>
              </a:rPr>
              <a:t>▸  Hybrid retrieval + qwen3-rerank top-5</a:t>
            </a:r>
          </a:p>
          <a:p>
            <a:pPr>
              <a:spcAft>
                <a:spcPts val="400"/>
              </a:spcAft>
            </a:pPr>
            <a:r>
              <a:rPr sz="1300">
                <a:solidFill>
                  <a:srgbClr val="2C3E50"/>
                </a:solidFill>
                <a:latin typeface="Calibri"/>
              </a:rPr>
              <a:t>▸  No router (direct fast lane)</a:t>
            </a:r>
          </a:p>
          <a:p>
            <a:pPr>
              <a:spcAft>
                <a:spcPts val="400"/>
              </a:spcAft>
            </a:pPr>
            <a:r>
              <a:rPr sz="1300">
                <a:solidFill>
                  <a:srgbClr val="2C3E50"/>
                </a:solidFill>
                <a:latin typeface="Calibri"/>
              </a:rPr>
              <a:t>▸  3-layer cache: Tair + Context Cache + PTU</a:t>
            </a:r>
          </a:p>
        </p:txBody>
      </p:sp>
      <p:sp>
        <p:nvSpPr>
          <p:cNvPr id="11" name="Rounded Rectangle 10"/>
          <p:cNvSpPr/>
          <p:nvPr/>
        </p:nvSpPr>
        <p:spPr>
          <a:xfrm>
            <a:off x="6217920" y="1188720"/>
            <a:ext cx="5486400" cy="2468880"/>
          </a:xfrm>
          <a:prstGeom prst="roundRect">
            <a:avLst>
              <a:gd name="adj" fmla="val 4000"/>
            </a:avLst>
          </a:prstGeom>
          <a:solidFill>
            <a:srgbClr val="FFFFFF"/>
          </a:solidFill>
          <a:ln w="31750">
            <a:solidFill>
              <a:srgbClr val="CC4F1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17920" y="1188720"/>
            <a:ext cx="5486400" cy="502920"/>
          </a:xfrm>
          <a:prstGeom prst="rect">
            <a:avLst/>
          </a:prstGeom>
          <a:solidFill>
            <a:srgbClr val="CC4F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217920" y="1188720"/>
            <a:ext cx="5486400" cy="502920"/>
          </a:xfrm>
          <a:prstGeom prst="rect">
            <a:avLst/>
          </a:prstGeom>
          <a:noFill/>
        </p:spPr>
        <p:txBody>
          <a:bodyPr wrap="none" anchor="ctr">
            <a:spAutoFit/>
          </a:bodyPr>
          <a:lstStyle/>
          <a:p>
            <a:pPr algn="ctr"/>
            <a:r>
              <a:rPr sz="1600" b="1">
                <a:solidFill>
                  <a:srgbClr val="FFFFFF"/>
                </a:solidFill>
                <a:latin typeface="Calibri"/>
              </a:rPr>
              <a:t>COMPLEX LANE  ·  p95 ≤ 6s</a:t>
            </a:r>
          </a:p>
        </p:txBody>
      </p:sp>
      <p:sp>
        <p:nvSpPr>
          <p:cNvPr id="14" name="TextBox 13"/>
          <p:cNvSpPr txBox="1"/>
          <p:nvPr/>
        </p:nvSpPr>
        <p:spPr>
          <a:xfrm>
            <a:off x="6492240" y="1828800"/>
            <a:ext cx="5029200" cy="1737360"/>
          </a:xfrm>
          <a:prstGeom prst="rect">
            <a:avLst/>
          </a:prstGeom>
          <a:noFill/>
        </p:spPr>
        <p:txBody>
          <a:bodyPr wrap="square">
            <a:spAutoFit/>
          </a:bodyPr>
          <a:lstStyle/>
          <a:p>
            <a:pPr>
              <a:spcAft>
                <a:spcPts val="400"/>
              </a:spcAft>
            </a:pPr>
            <a:r>
              <a:rPr sz="1300">
                <a:solidFill>
                  <a:srgbClr val="2C3E50"/>
                </a:solidFill>
                <a:latin typeface="Calibri"/>
              </a:rPr>
              <a:t>▸  Router Agent (Qwen3.5-Flash JSON mode)</a:t>
            </a:r>
          </a:p>
          <a:p>
            <a:pPr>
              <a:spcAft>
                <a:spcPts val="400"/>
              </a:spcAft>
            </a:pPr>
            <a:r>
              <a:rPr sz="1300">
                <a:solidFill>
                  <a:srgbClr val="2C3E50"/>
                </a:solidFill>
                <a:latin typeface="Calibri"/>
              </a:rPr>
              <a:t>▸  60% Qwen3-8B student (PAI-EAS, A10)</a:t>
            </a:r>
          </a:p>
          <a:p>
            <a:pPr>
              <a:spcAft>
                <a:spcPts val="400"/>
              </a:spcAft>
            </a:pPr>
            <a:r>
              <a:rPr sz="1300">
                <a:solidFill>
                  <a:srgbClr val="2C3E50"/>
                </a:solidFill>
                <a:latin typeface="Calibri"/>
              </a:rPr>
              <a:t>▸  40% Qwen3.5-Plus teacher (Model Studio)</a:t>
            </a:r>
          </a:p>
          <a:p>
            <a:pPr>
              <a:spcAft>
                <a:spcPts val="400"/>
              </a:spcAft>
            </a:pPr>
            <a:r>
              <a:rPr sz="1300">
                <a:solidFill>
                  <a:srgbClr val="2C3E50"/>
                </a:solidFill>
                <a:latin typeface="Calibri"/>
              </a:rPr>
              <a:t>▸  Vision: Qwen3-VL-Plus, Radiology</a:t>
            </a:r>
          </a:p>
          <a:p>
            <a:pPr>
              <a:spcAft>
                <a:spcPts val="400"/>
              </a:spcAft>
            </a:pPr>
            <a:r>
              <a:rPr sz="1300">
                <a:solidFill>
                  <a:srgbClr val="2C3E50"/>
                </a:solidFill>
                <a:latin typeface="Calibri"/>
              </a:rPr>
              <a:t>▸  Side-channel: Clinical Pharmacy auto</a:t>
            </a:r>
          </a:p>
        </p:txBody>
      </p:sp>
      <p:sp>
        <p:nvSpPr>
          <p:cNvPr id="15" name="Rounded Rectangle 14"/>
          <p:cNvSpPr/>
          <p:nvPr/>
        </p:nvSpPr>
        <p:spPr>
          <a:xfrm>
            <a:off x="457200" y="3840480"/>
            <a:ext cx="11247120" cy="2194560"/>
          </a:xfrm>
          <a:prstGeom prst="roundRect">
            <a:avLst>
              <a:gd name="adj" fmla="val 4000"/>
            </a:avLst>
          </a:prstGeom>
          <a:solidFill>
            <a:srgbClr val="FFE8DA"/>
          </a:solidFill>
          <a:ln w="19050">
            <a:solidFill>
              <a:srgbClr val="FF6B3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3931920"/>
            <a:ext cx="10881360" cy="365760"/>
          </a:xfrm>
          <a:prstGeom prst="rect">
            <a:avLst/>
          </a:prstGeom>
          <a:noFill/>
        </p:spPr>
        <p:txBody>
          <a:bodyPr wrap="none">
            <a:spAutoFit/>
          </a:bodyPr>
          <a:lstStyle/>
          <a:p>
            <a:pPr algn="ctr"/>
            <a:r>
              <a:rPr sz="1500" b="1">
                <a:solidFill>
                  <a:srgbClr val="CC4F1F"/>
                </a:solidFill>
                <a:latin typeface="Calibri"/>
              </a:rPr>
              <a:t>Shared Infrastructure (100% Singapore International, ap-southeast-1)</a:t>
            </a:r>
          </a:p>
        </p:txBody>
      </p:sp>
      <p:sp>
        <p:nvSpPr>
          <p:cNvPr id="17" name="TextBox 16"/>
          <p:cNvSpPr txBox="1"/>
          <p:nvPr/>
        </p:nvSpPr>
        <p:spPr>
          <a:xfrm>
            <a:off x="640080" y="4343400"/>
            <a:ext cx="1188720" cy="274320"/>
          </a:xfrm>
          <a:prstGeom prst="rect">
            <a:avLst/>
          </a:prstGeom>
          <a:noFill/>
        </p:spPr>
        <p:txBody>
          <a:bodyPr wrap="none">
            <a:spAutoFit/>
          </a:bodyPr>
          <a:lstStyle/>
          <a:p>
            <a:r>
              <a:rPr sz="1100" b="1">
                <a:solidFill>
                  <a:srgbClr val="CC4F1F"/>
                </a:solidFill>
                <a:latin typeface="Calibri"/>
              </a:rPr>
              <a:t>Retrieval:</a:t>
            </a:r>
          </a:p>
        </p:txBody>
      </p:sp>
      <p:sp>
        <p:nvSpPr>
          <p:cNvPr id="18" name="TextBox 17"/>
          <p:cNvSpPr txBox="1"/>
          <p:nvPr/>
        </p:nvSpPr>
        <p:spPr>
          <a:xfrm>
            <a:off x="1828800" y="4343400"/>
            <a:ext cx="3931920" cy="274320"/>
          </a:xfrm>
          <a:prstGeom prst="rect">
            <a:avLst/>
          </a:prstGeom>
          <a:noFill/>
        </p:spPr>
        <p:txBody>
          <a:bodyPr wrap="none">
            <a:spAutoFit/>
          </a:bodyPr>
          <a:lstStyle/>
          <a:p>
            <a:r>
              <a:rPr sz="1000">
                <a:solidFill>
                  <a:srgbClr val="2C3E50"/>
                </a:solidFill>
                <a:latin typeface="Calibri"/>
              </a:rPr>
              <a:t>OpenSearch Vector Search Edition · AnalyticDB PG GraphRAG · qwen3-rerank</a:t>
            </a:r>
          </a:p>
        </p:txBody>
      </p:sp>
      <p:sp>
        <p:nvSpPr>
          <p:cNvPr id="19" name="TextBox 18"/>
          <p:cNvSpPr txBox="1"/>
          <p:nvPr/>
        </p:nvSpPr>
        <p:spPr>
          <a:xfrm>
            <a:off x="6080760" y="4343400"/>
            <a:ext cx="1188720" cy="274320"/>
          </a:xfrm>
          <a:prstGeom prst="rect">
            <a:avLst/>
          </a:prstGeom>
          <a:noFill/>
        </p:spPr>
        <p:txBody>
          <a:bodyPr wrap="none">
            <a:spAutoFit/>
          </a:bodyPr>
          <a:lstStyle/>
          <a:p>
            <a:r>
              <a:rPr sz="1100" b="1">
                <a:solidFill>
                  <a:srgbClr val="CC4F1F"/>
                </a:solidFill>
                <a:latin typeface="Calibri"/>
              </a:rPr>
              <a:t>Embeddings:</a:t>
            </a:r>
          </a:p>
        </p:txBody>
      </p:sp>
      <p:sp>
        <p:nvSpPr>
          <p:cNvPr id="20" name="TextBox 19"/>
          <p:cNvSpPr txBox="1"/>
          <p:nvPr/>
        </p:nvSpPr>
        <p:spPr>
          <a:xfrm>
            <a:off x="7269480" y="4343400"/>
            <a:ext cx="3931920" cy="274320"/>
          </a:xfrm>
          <a:prstGeom prst="rect">
            <a:avLst/>
          </a:prstGeom>
          <a:noFill/>
        </p:spPr>
        <p:txBody>
          <a:bodyPr wrap="none">
            <a:spAutoFit/>
          </a:bodyPr>
          <a:lstStyle/>
          <a:p>
            <a:r>
              <a:rPr sz="1000">
                <a:solidFill>
                  <a:srgbClr val="2C3E50"/>
                </a:solidFill>
                <a:latin typeface="Calibri"/>
              </a:rPr>
              <a:t>text-embedding-v4 (1024-dim) · tongyi-embedding-vision-plus (1152-dim)</a:t>
            </a:r>
          </a:p>
        </p:txBody>
      </p:sp>
      <p:sp>
        <p:nvSpPr>
          <p:cNvPr id="21" name="TextBox 20"/>
          <p:cNvSpPr txBox="1"/>
          <p:nvPr/>
        </p:nvSpPr>
        <p:spPr>
          <a:xfrm>
            <a:off x="640080" y="4892040"/>
            <a:ext cx="1188720" cy="274320"/>
          </a:xfrm>
          <a:prstGeom prst="rect">
            <a:avLst/>
          </a:prstGeom>
          <a:noFill/>
        </p:spPr>
        <p:txBody>
          <a:bodyPr wrap="none">
            <a:spAutoFit/>
          </a:bodyPr>
          <a:lstStyle/>
          <a:p>
            <a:r>
              <a:rPr sz="1100" b="1">
                <a:solidFill>
                  <a:srgbClr val="CC4F1F"/>
                </a:solidFill>
                <a:latin typeface="Calibri"/>
              </a:rPr>
              <a:t>Compute:</a:t>
            </a:r>
          </a:p>
        </p:txBody>
      </p:sp>
      <p:sp>
        <p:nvSpPr>
          <p:cNvPr id="22" name="TextBox 21"/>
          <p:cNvSpPr txBox="1"/>
          <p:nvPr/>
        </p:nvSpPr>
        <p:spPr>
          <a:xfrm>
            <a:off x="1828800" y="4892040"/>
            <a:ext cx="3931920" cy="274320"/>
          </a:xfrm>
          <a:prstGeom prst="rect">
            <a:avLst/>
          </a:prstGeom>
          <a:noFill/>
        </p:spPr>
        <p:txBody>
          <a:bodyPr wrap="none">
            <a:spAutoFit/>
          </a:bodyPr>
          <a:lstStyle/>
          <a:p>
            <a:r>
              <a:rPr sz="1000">
                <a:solidFill>
                  <a:srgbClr val="2C3E50"/>
                </a:solidFill>
                <a:latin typeface="Calibri"/>
              </a:rPr>
              <a:t>Function Compute 3.0 · Function Workflow · SAE · PAI-EAS</a:t>
            </a:r>
          </a:p>
        </p:txBody>
      </p:sp>
      <p:sp>
        <p:nvSpPr>
          <p:cNvPr id="23" name="TextBox 22"/>
          <p:cNvSpPr txBox="1"/>
          <p:nvPr/>
        </p:nvSpPr>
        <p:spPr>
          <a:xfrm>
            <a:off x="6080760" y="4892040"/>
            <a:ext cx="1188720" cy="274320"/>
          </a:xfrm>
          <a:prstGeom prst="rect">
            <a:avLst/>
          </a:prstGeom>
          <a:noFill/>
        </p:spPr>
        <p:txBody>
          <a:bodyPr wrap="none">
            <a:spAutoFit/>
          </a:bodyPr>
          <a:lstStyle/>
          <a:p>
            <a:r>
              <a:rPr sz="1100" b="1">
                <a:solidFill>
                  <a:srgbClr val="CC4F1F"/>
                </a:solidFill>
                <a:latin typeface="Calibri"/>
              </a:rPr>
              <a:t>Security:</a:t>
            </a:r>
          </a:p>
        </p:txBody>
      </p:sp>
      <p:sp>
        <p:nvSpPr>
          <p:cNvPr id="24" name="TextBox 23"/>
          <p:cNvSpPr txBox="1"/>
          <p:nvPr/>
        </p:nvSpPr>
        <p:spPr>
          <a:xfrm>
            <a:off x="7269480" y="4892040"/>
            <a:ext cx="3931920" cy="274320"/>
          </a:xfrm>
          <a:prstGeom prst="rect">
            <a:avLst/>
          </a:prstGeom>
          <a:noFill/>
        </p:spPr>
        <p:txBody>
          <a:bodyPr wrap="none">
            <a:spAutoFit/>
          </a:bodyPr>
          <a:lstStyle/>
          <a:p>
            <a:r>
              <a:rPr sz="1000">
                <a:solidFill>
                  <a:srgbClr val="2C3E50"/>
                </a:solidFill>
                <a:latin typeface="Calibri"/>
              </a:rPr>
              <a:t>DataWorks SDDP · Content Moderation 2.0 · KMS BYOK · Credentials Manager</a:t>
            </a:r>
          </a:p>
        </p:txBody>
      </p:sp>
      <p:sp>
        <p:nvSpPr>
          <p:cNvPr id="25" name="TextBox 24"/>
          <p:cNvSpPr txBox="1"/>
          <p:nvPr/>
        </p:nvSpPr>
        <p:spPr>
          <a:xfrm>
            <a:off x="640080" y="5440680"/>
            <a:ext cx="1188720" cy="274320"/>
          </a:xfrm>
          <a:prstGeom prst="rect">
            <a:avLst/>
          </a:prstGeom>
          <a:noFill/>
        </p:spPr>
        <p:txBody>
          <a:bodyPr wrap="none">
            <a:spAutoFit/>
          </a:bodyPr>
          <a:lstStyle/>
          <a:p>
            <a:r>
              <a:rPr sz="1100" b="1">
                <a:solidFill>
                  <a:srgbClr val="CC4F1F"/>
                </a:solidFill>
                <a:latin typeface="Calibri"/>
              </a:rPr>
              <a:t>Caching:</a:t>
            </a:r>
          </a:p>
        </p:txBody>
      </p:sp>
      <p:sp>
        <p:nvSpPr>
          <p:cNvPr id="26" name="TextBox 25"/>
          <p:cNvSpPr txBox="1"/>
          <p:nvPr/>
        </p:nvSpPr>
        <p:spPr>
          <a:xfrm>
            <a:off x="1828800" y="5440680"/>
            <a:ext cx="3931920" cy="274320"/>
          </a:xfrm>
          <a:prstGeom prst="rect">
            <a:avLst/>
          </a:prstGeom>
          <a:noFill/>
        </p:spPr>
        <p:txBody>
          <a:bodyPr wrap="none">
            <a:spAutoFit/>
          </a:bodyPr>
          <a:lstStyle/>
          <a:p>
            <a:r>
              <a:rPr sz="1000">
                <a:solidFill>
                  <a:srgbClr val="2C3E50"/>
                </a:solidFill>
                <a:latin typeface="Calibri"/>
              </a:rPr>
              <a:t>Tair + TairVector (L1) · Qwen Context Cache (L2) · Qwen PTU (L3 reserved)</a:t>
            </a:r>
          </a:p>
        </p:txBody>
      </p:sp>
      <p:sp>
        <p:nvSpPr>
          <p:cNvPr id="27" name="TextBox 26"/>
          <p:cNvSpPr txBox="1"/>
          <p:nvPr/>
        </p:nvSpPr>
        <p:spPr>
          <a:xfrm>
            <a:off x="6080760" y="5440680"/>
            <a:ext cx="1188720" cy="274320"/>
          </a:xfrm>
          <a:prstGeom prst="rect">
            <a:avLst/>
          </a:prstGeom>
          <a:noFill/>
        </p:spPr>
        <p:txBody>
          <a:bodyPr wrap="none">
            <a:spAutoFit/>
          </a:bodyPr>
          <a:lstStyle/>
          <a:p>
            <a:r>
              <a:rPr sz="1100" b="1">
                <a:solidFill>
                  <a:srgbClr val="CC4F1F"/>
                </a:solidFill>
                <a:latin typeface="Calibri"/>
              </a:rPr>
              <a:t>Network:</a:t>
            </a:r>
          </a:p>
        </p:txBody>
      </p:sp>
      <p:sp>
        <p:nvSpPr>
          <p:cNvPr id="28" name="TextBox 27"/>
          <p:cNvSpPr txBox="1"/>
          <p:nvPr/>
        </p:nvSpPr>
        <p:spPr>
          <a:xfrm>
            <a:off x="7269480" y="5440680"/>
            <a:ext cx="3931920" cy="274320"/>
          </a:xfrm>
          <a:prstGeom prst="rect">
            <a:avLst/>
          </a:prstGeom>
          <a:noFill/>
        </p:spPr>
        <p:txBody>
          <a:bodyPr wrap="none">
            <a:spAutoFit/>
          </a:bodyPr>
          <a:lstStyle/>
          <a:p>
            <a:r>
              <a:rPr sz="1000">
                <a:solidFill>
                  <a:srgbClr val="2C3E50"/>
                </a:solidFill>
                <a:latin typeface="Calibri"/>
              </a:rPr>
              <a:t>VPC + IPsec VPN · PrivateLink · CDN + Anti-DDoS + WAF</a:t>
            </a:r>
          </a:p>
        </p:txBody>
      </p:sp>
      <p:sp>
        <p:nvSpPr>
          <p:cNvPr id="29" name="TextBox 28"/>
          <p:cNvSpPr txBox="1"/>
          <p:nvPr/>
        </p:nvSpPr>
        <p:spPr>
          <a:xfrm>
            <a:off x="640080" y="5669280"/>
            <a:ext cx="10881360" cy="320040"/>
          </a:xfrm>
          <a:prstGeom prst="rect">
            <a:avLst/>
          </a:prstGeom>
          <a:noFill/>
        </p:spPr>
        <p:txBody>
          <a:bodyPr wrap="none">
            <a:spAutoFit/>
          </a:bodyPr>
          <a:lstStyle/>
          <a:p>
            <a:pPr algn="ctr"/>
            <a:r>
              <a:rPr sz="1100" i="1">
                <a:solidFill>
                  <a:srgbClr val="CC4F1F"/>
                </a:solidFill>
                <a:latin typeface="Calibri"/>
              </a:rPr>
              <a:t>📐  Full architecture: AlibabaCloud_SA_proposal_technical_architecture.docx §3.1</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FF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28600"/>
            <a:ext cx="11247120" cy="640080"/>
          </a:xfrm>
          <a:prstGeom prst="rect">
            <a:avLst/>
          </a:prstGeom>
          <a:noFill/>
        </p:spPr>
        <p:txBody>
          <a:bodyPr wrap="none" lIns="0" tIns="0">
            <a:spAutoFit/>
          </a:bodyPr>
          <a:lstStyle/>
          <a:p>
            <a:pPr algn="l"/>
            <a:r>
              <a:rPr sz="2600" b="1">
                <a:solidFill>
                  <a:srgbClr val="CC4F1F"/>
                </a:solidFill>
                <a:latin typeface="Calibri"/>
              </a:rPr>
              <a:t>Data Pipeline: Ingest, Parse, Embed, Index</a:t>
            </a:r>
          </a:p>
        </p:txBody>
      </p:sp>
      <p:sp>
        <p:nvSpPr>
          <p:cNvPr id="5" name="Rectangle 4"/>
          <p:cNvSpPr/>
          <p:nvPr/>
        </p:nvSpPr>
        <p:spPr>
          <a:xfrm>
            <a:off x="457200" y="868680"/>
            <a:ext cx="1828800" cy="36576"/>
          </a:xfrm>
          <a:prstGeom prst="rect">
            <a:avLst/>
          </a:prstGeom>
          <a:solidFill>
            <a:srgbClr val="FF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446520"/>
            <a:ext cx="11247120" cy="274320"/>
          </a:xfrm>
          <a:prstGeom prst="rect">
            <a:avLst/>
          </a:prstGeom>
          <a:noFill/>
        </p:spPr>
        <p:txBody>
          <a:bodyPr wrap="none">
            <a:spAutoFit/>
          </a:bodyPr>
          <a:lstStyle/>
          <a:p>
            <a:pPr algn="r"/>
            <a:r>
              <a:rPr sz="900" i="1">
                <a:solidFill>
                  <a:srgbClr val="646464"/>
                </a:solidFill>
                <a:latin typeface="Calibri"/>
              </a:rPr>
              <a:t>Nova Health Tech · Clinical GenAI Assistant · Alibaba Cloud Singapore</a:t>
            </a:r>
          </a:p>
        </p:txBody>
      </p:sp>
      <p:sp>
        <p:nvSpPr>
          <p:cNvPr id="7" name="Rounded Rectangle 6"/>
          <p:cNvSpPr/>
          <p:nvPr/>
        </p:nvSpPr>
        <p:spPr>
          <a:xfrm>
            <a:off x="678027" y="1280160"/>
            <a:ext cx="1691640" cy="1828800"/>
          </a:xfrm>
          <a:prstGeom prst="roundRect">
            <a:avLst>
              <a:gd name="adj" fmla="val 8000"/>
            </a:avLst>
          </a:prstGeom>
          <a:solidFill>
            <a:srgbClr val="FFFFFF"/>
          </a:solidFill>
          <a:ln w="25400">
            <a:solidFill>
              <a:srgbClr val="FF6B3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78027" y="1280160"/>
            <a:ext cx="1691640" cy="457200"/>
          </a:xfrm>
          <a:prstGeom prst="rect">
            <a:avLst/>
          </a:prstGeom>
          <a:solidFill>
            <a:srgbClr val="FF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78027" y="1280160"/>
            <a:ext cx="1691640" cy="457200"/>
          </a:xfrm>
          <a:prstGeom prst="rect">
            <a:avLst/>
          </a:prstGeom>
          <a:noFill/>
        </p:spPr>
        <p:txBody>
          <a:bodyPr wrap="none" anchor="ctr">
            <a:spAutoFit/>
          </a:bodyPr>
          <a:lstStyle/>
          <a:p>
            <a:pPr algn="ctr"/>
            <a:r>
              <a:rPr sz="1300" b="1">
                <a:solidFill>
                  <a:srgbClr val="FFFFFF"/>
                </a:solidFill>
                <a:latin typeface="Calibri"/>
              </a:rPr>
              <a:t>Sources</a:t>
            </a:r>
          </a:p>
        </p:txBody>
      </p:sp>
      <p:sp>
        <p:nvSpPr>
          <p:cNvPr id="10" name="TextBox 9"/>
          <p:cNvSpPr txBox="1"/>
          <p:nvPr/>
        </p:nvSpPr>
        <p:spPr>
          <a:xfrm>
            <a:off x="769467" y="1828800"/>
            <a:ext cx="1508760" cy="1188720"/>
          </a:xfrm>
          <a:prstGeom prst="rect">
            <a:avLst/>
          </a:prstGeom>
          <a:noFill/>
        </p:spPr>
        <p:txBody>
          <a:bodyPr wrap="square">
            <a:spAutoFit/>
          </a:bodyPr>
          <a:lstStyle/>
          <a:p>
            <a:pPr algn="ctr"/>
            <a:r>
              <a:rPr sz="1000">
                <a:solidFill>
                  <a:srgbClr val="2C3E50"/>
                </a:solidFill>
                <a:latin typeface="Calibri"/>
              </a:rPr>
              <a:t>WHO PDFs
ICD-11 API
SharePoint
Upload Portal</a:t>
            </a:r>
          </a:p>
        </p:txBody>
      </p:sp>
      <p:cxnSp>
        <p:nvCxnSpPr>
          <p:cNvPr id="11" name="Connector 10"/>
          <p:cNvCxnSpPr/>
          <p:nvPr/>
        </p:nvCxnSpPr>
        <p:spPr>
          <a:xfrm>
            <a:off x="2369667.5" y="2194560.0"/>
            <a:ext cx="137160.0" cy="0.0"/>
          </a:xfrm>
          <a:prstGeom prst="line">
            <a:avLst/>
          </a:prstGeom>
          <a:ln w="25400">
            <a:solidFill>
              <a:srgbClr val="FF6B35"/>
            </a:solidFill>
            <a:tailEnd type="triangle" w="med" h="med"/>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2506827" y="1280160"/>
            <a:ext cx="1691640" cy="1828800"/>
          </a:xfrm>
          <a:prstGeom prst="roundRect">
            <a:avLst>
              <a:gd name="adj" fmla="val 8000"/>
            </a:avLst>
          </a:prstGeom>
          <a:solidFill>
            <a:srgbClr val="FFFFFF"/>
          </a:solidFill>
          <a:ln w="25400">
            <a:solidFill>
              <a:srgbClr val="CC4F1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506827" y="1280160"/>
            <a:ext cx="1691640" cy="457200"/>
          </a:xfrm>
          <a:prstGeom prst="rect">
            <a:avLst/>
          </a:prstGeom>
          <a:solidFill>
            <a:srgbClr val="CC4F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506827" y="1280160"/>
            <a:ext cx="1691640" cy="457200"/>
          </a:xfrm>
          <a:prstGeom prst="rect">
            <a:avLst/>
          </a:prstGeom>
          <a:noFill/>
        </p:spPr>
        <p:txBody>
          <a:bodyPr wrap="none" anchor="ctr">
            <a:spAutoFit/>
          </a:bodyPr>
          <a:lstStyle/>
          <a:p>
            <a:pPr algn="ctr"/>
            <a:r>
              <a:rPr sz="1300" b="1">
                <a:solidFill>
                  <a:srgbClr val="FFFFFF"/>
                </a:solidFill>
                <a:latin typeface="Calibri"/>
              </a:rPr>
              <a:t>OSS Raw</a:t>
            </a:r>
          </a:p>
        </p:txBody>
      </p:sp>
      <p:sp>
        <p:nvSpPr>
          <p:cNvPr id="15" name="TextBox 14"/>
          <p:cNvSpPr txBox="1"/>
          <p:nvPr/>
        </p:nvSpPr>
        <p:spPr>
          <a:xfrm>
            <a:off x="2598267" y="1828800"/>
            <a:ext cx="1508760" cy="1188720"/>
          </a:xfrm>
          <a:prstGeom prst="rect">
            <a:avLst/>
          </a:prstGeom>
          <a:noFill/>
        </p:spPr>
        <p:txBody>
          <a:bodyPr wrap="square">
            <a:spAutoFit/>
          </a:bodyPr>
          <a:lstStyle/>
          <a:p>
            <a:pPr algn="ctr"/>
            <a:r>
              <a:rPr sz="1000">
                <a:solidFill>
                  <a:srgbClr val="2C3E50"/>
                </a:solidFill>
                <a:latin typeface="Calibri"/>
              </a:rPr>
              <a:t>Object Created
event triggers
Function Workflow</a:t>
            </a:r>
          </a:p>
        </p:txBody>
      </p:sp>
      <p:cxnSp>
        <p:nvCxnSpPr>
          <p:cNvPr id="16" name="Connector 15"/>
          <p:cNvCxnSpPr/>
          <p:nvPr/>
        </p:nvCxnSpPr>
        <p:spPr>
          <a:xfrm>
            <a:off x="4198467.5" y="2194560.0"/>
            <a:ext cx="137160.0" cy="0.0"/>
          </a:xfrm>
          <a:prstGeom prst="line">
            <a:avLst/>
          </a:prstGeom>
          <a:ln w="25400">
            <a:solidFill>
              <a:srgbClr val="FF6B35"/>
            </a:solidFill>
            <a:tailEnd type="triangle" w="med" h="med"/>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4335627" y="1280160"/>
            <a:ext cx="1691640" cy="1828800"/>
          </a:xfrm>
          <a:prstGeom prst="roundRect">
            <a:avLst>
              <a:gd name="adj" fmla="val 8000"/>
            </a:avLst>
          </a:prstGeom>
          <a:solidFill>
            <a:srgbClr val="FFFFFF"/>
          </a:solidFill>
          <a:ln w="25400">
            <a:solidFill>
              <a:srgbClr val="FF6B3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335627" y="1280160"/>
            <a:ext cx="1691640" cy="457200"/>
          </a:xfrm>
          <a:prstGeom prst="rect">
            <a:avLst/>
          </a:prstGeom>
          <a:solidFill>
            <a:srgbClr val="FF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335627" y="1280160"/>
            <a:ext cx="1691640" cy="457200"/>
          </a:xfrm>
          <a:prstGeom prst="rect">
            <a:avLst/>
          </a:prstGeom>
          <a:noFill/>
        </p:spPr>
        <p:txBody>
          <a:bodyPr wrap="none" anchor="ctr">
            <a:spAutoFit/>
          </a:bodyPr>
          <a:lstStyle/>
          <a:p>
            <a:pPr algn="ctr"/>
            <a:r>
              <a:rPr sz="1300" b="1">
                <a:solidFill>
                  <a:srgbClr val="FFFFFF"/>
                </a:solidFill>
                <a:latin typeface="Calibri"/>
              </a:rPr>
              <a:t>Security</a:t>
            </a:r>
          </a:p>
        </p:txBody>
      </p:sp>
      <p:sp>
        <p:nvSpPr>
          <p:cNvPr id="20" name="TextBox 19"/>
          <p:cNvSpPr txBox="1"/>
          <p:nvPr/>
        </p:nvSpPr>
        <p:spPr>
          <a:xfrm>
            <a:off x="4427067" y="1828800"/>
            <a:ext cx="1508760" cy="1188720"/>
          </a:xfrm>
          <a:prstGeom prst="rect">
            <a:avLst/>
          </a:prstGeom>
          <a:noFill/>
        </p:spPr>
        <p:txBody>
          <a:bodyPr wrap="square">
            <a:spAutoFit/>
          </a:bodyPr>
          <a:lstStyle/>
          <a:p>
            <a:pPr algn="ctr"/>
            <a:r>
              <a:rPr sz="1000">
                <a:solidFill>
                  <a:srgbClr val="2C3E50"/>
                </a:solidFill>
                <a:latin typeface="Calibri"/>
              </a:rPr>
              <a:t>Security Center
malware scan
+ SDDP PHI scan</a:t>
            </a:r>
          </a:p>
        </p:txBody>
      </p:sp>
      <p:cxnSp>
        <p:nvCxnSpPr>
          <p:cNvPr id="21" name="Connector 20"/>
          <p:cNvCxnSpPr/>
          <p:nvPr/>
        </p:nvCxnSpPr>
        <p:spPr>
          <a:xfrm>
            <a:off x="6027267.5" y="2194560.0"/>
            <a:ext cx="137160.0" cy="0.0"/>
          </a:xfrm>
          <a:prstGeom prst="line">
            <a:avLst/>
          </a:prstGeom>
          <a:ln w="25400">
            <a:solidFill>
              <a:srgbClr val="FF6B35"/>
            </a:solidFill>
            <a:tailEnd type="triangle" w="med" h="med"/>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6164427" y="1280160"/>
            <a:ext cx="1691640" cy="1828800"/>
          </a:xfrm>
          <a:prstGeom prst="roundRect">
            <a:avLst>
              <a:gd name="adj" fmla="val 8000"/>
            </a:avLst>
          </a:prstGeom>
          <a:solidFill>
            <a:srgbClr val="FFFFFF"/>
          </a:solidFill>
          <a:ln w="25400">
            <a:solidFill>
              <a:srgbClr val="CC4F1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164427" y="1280160"/>
            <a:ext cx="1691640" cy="457200"/>
          </a:xfrm>
          <a:prstGeom prst="rect">
            <a:avLst/>
          </a:prstGeom>
          <a:solidFill>
            <a:srgbClr val="CC4F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164427" y="1280160"/>
            <a:ext cx="1691640" cy="457200"/>
          </a:xfrm>
          <a:prstGeom prst="rect">
            <a:avLst/>
          </a:prstGeom>
          <a:noFill/>
        </p:spPr>
        <p:txBody>
          <a:bodyPr wrap="none" anchor="ctr">
            <a:spAutoFit/>
          </a:bodyPr>
          <a:lstStyle/>
          <a:p>
            <a:pPr algn="ctr"/>
            <a:r>
              <a:rPr sz="1300" b="1">
                <a:solidFill>
                  <a:srgbClr val="FFFFFF"/>
                </a:solidFill>
                <a:latin typeface="Calibri"/>
              </a:rPr>
              <a:t>Parse</a:t>
            </a:r>
          </a:p>
        </p:txBody>
      </p:sp>
      <p:sp>
        <p:nvSpPr>
          <p:cNvPr id="25" name="TextBox 24"/>
          <p:cNvSpPr txBox="1"/>
          <p:nvPr/>
        </p:nvSpPr>
        <p:spPr>
          <a:xfrm>
            <a:off x="6255867" y="1828800"/>
            <a:ext cx="1508760" cy="1188720"/>
          </a:xfrm>
          <a:prstGeom prst="rect">
            <a:avLst/>
          </a:prstGeom>
          <a:noFill/>
        </p:spPr>
        <p:txBody>
          <a:bodyPr wrap="square">
            <a:spAutoFit/>
          </a:bodyPr>
          <a:lstStyle/>
          <a:p>
            <a:pPr algn="ctr"/>
            <a:r>
              <a:rPr sz="1000">
                <a:solidFill>
                  <a:srgbClr val="2C3E50"/>
                </a:solidFill>
                <a:latin typeface="Calibri"/>
              </a:rPr>
              <a:t>DocMind +
Qwen-VL-Max
(complex pages)</a:t>
            </a:r>
          </a:p>
        </p:txBody>
      </p:sp>
      <p:cxnSp>
        <p:nvCxnSpPr>
          <p:cNvPr id="26" name="Connector 25"/>
          <p:cNvCxnSpPr/>
          <p:nvPr/>
        </p:nvCxnSpPr>
        <p:spPr>
          <a:xfrm>
            <a:off x="7856067.5" y="2194560.0"/>
            <a:ext cx="137160.0" cy="0.0"/>
          </a:xfrm>
          <a:prstGeom prst="line">
            <a:avLst/>
          </a:prstGeom>
          <a:ln w="25400">
            <a:solidFill>
              <a:srgbClr val="FF6B35"/>
            </a:solidFill>
            <a:tailEnd type="triangle" w="med" h="med"/>
          </a:ln>
        </p:spPr>
        <p:style>
          <a:lnRef idx="2">
            <a:schemeClr val="accent1"/>
          </a:lnRef>
          <a:fillRef idx="0">
            <a:schemeClr val="accent1"/>
          </a:fillRef>
          <a:effectRef idx="1">
            <a:schemeClr val="accent1"/>
          </a:effectRef>
          <a:fontRef idx="minor">
            <a:schemeClr val="tx1"/>
          </a:fontRef>
        </p:style>
      </p:cxnSp>
      <p:sp>
        <p:nvSpPr>
          <p:cNvPr id="27" name="Rounded Rectangle 26"/>
          <p:cNvSpPr/>
          <p:nvPr/>
        </p:nvSpPr>
        <p:spPr>
          <a:xfrm>
            <a:off x="7993227" y="1280160"/>
            <a:ext cx="1691640" cy="1828800"/>
          </a:xfrm>
          <a:prstGeom prst="roundRect">
            <a:avLst>
              <a:gd name="adj" fmla="val 8000"/>
            </a:avLst>
          </a:prstGeom>
          <a:solidFill>
            <a:srgbClr val="FFFFFF"/>
          </a:solidFill>
          <a:ln w="25400">
            <a:solidFill>
              <a:srgbClr val="FF6B3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993227" y="1280160"/>
            <a:ext cx="1691640" cy="457200"/>
          </a:xfrm>
          <a:prstGeom prst="rect">
            <a:avLst/>
          </a:prstGeom>
          <a:solidFill>
            <a:srgbClr val="FF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993227" y="1280160"/>
            <a:ext cx="1691640" cy="457200"/>
          </a:xfrm>
          <a:prstGeom prst="rect">
            <a:avLst/>
          </a:prstGeom>
          <a:noFill/>
        </p:spPr>
        <p:txBody>
          <a:bodyPr wrap="none" anchor="ctr">
            <a:spAutoFit/>
          </a:bodyPr>
          <a:lstStyle/>
          <a:p>
            <a:pPr algn="ctr"/>
            <a:r>
              <a:rPr sz="1300" b="1">
                <a:solidFill>
                  <a:srgbClr val="FFFFFF"/>
                </a:solidFill>
                <a:latin typeface="Calibri"/>
              </a:rPr>
              <a:t>Chunk + Embed</a:t>
            </a:r>
          </a:p>
        </p:txBody>
      </p:sp>
      <p:sp>
        <p:nvSpPr>
          <p:cNvPr id="30" name="TextBox 29"/>
          <p:cNvSpPr txBox="1"/>
          <p:nvPr/>
        </p:nvSpPr>
        <p:spPr>
          <a:xfrm>
            <a:off x="8084667" y="1828800"/>
            <a:ext cx="1508760" cy="1188720"/>
          </a:xfrm>
          <a:prstGeom prst="rect">
            <a:avLst/>
          </a:prstGeom>
          <a:noFill/>
        </p:spPr>
        <p:txBody>
          <a:bodyPr wrap="square">
            <a:spAutoFit/>
          </a:bodyPr>
          <a:lstStyle/>
          <a:p>
            <a:pPr algn="ctr"/>
            <a:r>
              <a:rPr sz="1000">
                <a:solidFill>
                  <a:srgbClr val="2C3E50"/>
                </a:solidFill>
                <a:latin typeface="Calibri"/>
              </a:rPr>
              <a:t>Hierarchical 1500/300
text-embedding-v4
+ multimodal v-plus</a:t>
            </a:r>
          </a:p>
        </p:txBody>
      </p:sp>
      <p:cxnSp>
        <p:nvCxnSpPr>
          <p:cNvPr id="31" name="Connector 30"/>
          <p:cNvCxnSpPr/>
          <p:nvPr/>
        </p:nvCxnSpPr>
        <p:spPr>
          <a:xfrm>
            <a:off x="9684867.5" y="2194560.0"/>
            <a:ext cx="137160.0" cy="0.0"/>
          </a:xfrm>
          <a:prstGeom prst="line">
            <a:avLst/>
          </a:prstGeom>
          <a:ln w="25400">
            <a:solidFill>
              <a:srgbClr val="FF6B35"/>
            </a:solidFill>
            <a:tailEnd type="triangle" w="med" h="med"/>
          </a:ln>
        </p:spPr>
        <p:style>
          <a:lnRef idx="2">
            <a:schemeClr val="accent1"/>
          </a:lnRef>
          <a:fillRef idx="0">
            <a:schemeClr val="accent1"/>
          </a:fillRef>
          <a:effectRef idx="1">
            <a:schemeClr val="accent1"/>
          </a:effectRef>
          <a:fontRef idx="minor">
            <a:schemeClr val="tx1"/>
          </a:fontRef>
        </p:style>
      </p:cxnSp>
      <p:sp>
        <p:nvSpPr>
          <p:cNvPr id="32" name="Rounded Rectangle 31"/>
          <p:cNvSpPr/>
          <p:nvPr/>
        </p:nvSpPr>
        <p:spPr>
          <a:xfrm>
            <a:off x="9822027" y="1280160"/>
            <a:ext cx="1691640" cy="1828800"/>
          </a:xfrm>
          <a:prstGeom prst="roundRect">
            <a:avLst>
              <a:gd name="adj" fmla="val 8000"/>
            </a:avLst>
          </a:prstGeom>
          <a:solidFill>
            <a:srgbClr val="FFFFFF"/>
          </a:solidFill>
          <a:ln w="25400">
            <a:solidFill>
              <a:srgbClr val="CC4F1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9822027" y="1280160"/>
            <a:ext cx="1691640" cy="457200"/>
          </a:xfrm>
          <a:prstGeom prst="rect">
            <a:avLst/>
          </a:prstGeom>
          <a:solidFill>
            <a:srgbClr val="CC4F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9822027" y="1280160"/>
            <a:ext cx="1691640" cy="457200"/>
          </a:xfrm>
          <a:prstGeom prst="rect">
            <a:avLst/>
          </a:prstGeom>
          <a:noFill/>
        </p:spPr>
        <p:txBody>
          <a:bodyPr wrap="none" anchor="ctr">
            <a:spAutoFit/>
          </a:bodyPr>
          <a:lstStyle/>
          <a:p>
            <a:pPr algn="ctr"/>
            <a:r>
              <a:rPr sz="1300" b="1">
                <a:solidFill>
                  <a:srgbClr val="FFFFFF"/>
                </a:solidFill>
                <a:latin typeface="Calibri"/>
              </a:rPr>
              <a:t>Index</a:t>
            </a:r>
          </a:p>
        </p:txBody>
      </p:sp>
      <p:sp>
        <p:nvSpPr>
          <p:cNvPr id="35" name="TextBox 34"/>
          <p:cNvSpPr txBox="1"/>
          <p:nvPr/>
        </p:nvSpPr>
        <p:spPr>
          <a:xfrm>
            <a:off x="9913467" y="1828800"/>
            <a:ext cx="1508760" cy="1188720"/>
          </a:xfrm>
          <a:prstGeom prst="rect">
            <a:avLst/>
          </a:prstGeom>
          <a:noFill/>
        </p:spPr>
        <p:txBody>
          <a:bodyPr wrap="square">
            <a:spAutoFit/>
          </a:bodyPr>
          <a:lstStyle/>
          <a:p>
            <a:pPr algn="ctr"/>
            <a:r>
              <a:rPr sz="1000">
                <a:solidFill>
                  <a:srgbClr val="2C3E50"/>
                </a:solidFill>
                <a:latin typeface="Calibri"/>
              </a:rPr>
              <a:t>OpenSearch HA
+ AnalyticDB PG
GraphRAG</a:t>
            </a:r>
          </a:p>
        </p:txBody>
      </p:sp>
      <p:graphicFrame>
        <p:nvGraphicFramePr>
          <p:cNvPr id="36" name="Table 35"/>
          <p:cNvGraphicFramePr>
            <a:graphicFrameLocks noGrp="1"/>
          </p:cNvGraphicFramePr>
          <p:nvPr/>
        </p:nvGraphicFramePr>
        <p:xfrm>
          <a:off x="457200" y="3383280"/>
          <a:ext cx="11247120" cy="2377440"/>
        </p:xfrm>
        <a:graphic>
          <a:graphicData uri="http://schemas.openxmlformats.org/drawingml/2006/table">
            <a:tbl>
              <a:tblPr firstRow="1" bandRow="1">
                <a:tableStyleId>{5C22544A-7EE6-4342-B048-85BDC9FD1C3A}</a:tableStyleId>
              </a:tblPr>
              <a:tblGrid>
                <a:gridCol w="3749040"/>
                <a:gridCol w="3749040"/>
                <a:gridCol w="3749040"/>
              </a:tblGrid>
              <a:tr h="396240">
                <a:tc>
                  <a:txBody>
                    <a:bodyPr lIns="73152" tIns="36576"/>
                    <a:lstStyle/>
                    <a:p>
                      <a:r>
                        <a:rPr sz="1100" b="1">
                          <a:solidFill>
                            <a:srgbClr val="FFFFFF"/>
                          </a:solidFill>
                          <a:latin typeface="Calibri"/>
                        </a:rPr>
                        <a:t>Source</a:t>
                      </a:r>
                    </a:p>
                  </a:txBody>
                  <a:tcPr>
                    <a:solidFill>
                      <a:srgbClr val="FF6B35"/>
                    </a:solidFill>
                  </a:tcPr>
                </a:tc>
                <a:tc>
                  <a:txBody>
                    <a:bodyPr lIns="73152" tIns="36576"/>
                    <a:lstStyle/>
                    <a:p>
                      <a:r>
                        <a:rPr sz="1100" b="1">
                          <a:solidFill>
                            <a:srgbClr val="FFFFFF"/>
                          </a:solidFill>
                          <a:latin typeface="Calibri"/>
                        </a:rPr>
                        <a:t>Cadence</a:t>
                      </a:r>
                    </a:p>
                  </a:txBody>
                  <a:tcPr>
                    <a:solidFill>
                      <a:srgbClr val="FF6B35"/>
                    </a:solidFill>
                  </a:tcPr>
                </a:tc>
                <a:tc>
                  <a:txBody>
                    <a:bodyPr lIns="73152" tIns="36576"/>
                    <a:lstStyle/>
                    <a:p>
                      <a:r>
                        <a:rPr sz="1100" b="1">
                          <a:solidFill>
                            <a:srgbClr val="FFFFFF"/>
                          </a:solidFill>
                          <a:latin typeface="Calibri"/>
                        </a:rPr>
                        <a:t>Trigger Mechanism</a:t>
                      </a:r>
                    </a:p>
                  </a:txBody>
                  <a:tcPr>
                    <a:solidFill>
                      <a:srgbClr val="FF6B35"/>
                    </a:solidFill>
                  </a:tcPr>
                </a:tc>
              </a:tr>
              <a:tr h="396240">
                <a:tc>
                  <a:txBody>
                    <a:bodyPr lIns="73152" tIns="27432"/>
                    <a:lstStyle/>
                    <a:p>
                      <a:r>
                        <a:rPr sz="950">
                          <a:solidFill>
                            <a:srgbClr val="2C3E50"/>
                          </a:solidFill>
                          <a:latin typeface="Calibri"/>
                        </a:rPr>
                        <a:t>WHO ICD-11 API</a:t>
                      </a:r>
                    </a:p>
                  </a:txBody>
                  <a:tcPr>
                    <a:solidFill>
                      <a:srgbClr val="FFFFFF"/>
                    </a:solidFill>
                  </a:tcPr>
                </a:tc>
                <a:tc>
                  <a:txBody>
                    <a:bodyPr lIns="73152" tIns="27432"/>
                    <a:lstStyle/>
                    <a:p>
                      <a:r>
                        <a:rPr sz="950">
                          <a:solidFill>
                            <a:srgbClr val="2C3E50"/>
                          </a:solidFill>
                          <a:latin typeface="Calibri"/>
                        </a:rPr>
                        <a:t>Daily 02:00 SGT</a:t>
                      </a:r>
                    </a:p>
                  </a:txBody>
                  <a:tcPr>
                    <a:solidFill>
                      <a:srgbClr val="FFFFFF"/>
                    </a:solidFill>
                  </a:tcPr>
                </a:tc>
                <a:tc>
                  <a:txBody>
                    <a:bodyPr lIns="73152" tIns="27432"/>
                    <a:lstStyle/>
                    <a:p>
                      <a:r>
                        <a:rPr sz="950">
                          <a:solidFill>
                            <a:srgbClr val="2C3E50"/>
                          </a:solidFill>
                          <a:latin typeface="Calibri"/>
                        </a:rPr>
                        <a:t>CloudOps Scheduler cron, OAuth2 client</a:t>
                      </a:r>
                    </a:p>
                  </a:txBody>
                  <a:tcPr>
                    <a:solidFill>
                      <a:srgbClr val="FFFFFF"/>
                    </a:solidFill>
                  </a:tcPr>
                </a:tc>
              </a:tr>
              <a:tr h="396240">
                <a:tc>
                  <a:txBody>
                    <a:bodyPr lIns="73152" tIns="27432"/>
                    <a:lstStyle/>
                    <a:p>
                      <a:r>
                        <a:rPr sz="950">
                          <a:solidFill>
                            <a:srgbClr val="2C3E50"/>
                          </a:solidFill>
                          <a:latin typeface="Calibri"/>
                        </a:rPr>
                        <a:t>WHO guideline PDFs</a:t>
                      </a:r>
                    </a:p>
                  </a:txBody>
                  <a:tcPr>
                    <a:solidFill>
                      <a:srgbClr val="FFE8DA"/>
                    </a:solidFill>
                  </a:tcPr>
                </a:tc>
                <a:tc>
                  <a:txBody>
                    <a:bodyPr lIns="73152" tIns="27432"/>
                    <a:lstStyle/>
                    <a:p>
                      <a:r>
                        <a:rPr sz="950">
                          <a:solidFill>
                            <a:srgbClr val="2C3E50"/>
                          </a:solidFill>
                          <a:latin typeface="Calibri"/>
                        </a:rPr>
                        <a:t>Monthly day 1 02:30 SGT + RSS</a:t>
                      </a:r>
                    </a:p>
                  </a:txBody>
                  <a:tcPr>
                    <a:solidFill>
                      <a:srgbClr val="FFE8DA"/>
                    </a:solidFill>
                  </a:tcPr>
                </a:tc>
                <a:tc>
                  <a:txBody>
                    <a:bodyPr lIns="73152" tIns="27432"/>
                    <a:lstStyle/>
                    <a:p>
                      <a:r>
                        <a:rPr sz="950">
                          <a:solidFill>
                            <a:srgbClr val="2C3E50"/>
                          </a:solidFill>
                          <a:latin typeface="Calibri"/>
                        </a:rPr>
                        <a:t>Cron + API Gateway webhook</a:t>
                      </a:r>
                    </a:p>
                  </a:txBody>
                  <a:tcPr>
                    <a:solidFill>
                      <a:srgbClr val="FFE8DA"/>
                    </a:solidFill>
                  </a:tcPr>
                </a:tc>
              </a:tr>
              <a:tr h="396240">
                <a:tc>
                  <a:txBody>
                    <a:bodyPr lIns="73152" tIns="27432"/>
                    <a:lstStyle/>
                    <a:p>
                      <a:r>
                        <a:rPr sz="950">
                          <a:solidFill>
                            <a:srgbClr val="2C3E50"/>
                          </a:solidFill>
                          <a:latin typeface="Calibri"/>
                        </a:rPr>
                        <a:t>Internal trials/protocols</a:t>
                      </a:r>
                    </a:p>
                  </a:txBody>
                  <a:tcPr>
                    <a:solidFill>
                      <a:srgbClr val="FFFFFF"/>
                    </a:solidFill>
                  </a:tcPr>
                </a:tc>
                <a:tc>
                  <a:txBody>
                    <a:bodyPr lIns="73152" tIns="27432"/>
                    <a:lstStyle/>
                    <a:p>
                      <a:r>
                        <a:rPr sz="950">
                          <a:solidFill>
                            <a:srgbClr val="2C3E50"/>
                          </a:solidFill>
                          <a:latin typeface="Calibri"/>
                        </a:rPr>
                        <a:t>Weekly Sun 03:00 SGT + Graph subscription</a:t>
                      </a:r>
                    </a:p>
                  </a:txBody>
                  <a:tcPr>
                    <a:solidFill>
                      <a:srgbClr val="FFFFFF"/>
                    </a:solidFill>
                  </a:tcPr>
                </a:tc>
                <a:tc>
                  <a:txBody>
                    <a:bodyPr lIns="73152" tIns="27432"/>
                    <a:lstStyle/>
                    <a:p>
                      <a:r>
                        <a:rPr sz="950">
                          <a:solidFill>
                            <a:srgbClr val="2C3E50"/>
                          </a:solidFill>
                          <a:latin typeface="Calibri"/>
                        </a:rPr>
                        <a:t>Cron + Microsoft Graph webhook</a:t>
                      </a:r>
                    </a:p>
                  </a:txBody>
                  <a:tcPr>
                    <a:solidFill>
                      <a:srgbClr val="FFFFFF"/>
                    </a:solidFill>
                  </a:tcPr>
                </a:tc>
              </a:tr>
              <a:tr h="396240">
                <a:tc>
                  <a:txBody>
                    <a:bodyPr lIns="73152" tIns="27432"/>
                    <a:lstStyle/>
                    <a:p>
                      <a:r>
                        <a:rPr sz="950">
                          <a:solidFill>
                            <a:srgbClr val="2C3E50"/>
                          </a:solidFill>
                          <a:latin typeface="Calibri"/>
                        </a:rPr>
                        <a:t>Manual upload</a:t>
                      </a:r>
                    </a:p>
                  </a:txBody>
                  <a:tcPr>
                    <a:solidFill>
                      <a:srgbClr val="FFE8DA"/>
                    </a:solidFill>
                  </a:tcPr>
                </a:tc>
                <a:tc>
                  <a:txBody>
                    <a:bodyPr lIns="73152" tIns="27432"/>
                    <a:lstStyle/>
                    <a:p>
                      <a:r>
                        <a:rPr sz="950">
                          <a:solidFill>
                            <a:srgbClr val="2C3E50"/>
                          </a:solidFill>
                          <a:latin typeface="Calibri"/>
                        </a:rPr>
                        <a:t>Any time</a:t>
                      </a:r>
                    </a:p>
                  </a:txBody>
                  <a:tcPr>
                    <a:solidFill>
                      <a:srgbClr val="FFE8DA"/>
                    </a:solidFill>
                  </a:tcPr>
                </a:tc>
                <a:tc>
                  <a:txBody>
                    <a:bodyPr lIns="73152" tIns="27432"/>
                    <a:lstStyle/>
                    <a:p>
                      <a:r>
                        <a:rPr sz="950">
                          <a:solidFill>
                            <a:srgbClr val="2C3E50"/>
                          </a:solidFill>
                          <a:latin typeface="Calibri"/>
                        </a:rPr>
                        <a:t>Upload Portal over IPsec VPN</a:t>
                      </a:r>
                    </a:p>
                  </a:txBody>
                  <a:tcPr>
                    <a:solidFill>
                      <a:srgbClr val="FFE8DA"/>
                    </a:solidFill>
                  </a:tcPr>
                </a:tc>
              </a:tr>
              <a:tr h="396240">
                <a:tc>
                  <a:txBody>
                    <a:bodyPr lIns="73152" tIns="27432"/>
                    <a:lstStyle/>
                    <a:p>
                      <a:r>
                        <a:rPr sz="950">
                          <a:solidFill>
                            <a:srgbClr val="2C3E50"/>
                          </a:solidFill>
                          <a:latin typeface="Calibri"/>
                        </a:rPr>
                        <a:t>Full reconciliation</a:t>
                      </a:r>
                    </a:p>
                  </a:txBody>
                  <a:tcPr>
                    <a:solidFill>
                      <a:srgbClr val="FFFFFF"/>
                    </a:solidFill>
                  </a:tcPr>
                </a:tc>
                <a:tc>
                  <a:txBody>
                    <a:bodyPr lIns="73152" tIns="27432"/>
                    <a:lstStyle/>
                    <a:p>
                      <a:r>
                        <a:rPr sz="950">
                          <a:solidFill>
                            <a:srgbClr val="2C3E50"/>
                          </a:solidFill>
                          <a:latin typeface="Calibri"/>
                        </a:rPr>
                        <a:t>Monthly day 1 04:00 SGT</a:t>
                      </a:r>
                    </a:p>
                  </a:txBody>
                  <a:tcPr>
                    <a:solidFill>
                      <a:srgbClr val="FFFFFF"/>
                    </a:solidFill>
                  </a:tcPr>
                </a:tc>
                <a:tc>
                  <a:txBody>
                    <a:bodyPr lIns="73152" tIns="27432"/>
                    <a:lstStyle/>
                    <a:p>
                      <a:r>
                        <a:rPr sz="950">
                          <a:solidFill>
                            <a:srgbClr val="2C3E50"/>
                          </a:solidFill>
                          <a:latin typeface="Calibri"/>
                        </a:rPr>
                        <a:t>Function Workflow</a:t>
                      </a:r>
                    </a:p>
                  </a:txBody>
                  <a:tcPr>
                    <a:solidFill>
                      <a:srgbClr val="FFFFFF"/>
                    </a:solidFill>
                  </a:tcPr>
                </a:tc>
              </a:tr>
            </a:tbl>
          </a:graphicData>
        </a:graphic>
      </p:graphicFrame>
      <p:sp>
        <p:nvSpPr>
          <p:cNvPr id="37" name="TextBox 36"/>
          <p:cNvSpPr txBox="1"/>
          <p:nvPr/>
        </p:nvSpPr>
        <p:spPr>
          <a:xfrm>
            <a:off x="457200" y="5852160"/>
            <a:ext cx="11247120" cy="457200"/>
          </a:xfrm>
          <a:prstGeom prst="rect">
            <a:avLst/>
          </a:prstGeom>
          <a:noFill/>
        </p:spPr>
        <p:txBody>
          <a:bodyPr wrap="square">
            <a:spAutoFit/>
          </a:bodyPr>
          <a:lstStyle/>
          <a:p>
            <a:pPr algn="ctr"/>
            <a:r>
              <a:rPr sz="1100" i="1">
                <a:solidFill>
                  <a:srgbClr val="646464"/>
                </a:solidFill>
                <a:latin typeface="Calibri"/>
              </a:rPr>
              <a:t>Cache invalidation: tag-based (source:document_id) on every successful upsert. Tair flushes only matching keys.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FF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28600"/>
            <a:ext cx="11247120" cy="640080"/>
          </a:xfrm>
          <a:prstGeom prst="rect">
            <a:avLst/>
          </a:prstGeom>
          <a:noFill/>
        </p:spPr>
        <p:txBody>
          <a:bodyPr wrap="none" lIns="0" tIns="0">
            <a:spAutoFit/>
          </a:bodyPr>
          <a:lstStyle/>
          <a:p>
            <a:pPr algn="l"/>
            <a:r>
              <a:rPr sz="2600" b="1">
                <a:solidFill>
                  <a:srgbClr val="CC4F1F"/>
                </a:solidFill>
                <a:latin typeface="Calibri"/>
              </a:rPr>
              <a:t>Model Orchestration &amp; RAG</a:t>
            </a:r>
          </a:p>
        </p:txBody>
      </p:sp>
      <p:sp>
        <p:nvSpPr>
          <p:cNvPr id="5" name="Rectangle 4"/>
          <p:cNvSpPr/>
          <p:nvPr/>
        </p:nvSpPr>
        <p:spPr>
          <a:xfrm>
            <a:off x="457200" y="868680"/>
            <a:ext cx="1828800" cy="36576"/>
          </a:xfrm>
          <a:prstGeom prst="rect">
            <a:avLst/>
          </a:prstGeom>
          <a:solidFill>
            <a:srgbClr val="FF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446520"/>
            <a:ext cx="11247120" cy="274320"/>
          </a:xfrm>
          <a:prstGeom prst="rect">
            <a:avLst/>
          </a:prstGeom>
          <a:noFill/>
        </p:spPr>
        <p:txBody>
          <a:bodyPr wrap="none">
            <a:spAutoFit/>
          </a:bodyPr>
          <a:lstStyle/>
          <a:p>
            <a:pPr algn="r"/>
            <a:r>
              <a:rPr sz="900" i="1">
                <a:solidFill>
                  <a:srgbClr val="646464"/>
                </a:solidFill>
                <a:latin typeface="Calibri"/>
              </a:rPr>
              <a:t>Nova Health Tech · Clinical GenAI Assistant · Alibaba Cloud Singapore</a:t>
            </a:r>
          </a:p>
        </p:txBody>
      </p:sp>
      <p:sp>
        <p:nvSpPr>
          <p:cNvPr id="7" name="TextBox 6"/>
          <p:cNvSpPr txBox="1"/>
          <p:nvPr/>
        </p:nvSpPr>
        <p:spPr>
          <a:xfrm>
            <a:off x="457200" y="1188720"/>
            <a:ext cx="11247120" cy="365760"/>
          </a:xfrm>
          <a:prstGeom prst="rect">
            <a:avLst/>
          </a:prstGeom>
          <a:noFill/>
        </p:spPr>
        <p:txBody>
          <a:bodyPr wrap="none">
            <a:spAutoFit/>
          </a:bodyPr>
          <a:lstStyle/>
          <a:p>
            <a:r>
              <a:rPr sz="1500" b="1">
                <a:solidFill>
                  <a:srgbClr val="CC4F1F"/>
                </a:solidFill>
                <a:latin typeface="Calibri"/>
              </a:rPr>
              <a:t>Query Flow (8 stages)</a:t>
            </a:r>
          </a:p>
        </p:txBody>
      </p:sp>
      <p:sp>
        <p:nvSpPr>
          <p:cNvPr id="8" name="Rounded Rectangle 7"/>
          <p:cNvSpPr/>
          <p:nvPr/>
        </p:nvSpPr>
        <p:spPr>
          <a:xfrm>
            <a:off x="435711" y="1691640"/>
            <a:ext cx="1335024" cy="1371600"/>
          </a:xfrm>
          <a:prstGeom prst="roundRect">
            <a:avLst>
              <a:gd name="adj" fmla="val 10000"/>
            </a:avLst>
          </a:prstGeom>
          <a:solidFill>
            <a:srgbClr val="FFE8DA"/>
          </a:solidFill>
          <a:ln w="19050">
            <a:solidFill>
              <a:srgbClr val="FF6B3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92911" y="1783080"/>
            <a:ext cx="411480" cy="411480"/>
          </a:xfrm>
          <a:prstGeom prst="ellipse">
            <a:avLst/>
          </a:prstGeom>
          <a:solidFill>
            <a:srgbClr val="FF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35711" y="1783080"/>
            <a:ext cx="1335024" cy="411480"/>
          </a:xfrm>
          <a:prstGeom prst="rect">
            <a:avLst/>
          </a:prstGeom>
          <a:noFill/>
        </p:spPr>
        <p:txBody>
          <a:bodyPr wrap="none">
            <a:spAutoFit/>
          </a:bodyPr>
          <a:lstStyle/>
          <a:p>
            <a:pPr algn="ctr"/>
            <a:r>
              <a:rPr sz="1400" b="1">
                <a:solidFill>
                  <a:srgbClr val="FFFFFF"/>
                </a:solidFill>
                <a:latin typeface="Calibri"/>
              </a:rPr>
              <a:t>1</a:t>
            </a:r>
          </a:p>
        </p:txBody>
      </p:sp>
      <p:sp>
        <p:nvSpPr>
          <p:cNvPr id="11" name="TextBox 10"/>
          <p:cNvSpPr txBox="1"/>
          <p:nvPr/>
        </p:nvSpPr>
        <p:spPr>
          <a:xfrm>
            <a:off x="435711" y="2286000"/>
            <a:ext cx="1335024" cy="274320"/>
          </a:xfrm>
          <a:prstGeom prst="rect">
            <a:avLst/>
          </a:prstGeom>
          <a:noFill/>
        </p:spPr>
        <p:txBody>
          <a:bodyPr wrap="none">
            <a:spAutoFit/>
          </a:bodyPr>
          <a:lstStyle/>
          <a:p>
            <a:pPr algn="ctr"/>
            <a:r>
              <a:rPr sz="1100" b="1">
                <a:solidFill>
                  <a:srgbClr val="CC4F1F"/>
                </a:solidFill>
                <a:latin typeface="Calibri"/>
              </a:rPr>
              <a:t>PHI Mask</a:t>
            </a:r>
          </a:p>
        </p:txBody>
      </p:sp>
      <p:sp>
        <p:nvSpPr>
          <p:cNvPr id="12" name="TextBox 11"/>
          <p:cNvSpPr txBox="1"/>
          <p:nvPr/>
        </p:nvSpPr>
        <p:spPr>
          <a:xfrm>
            <a:off x="481431" y="2560320"/>
            <a:ext cx="1243584" cy="502920"/>
          </a:xfrm>
          <a:prstGeom prst="rect">
            <a:avLst/>
          </a:prstGeom>
          <a:noFill/>
        </p:spPr>
        <p:txBody>
          <a:bodyPr wrap="square">
            <a:spAutoFit/>
          </a:bodyPr>
          <a:lstStyle/>
          <a:p>
            <a:pPr algn="ctr"/>
            <a:r>
              <a:rPr sz="850">
                <a:solidFill>
                  <a:srgbClr val="2C3E50"/>
                </a:solidFill>
                <a:latin typeface="Calibri"/>
              </a:rPr>
              <a:t>DataWorks SDDP
tokenize</a:t>
            </a:r>
          </a:p>
        </p:txBody>
      </p:sp>
      <p:sp>
        <p:nvSpPr>
          <p:cNvPr id="13" name="Rounded Rectangle 12"/>
          <p:cNvSpPr/>
          <p:nvPr/>
        </p:nvSpPr>
        <p:spPr>
          <a:xfrm>
            <a:off x="1862175" y="1691640"/>
            <a:ext cx="1335024" cy="1371600"/>
          </a:xfrm>
          <a:prstGeom prst="roundRect">
            <a:avLst>
              <a:gd name="adj" fmla="val 10000"/>
            </a:avLst>
          </a:prstGeom>
          <a:solidFill>
            <a:srgbClr val="FFFFFF"/>
          </a:solidFill>
          <a:ln w="19050">
            <a:solidFill>
              <a:srgbClr val="FF6B3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2319375" y="1783080"/>
            <a:ext cx="411480" cy="411480"/>
          </a:xfrm>
          <a:prstGeom prst="ellipse">
            <a:avLst/>
          </a:prstGeom>
          <a:solidFill>
            <a:srgbClr val="FF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862175" y="1783080"/>
            <a:ext cx="1335024" cy="411480"/>
          </a:xfrm>
          <a:prstGeom prst="rect">
            <a:avLst/>
          </a:prstGeom>
          <a:noFill/>
        </p:spPr>
        <p:txBody>
          <a:bodyPr wrap="none">
            <a:spAutoFit/>
          </a:bodyPr>
          <a:lstStyle/>
          <a:p>
            <a:pPr algn="ctr"/>
            <a:r>
              <a:rPr sz="1400" b="1">
                <a:solidFill>
                  <a:srgbClr val="FFFFFF"/>
                </a:solidFill>
                <a:latin typeface="Calibri"/>
              </a:rPr>
              <a:t>2</a:t>
            </a:r>
          </a:p>
        </p:txBody>
      </p:sp>
      <p:sp>
        <p:nvSpPr>
          <p:cNvPr id="16" name="TextBox 15"/>
          <p:cNvSpPr txBox="1"/>
          <p:nvPr/>
        </p:nvSpPr>
        <p:spPr>
          <a:xfrm>
            <a:off x="1862175" y="2286000"/>
            <a:ext cx="1335024" cy="274320"/>
          </a:xfrm>
          <a:prstGeom prst="rect">
            <a:avLst/>
          </a:prstGeom>
          <a:noFill/>
        </p:spPr>
        <p:txBody>
          <a:bodyPr wrap="none">
            <a:spAutoFit/>
          </a:bodyPr>
          <a:lstStyle/>
          <a:p>
            <a:pPr algn="ctr"/>
            <a:r>
              <a:rPr sz="1100" b="1">
                <a:solidFill>
                  <a:srgbClr val="CC4F1F"/>
                </a:solidFill>
                <a:latin typeface="Calibri"/>
              </a:rPr>
              <a:t>Cache Lookup</a:t>
            </a:r>
          </a:p>
        </p:txBody>
      </p:sp>
      <p:sp>
        <p:nvSpPr>
          <p:cNvPr id="17" name="TextBox 16"/>
          <p:cNvSpPr txBox="1"/>
          <p:nvPr/>
        </p:nvSpPr>
        <p:spPr>
          <a:xfrm>
            <a:off x="1907895" y="2560320"/>
            <a:ext cx="1243584" cy="502920"/>
          </a:xfrm>
          <a:prstGeom prst="rect">
            <a:avLst/>
          </a:prstGeom>
          <a:noFill/>
        </p:spPr>
        <p:txBody>
          <a:bodyPr wrap="square">
            <a:spAutoFit/>
          </a:bodyPr>
          <a:lstStyle/>
          <a:p>
            <a:pPr algn="ctr"/>
            <a:r>
              <a:rPr sz="850">
                <a:solidFill>
                  <a:srgbClr val="2C3E50"/>
                </a:solidFill>
                <a:latin typeface="Calibri"/>
              </a:rPr>
              <a:t>Tair semantic
L1 hit ~30-45%</a:t>
            </a:r>
          </a:p>
        </p:txBody>
      </p:sp>
      <p:sp>
        <p:nvSpPr>
          <p:cNvPr id="18" name="Rounded Rectangle 17"/>
          <p:cNvSpPr/>
          <p:nvPr/>
        </p:nvSpPr>
        <p:spPr>
          <a:xfrm>
            <a:off x="3288639" y="1691640"/>
            <a:ext cx="1335024" cy="1371600"/>
          </a:xfrm>
          <a:prstGeom prst="roundRect">
            <a:avLst>
              <a:gd name="adj" fmla="val 10000"/>
            </a:avLst>
          </a:prstGeom>
          <a:solidFill>
            <a:srgbClr val="FFE8DA"/>
          </a:solidFill>
          <a:ln w="19050">
            <a:solidFill>
              <a:srgbClr val="FF6B3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3745839" y="1783080"/>
            <a:ext cx="411480" cy="411480"/>
          </a:xfrm>
          <a:prstGeom prst="ellipse">
            <a:avLst/>
          </a:prstGeom>
          <a:solidFill>
            <a:srgbClr val="FF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288639" y="1783080"/>
            <a:ext cx="1335024" cy="411480"/>
          </a:xfrm>
          <a:prstGeom prst="rect">
            <a:avLst/>
          </a:prstGeom>
          <a:noFill/>
        </p:spPr>
        <p:txBody>
          <a:bodyPr wrap="none">
            <a:spAutoFit/>
          </a:bodyPr>
          <a:lstStyle/>
          <a:p>
            <a:pPr algn="ctr"/>
            <a:r>
              <a:rPr sz="1400" b="1">
                <a:solidFill>
                  <a:srgbClr val="FFFFFF"/>
                </a:solidFill>
                <a:latin typeface="Calibri"/>
              </a:rPr>
              <a:t>3</a:t>
            </a:r>
          </a:p>
        </p:txBody>
      </p:sp>
      <p:sp>
        <p:nvSpPr>
          <p:cNvPr id="21" name="TextBox 20"/>
          <p:cNvSpPr txBox="1"/>
          <p:nvPr/>
        </p:nvSpPr>
        <p:spPr>
          <a:xfrm>
            <a:off x="3288639" y="2286000"/>
            <a:ext cx="1335024" cy="274320"/>
          </a:xfrm>
          <a:prstGeom prst="rect">
            <a:avLst/>
          </a:prstGeom>
          <a:noFill/>
        </p:spPr>
        <p:txBody>
          <a:bodyPr wrap="none">
            <a:spAutoFit/>
          </a:bodyPr>
          <a:lstStyle/>
          <a:p>
            <a:pPr algn="ctr"/>
            <a:r>
              <a:rPr sz="1100" b="1">
                <a:solidFill>
                  <a:srgbClr val="CC4F1F"/>
                </a:solidFill>
                <a:latin typeface="Calibri"/>
              </a:rPr>
              <a:t>Lane Pick</a:t>
            </a:r>
          </a:p>
        </p:txBody>
      </p:sp>
      <p:sp>
        <p:nvSpPr>
          <p:cNvPr id="22" name="TextBox 21"/>
          <p:cNvSpPr txBox="1"/>
          <p:nvPr/>
        </p:nvSpPr>
        <p:spPr>
          <a:xfrm>
            <a:off x="3334359" y="2560320"/>
            <a:ext cx="1243584" cy="502920"/>
          </a:xfrm>
          <a:prstGeom prst="rect">
            <a:avLst/>
          </a:prstGeom>
          <a:noFill/>
        </p:spPr>
        <p:txBody>
          <a:bodyPr wrap="square">
            <a:spAutoFit/>
          </a:bodyPr>
          <a:lstStyle/>
          <a:p>
            <a:pPr algn="ctr"/>
            <a:r>
              <a:rPr sz="850">
                <a:solidFill>
                  <a:srgbClr val="2C3E50"/>
                </a:solidFill>
                <a:latin typeface="Calibri"/>
              </a:rPr>
              <a:t>Emergency or
Complex (if/else)</a:t>
            </a:r>
          </a:p>
        </p:txBody>
      </p:sp>
      <p:sp>
        <p:nvSpPr>
          <p:cNvPr id="23" name="Rounded Rectangle 22"/>
          <p:cNvSpPr/>
          <p:nvPr/>
        </p:nvSpPr>
        <p:spPr>
          <a:xfrm>
            <a:off x="4715103" y="1691640"/>
            <a:ext cx="1335024" cy="1371600"/>
          </a:xfrm>
          <a:prstGeom prst="roundRect">
            <a:avLst>
              <a:gd name="adj" fmla="val 10000"/>
            </a:avLst>
          </a:prstGeom>
          <a:solidFill>
            <a:srgbClr val="FFFFFF"/>
          </a:solidFill>
          <a:ln w="19050">
            <a:solidFill>
              <a:srgbClr val="FF6B3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5172303" y="1783080"/>
            <a:ext cx="411480" cy="411480"/>
          </a:xfrm>
          <a:prstGeom prst="ellipse">
            <a:avLst/>
          </a:prstGeom>
          <a:solidFill>
            <a:srgbClr val="FF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715103" y="1783080"/>
            <a:ext cx="1335024" cy="411480"/>
          </a:xfrm>
          <a:prstGeom prst="rect">
            <a:avLst/>
          </a:prstGeom>
          <a:noFill/>
        </p:spPr>
        <p:txBody>
          <a:bodyPr wrap="none">
            <a:spAutoFit/>
          </a:bodyPr>
          <a:lstStyle/>
          <a:p>
            <a:pPr algn="ctr"/>
            <a:r>
              <a:rPr sz="1400" b="1">
                <a:solidFill>
                  <a:srgbClr val="FFFFFF"/>
                </a:solidFill>
                <a:latin typeface="Calibri"/>
              </a:rPr>
              <a:t>4</a:t>
            </a:r>
          </a:p>
        </p:txBody>
      </p:sp>
      <p:sp>
        <p:nvSpPr>
          <p:cNvPr id="26" name="TextBox 25"/>
          <p:cNvSpPr txBox="1"/>
          <p:nvPr/>
        </p:nvSpPr>
        <p:spPr>
          <a:xfrm>
            <a:off x="4715103" y="2286000"/>
            <a:ext cx="1335024" cy="274320"/>
          </a:xfrm>
          <a:prstGeom prst="rect">
            <a:avLst/>
          </a:prstGeom>
          <a:noFill/>
        </p:spPr>
        <p:txBody>
          <a:bodyPr wrap="none">
            <a:spAutoFit/>
          </a:bodyPr>
          <a:lstStyle/>
          <a:p>
            <a:pPr algn="ctr"/>
            <a:r>
              <a:rPr sz="1100" b="1">
                <a:solidFill>
                  <a:srgbClr val="CC4F1F"/>
                </a:solidFill>
                <a:latin typeface="Calibri"/>
              </a:rPr>
              <a:t>Route</a:t>
            </a:r>
          </a:p>
        </p:txBody>
      </p:sp>
      <p:sp>
        <p:nvSpPr>
          <p:cNvPr id="27" name="TextBox 26"/>
          <p:cNvSpPr txBox="1"/>
          <p:nvPr/>
        </p:nvSpPr>
        <p:spPr>
          <a:xfrm>
            <a:off x="4760823" y="2560320"/>
            <a:ext cx="1243584" cy="502920"/>
          </a:xfrm>
          <a:prstGeom prst="rect">
            <a:avLst/>
          </a:prstGeom>
          <a:noFill/>
        </p:spPr>
        <p:txBody>
          <a:bodyPr wrap="square">
            <a:spAutoFit/>
          </a:bodyPr>
          <a:lstStyle/>
          <a:p>
            <a:pPr algn="ctr"/>
            <a:r>
              <a:rPr sz="850">
                <a:solidFill>
                  <a:srgbClr val="2C3E50"/>
                </a:solidFill>
                <a:latin typeface="Calibri"/>
              </a:rPr>
              <a:t>Router Agent
or direct</a:t>
            </a:r>
          </a:p>
        </p:txBody>
      </p:sp>
      <p:sp>
        <p:nvSpPr>
          <p:cNvPr id="28" name="Rounded Rectangle 27"/>
          <p:cNvSpPr/>
          <p:nvPr/>
        </p:nvSpPr>
        <p:spPr>
          <a:xfrm>
            <a:off x="6141567" y="1691640"/>
            <a:ext cx="1335024" cy="1371600"/>
          </a:xfrm>
          <a:prstGeom prst="roundRect">
            <a:avLst>
              <a:gd name="adj" fmla="val 10000"/>
            </a:avLst>
          </a:prstGeom>
          <a:solidFill>
            <a:srgbClr val="FFE8DA"/>
          </a:solidFill>
          <a:ln w="19050">
            <a:solidFill>
              <a:srgbClr val="FF6B3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6598767" y="1783080"/>
            <a:ext cx="411480" cy="411480"/>
          </a:xfrm>
          <a:prstGeom prst="ellipse">
            <a:avLst/>
          </a:prstGeom>
          <a:solidFill>
            <a:srgbClr val="FF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141567" y="1783080"/>
            <a:ext cx="1335024" cy="411480"/>
          </a:xfrm>
          <a:prstGeom prst="rect">
            <a:avLst/>
          </a:prstGeom>
          <a:noFill/>
        </p:spPr>
        <p:txBody>
          <a:bodyPr wrap="none">
            <a:spAutoFit/>
          </a:bodyPr>
          <a:lstStyle/>
          <a:p>
            <a:pPr algn="ctr"/>
            <a:r>
              <a:rPr sz="1400" b="1">
                <a:solidFill>
                  <a:srgbClr val="FFFFFF"/>
                </a:solidFill>
                <a:latin typeface="Calibri"/>
              </a:rPr>
              <a:t>5</a:t>
            </a:r>
          </a:p>
        </p:txBody>
      </p:sp>
      <p:sp>
        <p:nvSpPr>
          <p:cNvPr id="31" name="TextBox 30"/>
          <p:cNvSpPr txBox="1"/>
          <p:nvPr/>
        </p:nvSpPr>
        <p:spPr>
          <a:xfrm>
            <a:off x="6141567" y="2286000"/>
            <a:ext cx="1335024" cy="274320"/>
          </a:xfrm>
          <a:prstGeom prst="rect">
            <a:avLst/>
          </a:prstGeom>
          <a:noFill/>
        </p:spPr>
        <p:txBody>
          <a:bodyPr wrap="none">
            <a:spAutoFit/>
          </a:bodyPr>
          <a:lstStyle/>
          <a:p>
            <a:pPr algn="ctr"/>
            <a:r>
              <a:rPr sz="1100" b="1">
                <a:solidFill>
                  <a:srgbClr val="CC4F1F"/>
                </a:solidFill>
                <a:latin typeface="Calibri"/>
              </a:rPr>
              <a:t>Retrieve</a:t>
            </a:r>
          </a:p>
        </p:txBody>
      </p:sp>
      <p:sp>
        <p:nvSpPr>
          <p:cNvPr id="32" name="TextBox 31"/>
          <p:cNvSpPr txBox="1"/>
          <p:nvPr/>
        </p:nvSpPr>
        <p:spPr>
          <a:xfrm>
            <a:off x="6187287" y="2560320"/>
            <a:ext cx="1243584" cy="502920"/>
          </a:xfrm>
          <a:prstGeom prst="rect">
            <a:avLst/>
          </a:prstGeom>
          <a:noFill/>
        </p:spPr>
        <p:txBody>
          <a:bodyPr wrap="square">
            <a:spAutoFit/>
          </a:bodyPr>
          <a:lstStyle/>
          <a:p>
            <a:pPr algn="ctr"/>
            <a:r>
              <a:rPr sz="850">
                <a:solidFill>
                  <a:srgbClr val="2C3E50"/>
                </a:solidFill>
                <a:latin typeface="Calibri"/>
              </a:rPr>
              <a:t>Vector + Graph
+ rerank</a:t>
            </a:r>
          </a:p>
        </p:txBody>
      </p:sp>
      <p:sp>
        <p:nvSpPr>
          <p:cNvPr id="33" name="Rounded Rectangle 32"/>
          <p:cNvSpPr/>
          <p:nvPr/>
        </p:nvSpPr>
        <p:spPr>
          <a:xfrm>
            <a:off x="7568031" y="1691640"/>
            <a:ext cx="1335024" cy="1371600"/>
          </a:xfrm>
          <a:prstGeom prst="roundRect">
            <a:avLst>
              <a:gd name="adj" fmla="val 10000"/>
            </a:avLst>
          </a:prstGeom>
          <a:solidFill>
            <a:srgbClr val="FFFFFF"/>
          </a:solidFill>
          <a:ln w="19050">
            <a:solidFill>
              <a:srgbClr val="FF6B3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8025231" y="1783080"/>
            <a:ext cx="411480" cy="411480"/>
          </a:xfrm>
          <a:prstGeom prst="ellipse">
            <a:avLst/>
          </a:prstGeom>
          <a:solidFill>
            <a:srgbClr val="FF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568031" y="1783080"/>
            <a:ext cx="1335024" cy="411480"/>
          </a:xfrm>
          <a:prstGeom prst="rect">
            <a:avLst/>
          </a:prstGeom>
          <a:noFill/>
        </p:spPr>
        <p:txBody>
          <a:bodyPr wrap="none">
            <a:spAutoFit/>
          </a:bodyPr>
          <a:lstStyle/>
          <a:p>
            <a:pPr algn="ctr"/>
            <a:r>
              <a:rPr sz="1400" b="1">
                <a:solidFill>
                  <a:srgbClr val="FFFFFF"/>
                </a:solidFill>
                <a:latin typeface="Calibri"/>
              </a:rPr>
              <a:t>6</a:t>
            </a:r>
          </a:p>
        </p:txBody>
      </p:sp>
      <p:sp>
        <p:nvSpPr>
          <p:cNvPr id="36" name="TextBox 35"/>
          <p:cNvSpPr txBox="1"/>
          <p:nvPr/>
        </p:nvSpPr>
        <p:spPr>
          <a:xfrm>
            <a:off x="7568031" y="2286000"/>
            <a:ext cx="1335024" cy="274320"/>
          </a:xfrm>
          <a:prstGeom prst="rect">
            <a:avLst/>
          </a:prstGeom>
          <a:noFill/>
        </p:spPr>
        <p:txBody>
          <a:bodyPr wrap="none">
            <a:spAutoFit/>
          </a:bodyPr>
          <a:lstStyle/>
          <a:p>
            <a:pPr algn="ctr"/>
            <a:r>
              <a:rPr sz="1100" b="1">
                <a:solidFill>
                  <a:srgbClr val="CC4F1F"/>
                </a:solidFill>
                <a:latin typeface="Calibri"/>
              </a:rPr>
              <a:t>Generate</a:t>
            </a:r>
          </a:p>
        </p:txBody>
      </p:sp>
      <p:sp>
        <p:nvSpPr>
          <p:cNvPr id="37" name="TextBox 36"/>
          <p:cNvSpPr txBox="1"/>
          <p:nvPr/>
        </p:nvSpPr>
        <p:spPr>
          <a:xfrm>
            <a:off x="7613751" y="2560320"/>
            <a:ext cx="1243584" cy="502920"/>
          </a:xfrm>
          <a:prstGeom prst="rect">
            <a:avLst/>
          </a:prstGeom>
          <a:noFill/>
        </p:spPr>
        <p:txBody>
          <a:bodyPr wrap="square">
            <a:spAutoFit/>
          </a:bodyPr>
          <a:lstStyle/>
          <a:p>
            <a:pPr algn="ctr"/>
            <a:r>
              <a:rPr sz="850">
                <a:solidFill>
                  <a:srgbClr val="2C3E50"/>
                </a:solidFill>
                <a:latin typeface="Calibri"/>
              </a:rPr>
              <a:t>Qwen Flash/Plus/
VL/Student</a:t>
            </a:r>
          </a:p>
        </p:txBody>
      </p:sp>
      <p:sp>
        <p:nvSpPr>
          <p:cNvPr id="38" name="Rounded Rectangle 37"/>
          <p:cNvSpPr/>
          <p:nvPr/>
        </p:nvSpPr>
        <p:spPr>
          <a:xfrm>
            <a:off x="8994495" y="1691640"/>
            <a:ext cx="1335024" cy="1371600"/>
          </a:xfrm>
          <a:prstGeom prst="roundRect">
            <a:avLst>
              <a:gd name="adj" fmla="val 10000"/>
            </a:avLst>
          </a:prstGeom>
          <a:solidFill>
            <a:srgbClr val="FFE8DA"/>
          </a:solidFill>
          <a:ln w="19050">
            <a:solidFill>
              <a:srgbClr val="FF6B3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9451695" y="1783080"/>
            <a:ext cx="411480" cy="411480"/>
          </a:xfrm>
          <a:prstGeom prst="ellipse">
            <a:avLst/>
          </a:prstGeom>
          <a:solidFill>
            <a:srgbClr val="FF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8994495" y="1783080"/>
            <a:ext cx="1335024" cy="411480"/>
          </a:xfrm>
          <a:prstGeom prst="rect">
            <a:avLst/>
          </a:prstGeom>
          <a:noFill/>
        </p:spPr>
        <p:txBody>
          <a:bodyPr wrap="none">
            <a:spAutoFit/>
          </a:bodyPr>
          <a:lstStyle/>
          <a:p>
            <a:pPr algn="ctr"/>
            <a:r>
              <a:rPr sz="1400" b="1">
                <a:solidFill>
                  <a:srgbClr val="FFFFFF"/>
                </a:solidFill>
                <a:latin typeface="Calibri"/>
              </a:rPr>
              <a:t>7</a:t>
            </a:r>
          </a:p>
        </p:txBody>
      </p:sp>
      <p:sp>
        <p:nvSpPr>
          <p:cNvPr id="41" name="TextBox 40"/>
          <p:cNvSpPr txBox="1"/>
          <p:nvPr/>
        </p:nvSpPr>
        <p:spPr>
          <a:xfrm>
            <a:off x="8994495" y="2286000"/>
            <a:ext cx="1335024" cy="274320"/>
          </a:xfrm>
          <a:prstGeom prst="rect">
            <a:avLst/>
          </a:prstGeom>
          <a:noFill/>
        </p:spPr>
        <p:txBody>
          <a:bodyPr wrap="none">
            <a:spAutoFit/>
          </a:bodyPr>
          <a:lstStyle/>
          <a:p>
            <a:pPr algn="ctr"/>
            <a:r>
              <a:rPr sz="1100" b="1">
                <a:solidFill>
                  <a:srgbClr val="CC4F1F"/>
                </a:solidFill>
                <a:latin typeface="Calibri"/>
              </a:rPr>
              <a:t>Validate</a:t>
            </a:r>
          </a:p>
        </p:txBody>
      </p:sp>
      <p:sp>
        <p:nvSpPr>
          <p:cNvPr id="42" name="TextBox 41"/>
          <p:cNvSpPr txBox="1"/>
          <p:nvPr/>
        </p:nvSpPr>
        <p:spPr>
          <a:xfrm>
            <a:off x="9040215" y="2560320"/>
            <a:ext cx="1243584" cy="502920"/>
          </a:xfrm>
          <a:prstGeom prst="rect">
            <a:avLst/>
          </a:prstGeom>
          <a:noFill/>
        </p:spPr>
        <p:txBody>
          <a:bodyPr wrap="square">
            <a:spAutoFit/>
          </a:bodyPr>
          <a:lstStyle/>
          <a:p>
            <a:pPr algn="ctr"/>
            <a:r>
              <a:rPr sz="850">
                <a:solidFill>
                  <a:srgbClr val="2C3E50"/>
                </a:solidFill>
                <a:latin typeface="Calibri"/>
              </a:rPr>
              <a:t>Moderation +
grounding ≥ 0.7</a:t>
            </a:r>
          </a:p>
        </p:txBody>
      </p:sp>
      <p:sp>
        <p:nvSpPr>
          <p:cNvPr id="43" name="Rounded Rectangle 42"/>
          <p:cNvSpPr/>
          <p:nvPr/>
        </p:nvSpPr>
        <p:spPr>
          <a:xfrm>
            <a:off x="10420959" y="1691640"/>
            <a:ext cx="1335024" cy="1371600"/>
          </a:xfrm>
          <a:prstGeom prst="roundRect">
            <a:avLst>
              <a:gd name="adj" fmla="val 10000"/>
            </a:avLst>
          </a:prstGeom>
          <a:solidFill>
            <a:srgbClr val="FFFFFF"/>
          </a:solidFill>
          <a:ln w="19050">
            <a:solidFill>
              <a:srgbClr val="FF6B3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Oval 43"/>
          <p:cNvSpPr/>
          <p:nvPr/>
        </p:nvSpPr>
        <p:spPr>
          <a:xfrm>
            <a:off x="10878159" y="1783080"/>
            <a:ext cx="411480" cy="411480"/>
          </a:xfrm>
          <a:prstGeom prst="ellipse">
            <a:avLst/>
          </a:prstGeom>
          <a:solidFill>
            <a:srgbClr val="FF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10420959" y="1783080"/>
            <a:ext cx="1335024" cy="411480"/>
          </a:xfrm>
          <a:prstGeom prst="rect">
            <a:avLst/>
          </a:prstGeom>
          <a:noFill/>
        </p:spPr>
        <p:txBody>
          <a:bodyPr wrap="none">
            <a:spAutoFit/>
          </a:bodyPr>
          <a:lstStyle/>
          <a:p>
            <a:pPr algn="ctr"/>
            <a:r>
              <a:rPr sz="1400" b="1">
                <a:solidFill>
                  <a:srgbClr val="FFFFFF"/>
                </a:solidFill>
                <a:latin typeface="Calibri"/>
              </a:rPr>
              <a:t>8</a:t>
            </a:r>
          </a:p>
        </p:txBody>
      </p:sp>
      <p:sp>
        <p:nvSpPr>
          <p:cNvPr id="46" name="TextBox 45"/>
          <p:cNvSpPr txBox="1"/>
          <p:nvPr/>
        </p:nvSpPr>
        <p:spPr>
          <a:xfrm>
            <a:off x="10420959" y="2286000"/>
            <a:ext cx="1335024" cy="274320"/>
          </a:xfrm>
          <a:prstGeom prst="rect">
            <a:avLst/>
          </a:prstGeom>
          <a:noFill/>
        </p:spPr>
        <p:txBody>
          <a:bodyPr wrap="none">
            <a:spAutoFit/>
          </a:bodyPr>
          <a:lstStyle/>
          <a:p>
            <a:pPr algn="ctr"/>
            <a:r>
              <a:rPr sz="1100" b="1">
                <a:solidFill>
                  <a:srgbClr val="CC4F1F"/>
                </a:solidFill>
                <a:latin typeface="Calibri"/>
              </a:rPr>
              <a:t>Stream</a:t>
            </a:r>
          </a:p>
        </p:txBody>
      </p:sp>
      <p:sp>
        <p:nvSpPr>
          <p:cNvPr id="47" name="TextBox 46"/>
          <p:cNvSpPr txBox="1"/>
          <p:nvPr/>
        </p:nvSpPr>
        <p:spPr>
          <a:xfrm>
            <a:off x="10466679" y="2560320"/>
            <a:ext cx="1243584" cy="502920"/>
          </a:xfrm>
          <a:prstGeom prst="rect">
            <a:avLst/>
          </a:prstGeom>
          <a:noFill/>
        </p:spPr>
        <p:txBody>
          <a:bodyPr wrap="square">
            <a:spAutoFit/>
          </a:bodyPr>
          <a:lstStyle/>
          <a:p>
            <a:pPr algn="ctr"/>
            <a:r>
              <a:rPr sz="850">
                <a:solidFill>
                  <a:srgbClr val="2C3E50"/>
                </a:solidFill>
                <a:latin typeface="Calibri"/>
              </a:rPr>
              <a:t>SSE to UI
+ audit log</a:t>
            </a:r>
          </a:p>
        </p:txBody>
      </p:sp>
      <p:sp>
        <p:nvSpPr>
          <p:cNvPr id="48" name="TextBox 47"/>
          <p:cNvSpPr txBox="1"/>
          <p:nvPr/>
        </p:nvSpPr>
        <p:spPr>
          <a:xfrm>
            <a:off x="457200" y="3291840"/>
            <a:ext cx="11247120" cy="365760"/>
          </a:xfrm>
          <a:prstGeom prst="rect">
            <a:avLst/>
          </a:prstGeom>
          <a:noFill/>
        </p:spPr>
        <p:txBody>
          <a:bodyPr wrap="none">
            <a:spAutoFit/>
          </a:bodyPr>
          <a:lstStyle/>
          <a:p>
            <a:r>
              <a:rPr sz="1500" b="1">
                <a:solidFill>
                  <a:srgbClr val="CC4F1F"/>
                </a:solidFill>
                <a:latin typeface="Calibri"/>
              </a:rPr>
              <a:t>Model Lineup</a:t>
            </a:r>
          </a:p>
        </p:txBody>
      </p:sp>
      <p:graphicFrame>
        <p:nvGraphicFramePr>
          <p:cNvPr id="49" name="Table 48"/>
          <p:cNvGraphicFramePr>
            <a:graphicFrameLocks noGrp="1"/>
          </p:cNvGraphicFramePr>
          <p:nvPr/>
        </p:nvGraphicFramePr>
        <p:xfrm>
          <a:off x="457200" y="3703320"/>
          <a:ext cx="11247120" cy="2606040"/>
        </p:xfrm>
        <a:graphic>
          <a:graphicData uri="http://schemas.openxmlformats.org/drawingml/2006/table">
            <a:tbl>
              <a:tblPr firstRow="1" bandRow="1">
                <a:tableStyleId>{5C22544A-7EE6-4342-B048-85BDC9FD1C3A}</a:tableStyleId>
              </a:tblPr>
              <a:tblGrid>
                <a:gridCol w="3749040"/>
                <a:gridCol w="3749040"/>
                <a:gridCol w="3749040"/>
              </a:tblGrid>
              <a:tr h="434340">
                <a:tc>
                  <a:txBody>
                    <a:bodyPr lIns="73152" tIns="36576"/>
                    <a:lstStyle/>
                    <a:p>
                      <a:r>
                        <a:rPr sz="1100" b="1">
                          <a:solidFill>
                            <a:srgbClr val="FFFFFF"/>
                          </a:solidFill>
                          <a:latin typeface="Calibri"/>
                        </a:rPr>
                        <a:t>Role</a:t>
                      </a:r>
                    </a:p>
                  </a:txBody>
                  <a:tcPr>
                    <a:solidFill>
                      <a:srgbClr val="FF6B35"/>
                    </a:solidFill>
                  </a:tcPr>
                </a:tc>
                <a:tc>
                  <a:txBody>
                    <a:bodyPr lIns="73152" tIns="36576"/>
                    <a:lstStyle/>
                    <a:p>
                      <a:r>
                        <a:rPr sz="1100" b="1">
                          <a:solidFill>
                            <a:srgbClr val="FFFFFF"/>
                          </a:solidFill>
                          <a:latin typeface="Calibri"/>
                        </a:rPr>
                        <a:t>Model</a:t>
                      </a:r>
                    </a:p>
                  </a:txBody>
                  <a:tcPr>
                    <a:solidFill>
                      <a:srgbClr val="FF6B35"/>
                    </a:solidFill>
                  </a:tcPr>
                </a:tc>
                <a:tc>
                  <a:txBody>
                    <a:bodyPr lIns="73152" tIns="36576"/>
                    <a:lstStyle/>
                    <a:p>
                      <a:r>
                        <a:rPr sz="1100" b="1">
                          <a:solidFill>
                            <a:srgbClr val="FFFFFF"/>
                          </a:solidFill>
                          <a:latin typeface="Calibri"/>
                        </a:rPr>
                        <a:t>Cost / Notes</a:t>
                      </a:r>
                    </a:p>
                  </a:txBody>
                  <a:tcPr>
                    <a:solidFill>
                      <a:srgbClr val="FF6B35"/>
                    </a:solidFill>
                  </a:tcPr>
                </a:tc>
              </a:tr>
              <a:tr h="434340">
                <a:tc>
                  <a:txBody>
                    <a:bodyPr lIns="73152" tIns="27432"/>
                    <a:lstStyle/>
                    <a:p>
                      <a:r>
                        <a:rPr sz="950">
                          <a:solidFill>
                            <a:srgbClr val="2C3E50"/>
                          </a:solidFill>
                          <a:latin typeface="Calibri"/>
                        </a:rPr>
                        <a:t>Emergency fast lane</a:t>
                      </a:r>
                    </a:p>
                  </a:txBody>
                  <a:tcPr>
                    <a:solidFill>
                      <a:srgbClr val="FFFFFF"/>
                    </a:solidFill>
                  </a:tcPr>
                </a:tc>
                <a:tc>
                  <a:txBody>
                    <a:bodyPr lIns="73152" tIns="27432"/>
                    <a:lstStyle/>
                    <a:p>
                      <a:r>
                        <a:rPr sz="950">
                          <a:solidFill>
                            <a:srgbClr val="2C3E50"/>
                          </a:solidFill>
                          <a:latin typeface="Calibri"/>
                        </a:rPr>
                        <a:t>Qwen3.5-Flash (1M ctx, streaming)</a:t>
                      </a:r>
                    </a:p>
                  </a:txBody>
                  <a:tcPr>
                    <a:solidFill>
                      <a:srgbClr val="FFFFFF"/>
                    </a:solidFill>
                  </a:tcPr>
                </a:tc>
                <a:tc>
                  <a:txBody>
                    <a:bodyPr lIns="73152" tIns="27432"/>
                    <a:lstStyle/>
                    <a:p>
                      <a:r>
                        <a:rPr sz="950">
                          <a:solidFill>
                            <a:srgbClr val="2C3E50"/>
                          </a:solidFill>
                          <a:latin typeface="Calibri"/>
                        </a:rPr>
                        <a:t>$0.10/1M in, $0.40/1M out · TTFT ~300ms with cache</a:t>
                      </a:r>
                    </a:p>
                  </a:txBody>
                  <a:tcPr>
                    <a:solidFill>
                      <a:srgbClr val="FFFFFF"/>
                    </a:solidFill>
                  </a:tcPr>
                </a:tc>
              </a:tr>
              <a:tr h="434340">
                <a:tc>
                  <a:txBody>
                    <a:bodyPr lIns="73152" tIns="27432"/>
                    <a:lstStyle/>
                    <a:p>
                      <a:r>
                        <a:rPr sz="950">
                          <a:solidFill>
                            <a:srgbClr val="2C3E50"/>
                          </a:solidFill>
                          <a:latin typeface="Calibri"/>
                        </a:rPr>
                        <a:t>Complex lane teacher</a:t>
                      </a:r>
                    </a:p>
                  </a:txBody>
                  <a:tcPr>
                    <a:solidFill>
                      <a:srgbClr val="FFE8DA"/>
                    </a:solidFill>
                  </a:tcPr>
                </a:tc>
                <a:tc>
                  <a:txBody>
                    <a:bodyPr lIns="73152" tIns="27432"/>
                    <a:lstStyle/>
                    <a:p>
                      <a:r>
                        <a:rPr sz="950">
                          <a:solidFill>
                            <a:srgbClr val="2C3E50"/>
                          </a:solidFill>
                          <a:latin typeface="Calibri"/>
                        </a:rPr>
                        <a:t>Qwen3.5-Plus</a:t>
                      </a:r>
                    </a:p>
                  </a:txBody>
                  <a:tcPr>
                    <a:solidFill>
                      <a:srgbClr val="FFE8DA"/>
                    </a:solidFill>
                  </a:tcPr>
                </a:tc>
                <a:tc>
                  <a:txBody>
                    <a:bodyPr lIns="73152" tIns="27432"/>
                    <a:lstStyle/>
                    <a:p>
                      <a:r>
                        <a:rPr sz="950">
                          <a:solidFill>
                            <a:srgbClr val="2C3E50"/>
                          </a:solidFill>
                          <a:latin typeface="Calibri"/>
                        </a:rPr>
                        <a:t>$0.40/1M in, $2.40/1M out · 1M ctx, multimodal</a:t>
                      </a:r>
                    </a:p>
                  </a:txBody>
                  <a:tcPr>
                    <a:solidFill>
                      <a:srgbClr val="FFE8DA"/>
                    </a:solidFill>
                  </a:tcPr>
                </a:tc>
              </a:tr>
              <a:tr h="434340">
                <a:tc>
                  <a:txBody>
                    <a:bodyPr lIns="73152" tIns="27432"/>
                    <a:lstStyle/>
                    <a:p>
                      <a:r>
                        <a:rPr sz="950">
                          <a:solidFill>
                            <a:srgbClr val="2C3E50"/>
                          </a:solidFill>
                          <a:latin typeface="Calibri"/>
                        </a:rPr>
                        <a:t>Complex lane student</a:t>
                      </a:r>
                    </a:p>
                  </a:txBody>
                  <a:tcPr>
                    <a:solidFill>
                      <a:srgbClr val="FFFFFF"/>
                    </a:solidFill>
                  </a:tcPr>
                </a:tc>
                <a:tc>
                  <a:txBody>
                    <a:bodyPr lIns="73152" tIns="27432"/>
                    <a:lstStyle/>
                    <a:p>
                      <a:r>
                        <a:rPr sz="950">
                          <a:solidFill>
                            <a:srgbClr val="2C3E50"/>
                          </a:solidFill>
                          <a:latin typeface="Calibri"/>
                        </a:rPr>
                        <a:t>Qwen3-8B on PAI-EAS (60% traffic)</a:t>
                      </a:r>
                    </a:p>
                  </a:txBody>
                  <a:tcPr>
                    <a:solidFill>
                      <a:srgbClr val="FFFFFF"/>
                    </a:solidFill>
                  </a:tcPr>
                </a:tc>
                <a:tc>
                  <a:txBody>
                    <a:bodyPr lIns="73152" tIns="27432"/>
                    <a:lstStyle/>
                    <a:p>
                      <a:r>
                        <a:rPr sz="950">
                          <a:solidFill>
                            <a:srgbClr val="2C3E50"/>
                          </a:solidFill>
                          <a:latin typeface="Calibri"/>
                        </a:rPr>
                        <a:t>SFT+LoRA distilled · single A10 GPU · ~$0.0003/call</a:t>
                      </a:r>
                    </a:p>
                  </a:txBody>
                  <a:tcPr>
                    <a:solidFill>
                      <a:srgbClr val="FFFFFF"/>
                    </a:solidFill>
                  </a:tcPr>
                </a:tc>
              </a:tr>
              <a:tr h="434340">
                <a:tc>
                  <a:txBody>
                    <a:bodyPr lIns="73152" tIns="27432"/>
                    <a:lstStyle/>
                    <a:p>
                      <a:r>
                        <a:rPr sz="950">
                          <a:solidFill>
                            <a:srgbClr val="2C3E50"/>
                          </a:solidFill>
                          <a:latin typeface="Calibri"/>
                        </a:rPr>
                        <a:t>Vision specialist</a:t>
                      </a:r>
                    </a:p>
                  </a:txBody>
                  <a:tcPr>
                    <a:solidFill>
                      <a:srgbClr val="FFE8DA"/>
                    </a:solidFill>
                  </a:tcPr>
                </a:tc>
                <a:tc>
                  <a:txBody>
                    <a:bodyPr lIns="73152" tIns="27432"/>
                    <a:lstStyle/>
                    <a:p>
                      <a:r>
                        <a:rPr sz="950">
                          <a:solidFill>
                            <a:srgbClr val="2C3E50"/>
                          </a:solidFill>
                          <a:latin typeface="Calibri"/>
                        </a:rPr>
                        <a:t>Qwen3-VL-Plus</a:t>
                      </a:r>
                    </a:p>
                  </a:txBody>
                  <a:tcPr>
                    <a:solidFill>
                      <a:srgbClr val="FFE8DA"/>
                    </a:solidFill>
                  </a:tcPr>
                </a:tc>
                <a:tc>
                  <a:txBody>
                    <a:bodyPr lIns="73152" tIns="27432"/>
                    <a:lstStyle/>
                    <a:p>
                      <a:r>
                        <a:rPr sz="950">
                          <a:solidFill>
                            <a:srgbClr val="2C3E50"/>
                          </a:solidFill>
                          <a:latin typeface="Calibri"/>
                        </a:rPr>
                        <a:t>Forced on has_image=true (Radiology)</a:t>
                      </a:r>
                    </a:p>
                  </a:txBody>
                  <a:tcPr>
                    <a:solidFill>
                      <a:srgbClr val="FFE8DA"/>
                    </a:solidFill>
                  </a:tcPr>
                </a:tc>
              </a:tr>
              <a:tr h="434340">
                <a:tc>
                  <a:txBody>
                    <a:bodyPr lIns="73152" tIns="27432"/>
                    <a:lstStyle/>
                    <a:p>
                      <a:r>
                        <a:rPr sz="950">
                          <a:solidFill>
                            <a:srgbClr val="2C3E50"/>
                          </a:solidFill>
                          <a:latin typeface="Calibri"/>
                        </a:rPr>
                        <a:t>Router agent</a:t>
                      </a:r>
                    </a:p>
                  </a:txBody>
                  <a:tcPr>
                    <a:solidFill>
                      <a:srgbClr val="FFFFFF"/>
                    </a:solidFill>
                  </a:tcPr>
                </a:tc>
                <a:tc>
                  <a:txBody>
                    <a:bodyPr lIns="73152" tIns="27432"/>
                    <a:lstStyle/>
                    <a:p>
                      <a:r>
                        <a:rPr sz="950">
                          <a:solidFill>
                            <a:srgbClr val="2C3E50"/>
                          </a:solidFill>
                          <a:latin typeface="Calibri"/>
                        </a:rPr>
                        <a:t>Qwen3.5-Flash JSON mode</a:t>
                      </a:r>
                    </a:p>
                  </a:txBody>
                  <a:tcPr>
                    <a:solidFill>
                      <a:srgbClr val="FFFFFF"/>
                    </a:solidFill>
                  </a:tcPr>
                </a:tc>
                <a:tc>
                  <a:txBody>
                    <a:bodyPr lIns="73152" tIns="27432"/>
                    <a:lstStyle/>
                    <a:p>
                      <a:r>
                        <a:rPr sz="950">
                          <a:solidFill>
                            <a:srgbClr val="2C3E50"/>
                          </a:solidFill>
                          <a:latin typeface="Calibri"/>
                        </a:rPr>
                        <a:t>150-200ms p95, structured output</a:t>
                      </a:r>
                    </a:p>
                  </a:txBody>
                  <a:tcPr>
                    <a:solidFill>
                      <a:srgbClr val="FFFFFF"/>
                    </a:solidFill>
                  </a:tcPr>
                </a:tc>
              </a:tr>
            </a:tbl>
          </a:graphicData>
        </a:graphic>
      </p:graphicFrame>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FF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28600"/>
            <a:ext cx="11247120" cy="640080"/>
          </a:xfrm>
          <a:prstGeom prst="rect">
            <a:avLst/>
          </a:prstGeom>
          <a:noFill/>
        </p:spPr>
        <p:txBody>
          <a:bodyPr wrap="none" lIns="0" tIns="0">
            <a:spAutoFit/>
          </a:bodyPr>
          <a:lstStyle/>
          <a:p>
            <a:pPr algn="l"/>
            <a:r>
              <a:rPr sz="2600" b="1">
                <a:solidFill>
                  <a:srgbClr val="CC4F1F"/>
                </a:solidFill>
                <a:latin typeface="Calibri"/>
              </a:rPr>
              <a:t>Security Architecture</a:t>
            </a:r>
          </a:p>
        </p:txBody>
      </p:sp>
      <p:sp>
        <p:nvSpPr>
          <p:cNvPr id="5" name="Rectangle 4"/>
          <p:cNvSpPr/>
          <p:nvPr/>
        </p:nvSpPr>
        <p:spPr>
          <a:xfrm>
            <a:off x="457200" y="868680"/>
            <a:ext cx="1828800" cy="36576"/>
          </a:xfrm>
          <a:prstGeom prst="rect">
            <a:avLst/>
          </a:prstGeom>
          <a:solidFill>
            <a:srgbClr val="FF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446520"/>
            <a:ext cx="11247120" cy="274320"/>
          </a:xfrm>
          <a:prstGeom prst="rect">
            <a:avLst/>
          </a:prstGeom>
          <a:noFill/>
        </p:spPr>
        <p:txBody>
          <a:bodyPr wrap="none">
            <a:spAutoFit/>
          </a:bodyPr>
          <a:lstStyle/>
          <a:p>
            <a:pPr algn="r"/>
            <a:r>
              <a:rPr sz="900" i="1">
                <a:solidFill>
                  <a:srgbClr val="646464"/>
                </a:solidFill>
                <a:latin typeface="Calibri"/>
              </a:rPr>
              <a:t>Nova Health Tech · Clinical GenAI Assistant · Alibaba Cloud Singapore</a:t>
            </a:r>
          </a:p>
        </p:txBody>
      </p:sp>
      <p:sp>
        <p:nvSpPr>
          <p:cNvPr id="7" name="Rounded Rectangle 6"/>
          <p:cNvSpPr/>
          <p:nvPr/>
        </p:nvSpPr>
        <p:spPr>
          <a:xfrm>
            <a:off x="472287" y="1188720"/>
            <a:ext cx="2743200" cy="3200400"/>
          </a:xfrm>
          <a:prstGeom prst="roundRect">
            <a:avLst>
              <a:gd name="adj" fmla="val 5000"/>
            </a:avLst>
          </a:prstGeom>
          <a:solidFill>
            <a:srgbClr val="FFFFFF"/>
          </a:solidFill>
          <a:ln w="25400">
            <a:solidFill>
              <a:srgbClr val="FF6B3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72287" y="1371600"/>
            <a:ext cx="2743200" cy="640080"/>
          </a:xfrm>
          <a:prstGeom prst="rect">
            <a:avLst/>
          </a:prstGeom>
          <a:noFill/>
        </p:spPr>
        <p:txBody>
          <a:bodyPr wrap="none">
            <a:spAutoFit/>
          </a:bodyPr>
          <a:lstStyle/>
          <a:p>
            <a:pPr algn="ctr"/>
            <a:r>
              <a:rPr sz="3600">
                <a:latin typeface="Segoe UI Emoji"/>
              </a:rPr>
              <a:t>🛡️</a:t>
            </a:r>
          </a:p>
        </p:txBody>
      </p:sp>
      <p:sp>
        <p:nvSpPr>
          <p:cNvPr id="9" name="TextBox 8"/>
          <p:cNvSpPr txBox="1"/>
          <p:nvPr/>
        </p:nvSpPr>
        <p:spPr>
          <a:xfrm>
            <a:off x="472287" y="2103120"/>
            <a:ext cx="2743200" cy="365760"/>
          </a:xfrm>
          <a:prstGeom prst="rect">
            <a:avLst/>
          </a:prstGeom>
          <a:noFill/>
        </p:spPr>
        <p:txBody>
          <a:bodyPr wrap="none">
            <a:spAutoFit/>
          </a:bodyPr>
          <a:lstStyle/>
          <a:p>
            <a:pPr algn="ctr"/>
            <a:r>
              <a:rPr sz="1600" b="1">
                <a:solidFill>
                  <a:srgbClr val="CC4F1F"/>
                </a:solidFill>
                <a:latin typeface="Calibri"/>
              </a:rPr>
              <a:t>Edge Security</a:t>
            </a:r>
          </a:p>
        </p:txBody>
      </p:sp>
      <p:sp>
        <p:nvSpPr>
          <p:cNvPr id="10" name="TextBox 9"/>
          <p:cNvSpPr txBox="1"/>
          <p:nvPr/>
        </p:nvSpPr>
        <p:spPr>
          <a:xfrm>
            <a:off x="655167" y="2560320"/>
            <a:ext cx="2377440" cy="1737360"/>
          </a:xfrm>
          <a:prstGeom prst="rect">
            <a:avLst/>
          </a:prstGeom>
          <a:noFill/>
        </p:spPr>
        <p:txBody>
          <a:bodyPr wrap="square">
            <a:spAutoFit/>
          </a:bodyPr>
          <a:lstStyle/>
          <a:p>
            <a:pPr>
              <a:spcAft>
                <a:spcPts val="500"/>
              </a:spcAft>
            </a:pPr>
            <a:r>
              <a:rPr sz="1100" b="1">
                <a:solidFill>
                  <a:srgbClr val="FF6B35"/>
                </a:solidFill>
                <a:latin typeface="Calibri"/>
              </a:rPr>
              <a:t>▸ </a:t>
            </a:r>
            <a:r>
              <a:rPr sz="1100">
                <a:solidFill>
                  <a:srgbClr val="2C3E50"/>
                </a:solidFill>
                <a:latin typeface="Calibri"/>
              </a:rPr>
              <a:t>CDN + Anti-DDoS + WAF</a:t>
            </a:r>
          </a:p>
          <a:p>
            <a:pPr>
              <a:spcAft>
                <a:spcPts val="500"/>
              </a:spcAft>
            </a:pPr>
            <a:r>
              <a:rPr sz="1100" b="1">
                <a:solidFill>
                  <a:srgbClr val="FF6B35"/>
                </a:solidFill>
                <a:latin typeface="Calibri"/>
              </a:rPr>
              <a:t>▸ </a:t>
            </a:r>
            <a:r>
              <a:rPr sz="1100">
                <a:solidFill>
                  <a:srgbClr val="2C3E50"/>
                </a:solidFill>
                <a:latin typeface="Calibri"/>
              </a:rPr>
              <a:t>TLS 1.3 end-to-end</a:t>
            </a:r>
          </a:p>
          <a:p>
            <a:pPr>
              <a:spcAft>
                <a:spcPts val="500"/>
              </a:spcAft>
            </a:pPr>
            <a:r>
              <a:rPr sz="1100" b="1">
                <a:solidFill>
                  <a:srgbClr val="FF6B35"/>
                </a:solidFill>
                <a:latin typeface="Calibri"/>
              </a:rPr>
              <a:t>▸ </a:t>
            </a:r>
            <a:r>
              <a:rPr sz="1100">
                <a:solidFill>
                  <a:srgbClr val="2C3E50"/>
                </a:solidFill>
                <a:latin typeface="Calibri"/>
              </a:rPr>
              <a:t>Per-tenant IP allow-list</a:t>
            </a:r>
          </a:p>
          <a:p>
            <a:pPr>
              <a:spcAft>
                <a:spcPts val="500"/>
              </a:spcAft>
            </a:pPr>
            <a:r>
              <a:rPr sz="1100" b="1">
                <a:solidFill>
                  <a:srgbClr val="FF6B35"/>
                </a:solidFill>
                <a:latin typeface="Calibri"/>
              </a:rPr>
              <a:t>▸ </a:t>
            </a:r>
            <a:r>
              <a:rPr sz="1100">
                <a:solidFill>
                  <a:srgbClr val="2C3E50"/>
                </a:solidFill>
                <a:latin typeface="Calibri"/>
              </a:rPr>
              <a:t>API Gateway rate limits</a:t>
            </a:r>
          </a:p>
        </p:txBody>
      </p:sp>
      <p:sp>
        <p:nvSpPr>
          <p:cNvPr id="11" name="Rounded Rectangle 10"/>
          <p:cNvSpPr/>
          <p:nvPr/>
        </p:nvSpPr>
        <p:spPr>
          <a:xfrm>
            <a:off x="3306927" y="1188720"/>
            <a:ext cx="2743200" cy="3200400"/>
          </a:xfrm>
          <a:prstGeom prst="roundRect">
            <a:avLst>
              <a:gd name="adj" fmla="val 5000"/>
            </a:avLst>
          </a:prstGeom>
          <a:solidFill>
            <a:srgbClr val="FFFFFF"/>
          </a:solidFill>
          <a:ln w="25400">
            <a:solidFill>
              <a:srgbClr val="FF6B3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306927" y="1371600"/>
            <a:ext cx="2743200" cy="640080"/>
          </a:xfrm>
          <a:prstGeom prst="rect">
            <a:avLst/>
          </a:prstGeom>
          <a:noFill/>
        </p:spPr>
        <p:txBody>
          <a:bodyPr wrap="none">
            <a:spAutoFit/>
          </a:bodyPr>
          <a:lstStyle/>
          <a:p>
            <a:pPr algn="ctr"/>
            <a:r>
              <a:rPr sz="3600">
                <a:latin typeface="Segoe UI Emoji"/>
              </a:rPr>
              <a:t>🔐</a:t>
            </a:r>
          </a:p>
        </p:txBody>
      </p:sp>
      <p:sp>
        <p:nvSpPr>
          <p:cNvPr id="13" name="TextBox 12"/>
          <p:cNvSpPr txBox="1"/>
          <p:nvPr/>
        </p:nvSpPr>
        <p:spPr>
          <a:xfrm>
            <a:off x="3306927" y="2103120"/>
            <a:ext cx="2743200" cy="365760"/>
          </a:xfrm>
          <a:prstGeom prst="rect">
            <a:avLst/>
          </a:prstGeom>
          <a:noFill/>
        </p:spPr>
        <p:txBody>
          <a:bodyPr wrap="none">
            <a:spAutoFit/>
          </a:bodyPr>
          <a:lstStyle/>
          <a:p>
            <a:pPr algn="ctr"/>
            <a:r>
              <a:rPr sz="1600" b="1">
                <a:solidFill>
                  <a:srgbClr val="CC4F1F"/>
                </a:solidFill>
                <a:latin typeface="Calibri"/>
              </a:rPr>
              <a:t>PHI Protection</a:t>
            </a:r>
          </a:p>
        </p:txBody>
      </p:sp>
      <p:sp>
        <p:nvSpPr>
          <p:cNvPr id="14" name="TextBox 13"/>
          <p:cNvSpPr txBox="1"/>
          <p:nvPr/>
        </p:nvSpPr>
        <p:spPr>
          <a:xfrm>
            <a:off x="3489807" y="2560320"/>
            <a:ext cx="2377440" cy="1737360"/>
          </a:xfrm>
          <a:prstGeom prst="rect">
            <a:avLst/>
          </a:prstGeom>
          <a:noFill/>
        </p:spPr>
        <p:txBody>
          <a:bodyPr wrap="square">
            <a:spAutoFit/>
          </a:bodyPr>
          <a:lstStyle/>
          <a:p>
            <a:pPr>
              <a:spcAft>
                <a:spcPts val="500"/>
              </a:spcAft>
            </a:pPr>
            <a:r>
              <a:rPr sz="1100" b="1">
                <a:solidFill>
                  <a:srgbClr val="FF6B35"/>
                </a:solidFill>
                <a:latin typeface="Calibri"/>
              </a:rPr>
              <a:t>▸ </a:t>
            </a:r>
            <a:r>
              <a:rPr sz="1100">
                <a:solidFill>
                  <a:srgbClr val="2C3E50"/>
                </a:solidFill>
                <a:latin typeface="Calibri"/>
              </a:rPr>
              <a:t>DataWorks SDDP scan</a:t>
            </a:r>
          </a:p>
          <a:p>
            <a:pPr>
              <a:spcAft>
                <a:spcPts val="500"/>
              </a:spcAft>
            </a:pPr>
            <a:r>
              <a:rPr sz="1100" b="1">
                <a:solidFill>
                  <a:srgbClr val="FF6B35"/>
                </a:solidFill>
                <a:latin typeface="Calibri"/>
              </a:rPr>
              <a:t>▸ </a:t>
            </a:r>
            <a:r>
              <a:rPr sz="1100">
                <a:solidFill>
                  <a:srgbClr val="2C3E50"/>
                </a:solidFill>
                <a:latin typeface="Calibri"/>
              </a:rPr>
              <a:t>Reversible KMS tokens</a:t>
            </a:r>
          </a:p>
          <a:p>
            <a:pPr>
              <a:spcAft>
                <a:spcPts val="500"/>
              </a:spcAft>
            </a:pPr>
            <a:r>
              <a:rPr sz="1100" b="1">
                <a:solidFill>
                  <a:srgbClr val="FF6B35"/>
                </a:solidFill>
                <a:latin typeface="Calibri"/>
              </a:rPr>
              <a:t>▸ </a:t>
            </a:r>
            <a:r>
              <a:rPr sz="1100">
                <a:solidFill>
                  <a:srgbClr val="2C3E50"/>
                </a:solidFill>
                <a:latin typeface="Calibri"/>
              </a:rPr>
              <a:t>Model never sees raw PHI</a:t>
            </a:r>
          </a:p>
          <a:p>
            <a:pPr>
              <a:spcAft>
                <a:spcPts val="500"/>
              </a:spcAft>
            </a:pPr>
            <a:r>
              <a:rPr sz="1100" b="1">
                <a:solidFill>
                  <a:srgbClr val="FF6B35"/>
                </a:solidFill>
                <a:latin typeface="Calibri"/>
              </a:rPr>
              <a:t>▸ </a:t>
            </a:r>
            <a:r>
              <a:rPr sz="1100">
                <a:solidFill>
                  <a:srgbClr val="2C3E50"/>
                </a:solidFill>
                <a:latin typeface="Calibri"/>
              </a:rPr>
              <a:t>Audit logs tokenized only</a:t>
            </a:r>
          </a:p>
        </p:txBody>
      </p:sp>
      <p:sp>
        <p:nvSpPr>
          <p:cNvPr id="15" name="Rounded Rectangle 14"/>
          <p:cNvSpPr/>
          <p:nvPr/>
        </p:nvSpPr>
        <p:spPr>
          <a:xfrm>
            <a:off x="6141567" y="1188720"/>
            <a:ext cx="2743200" cy="3200400"/>
          </a:xfrm>
          <a:prstGeom prst="roundRect">
            <a:avLst>
              <a:gd name="adj" fmla="val 5000"/>
            </a:avLst>
          </a:prstGeom>
          <a:solidFill>
            <a:srgbClr val="FFFFFF"/>
          </a:solidFill>
          <a:ln w="25400">
            <a:solidFill>
              <a:srgbClr val="FF6B3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141567" y="1371600"/>
            <a:ext cx="2743200" cy="640080"/>
          </a:xfrm>
          <a:prstGeom prst="rect">
            <a:avLst/>
          </a:prstGeom>
          <a:noFill/>
        </p:spPr>
        <p:txBody>
          <a:bodyPr wrap="none">
            <a:spAutoFit/>
          </a:bodyPr>
          <a:lstStyle/>
          <a:p>
            <a:pPr algn="ctr"/>
            <a:r>
              <a:rPr sz="3600">
                <a:latin typeface="Segoe UI Emoji"/>
              </a:rPr>
              <a:t>🔑</a:t>
            </a:r>
          </a:p>
        </p:txBody>
      </p:sp>
      <p:sp>
        <p:nvSpPr>
          <p:cNvPr id="17" name="TextBox 16"/>
          <p:cNvSpPr txBox="1"/>
          <p:nvPr/>
        </p:nvSpPr>
        <p:spPr>
          <a:xfrm>
            <a:off x="6141567" y="2103120"/>
            <a:ext cx="2743200" cy="365760"/>
          </a:xfrm>
          <a:prstGeom prst="rect">
            <a:avLst/>
          </a:prstGeom>
          <a:noFill/>
        </p:spPr>
        <p:txBody>
          <a:bodyPr wrap="none">
            <a:spAutoFit/>
          </a:bodyPr>
          <a:lstStyle/>
          <a:p>
            <a:pPr algn="ctr"/>
            <a:r>
              <a:rPr sz="1600" b="1">
                <a:solidFill>
                  <a:srgbClr val="CC4F1F"/>
                </a:solidFill>
                <a:latin typeface="Calibri"/>
              </a:rPr>
              <a:t>Identity &amp; Access</a:t>
            </a:r>
          </a:p>
        </p:txBody>
      </p:sp>
      <p:sp>
        <p:nvSpPr>
          <p:cNvPr id="18" name="TextBox 17"/>
          <p:cNvSpPr txBox="1"/>
          <p:nvPr/>
        </p:nvSpPr>
        <p:spPr>
          <a:xfrm>
            <a:off x="6324447" y="2560320"/>
            <a:ext cx="2377440" cy="1737360"/>
          </a:xfrm>
          <a:prstGeom prst="rect">
            <a:avLst/>
          </a:prstGeom>
          <a:noFill/>
        </p:spPr>
        <p:txBody>
          <a:bodyPr wrap="square">
            <a:spAutoFit/>
          </a:bodyPr>
          <a:lstStyle/>
          <a:p>
            <a:pPr>
              <a:spcAft>
                <a:spcPts val="500"/>
              </a:spcAft>
            </a:pPr>
            <a:r>
              <a:rPr sz="1100" b="1">
                <a:solidFill>
                  <a:srgbClr val="FF6B35"/>
                </a:solidFill>
                <a:latin typeface="Calibri"/>
              </a:rPr>
              <a:t>▸ </a:t>
            </a:r>
            <a:r>
              <a:rPr sz="1100">
                <a:solidFill>
                  <a:srgbClr val="2C3E50"/>
                </a:solidFill>
                <a:latin typeface="Calibri"/>
              </a:rPr>
              <a:t>IDaaS EIAM 2.0 (clinicians)</a:t>
            </a:r>
          </a:p>
          <a:p>
            <a:pPr>
              <a:spcAft>
                <a:spcPts val="500"/>
              </a:spcAft>
            </a:pPr>
            <a:r>
              <a:rPr sz="1100" b="1">
                <a:solidFill>
                  <a:srgbClr val="FF6B35"/>
                </a:solidFill>
                <a:latin typeface="Calibri"/>
              </a:rPr>
              <a:t>▸ </a:t>
            </a:r>
            <a:r>
              <a:rPr sz="1100">
                <a:solidFill>
                  <a:srgbClr val="2C3E50"/>
                </a:solidFill>
                <a:latin typeface="Calibri"/>
              </a:rPr>
              <a:t>Cloud SSO + RAM (staff)</a:t>
            </a:r>
          </a:p>
          <a:p>
            <a:pPr>
              <a:spcAft>
                <a:spcPts val="500"/>
              </a:spcAft>
            </a:pPr>
            <a:r>
              <a:rPr sz="1100" b="1">
                <a:solidFill>
                  <a:srgbClr val="FF6B35"/>
                </a:solidFill>
                <a:latin typeface="Calibri"/>
              </a:rPr>
              <a:t>▸ </a:t>
            </a:r>
            <a:r>
              <a:rPr sz="1100">
                <a:solidFill>
                  <a:srgbClr val="2C3E50"/>
                </a:solidFill>
                <a:latin typeface="Calibri"/>
              </a:rPr>
              <a:t>Per-tenant ABAC isolation</a:t>
            </a:r>
          </a:p>
          <a:p>
            <a:pPr>
              <a:spcAft>
                <a:spcPts val="500"/>
              </a:spcAft>
            </a:pPr>
            <a:r>
              <a:rPr sz="1100" b="1">
                <a:solidFill>
                  <a:srgbClr val="FF6B35"/>
                </a:solidFill>
                <a:latin typeface="Calibri"/>
              </a:rPr>
              <a:t>▸ </a:t>
            </a:r>
            <a:r>
              <a:rPr sz="1100">
                <a:solidFill>
                  <a:srgbClr val="2C3E50"/>
                </a:solidFill>
                <a:latin typeface="Calibri"/>
              </a:rPr>
              <a:t>Step-up MFA on admin</a:t>
            </a:r>
          </a:p>
        </p:txBody>
      </p:sp>
      <p:sp>
        <p:nvSpPr>
          <p:cNvPr id="19" name="Rounded Rectangle 18"/>
          <p:cNvSpPr/>
          <p:nvPr/>
        </p:nvSpPr>
        <p:spPr>
          <a:xfrm>
            <a:off x="8976207" y="1188720"/>
            <a:ext cx="2743200" cy="3200400"/>
          </a:xfrm>
          <a:prstGeom prst="roundRect">
            <a:avLst>
              <a:gd name="adj" fmla="val 5000"/>
            </a:avLst>
          </a:prstGeom>
          <a:solidFill>
            <a:srgbClr val="FFFFFF"/>
          </a:solidFill>
          <a:ln w="25400">
            <a:solidFill>
              <a:srgbClr val="FF6B3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976207" y="1371600"/>
            <a:ext cx="2743200" cy="640080"/>
          </a:xfrm>
          <a:prstGeom prst="rect">
            <a:avLst/>
          </a:prstGeom>
          <a:noFill/>
        </p:spPr>
        <p:txBody>
          <a:bodyPr wrap="none">
            <a:spAutoFit/>
          </a:bodyPr>
          <a:lstStyle/>
          <a:p>
            <a:pPr algn="ctr"/>
            <a:r>
              <a:rPr sz="3600">
                <a:latin typeface="Segoe UI Emoji"/>
              </a:rPr>
              <a:t>📜</a:t>
            </a:r>
          </a:p>
        </p:txBody>
      </p:sp>
      <p:sp>
        <p:nvSpPr>
          <p:cNvPr id="21" name="TextBox 20"/>
          <p:cNvSpPr txBox="1"/>
          <p:nvPr/>
        </p:nvSpPr>
        <p:spPr>
          <a:xfrm>
            <a:off x="8976207" y="2103120"/>
            <a:ext cx="2743200" cy="365760"/>
          </a:xfrm>
          <a:prstGeom prst="rect">
            <a:avLst/>
          </a:prstGeom>
          <a:noFill/>
        </p:spPr>
        <p:txBody>
          <a:bodyPr wrap="none">
            <a:spAutoFit/>
          </a:bodyPr>
          <a:lstStyle/>
          <a:p>
            <a:pPr algn="ctr"/>
            <a:r>
              <a:rPr sz="1600" b="1">
                <a:solidFill>
                  <a:srgbClr val="CC4F1F"/>
                </a:solidFill>
                <a:latin typeface="Calibri"/>
              </a:rPr>
              <a:t>Audit &amp; Compliance</a:t>
            </a:r>
          </a:p>
        </p:txBody>
      </p:sp>
      <p:sp>
        <p:nvSpPr>
          <p:cNvPr id="22" name="TextBox 21"/>
          <p:cNvSpPr txBox="1"/>
          <p:nvPr/>
        </p:nvSpPr>
        <p:spPr>
          <a:xfrm>
            <a:off x="9159087" y="2560320"/>
            <a:ext cx="2377440" cy="1737360"/>
          </a:xfrm>
          <a:prstGeom prst="rect">
            <a:avLst/>
          </a:prstGeom>
          <a:noFill/>
        </p:spPr>
        <p:txBody>
          <a:bodyPr wrap="square">
            <a:spAutoFit/>
          </a:bodyPr>
          <a:lstStyle/>
          <a:p>
            <a:pPr>
              <a:spcAft>
                <a:spcPts val="500"/>
              </a:spcAft>
            </a:pPr>
            <a:r>
              <a:rPr sz="1100" b="1">
                <a:solidFill>
                  <a:srgbClr val="FF6B35"/>
                </a:solidFill>
                <a:latin typeface="Calibri"/>
              </a:rPr>
              <a:t>▸ </a:t>
            </a:r>
            <a:r>
              <a:rPr sz="1100">
                <a:solidFill>
                  <a:srgbClr val="2C3E50"/>
                </a:solidFill>
                <a:latin typeface="Calibri"/>
              </a:rPr>
              <a:t>ActionTrail + SLS + OSS</a:t>
            </a:r>
          </a:p>
          <a:p>
            <a:pPr>
              <a:spcAft>
                <a:spcPts val="500"/>
              </a:spcAft>
            </a:pPr>
            <a:r>
              <a:rPr sz="1100" b="1">
                <a:solidFill>
                  <a:srgbClr val="FF6B35"/>
                </a:solidFill>
                <a:latin typeface="Calibri"/>
              </a:rPr>
              <a:t>▸ </a:t>
            </a:r>
            <a:r>
              <a:rPr sz="1100">
                <a:solidFill>
                  <a:srgbClr val="2C3E50"/>
                </a:solidFill>
                <a:latin typeface="Calibri"/>
              </a:rPr>
              <a:t>Object Lock WORM 6 years</a:t>
            </a:r>
          </a:p>
          <a:p>
            <a:pPr>
              <a:spcAft>
                <a:spcPts val="500"/>
              </a:spcAft>
            </a:pPr>
            <a:r>
              <a:rPr sz="1100" b="1">
                <a:solidFill>
                  <a:srgbClr val="FF6B35"/>
                </a:solidFill>
                <a:latin typeface="Calibri"/>
              </a:rPr>
              <a:t>▸ </a:t>
            </a:r>
            <a:r>
              <a:rPr sz="1100">
                <a:solidFill>
                  <a:srgbClr val="2C3E50"/>
                </a:solidFill>
                <a:latin typeface="Calibri"/>
              </a:rPr>
              <a:t>ARMS LLM Trace Explorer</a:t>
            </a:r>
          </a:p>
          <a:p>
            <a:pPr>
              <a:spcAft>
                <a:spcPts val="500"/>
              </a:spcAft>
            </a:pPr>
            <a:r>
              <a:rPr sz="1100" b="1">
                <a:solidFill>
                  <a:srgbClr val="FF6B35"/>
                </a:solidFill>
                <a:latin typeface="Calibri"/>
              </a:rPr>
              <a:t>▸ </a:t>
            </a:r>
            <a:r>
              <a:rPr sz="1100">
                <a:solidFill>
                  <a:srgbClr val="2C3E50"/>
                </a:solidFill>
                <a:latin typeface="Calibri"/>
              </a:rPr>
              <a:t>SIEM export nightly</a:t>
            </a:r>
          </a:p>
        </p:txBody>
      </p:sp>
      <p:sp>
        <p:nvSpPr>
          <p:cNvPr id="23" name="Rounded Rectangle 22"/>
          <p:cNvSpPr/>
          <p:nvPr/>
        </p:nvSpPr>
        <p:spPr>
          <a:xfrm>
            <a:off x="457200" y="4572000"/>
            <a:ext cx="11247120" cy="1737360"/>
          </a:xfrm>
          <a:prstGeom prst="roundRect">
            <a:avLst>
              <a:gd name="adj" fmla="val 8000"/>
            </a:avLst>
          </a:prstGeom>
          <a:solidFill>
            <a:srgbClr val="FFE8DA"/>
          </a:solidFill>
          <a:ln w="25400">
            <a:solidFill>
              <a:srgbClr val="CC4F1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0080" y="4663440"/>
            <a:ext cx="10881360" cy="365760"/>
          </a:xfrm>
          <a:prstGeom prst="rect">
            <a:avLst/>
          </a:prstGeom>
          <a:noFill/>
        </p:spPr>
        <p:txBody>
          <a:bodyPr wrap="none">
            <a:spAutoFit/>
          </a:bodyPr>
          <a:lstStyle/>
          <a:p>
            <a:pPr algn="ctr"/>
            <a:r>
              <a:rPr sz="1400" b="1">
                <a:solidFill>
                  <a:srgbClr val="CC4F1F"/>
                </a:solidFill>
                <a:latin typeface="Calibri"/>
              </a:rPr>
              <a:t>5-Gate Response Validation Pipeline</a:t>
            </a:r>
          </a:p>
        </p:txBody>
      </p:sp>
      <p:sp>
        <p:nvSpPr>
          <p:cNvPr id="25" name="TextBox 24"/>
          <p:cNvSpPr txBox="1"/>
          <p:nvPr/>
        </p:nvSpPr>
        <p:spPr>
          <a:xfrm>
            <a:off x="640080" y="5074920"/>
            <a:ext cx="10881360" cy="1188720"/>
          </a:xfrm>
          <a:prstGeom prst="rect">
            <a:avLst/>
          </a:prstGeom>
          <a:noFill/>
        </p:spPr>
        <p:txBody>
          <a:bodyPr wrap="square">
            <a:spAutoFit/>
          </a:bodyPr>
          <a:lstStyle/>
          <a:p>
            <a:pPr>
              <a:spcAft>
                <a:spcPts val="200"/>
              </a:spcAft>
            </a:pPr>
            <a:r>
              <a:rPr sz="1100">
                <a:solidFill>
                  <a:srgbClr val="2C3E50"/>
                </a:solidFill>
                <a:latin typeface="Calibri"/>
              </a:rPr>
              <a:t>1. Content Moderation 2.0 (jailbreak, self-harm, hate, medical misinformation)</a:t>
            </a:r>
          </a:p>
          <a:p>
            <a:pPr>
              <a:spcAft>
                <a:spcPts val="200"/>
              </a:spcAft>
            </a:pPr>
            <a:r>
              <a:rPr sz="1100">
                <a:solidFill>
                  <a:srgbClr val="2C3E50"/>
                </a:solidFill>
                <a:latin typeface="Calibri"/>
              </a:rPr>
              <a:t>2. Citation validator (every [n] maps to a retrieved chunk)</a:t>
            </a:r>
          </a:p>
          <a:p>
            <a:pPr>
              <a:spcAft>
                <a:spcPts val="200"/>
              </a:spcAft>
            </a:pPr>
            <a:r>
              <a:rPr sz="1100">
                <a:solidFill>
                  <a:srgbClr val="2C3E50"/>
                </a:solidFill>
                <a:latin typeface="Calibri"/>
              </a:rPr>
              <a:t>3. Grounding score ≥ 0.7 (or block answer)</a:t>
            </a:r>
          </a:p>
          <a:p>
            <a:pPr>
              <a:spcAft>
                <a:spcPts val="200"/>
              </a:spcAft>
            </a:pPr>
            <a:r>
              <a:rPr sz="1100">
                <a:solidFill>
                  <a:srgbClr val="2C3E50"/>
                </a:solidFill>
                <a:latin typeface="Calibri"/>
              </a:rPr>
              <a:t>4. Last-mile PHI filter (regex + ML on MRN, NRIC, DOB, phone, email)</a:t>
            </a:r>
          </a:p>
          <a:p>
            <a:pPr>
              <a:spcAft>
                <a:spcPts val="200"/>
              </a:spcAft>
            </a:pPr>
            <a:r>
              <a:rPr sz="1100">
                <a:solidFill>
                  <a:srgbClr val="2C3E50"/>
                </a:solidFill>
                <a:latin typeface="Calibri"/>
              </a:rPr>
              <a:t>5. Emergency disclaimer (auto-prepended on emergency-lane answers)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FF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28600"/>
            <a:ext cx="11247120" cy="640080"/>
          </a:xfrm>
          <a:prstGeom prst="rect">
            <a:avLst/>
          </a:prstGeom>
          <a:noFill/>
        </p:spPr>
        <p:txBody>
          <a:bodyPr wrap="none" lIns="0" tIns="0">
            <a:spAutoFit/>
          </a:bodyPr>
          <a:lstStyle/>
          <a:p>
            <a:pPr algn="l"/>
            <a:r>
              <a:rPr sz="2600" b="1">
                <a:solidFill>
                  <a:srgbClr val="CC4F1F"/>
                </a:solidFill>
                <a:latin typeface="Calibri"/>
              </a:rPr>
              <a:t>Cost &amp; Implementation Roadmap</a:t>
            </a:r>
          </a:p>
        </p:txBody>
      </p:sp>
      <p:sp>
        <p:nvSpPr>
          <p:cNvPr id="5" name="Rectangle 4"/>
          <p:cNvSpPr/>
          <p:nvPr/>
        </p:nvSpPr>
        <p:spPr>
          <a:xfrm>
            <a:off x="457200" y="868680"/>
            <a:ext cx="1828800" cy="36576"/>
          </a:xfrm>
          <a:prstGeom prst="rect">
            <a:avLst/>
          </a:prstGeom>
          <a:solidFill>
            <a:srgbClr val="FF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446520"/>
            <a:ext cx="11247120" cy="274320"/>
          </a:xfrm>
          <a:prstGeom prst="rect">
            <a:avLst/>
          </a:prstGeom>
          <a:noFill/>
        </p:spPr>
        <p:txBody>
          <a:bodyPr wrap="none">
            <a:spAutoFit/>
          </a:bodyPr>
          <a:lstStyle/>
          <a:p>
            <a:pPr algn="r"/>
            <a:r>
              <a:rPr sz="900" i="1">
                <a:solidFill>
                  <a:srgbClr val="646464"/>
                </a:solidFill>
                <a:latin typeface="Calibri"/>
              </a:rPr>
              <a:t>Nova Health Tech · Clinical GenAI Assistant · Alibaba Cloud Singapore</a:t>
            </a:r>
          </a:p>
        </p:txBody>
      </p:sp>
      <p:sp>
        <p:nvSpPr>
          <p:cNvPr id="7" name="TextBox 6"/>
          <p:cNvSpPr txBox="1"/>
          <p:nvPr/>
        </p:nvSpPr>
        <p:spPr>
          <a:xfrm>
            <a:off x="457200" y="1188720"/>
            <a:ext cx="5486400" cy="365760"/>
          </a:xfrm>
          <a:prstGeom prst="rect">
            <a:avLst/>
          </a:prstGeom>
          <a:noFill/>
        </p:spPr>
        <p:txBody>
          <a:bodyPr wrap="none">
            <a:spAutoFit/>
          </a:bodyPr>
          <a:lstStyle/>
          <a:p>
            <a:r>
              <a:rPr sz="1300" b="1">
                <a:solidFill>
                  <a:srgbClr val="CC4F1F"/>
                </a:solidFill>
                <a:latin typeface="Calibri"/>
              </a:rPr>
              <a:t>Monthly Cost (USD, list price early 2026)</a:t>
            </a:r>
          </a:p>
        </p:txBody>
      </p:sp>
      <p:graphicFrame>
        <p:nvGraphicFramePr>
          <p:cNvPr id="8" name="Table 7"/>
          <p:cNvGraphicFramePr>
            <a:graphicFrameLocks noGrp="1"/>
          </p:cNvGraphicFramePr>
          <p:nvPr/>
        </p:nvGraphicFramePr>
        <p:xfrm>
          <a:off x="457200" y="1600200"/>
          <a:ext cx="5486400" cy="3931920"/>
        </p:xfrm>
        <a:graphic>
          <a:graphicData uri="http://schemas.openxmlformats.org/drawingml/2006/table">
            <a:tbl>
              <a:tblPr firstRow="1" bandRow="1">
                <a:tableStyleId>{5C22544A-7EE6-4342-B048-85BDC9FD1C3A}</a:tableStyleId>
              </a:tblPr>
              <a:tblGrid>
                <a:gridCol w="2743200"/>
                <a:gridCol w="2743200"/>
              </a:tblGrid>
              <a:tr h="302455">
                <a:tc>
                  <a:txBody>
                    <a:bodyPr lIns="73152" tIns="36576"/>
                    <a:lstStyle/>
                    <a:p>
                      <a:r>
                        <a:rPr sz="1100" b="1">
                          <a:solidFill>
                            <a:srgbClr val="FFFFFF"/>
                          </a:solidFill>
                          <a:latin typeface="Calibri"/>
                        </a:rPr>
                        <a:t>Item</a:t>
                      </a:r>
                    </a:p>
                  </a:txBody>
                  <a:tcPr>
                    <a:solidFill>
                      <a:srgbClr val="FF6B35"/>
                    </a:solidFill>
                  </a:tcPr>
                </a:tc>
                <a:tc>
                  <a:txBody>
                    <a:bodyPr lIns="73152" tIns="36576"/>
                    <a:lstStyle/>
                    <a:p>
                      <a:r>
                        <a:rPr sz="1100" b="1">
                          <a:solidFill>
                            <a:srgbClr val="FFFFFF"/>
                          </a:solidFill>
                          <a:latin typeface="Calibri"/>
                        </a:rPr>
                        <a:t>Monthly</a:t>
                      </a:r>
                    </a:p>
                  </a:txBody>
                  <a:tcPr>
                    <a:solidFill>
                      <a:srgbClr val="FF6B35"/>
                    </a:solidFill>
                  </a:tcPr>
                </a:tc>
              </a:tr>
              <a:tr h="302455">
                <a:tc>
                  <a:txBody>
                    <a:bodyPr lIns="73152" tIns="27432"/>
                    <a:lstStyle/>
                    <a:p>
                      <a:r>
                        <a:rPr sz="950">
                          <a:solidFill>
                            <a:srgbClr val="2C3E50"/>
                          </a:solidFill>
                          <a:latin typeface="Calibri"/>
                        </a:rPr>
                        <a:t>Qwen3.5-Flash (emergency, 180k post-cache)</a:t>
                      </a:r>
                    </a:p>
                  </a:txBody>
                  <a:tcPr>
                    <a:solidFill>
                      <a:srgbClr val="FFFFFF"/>
                    </a:solidFill>
                  </a:tcPr>
                </a:tc>
                <a:tc>
                  <a:txBody>
                    <a:bodyPr lIns="73152" tIns="27432"/>
                    <a:lstStyle/>
                    <a:p>
                      <a:r>
                        <a:rPr sz="950">
                          <a:solidFill>
                            <a:srgbClr val="2C3E50"/>
                          </a:solidFill>
                          <a:latin typeface="Calibri"/>
                        </a:rPr>
                        <a:t>$47</a:t>
                      </a:r>
                    </a:p>
                  </a:txBody>
                  <a:tcPr>
                    <a:solidFill>
                      <a:srgbClr val="FFFFFF"/>
                    </a:solidFill>
                  </a:tcPr>
                </a:tc>
              </a:tr>
              <a:tr h="302455">
                <a:tc>
                  <a:txBody>
                    <a:bodyPr lIns="73152" tIns="27432"/>
                    <a:lstStyle/>
                    <a:p>
                      <a:r>
                        <a:rPr sz="950">
                          <a:solidFill>
                            <a:srgbClr val="2C3E50"/>
                          </a:solidFill>
                          <a:latin typeface="Calibri"/>
                        </a:rPr>
                        <a:t>Qwen3.5-Plus (40% complex, teacher)</a:t>
                      </a:r>
                    </a:p>
                  </a:txBody>
                  <a:tcPr>
                    <a:solidFill>
                      <a:srgbClr val="FFE8DA"/>
                    </a:solidFill>
                  </a:tcPr>
                </a:tc>
                <a:tc>
                  <a:txBody>
                    <a:bodyPr lIns="73152" tIns="27432"/>
                    <a:lstStyle/>
                    <a:p>
                      <a:r>
                        <a:rPr sz="950">
                          <a:solidFill>
                            <a:srgbClr val="2C3E50"/>
                          </a:solidFill>
                          <a:latin typeface="Calibri"/>
                        </a:rPr>
                        <a:t>$440</a:t>
                      </a:r>
                    </a:p>
                  </a:txBody>
                  <a:tcPr>
                    <a:solidFill>
                      <a:srgbClr val="FFE8DA"/>
                    </a:solidFill>
                  </a:tcPr>
                </a:tc>
              </a:tr>
              <a:tr h="302455">
                <a:tc>
                  <a:txBody>
                    <a:bodyPr lIns="73152" tIns="27432"/>
                    <a:lstStyle/>
                    <a:p>
                      <a:r>
                        <a:rPr sz="950">
                          <a:solidFill>
                            <a:srgbClr val="2C3E50"/>
                          </a:solidFill>
                          <a:latin typeface="Calibri"/>
                        </a:rPr>
                        <a:t>PAI-EAS A10 always-on (student, 60% complex)</a:t>
                      </a:r>
                    </a:p>
                  </a:txBody>
                  <a:tcPr>
                    <a:solidFill>
                      <a:srgbClr val="FFFFFF"/>
                    </a:solidFill>
                  </a:tcPr>
                </a:tc>
                <a:tc>
                  <a:txBody>
                    <a:bodyPr lIns="73152" tIns="27432"/>
                    <a:lstStyle/>
                    <a:p>
                      <a:r>
                        <a:rPr sz="950">
                          <a:solidFill>
                            <a:srgbClr val="2C3E50"/>
                          </a:solidFill>
                          <a:latin typeface="Calibri"/>
                        </a:rPr>
                        <a:t>$720-1,500</a:t>
                      </a:r>
                    </a:p>
                  </a:txBody>
                  <a:tcPr>
                    <a:solidFill>
                      <a:srgbClr val="FFFFFF"/>
                    </a:solidFill>
                  </a:tcPr>
                </a:tc>
              </a:tr>
              <a:tr h="302455">
                <a:tc>
                  <a:txBody>
                    <a:bodyPr lIns="73152" tIns="27432"/>
                    <a:lstStyle/>
                    <a:p>
                      <a:r>
                        <a:rPr sz="950">
                          <a:solidFill>
                            <a:srgbClr val="2C3E50"/>
                          </a:solidFill>
                          <a:latin typeface="Calibri"/>
                        </a:rPr>
                        <a:t>SFT+LoRA training amortized quarterly</a:t>
                      </a:r>
                    </a:p>
                  </a:txBody>
                  <a:tcPr>
                    <a:solidFill>
                      <a:srgbClr val="FFE8DA"/>
                    </a:solidFill>
                  </a:tcPr>
                </a:tc>
                <a:tc>
                  <a:txBody>
                    <a:bodyPr lIns="73152" tIns="27432"/>
                    <a:lstStyle/>
                    <a:p>
                      <a:r>
                        <a:rPr sz="950">
                          <a:solidFill>
                            <a:srgbClr val="2C3E50"/>
                          </a:solidFill>
                          <a:latin typeface="Calibri"/>
                        </a:rPr>
                        <a:t>$5-15</a:t>
                      </a:r>
                    </a:p>
                  </a:txBody>
                  <a:tcPr>
                    <a:solidFill>
                      <a:srgbClr val="FFE8DA"/>
                    </a:solidFill>
                  </a:tcPr>
                </a:tc>
              </a:tr>
              <a:tr h="302455">
                <a:tc>
                  <a:txBody>
                    <a:bodyPr lIns="73152" tIns="27432"/>
                    <a:lstStyle/>
                    <a:p>
                      <a:r>
                        <a:rPr sz="950">
                          <a:solidFill>
                            <a:srgbClr val="2C3E50"/>
                          </a:solidFill>
                          <a:latin typeface="Calibri"/>
                        </a:rPr>
                        <a:t>text-embedding-v4 + multimodal + rerank</a:t>
                      </a:r>
                    </a:p>
                  </a:txBody>
                  <a:tcPr>
                    <a:solidFill>
                      <a:srgbClr val="FFFFFF"/>
                    </a:solidFill>
                  </a:tcPr>
                </a:tc>
                <a:tc>
                  <a:txBody>
                    <a:bodyPr lIns="73152" tIns="27432"/>
                    <a:lstStyle/>
                    <a:p>
                      <a:r>
                        <a:rPr sz="950">
                          <a:solidFill>
                            <a:srgbClr val="2C3E50"/>
                          </a:solidFill>
                          <a:latin typeface="Calibri"/>
                        </a:rPr>
                        <a:t>$135</a:t>
                      </a:r>
                    </a:p>
                  </a:txBody>
                  <a:tcPr>
                    <a:solidFill>
                      <a:srgbClr val="FFFFFF"/>
                    </a:solidFill>
                  </a:tcPr>
                </a:tc>
              </a:tr>
              <a:tr h="302455">
                <a:tc>
                  <a:txBody>
                    <a:bodyPr lIns="73152" tIns="27432"/>
                    <a:lstStyle/>
                    <a:p>
                      <a:r>
                        <a:rPr sz="950">
                          <a:solidFill>
                            <a:srgbClr val="2C3E50"/>
                          </a:solidFill>
                          <a:latin typeface="Calibri"/>
                        </a:rPr>
                        <a:t>Content Moderation 2.0</a:t>
                      </a:r>
                    </a:p>
                  </a:txBody>
                  <a:tcPr>
                    <a:solidFill>
                      <a:srgbClr val="FFE8DA"/>
                    </a:solidFill>
                  </a:tcPr>
                </a:tc>
                <a:tc>
                  <a:txBody>
                    <a:bodyPr lIns="73152" tIns="27432"/>
                    <a:lstStyle/>
                    <a:p>
                      <a:r>
                        <a:rPr sz="950">
                          <a:solidFill>
                            <a:srgbClr val="2C3E50"/>
                          </a:solidFill>
                          <a:latin typeface="Calibri"/>
                        </a:rPr>
                        <a:t>$50</a:t>
                      </a:r>
                    </a:p>
                  </a:txBody>
                  <a:tcPr>
                    <a:solidFill>
                      <a:srgbClr val="FFE8DA"/>
                    </a:solidFill>
                  </a:tcPr>
                </a:tc>
              </a:tr>
              <a:tr h="302455">
                <a:tc>
                  <a:txBody>
                    <a:bodyPr lIns="73152" tIns="27432"/>
                    <a:lstStyle/>
                    <a:p>
                      <a:r>
                        <a:rPr sz="950">
                          <a:solidFill>
                            <a:srgbClr val="2C3E50"/>
                          </a:solidFill>
                          <a:latin typeface="Calibri"/>
                        </a:rPr>
                        <a:t>OpenSearch Vector Search HA</a:t>
                      </a:r>
                    </a:p>
                  </a:txBody>
                  <a:tcPr>
                    <a:solidFill>
                      <a:srgbClr val="FFFFFF"/>
                    </a:solidFill>
                  </a:tcPr>
                </a:tc>
                <a:tc>
                  <a:txBody>
                    <a:bodyPr lIns="73152" tIns="27432"/>
                    <a:lstStyle/>
                    <a:p>
                      <a:r>
                        <a:rPr sz="950">
                          <a:solidFill>
                            <a:srgbClr val="2C3E50"/>
                          </a:solidFill>
                          <a:latin typeface="Calibri"/>
                        </a:rPr>
                        <a:t>$180</a:t>
                      </a:r>
                    </a:p>
                  </a:txBody>
                  <a:tcPr>
                    <a:solidFill>
                      <a:srgbClr val="FFFFFF"/>
                    </a:solidFill>
                  </a:tcPr>
                </a:tc>
              </a:tr>
              <a:tr h="302455">
                <a:tc>
                  <a:txBody>
                    <a:bodyPr lIns="73152" tIns="27432"/>
                    <a:lstStyle/>
                    <a:p>
                      <a:r>
                        <a:rPr sz="950">
                          <a:solidFill>
                            <a:srgbClr val="2C3E50"/>
                          </a:solidFill>
                          <a:latin typeface="Calibri"/>
                        </a:rPr>
                        <a:t>AnalyticDB PG GraphRAG (4-core 32GB)</a:t>
                      </a:r>
                    </a:p>
                  </a:txBody>
                  <a:tcPr>
                    <a:solidFill>
                      <a:srgbClr val="FFE8DA"/>
                    </a:solidFill>
                  </a:tcPr>
                </a:tc>
                <a:tc>
                  <a:txBody>
                    <a:bodyPr lIns="73152" tIns="27432"/>
                    <a:lstStyle/>
                    <a:p>
                      <a:r>
                        <a:rPr sz="950">
                          <a:solidFill>
                            <a:srgbClr val="2C3E50"/>
                          </a:solidFill>
                          <a:latin typeface="Calibri"/>
                        </a:rPr>
                        <a:t>$300</a:t>
                      </a:r>
                    </a:p>
                  </a:txBody>
                  <a:tcPr>
                    <a:solidFill>
                      <a:srgbClr val="FFE8DA"/>
                    </a:solidFill>
                  </a:tcPr>
                </a:tc>
              </a:tr>
              <a:tr h="302455">
                <a:tc>
                  <a:txBody>
                    <a:bodyPr lIns="73152" tIns="27432"/>
                    <a:lstStyle/>
                    <a:p>
                      <a:r>
                        <a:rPr sz="950">
                          <a:solidFill>
                            <a:srgbClr val="2C3E50"/>
                          </a:solidFill>
                          <a:latin typeface="Calibri"/>
                        </a:rPr>
                        <a:t>DataWorks SDDP</a:t>
                      </a:r>
                    </a:p>
                  </a:txBody>
                  <a:tcPr>
                    <a:solidFill>
                      <a:srgbClr val="FFFFFF"/>
                    </a:solidFill>
                  </a:tcPr>
                </a:tc>
                <a:tc>
                  <a:txBody>
                    <a:bodyPr lIns="73152" tIns="27432"/>
                    <a:lstStyle/>
                    <a:p>
                      <a:r>
                        <a:rPr sz="950">
                          <a:solidFill>
                            <a:srgbClr val="2C3E50"/>
                          </a:solidFill>
                          <a:latin typeface="Calibri"/>
                        </a:rPr>
                        <a:t>$120</a:t>
                      </a:r>
                    </a:p>
                  </a:txBody>
                  <a:tcPr>
                    <a:solidFill>
                      <a:srgbClr val="FFFFFF"/>
                    </a:solidFill>
                  </a:tcPr>
                </a:tc>
              </a:tr>
              <a:tr h="302455">
                <a:tc>
                  <a:txBody>
                    <a:bodyPr lIns="73152" tIns="27432"/>
                    <a:lstStyle/>
                    <a:p>
                      <a:r>
                        <a:rPr sz="950">
                          <a:solidFill>
                            <a:srgbClr val="2C3E50"/>
                          </a:solidFill>
                          <a:latin typeface="Calibri"/>
                        </a:rPr>
                        <a:t>FC + API GW + CDN + WAF + OSS + Tair</a:t>
                      </a:r>
                    </a:p>
                  </a:txBody>
                  <a:tcPr>
                    <a:solidFill>
                      <a:srgbClr val="FFE8DA"/>
                    </a:solidFill>
                  </a:tcPr>
                </a:tc>
                <a:tc>
                  <a:txBody>
                    <a:bodyPr lIns="73152" tIns="27432"/>
                    <a:lstStyle/>
                    <a:p>
                      <a:r>
                        <a:rPr sz="950">
                          <a:solidFill>
                            <a:srgbClr val="2C3E50"/>
                          </a:solidFill>
                          <a:latin typeface="Calibri"/>
                        </a:rPr>
                        <a:t>$220</a:t>
                      </a:r>
                    </a:p>
                  </a:txBody>
                  <a:tcPr>
                    <a:solidFill>
                      <a:srgbClr val="FFE8DA"/>
                    </a:solidFill>
                  </a:tcPr>
                </a:tc>
              </a:tr>
              <a:tr h="302455">
                <a:tc>
                  <a:txBody>
                    <a:bodyPr lIns="73152" tIns="27432"/>
                    <a:lstStyle/>
                    <a:p>
                      <a:r>
                        <a:rPr sz="950">
                          <a:solidFill>
                            <a:srgbClr val="2C3E50"/>
                          </a:solidFill>
                          <a:latin typeface="Calibri"/>
                        </a:rPr>
                        <a:t>IPsec VPN Gateway (data plane)</a:t>
                      </a:r>
                    </a:p>
                  </a:txBody>
                  <a:tcPr>
                    <a:solidFill>
                      <a:srgbClr val="FFFFFF"/>
                    </a:solidFill>
                  </a:tcPr>
                </a:tc>
                <a:tc>
                  <a:txBody>
                    <a:bodyPr lIns="73152" tIns="27432"/>
                    <a:lstStyle/>
                    <a:p>
                      <a:r>
                        <a:rPr sz="950">
                          <a:solidFill>
                            <a:srgbClr val="2C3E50"/>
                          </a:solidFill>
                          <a:latin typeface="Calibri"/>
                        </a:rPr>
                        <a:t>$110-150</a:t>
                      </a:r>
                    </a:p>
                  </a:txBody>
                  <a:tcPr>
                    <a:solidFill>
                      <a:srgbClr val="FFFFFF"/>
                    </a:solidFill>
                  </a:tcPr>
                </a:tc>
              </a:tr>
              <a:tr h="302460">
                <a:tc>
                  <a:txBody>
                    <a:bodyPr lIns="73152" tIns="27432"/>
                    <a:lstStyle/>
                    <a:p>
                      <a:r>
                        <a:rPr sz="950">
                          <a:solidFill>
                            <a:srgbClr val="2C3E50"/>
                          </a:solidFill>
                          <a:latin typeface="Calibri"/>
                        </a:rPr>
                        <a:t>TOTAL launch-day (per tenant)</a:t>
                      </a:r>
                    </a:p>
                  </a:txBody>
                  <a:tcPr>
                    <a:solidFill>
                      <a:srgbClr val="FFE8DA"/>
                    </a:solidFill>
                  </a:tcPr>
                </a:tc>
                <a:tc>
                  <a:txBody>
                    <a:bodyPr lIns="73152" tIns="27432"/>
                    <a:lstStyle/>
                    <a:p>
                      <a:r>
                        <a:rPr sz="950">
                          <a:solidFill>
                            <a:srgbClr val="2C3E50"/>
                          </a:solidFill>
                          <a:latin typeface="Calibri"/>
                        </a:rPr>
                        <a:t>$2,280-3,060</a:t>
                      </a:r>
                    </a:p>
                  </a:txBody>
                  <a:tcPr>
                    <a:solidFill>
                      <a:srgbClr val="FFE8DA"/>
                    </a:solidFill>
                  </a:tcPr>
                </a:tc>
              </a:tr>
            </a:tbl>
          </a:graphicData>
        </a:graphic>
      </p:graphicFrame>
      <p:sp>
        <p:nvSpPr>
          <p:cNvPr id="9" name="TextBox 8"/>
          <p:cNvSpPr txBox="1"/>
          <p:nvPr/>
        </p:nvSpPr>
        <p:spPr>
          <a:xfrm>
            <a:off x="6400800" y="1188720"/>
            <a:ext cx="5303520" cy="365760"/>
          </a:xfrm>
          <a:prstGeom prst="rect">
            <a:avLst/>
          </a:prstGeom>
          <a:noFill/>
        </p:spPr>
        <p:txBody>
          <a:bodyPr wrap="none">
            <a:spAutoFit/>
          </a:bodyPr>
          <a:lstStyle/>
          <a:p>
            <a:r>
              <a:rPr sz="1300" b="1">
                <a:solidFill>
                  <a:srgbClr val="CC4F1F"/>
                </a:solidFill>
                <a:latin typeface="Calibri"/>
              </a:rPr>
              <a:t>Implementation Roadmap (6-10 weeks)</a:t>
            </a:r>
          </a:p>
        </p:txBody>
      </p:sp>
      <p:sp>
        <p:nvSpPr>
          <p:cNvPr id="10" name="Rectangle 9"/>
          <p:cNvSpPr/>
          <p:nvPr/>
        </p:nvSpPr>
        <p:spPr>
          <a:xfrm>
            <a:off x="6400800" y="1600200"/>
            <a:ext cx="914400" cy="502920"/>
          </a:xfrm>
          <a:prstGeom prst="rect">
            <a:avLst/>
          </a:prstGeom>
          <a:solidFill>
            <a:srgbClr val="FF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0" y="1600200"/>
            <a:ext cx="914400" cy="502920"/>
          </a:xfrm>
          <a:prstGeom prst="rect">
            <a:avLst/>
          </a:prstGeom>
          <a:noFill/>
        </p:spPr>
        <p:txBody>
          <a:bodyPr wrap="none" anchor="ctr">
            <a:spAutoFit/>
          </a:bodyPr>
          <a:lstStyle/>
          <a:p>
            <a:pPr algn="ctr"/>
            <a:r>
              <a:rPr sz="1000" b="1">
                <a:solidFill>
                  <a:srgbClr val="FFFFFF"/>
                </a:solidFill>
                <a:latin typeface="Calibri"/>
              </a:rPr>
              <a:t>Wk 1-2</a:t>
            </a:r>
          </a:p>
        </p:txBody>
      </p:sp>
      <p:sp>
        <p:nvSpPr>
          <p:cNvPr id="12" name="TextBox 11"/>
          <p:cNvSpPr txBox="1"/>
          <p:nvPr/>
        </p:nvSpPr>
        <p:spPr>
          <a:xfrm>
            <a:off x="7406640" y="1600200"/>
            <a:ext cx="1463040" cy="502920"/>
          </a:xfrm>
          <a:prstGeom prst="rect">
            <a:avLst/>
          </a:prstGeom>
          <a:noFill/>
        </p:spPr>
        <p:txBody>
          <a:bodyPr wrap="none" anchor="ctr">
            <a:spAutoFit/>
          </a:bodyPr>
          <a:lstStyle/>
          <a:p>
            <a:r>
              <a:rPr sz="1100" b="1">
                <a:solidFill>
                  <a:srgbClr val="CC4F1F"/>
                </a:solidFill>
                <a:latin typeface="Calibri"/>
              </a:rPr>
              <a:t>Foundation</a:t>
            </a:r>
          </a:p>
        </p:txBody>
      </p:sp>
      <p:sp>
        <p:nvSpPr>
          <p:cNvPr id="13" name="TextBox 12"/>
          <p:cNvSpPr txBox="1"/>
          <p:nvPr/>
        </p:nvSpPr>
        <p:spPr>
          <a:xfrm>
            <a:off x="8869680" y="1600200"/>
            <a:ext cx="2926080" cy="502920"/>
          </a:xfrm>
          <a:prstGeom prst="rect">
            <a:avLst/>
          </a:prstGeom>
          <a:noFill/>
        </p:spPr>
        <p:txBody>
          <a:bodyPr wrap="square" anchor="ctr">
            <a:spAutoFit/>
          </a:bodyPr>
          <a:lstStyle/>
          <a:p>
            <a:r>
              <a:rPr sz="1000">
                <a:solidFill>
                  <a:srgbClr val="2C3E50"/>
                </a:solidFill>
                <a:latin typeface="Calibri"/>
              </a:rPr>
              <a:t>VPC, KMS, IDaaS, OpenSearch HA, AnalyticDB PG</a:t>
            </a:r>
          </a:p>
        </p:txBody>
      </p:sp>
      <p:sp>
        <p:nvSpPr>
          <p:cNvPr id="14" name="Rectangle 13"/>
          <p:cNvSpPr/>
          <p:nvPr/>
        </p:nvSpPr>
        <p:spPr>
          <a:xfrm>
            <a:off x="6400800" y="2148840"/>
            <a:ext cx="914400" cy="502920"/>
          </a:xfrm>
          <a:prstGeom prst="rect">
            <a:avLst/>
          </a:prstGeom>
          <a:solidFill>
            <a:srgbClr val="FF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00800" y="2148840"/>
            <a:ext cx="914400" cy="502920"/>
          </a:xfrm>
          <a:prstGeom prst="rect">
            <a:avLst/>
          </a:prstGeom>
          <a:noFill/>
        </p:spPr>
        <p:txBody>
          <a:bodyPr wrap="none" anchor="ctr">
            <a:spAutoFit/>
          </a:bodyPr>
          <a:lstStyle/>
          <a:p>
            <a:pPr algn="ctr"/>
            <a:r>
              <a:rPr sz="1000" b="1">
                <a:solidFill>
                  <a:srgbClr val="FFFFFF"/>
                </a:solidFill>
                <a:latin typeface="Calibri"/>
              </a:rPr>
              <a:t>Wk 1-4</a:t>
            </a:r>
          </a:p>
        </p:txBody>
      </p:sp>
      <p:sp>
        <p:nvSpPr>
          <p:cNvPr id="16" name="TextBox 15"/>
          <p:cNvSpPr txBox="1"/>
          <p:nvPr/>
        </p:nvSpPr>
        <p:spPr>
          <a:xfrm>
            <a:off x="7406640" y="2148840"/>
            <a:ext cx="1463040" cy="502920"/>
          </a:xfrm>
          <a:prstGeom prst="rect">
            <a:avLst/>
          </a:prstGeom>
          <a:noFill/>
        </p:spPr>
        <p:txBody>
          <a:bodyPr wrap="none" anchor="ctr">
            <a:spAutoFit/>
          </a:bodyPr>
          <a:lstStyle/>
          <a:p>
            <a:r>
              <a:rPr sz="1100" b="1">
                <a:solidFill>
                  <a:srgbClr val="CC4F1F"/>
                </a:solidFill>
                <a:latin typeface="Calibri"/>
              </a:rPr>
              <a:t>Data Pipeline</a:t>
            </a:r>
          </a:p>
        </p:txBody>
      </p:sp>
      <p:sp>
        <p:nvSpPr>
          <p:cNvPr id="17" name="TextBox 16"/>
          <p:cNvSpPr txBox="1"/>
          <p:nvPr/>
        </p:nvSpPr>
        <p:spPr>
          <a:xfrm>
            <a:off x="8869680" y="2148840"/>
            <a:ext cx="2926080" cy="502920"/>
          </a:xfrm>
          <a:prstGeom prst="rect">
            <a:avLst/>
          </a:prstGeom>
          <a:noFill/>
        </p:spPr>
        <p:txBody>
          <a:bodyPr wrap="square" anchor="ctr">
            <a:spAutoFit/>
          </a:bodyPr>
          <a:lstStyle/>
          <a:p>
            <a:r>
              <a:rPr sz="1000">
                <a:solidFill>
                  <a:srgbClr val="2C3E50"/>
                </a:solidFill>
                <a:latin typeface="Calibri"/>
              </a:rPr>
              <a:t>WHO + ICD-11 ingest, DocMind parse, embed</a:t>
            </a:r>
          </a:p>
        </p:txBody>
      </p:sp>
      <p:sp>
        <p:nvSpPr>
          <p:cNvPr id="18" name="Rectangle 17"/>
          <p:cNvSpPr/>
          <p:nvPr/>
        </p:nvSpPr>
        <p:spPr>
          <a:xfrm>
            <a:off x="6400800" y="2697480"/>
            <a:ext cx="914400" cy="502920"/>
          </a:xfrm>
          <a:prstGeom prst="rect">
            <a:avLst/>
          </a:prstGeom>
          <a:solidFill>
            <a:srgbClr val="FF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0" y="2697480"/>
            <a:ext cx="914400" cy="502920"/>
          </a:xfrm>
          <a:prstGeom prst="rect">
            <a:avLst/>
          </a:prstGeom>
          <a:noFill/>
        </p:spPr>
        <p:txBody>
          <a:bodyPr wrap="none" anchor="ctr">
            <a:spAutoFit/>
          </a:bodyPr>
          <a:lstStyle/>
          <a:p>
            <a:pPr algn="ctr"/>
            <a:r>
              <a:rPr sz="1000" b="1">
                <a:solidFill>
                  <a:srgbClr val="FFFFFF"/>
                </a:solidFill>
                <a:latin typeface="Calibri"/>
              </a:rPr>
              <a:t>Wk 3-5</a:t>
            </a:r>
          </a:p>
        </p:txBody>
      </p:sp>
      <p:sp>
        <p:nvSpPr>
          <p:cNvPr id="20" name="TextBox 19"/>
          <p:cNvSpPr txBox="1"/>
          <p:nvPr/>
        </p:nvSpPr>
        <p:spPr>
          <a:xfrm>
            <a:off x="7406640" y="2697480"/>
            <a:ext cx="1463040" cy="502920"/>
          </a:xfrm>
          <a:prstGeom prst="rect">
            <a:avLst/>
          </a:prstGeom>
          <a:noFill/>
        </p:spPr>
        <p:txBody>
          <a:bodyPr wrap="none" anchor="ctr">
            <a:spAutoFit/>
          </a:bodyPr>
          <a:lstStyle/>
          <a:p>
            <a:r>
              <a:rPr sz="1100" b="1">
                <a:solidFill>
                  <a:srgbClr val="CC4F1F"/>
                </a:solidFill>
                <a:latin typeface="Calibri"/>
              </a:rPr>
              <a:t>Model + FT</a:t>
            </a:r>
          </a:p>
        </p:txBody>
      </p:sp>
      <p:sp>
        <p:nvSpPr>
          <p:cNvPr id="21" name="TextBox 20"/>
          <p:cNvSpPr txBox="1"/>
          <p:nvPr/>
        </p:nvSpPr>
        <p:spPr>
          <a:xfrm>
            <a:off x="8869680" y="2697480"/>
            <a:ext cx="2926080" cy="502920"/>
          </a:xfrm>
          <a:prstGeom prst="rect">
            <a:avLst/>
          </a:prstGeom>
          <a:noFill/>
        </p:spPr>
        <p:txBody>
          <a:bodyPr wrap="square" anchor="ctr">
            <a:spAutoFit/>
          </a:bodyPr>
          <a:lstStyle/>
          <a:p>
            <a:r>
              <a:rPr sz="1000">
                <a:solidFill>
                  <a:srgbClr val="2C3E50"/>
                </a:solidFill>
                <a:latin typeface="Calibri"/>
              </a:rPr>
              <a:t>Qwen3-8B SFT+LoRA, eval harness, PAI-EAS</a:t>
            </a:r>
          </a:p>
        </p:txBody>
      </p:sp>
      <p:sp>
        <p:nvSpPr>
          <p:cNvPr id="22" name="Rectangle 21"/>
          <p:cNvSpPr/>
          <p:nvPr/>
        </p:nvSpPr>
        <p:spPr>
          <a:xfrm>
            <a:off x="6400800" y="3246120"/>
            <a:ext cx="914400" cy="502920"/>
          </a:xfrm>
          <a:prstGeom prst="rect">
            <a:avLst/>
          </a:prstGeom>
          <a:solidFill>
            <a:srgbClr val="FF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00800" y="3246120"/>
            <a:ext cx="914400" cy="502920"/>
          </a:xfrm>
          <a:prstGeom prst="rect">
            <a:avLst/>
          </a:prstGeom>
          <a:noFill/>
        </p:spPr>
        <p:txBody>
          <a:bodyPr wrap="none" anchor="ctr">
            <a:spAutoFit/>
          </a:bodyPr>
          <a:lstStyle/>
          <a:p>
            <a:pPr algn="ctr"/>
            <a:r>
              <a:rPr sz="1000" b="1">
                <a:solidFill>
                  <a:srgbClr val="FFFFFF"/>
                </a:solidFill>
                <a:latin typeface="Calibri"/>
              </a:rPr>
              <a:t>Wk 3-6</a:t>
            </a:r>
          </a:p>
        </p:txBody>
      </p:sp>
      <p:sp>
        <p:nvSpPr>
          <p:cNvPr id="24" name="TextBox 23"/>
          <p:cNvSpPr txBox="1"/>
          <p:nvPr/>
        </p:nvSpPr>
        <p:spPr>
          <a:xfrm>
            <a:off x="7406640" y="3246120"/>
            <a:ext cx="1463040" cy="502920"/>
          </a:xfrm>
          <a:prstGeom prst="rect">
            <a:avLst/>
          </a:prstGeom>
          <a:noFill/>
        </p:spPr>
        <p:txBody>
          <a:bodyPr wrap="none" anchor="ctr">
            <a:spAutoFit/>
          </a:bodyPr>
          <a:lstStyle/>
          <a:p>
            <a:r>
              <a:rPr sz="1100" b="1">
                <a:solidFill>
                  <a:srgbClr val="CC4F1F"/>
                </a:solidFill>
                <a:latin typeface="Calibri"/>
              </a:rPr>
              <a:t>Orchestration</a:t>
            </a:r>
          </a:p>
        </p:txBody>
      </p:sp>
      <p:sp>
        <p:nvSpPr>
          <p:cNvPr id="25" name="TextBox 24"/>
          <p:cNvSpPr txBox="1"/>
          <p:nvPr/>
        </p:nvSpPr>
        <p:spPr>
          <a:xfrm>
            <a:off x="8869680" y="3246120"/>
            <a:ext cx="2926080" cy="502920"/>
          </a:xfrm>
          <a:prstGeom prst="rect">
            <a:avLst/>
          </a:prstGeom>
          <a:noFill/>
        </p:spPr>
        <p:txBody>
          <a:bodyPr wrap="square" anchor="ctr">
            <a:spAutoFit/>
          </a:bodyPr>
          <a:lstStyle/>
          <a:p>
            <a:r>
              <a:rPr sz="1000">
                <a:solidFill>
                  <a:srgbClr val="2C3E50"/>
                </a:solidFill>
                <a:latin typeface="Calibri"/>
              </a:rPr>
              <a:t>12 Agent apps + Workflow, 4 tools, vision</a:t>
            </a:r>
          </a:p>
        </p:txBody>
      </p:sp>
      <p:sp>
        <p:nvSpPr>
          <p:cNvPr id="26" name="Rectangle 25"/>
          <p:cNvSpPr/>
          <p:nvPr/>
        </p:nvSpPr>
        <p:spPr>
          <a:xfrm>
            <a:off x="6400800" y="3794760"/>
            <a:ext cx="914400" cy="502920"/>
          </a:xfrm>
          <a:prstGeom prst="rect">
            <a:avLst/>
          </a:prstGeom>
          <a:solidFill>
            <a:srgbClr val="FF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400800" y="3794760"/>
            <a:ext cx="914400" cy="502920"/>
          </a:xfrm>
          <a:prstGeom prst="rect">
            <a:avLst/>
          </a:prstGeom>
          <a:noFill/>
        </p:spPr>
        <p:txBody>
          <a:bodyPr wrap="none" anchor="ctr">
            <a:spAutoFit/>
          </a:bodyPr>
          <a:lstStyle/>
          <a:p>
            <a:pPr algn="ctr"/>
            <a:r>
              <a:rPr sz="1000" b="1">
                <a:solidFill>
                  <a:srgbClr val="FFFFFF"/>
                </a:solidFill>
                <a:latin typeface="Calibri"/>
              </a:rPr>
              <a:t>Wk 5-7</a:t>
            </a:r>
          </a:p>
        </p:txBody>
      </p:sp>
      <p:sp>
        <p:nvSpPr>
          <p:cNvPr id="28" name="TextBox 27"/>
          <p:cNvSpPr txBox="1"/>
          <p:nvPr/>
        </p:nvSpPr>
        <p:spPr>
          <a:xfrm>
            <a:off x="7406640" y="3794760"/>
            <a:ext cx="1463040" cy="502920"/>
          </a:xfrm>
          <a:prstGeom prst="rect">
            <a:avLst/>
          </a:prstGeom>
          <a:noFill/>
        </p:spPr>
        <p:txBody>
          <a:bodyPr wrap="none" anchor="ctr">
            <a:spAutoFit/>
          </a:bodyPr>
          <a:lstStyle/>
          <a:p>
            <a:r>
              <a:rPr sz="1100" b="1">
                <a:solidFill>
                  <a:srgbClr val="CC4F1F"/>
                </a:solidFill>
                <a:latin typeface="Calibri"/>
              </a:rPr>
              <a:t>Integration</a:t>
            </a:r>
          </a:p>
        </p:txBody>
      </p:sp>
      <p:sp>
        <p:nvSpPr>
          <p:cNvPr id="29" name="TextBox 28"/>
          <p:cNvSpPr txBox="1"/>
          <p:nvPr/>
        </p:nvSpPr>
        <p:spPr>
          <a:xfrm>
            <a:off x="8869680" y="3794760"/>
            <a:ext cx="2926080" cy="502920"/>
          </a:xfrm>
          <a:prstGeom prst="rect">
            <a:avLst/>
          </a:prstGeom>
          <a:noFill/>
        </p:spPr>
        <p:txBody>
          <a:bodyPr wrap="square" anchor="ctr">
            <a:spAutoFit/>
          </a:bodyPr>
          <a:lstStyle/>
          <a:p>
            <a:r>
              <a:rPr sz="1000">
                <a:solidFill>
                  <a:srgbClr val="2C3E50"/>
                </a:solidFill>
                <a:latin typeface="Calibri"/>
              </a:rPr>
              <a:t>EHR FHIR, IDaaS federation, IPsec VPN</a:t>
            </a:r>
          </a:p>
        </p:txBody>
      </p:sp>
      <p:sp>
        <p:nvSpPr>
          <p:cNvPr id="30" name="Rectangle 29"/>
          <p:cNvSpPr/>
          <p:nvPr/>
        </p:nvSpPr>
        <p:spPr>
          <a:xfrm>
            <a:off x="6400800" y="4343400"/>
            <a:ext cx="914400" cy="502920"/>
          </a:xfrm>
          <a:prstGeom prst="rect">
            <a:avLst/>
          </a:prstGeom>
          <a:solidFill>
            <a:srgbClr val="FF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400800" y="4343400"/>
            <a:ext cx="914400" cy="502920"/>
          </a:xfrm>
          <a:prstGeom prst="rect">
            <a:avLst/>
          </a:prstGeom>
          <a:noFill/>
        </p:spPr>
        <p:txBody>
          <a:bodyPr wrap="none" anchor="ctr">
            <a:spAutoFit/>
          </a:bodyPr>
          <a:lstStyle/>
          <a:p>
            <a:pPr algn="ctr"/>
            <a:r>
              <a:rPr sz="1000" b="1">
                <a:solidFill>
                  <a:srgbClr val="FFFFFF"/>
                </a:solidFill>
                <a:latin typeface="Calibri"/>
              </a:rPr>
              <a:t>Wk 6-9</a:t>
            </a:r>
          </a:p>
        </p:txBody>
      </p:sp>
      <p:sp>
        <p:nvSpPr>
          <p:cNvPr id="32" name="TextBox 31"/>
          <p:cNvSpPr txBox="1"/>
          <p:nvPr/>
        </p:nvSpPr>
        <p:spPr>
          <a:xfrm>
            <a:off x="7406640" y="4343400"/>
            <a:ext cx="1463040" cy="502920"/>
          </a:xfrm>
          <a:prstGeom prst="rect">
            <a:avLst/>
          </a:prstGeom>
          <a:noFill/>
        </p:spPr>
        <p:txBody>
          <a:bodyPr wrap="none" anchor="ctr">
            <a:spAutoFit/>
          </a:bodyPr>
          <a:lstStyle/>
          <a:p>
            <a:r>
              <a:rPr sz="1100" b="1">
                <a:solidFill>
                  <a:srgbClr val="CC4F1F"/>
                </a:solidFill>
                <a:latin typeface="Calibri"/>
              </a:rPr>
              <a:t>Hardening</a:t>
            </a:r>
          </a:p>
        </p:txBody>
      </p:sp>
      <p:sp>
        <p:nvSpPr>
          <p:cNvPr id="33" name="TextBox 32"/>
          <p:cNvSpPr txBox="1"/>
          <p:nvPr/>
        </p:nvSpPr>
        <p:spPr>
          <a:xfrm>
            <a:off x="8869680" y="4343400"/>
            <a:ext cx="2926080" cy="502920"/>
          </a:xfrm>
          <a:prstGeom prst="rect">
            <a:avLst/>
          </a:prstGeom>
          <a:noFill/>
        </p:spPr>
        <p:txBody>
          <a:bodyPr wrap="square" anchor="ctr">
            <a:spAutoFit/>
          </a:bodyPr>
          <a:lstStyle/>
          <a:p>
            <a:r>
              <a:rPr sz="1000">
                <a:solidFill>
                  <a:srgbClr val="2C3E50"/>
                </a:solidFill>
                <a:latin typeface="Calibri"/>
              </a:rPr>
              <a:t>Red team 200+ prompts, PTU sizing, DR test</a:t>
            </a:r>
          </a:p>
        </p:txBody>
      </p:sp>
      <p:sp>
        <p:nvSpPr>
          <p:cNvPr id="34" name="Rectangle 33"/>
          <p:cNvSpPr/>
          <p:nvPr/>
        </p:nvSpPr>
        <p:spPr>
          <a:xfrm>
            <a:off x="6400800" y="4892040"/>
            <a:ext cx="914400" cy="502920"/>
          </a:xfrm>
          <a:prstGeom prst="rect">
            <a:avLst/>
          </a:prstGeom>
          <a:solidFill>
            <a:srgbClr val="FF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00800" y="4892040"/>
            <a:ext cx="914400" cy="502920"/>
          </a:xfrm>
          <a:prstGeom prst="rect">
            <a:avLst/>
          </a:prstGeom>
          <a:noFill/>
        </p:spPr>
        <p:txBody>
          <a:bodyPr wrap="none" anchor="ctr">
            <a:spAutoFit/>
          </a:bodyPr>
          <a:lstStyle/>
          <a:p>
            <a:pPr algn="ctr"/>
            <a:r>
              <a:rPr sz="1000" b="1">
                <a:solidFill>
                  <a:srgbClr val="FFFFFF"/>
                </a:solidFill>
                <a:latin typeface="Calibri"/>
              </a:rPr>
              <a:t>Wk 9-10</a:t>
            </a:r>
          </a:p>
        </p:txBody>
      </p:sp>
      <p:sp>
        <p:nvSpPr>
          <p:cNvPr id="36" name="TextBox 35"/>
          <p:cNvSpPr txBox="1"/>
          <p:nvPr/>
        </p:nvSpPr>
        <p:spPr>
          <a:xfrm>
            <a:off x="7406640" y="4892040"/>
            <a:ext cx="1463040" cy="502920"/>
          </a:xfrm>
          <a:prstGeom prst="rect">
            <a:avLst/>
          </a:prstGeom>
          <a:noFill/>
        </p:spPr>
        <p:txBody>
          <a:bodyPr wrap="none" anchor="ctr">
            <a:spAutoFit/>
          </a:bodyPr>
          <a:lstStyle/>
          <a:p>
            <a:r>
              <a:rPr sz="1100" b="1">
                <a:solidFill>
                  <a:srgbClr val="CC4F1F"/>
                </a:solidFill>
                <a:latin typeface="Calibri"/>
              </a:rPr>
              <a:t>Cut-over</a:t>
            </a:r>
          </a:p>
        </p:txBody>
      </p:sp>
      <p:sp>
        <p:nvSpPr>
          <p:cNvPr id="37" name="TextBox 36"/>
          <p:cNvSpPr txBox="1"/>
          <p:nvPr/>
        </p:nvSpPr>
        <p:spPr>
          <a:xfrm>
            <a:off x="8869680" y="4892040"/>
            <a:ext cx="2926080" cy="502920"/>
          </a:xfrm>
          <a:prstGeom prst="rect">
            <a:avLst/>
          </a:prstGeom>
          <a:noFill/>
        </p:spPr>
        <p:txBody>
          <a:bodyPr wrap="square" anchor="ctr">
            <a:spAutoFit/>
          </a:bodyPr>
          <a:lstStyle/>
          <a:p>
            <a:r>
              <a:rPr sz="1000">
                <a:solidFill>
                  <a:srgbClr val="2C3E50"/>
                </a:solidFill>
                <a:latin typeface="Calibri"/>
              </a:rPr>
              <a:t>Clinical pilot, sign-off, production live</a:t>
            </a:r>
          </a:p>
        </p:txBody>
      </p:sp>
      <p:sp>
        <p:nvSpPr>
          <p:cNvPr id="38" name="Rounded Rectangle 37"/>
          <p:cNvSpPr/>
          <p:nvPr/>
        </p:nvSpPr>
        <p:spPr>
          <a:xfrm>
            <a:off x="457200" y="5669280"/>
            <a:ext cx="11247120" cy="640080"/>
          </a:xfrm>
          <a:prstGeom prst="roundRect">
            <a:avLst>
              <a:gd name="adj" fmla="val 20000"/>
            </a:avLst>
          </a:prstGeom>
          <a:solidFill>
            <a:srgbClr val="FFE8DA"/>
          </a:solidFill>
          <a:ln w="12700">
            <a:solidFill>
              <a:srgbClr val="FF6B3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640080" y="5760720"/>
            <a:ext cx="10881360" cy="502920"/>
          </a:xfrm>
          <a:prstGeom prst="rect">
            <a:avLst/>
          </a:prstGeom>
          <a:noFill/>
        </p:spPr>
        <p:txBody>
          <a:bodyPr wrap="square">
            <a:spAutoFit/>
          </a:bodyPr>
          <a:lstStyle/>
          <a:p>
            <a:pPr algn="ctr"/>
            <a:r>
              <a:rPr sz="1200" b="1">
                <a:solidFill>
                  <a:srgbClr val="CC4F1F"/>
                </a:solidFill>
                <a:latin typeface="Calibri"/>
              </a:rPr>
              <a:t>Per-call cost: Emergency w/ cache hit $0.0008  ·  Student amortized $0.0003  ·  Complex w/ cache $0.0026  ·  Vision $0.004</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FF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28600"/>
            <a:ext cx="11247120" cy="640080"/>
          </a:xfrm>
          <a:prstGeom prst="rect">
            <a:avLst/>
          </a:prstGeom>
          <a:noFill/>
        </p:spPr>
        <p:txBody>
          <a:bodyPr wrap="none" lIns="0" tIns="0">
            <a:spAutoFit/>
          </a:bodyPr>
          <a:lstStyle/>
          <a:p>
            <a:pPr algn="l"/>
            <a:r>
              <a:rPr sz="2600" b="1">
                <a:solidFill>
                  <a:srgbClr val="CC4F1F"/>
                </a:solidFill>
                <a:latin typeface="Calibri"/>
              </a:rPr>
              <a:t>Ready to Deploy</a:t>
            </a:r>
          </a:p>
        </p:txBody>
      </p:sp>
      <p:sp>
        <p:nvSpPr>
          <p:cNvPr id="5" name="Rectangle 4"/>
          <p:cNvSpPr/>
          <p:nvPr/>
        </p:nvSpPr>
        <p:spPr>
          <a:xfrm>
            <a:off x="457200" y="868680"/>
            <a:ext cx="1828800" cy="36576"/>
          </a:xfrm>
          <a:prstGeom prst="rect">
            <a:avLst/>
          </a:prstGeom>
          <a:solidFill>
            <a:srgbClr val="FF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446520"/>
            <a:ext cx="11247120" cy="274320"/>
          </a:xfrm>
          <a:prstGeom prst="rect">
            <a:avLst/>
          </a:prstGeom>
          <a:noFill/>
        </p:spPr>
        <p:txBody>
          <a:bodyPr wrap="none">
            <a:spAutoFit/>
          </a:bodyPr>
          <a:lstStyle/>
          <a:p>
            <a:pPr algn="r"/>
            <a:r>
              <a:rPr sz="900" i="1">
                <a:solidFill>
                  <a:srgbClr val="646464"/>
                </a:solidFill>
                <a:latin typeface="Calibri"/>
              </a:rPr>
              <a:t>Nova Health Tech · Clinical GenAI Assistant · Alibaba Cloud Singapore</a:t>
            </a:r>
          </a:p>
        </p:txBody>
      </p:sp>
      <p:sp>
        <p:nvSpPr>
          <p:cNvPr id="7" name="TextBox 6"/>
          <p:cNvSpPr txBox="1"/>
          <p:nvPr/>
        </p:nvSpPr>
        <p:spPr>
          <a:xfrm>
            <a:off x="457200" y="1371600"/>
            <a:ext cx="548640" cy="457200"/>
          </a:xfrm>
          <a:prstGeom prst="rect">
            <a:avLst/>
          </a:prstGeom>
          <a:noFill/>
        </p:spPr>
        <p:txBody>
          <a:bodyPr wrap="none">
            <a:spAutoFit/>
          </a:bodyPr>
          <a:lstStyle/>
          <a:p>
            <a:pPr algn="ctr"/>
            <a:r>
              <a:rPr sz="2000" b="1">
                <a:solidFill>
                  <a:srgbClr val="27AE60"/>
                </a:solidFill>
                <a:latin typeface="Calibri"/>
              </a:rPr>
              <a:t>✓</a:t>
            </a:r>
          </a:p>
        </p:txBody>
      </p:sp>
      <p:sp>
        <p:nvSpPr>
          <p:cNvPr id="8" name="TextBox 7"/>
          <p:cNvSpPr txBox="1"/>
          <p:nvPr/>
        </p:nvSpPr>
        <p:spPr>
          <a:xfrm>
            <a:off x="1097280" y="1417320"/>
            <a:ext cx="3200400" cy="457200"/>
          </a:xfrm>
          <a:prstGeom prst="rect">
            <a:avLst/>
          </a:prstGeom>
          <a:noFill/>
        </p:spPr>
        <p:txBody>
          <a:bodyPr wrap="none">
            <a:spAutoFit/>
          </a:bodyPr>
          <a:lstStyle/>
          <a:p>
            <a:r>
              <a:rPr sz="1600" b="1">
                <a:solidFill>
                  <a:srgbClr val="CC4F1F"/>
                </a:solidFill>
                <a:latin typeface="Calibri"/>
              </a:rPr>
              <a:t>Singapore-Native</a:t>
            </a:r>
          </a:p>
        </p:txBody>
      </p:sp>
      <p:sp>
        <p:nvSpPr>
          <p:cNvPr id="9" name="TextBox 8"/>
          <p:cNvSpPr txBox="1"/>
          <p:nvPr/>
        </p:nvSpPr>
        <p:spPr>
          <a:xfrm>
            <a:off x="4297680" y="1463040"/>
            <a:ext cx="7406640" cy="457200"/>
          </a:xfrm>
          <a:prstGeom prst="rect">
            <a:avLst/>
          </a:prstGeom>
          <a:noFill/>
        </p:spPr>
        <p:txBody>
          <a:bodyPr wrap="square">
            <a:spAutoFit/>
          </a:bodyPr>
          <a:lstStyle/>
          <a:p>
            <a:r>
              <a:rPr sz="1300">
                <a:solidFill>
                  <a:srgbClr val="2C3E50"/>
                </a:solidFill>
                <a:latin typeface="Calibri"/>
              </a:rPr>
              <a:t>100% in ap-southeast-1 Singapore International, zero cross-region runtime</a:t>
            </a:r>
          </a:p>
        </p:txBody>
      </p:sp>
      <p:sp>
        <p:nvSpPr>
          <p:cNvPr id="10" name="TextBox 9"/>
          <p:cNvSpPr txBox="1"/>
          <p:nvPr/>
        </p:nvSpPr>
        <p:spPr>
          <a:xfrm>
            <a:off x="457200" y="2011680"/>
            <a:ext cx="548640" cy="457200"/>
          </a:xfrm>
          <a:prstGeom prst="rect">
            <a:avLst/>
          </a:prstGeom>
          <a:noFill/>
        </p:spPr>
        <p:txBody>
          <a:bodyPr wrap="none">
            <a:spAutoFit/>
          </a:bodyPr>
          <a:lstStyle/>
          <a:p>
            <a:pPr algn="ctr"/>
            <a:r>
              <a:rPr sz="2000" b="1">
                <a:solidFill>
                  <a:srgbClr val="27AE60"/>
                </a:solidFill>
                <a:latin typeface="Calibri"/>
              </a:rPr>
              <a:t>✓</a:t>
            </a:r>
          </a:p>
        </p:txBody>
      </p:sp>
      <p:sp>
        <p:nvSpPr>
          <p:cNvPr id="11" name="TextBox 10"/>
          <p:cNvSpPr txBox="1"/>
          <p:nvPr/>
        </p:nvSpPr>
        <p:spPr>
          <a:xfrm>
            <a:off x="1097280" y="2057400"/>
            <a:ext cx="3200400" cy="457200"/>
          </a:xfrm>
          <a:prstGeom prst="rect">
            <a:avLst/>
          </a:prstGeom>
          <a:noFill/>
        </p:spPr>
        <p:txBody>
          <a:bodyPr wrap="none">
            <a:spAutoFit/>
          </a:bodyPr>
          <a:lstStyle/>
          <a:p>
            <a:r>
              <a:rPr sz="1600" b="1">
                <a:solidFill>
                  <a:srgbClr val="CC4F1F"/>
                </a:solidFill>
                <a:latin typeface="Calibri"/>
              </a:rPr>
              <a:t>Compliance Built-In</a:t>
            </a:r>
          </a:p>
        </p:txBody>
      </p:sp>
      <p:sp>
        <p:nvSpPr>
          <p:cNvPr id="12" name="TextBox 11"/>
          <p:cNvSpPr txBox="1"/>
          <p:nvPr/>
        </p:nvSpPr>
        <p:spPr>
          <a:xfrm>
            <a:off x="4297680" y="2103120"/>
            <a:ext cx="7406640" cy="457200"/>
          </a:xfrm>
          <a:prstGeom prst="rect">
            <a:avLst/>
          </a:prstGeom>
          <a:noFill/>
        </p:spPr>
        <p:txBody>
          <a:bodyPr wrap="square">
            <a:spAutoFit/>
          </a:bodyPr>
          <a:lstStyle/>
          <a:p>
            <a:r>
              <a:rPr sz="1300">
                <a:solidFill>
                  <a:srgbClr val="2C3E50"/>
                </a:solidFill>
                <a:latin typeface="Calibri"/>
              </a:rPr>
              <a:t>PDPA, HCSA 2020, Cybersecurity Act, IMDA AI Verify, ISO 27001/27017/27018/27701</a:t>
            </a:r>
          </a:p>
        </p:txBody>
      </p:sp>
      <p:sp>
        <p:nvSpPr>
          <p:cNvPr id="13" name="TextBox 12"/>
          <p:cNvSpPr txBox="1"/>
          <p:nvPr/>
        </p:nvSpPr>
        <p:spPr>
          <a:xfrm>
            <a:off x="457200" y="2651760"/>
            <a:ext cx="548640" cy="457200"/>
          </a:xfrm>
          <a:prstGeom prst="rect">
            <a:avLst/>
          </a:prstGeom>
          <a:noFill/>
        </p:spPr>
        <p:txBody>
          <a:bodyPr wrap="none">
            <a:spAutoFit/>
          </a:bodyPr>
          <a:lstStyle/>
          <a:p>
            <a:pPr algn="ctr"/>
            <a:r>
              <a:rPr sz="2000" b="1">
                <a:solidFill>
                  <a:srgbClr val="27AE60"/>
                </a:solidFill>
                <a:latin typeface="Calibri"/>
              </a:rPr>
              <a:t>✓</a:t>
            </a:r>
          </a:p>
        </p:txBody>
      </p:sp>
      <p:sp>
        <p:nvSpPr>
          <p:cNvPr id="14" name="TextBox 13"/>
          <p:cNvSpPr txBox="1"/>
          <p:nvPr/>
        </p:nvSpPr>
        <p:spPr>
          <a:xfrm>
            <a:off x="1097280" y="2697480"/>
            <a:ext cx="3200400" cy="457200"/>
          </a:xfrm>
          <a:prstGeom prst="rect">
            <a:avLst/>
          </a:prstGeom>
          <a:noFill/>
        </p:spPr>
        <p:txBody>
          <a:bodyPr wrap="none">
            <a:spAutoFit/>
          </a:bodyPr>
          <a:lstStyle/>
          <a:p>
            <a:r>
              <a:rPr sz="1600" b="1">
                <a:solidFill>
                  <a:srgbClr val="CC4F1F"/>
                </a:solidFill>
                <a:latin typeface="Calibri"/>
              </a:rPr>
              <a:t>Proven Architecture</a:t>
            </a:r>
          </a:p>
        </p:txBody>
      </p:sp>
      <p:sp>
        <p:nvSpPr>
          <p:cNvPr id="15" name="TextBox 14"/>
          <p:cNvSpPr txBox="1"/>
          <p:nvPr/>
        </p:nvSpPr>
        <p:spPr>
          <a:xfrm>
            <a:off x="4297680" y="2743200"/>
            <a:ext cx="7406640" cy="457200"/>
          </a:xfrm>
          <a:prstGeom prst="rect">
            <a:avLst/>
          </a:prstGeom>
          <a:noFill/>
        </p:spPr>
        <p:txBody>
          <a:bodyPr wrap="square">
            <a:spAutoFit/>
          </a:bodyPr>
          <a:lstStyle/>
          <a:p>
            <a:r>
              <a:rPr sz="1300">
                <a:solidFill>
                  <a:srgbClr val="2C3E50"/>
                </a:solidFill>
                <a:latin typeface="Calibri"/>
              </a:rPr>
              <a:t>Two-lane pattern with managed services: Model Studio, GraphRAG, OpenSearch, Tair</a:t>
            </a:r>
          </a:p>
        </p:txBody>
      </p:sp>
      <p:sp>
        <p:nvSpPr>
          <p:cNvPr id="16" name="TextBox 15"/>
          <p:cNvSpPr txBox="1"/>
          <p:nvPr/>
        </p:nvSpPr>
        <p:spPr>
          <a:xfrm>
            <a:off x="457200" y="3291840"/>
            <a:ext cx="548640" cy="457200"/>
          </a:xfrm>
          <a:prstGeom prst="rect">
            <a:avLst/>
          </a:prstGeom>
          <a:noFill/>
        </p:spPr>
        <p:txBody>
          <a:bodyPr wrap="none">
            <a:spAutoFit/>
          </a:bodyPr>
          <a:lstStyle/>
          <a:p>
            <a:pPr algn="ctr"/>
            <a:r>
              <a:rPr sz="2000" b="1">
                <a:solidFill>
                  <a:srgbClr val="27AE60"/>
                </a:solidFill>
                <a:latin typeface="Calibri"/>
              </a:rPr>
              <a:t>✓</a:t>
            </a:r>
          </a:p>
        </p:txBody>
      </p:sp>
      <p:sp>
        <p:nvSpPr>
          <p:cNvPr id="17" name="TextBox 16"/>
          <p:cNvSpPr txBox="1"/>
          <p:nvPr/>
        </p:nvSpPr>
        <p:spPr>
          <a:xfrm>
            <a:off x="1097280" y="3337560"/>
            <a:ext cx="3200400" cy="457200"/>
          </a:xfrm>
          <a:prstGeom prst="rect">
            <a:avLst/>
          </a:prstGeom>
          <a:noFill/>
        </p:spPr>
        <p:txBody>
          <a:bodyPr wrap="none">
            <a:spAutoFit/>
          </a:bodyPr>
          <a:lstStyle/>
          <a:p>
            <a:r>
              <a:rPr sz="1600" b="1">
                <a:solidFill>
                  <a:srgbClr val="CC4F1F"/>
                </a:solidFill>
                <a:latin typeface="Calibri"/>
              </a:rPr>
              <a:t>Cost-Efficient</a:t>
            </a:r>
          </a:p>
        </p:txBody>
      </p:sp>
      <p:sp>
        <p:nvSpPr>
          <p:cNvPr id="18" name="TextBox 17"/>
          <p:cNvSpPr txBox="1"/>
          <p:nvPr/>
        </p:nvSpPr>
        <p:spPr>
          <a:xfrm>
            <a:off x="4297680" y="3383280"/>
            <a:ext cx="7406640" cy="457200"/>
          </a:xfrm>
          <a:prstGeom prst="rect">
            <a:avLst/>
          </a:prstGeom>
          <a:noFill/>
        </p:spPr>
        <p:txBody>
          <a:bodyPr wrap="square">
            <a:spAutoFit/>
          </a:bodyPr>
          <a:lstStyle/>
          <a:p>
            <a:r>
              <a:rPr sz="1300">
                <a:solidFill>
                  <a:srgbClr val="2C3E50"/>
                </a:solidFill>
                <a:latin typeface="Calibri"/>
              </a:rPr>
              <a:t>$2,280-3,060 per tenant per month; 60% traffic on $0.0003/call student model</a:t>
            </a:r>
          </a:p>
        </p:txBody>
      </p:sp>
      <p:sp>
        <p:nvSpPr>
          <p:cNvPr id="19" name="TextBox 18"/>
          <p:cNvSpPr txBox="1"/>
          <p:nvPr/>
        </p:nvSpPr>
        <p:spPr>
          <a:xfrm>
            <a:off x="457200" y="3931920"/>
            <a:ext cx="548640" cy="457200"/>
          </a:xfrm>
          <a:prstGeom prst="rect">
            <a:avLst/>
          </a:prstGeom>
          <a:noFill/>
        </p:spPr>
        <p:txBody>
          <a:bodyPr wrap="none">
            <a:spAutoFit/>
          </a:bodyPr>
          <a:lstStyle/>
          <a:p>
            <a:pPr algn="ctr"/>
            <a:r>
              <a:rPr sz="2000" b="1">
                <a:solidFill>
                  <a:srgbClr val="27AE60"/>
                </a:solidFill>
                <a:latin typeface="Calibri"/>
              </a:rPr>
              <a:t>✓</a:t>
            </a:r>
          </a:p>
        </p:txBody>
      </p:sp>
      <p:sp>
        <p:nvSpPr>
          <p:cNvPr id="20" name="TextBox 19"/>
          <p:cNvSpPr txBox="1"/>
          <p:nvPr/>
        </p:nvSpPr>
        <p:spPr>
          <a:xfrm>
            <a:off x="1097280" y="3977640"/>
            <a:ext cx="3200400" cy="457200"/>
          </a:xfrm>
          <a:prstGeom prst="rect">
            <a:avLst/>
          </a:prstGeom>
          <a:noFill/>
        </p:spPr>
        <p:txBody>
          <a:bodyPr wrap="none">
            <a:spAutoFit/>
          </a:bodyPr>
          <a:lstStyle/>
          <a:p>
            <a:r>
              <a:rPr sz="1600" b="1">
                <a:solidFill>
                  <a:srgbClr val="CC4F1F"/>
                </a:solidFill>
                <a:latin typeface="Calibri"/>
              </a:rPr>
              <a:t>Fast to Deploy</a:t>
            </a:r>
          </a:p>
        </p:txBody>
      </p:sp>
      <p:sp>
        <p:nvSpPr>
          <p:cNvPr id="21" name="TextBox 20"/>
          <p:cNvSpPr txBox="1"/>
          <p:nvPr/>
        </p:nvSpPr>
        <p:spPr>
          <a:xfrm>
            <a:off x="4297680" y="4023360"/>
            <a:ext cx="7406640" cy="457200"/>
          </a:xfrm>
          <a:prstGeom prst="rect">
            <a:avLst/>
          </a:prstGeom>
          <a:noFill/>
        </p:spPr>
        <p:txBody>
          <a:bodyPr wrap="square">
            <a:spAutoFit/>
          </a:bodyPr>
          <a:lstStyle/>
          <a:p>
            <a:r>
              <a:rPr sz="1300">
                <a:solidFill>
                  <a:srgbClr val="2C3E50"/>
                </a:solidFill>
                <a:latin typeface="Calibri"/>
              </a:rPr>
              <a:t>6-10 week build window; one product, no phases, all features day-one</a:t>
            </a:r>
          </a:p>
        </p:txBody>
      </p:sp>
      <p:sp>
        <p:nvSpPr>
          <p:cNvPr id="22" name="Rounded Rectangle 21"/>
          <p:cNvSpPr/>
          <p:nvPr/>
        </p:nvSpPr>
        <p:spPr>
          <a:xfrm>
            <a:off x="2286000" y="5029200"/>
            <a:ext cx="7589520" cy="1280160"/>
          </a:xfrm>
          <a:prstGeom prst="roundRect">
            <a:avLst>
              <a:gd name="adj" fmla="val 10000"/>
            </a:avLst>
          </a:prstGeom>
          <a:solidFill>
            <a:srgbClr val="FF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2468880" y="5212080"/>
            <a:ext cx="7223760" cy="914400"/>
          </a:xfrm>
          <a:prstGeom prst="rect">
            <a:avLst/>
          </a:prstGeom>
          <a:noFill/>
        </p:spPr>
        <p:txBody>
          <a:bodyPr wrap="square">
            <a:spAutoFit/>
          </a:bodyPr>
          <a:lstStyle/>
          <a:p>
            <a:pPr algn="ctr"/>
            <a:r>
              <a:rPr sz="2800" b="1">
                <a:solidFill>
                  <a:srgbClr val="FFFFFF"/>
                </a:solidFill>
                <a:latin typeface="Calibri"/>
              </a:rPr>
              <a:t>Questions &amp; Discussion</a:t>
            </a:r>
          </a:p>
          <a:p>
            <a:pPr algn="ctr"/>
            <a:r>
              <a:rPr sz="1200" i="1">
                <a:solidFill>
                  <a:srgbClr val="FFFFFF"/>
                </a:solidFill>
                <a:latin typeface="Calibri"/>
              </a:rPr>
              <a:t>Reference: AlibabaCloud_SA_proposal_technical_architecture.docx (35 pages)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
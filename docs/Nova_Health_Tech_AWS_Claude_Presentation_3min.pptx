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[10s opening]</a:t>
            </a:r>
          </a:p>
          <a:p/>
          <a:p>
            <a:r>
              <a:t>Đề xuất kiến trúc trợ lý AI lâm sàng cho Nova Health Tech: AWS Singapore, Claude 4.5, tuân thủ PDPA và HCSA ngay từ thiết kế.</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a:t>
            </a:r>
          </a:p>
          <a:p/>
          <a:p>
            <a:r>
              <a:t>Bác sĩ Nova hiện đang mất niềm tin vào công cụ hỗ trợ lâm sàng vì câu trả lời chậm và thiếu cụ thể. Có 3 thách thức lớn nhất.</a:t>
            </a:r>
          </a:p>
          <a:p/>
          <a:p>
            <a:r>
              <a:t>Một, cấp cứu cần dưới 2 giây, không có chỗ cho độ trễ. Hai, dữ liệu thử nghiệm nội bộ chứa thông tin bệnh nhân, không được rò rỉ ra ngoài Singapore. Ba, WHO cập nhật hàng tháng, ICD-11 hàng ngày, hệ thống phải tự đồng bộ.</a:t>
            </a:r>
          </a:p>
          <a:p/>
          <a:p>
            <a:r>
              <a:t>Cộng thêm yêu cầu tuân thủ PDPA, HCSA, và sẵn sàng cho HIPAA khi onboard khách Mỹ.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a:t>
            </a:r>
          </a:p>
          <a:p/>
          <a:p>
            <a:r>
              <a:t>Giải pháp là kiến trúc 2 luồng. Cấp cứu đi thẳng Claude Haiku 4.5 với top-3 vector và top-2 graph, không qua router, không guardrails để đạt TTFT 2.5 giây. Phức tạp đi qua Nova Micro phân loại 12 phòng ban, rồi Sonnet 4.5 với top-15 vector và top-3 graph, có guardrails đầy đủ.</a:t>
            </a:r>
          </a:p>
          <a:p/>
          <a:p>
            <a:r>
              <a:t>RAG dùng 2 loại: vector trên OpenSearch Serverless và GraphRAG trên Neptune Analytics. Cả 2 đều ở Singapore, dùng Cohere Embed v3 SG-native. Không có cross-region hop nào cho dữ liệu lâm sàng.</a:t>
            </a:r>
          </a:p>
          <a:p/>
          <a:p>
            <a:r>
              <a:t>PoC đã chạy live trên EC2 Singapore, 100% pass SLA, 100% câu trả lời có citation.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 KEY SLIDE]</a:t>
            </a:r>
          </a:p>
          <a:p/>
          <a:p>
            <a:r>
              <a:t>Đây là phần Nova Health Tech cần lưu ý nhất. Singapore có 4 quy định chính áp dụng trực tiếp cho hệ thống AI lâm sàng.</a:t>
            </a:r>
          </a:p>
          <a:p/>
          <a:p>
            <a:r>
              <a:t>Một, PDPA do PDPC quản, bảo vệ dữ liệu cá nhân bệnh nhân, yêu cầu Data Protection Officer, thông báo vi phạm trong 72 giờ. Hai, HCSA do MOH ban hành 2020 thay PHMC, bắt buộc license cho dịch vụ y tế và clinical decision support. Ba, Cybersecurity Act 2018 cho Critical Information Infrastructure trong y tế. Bốn, IMDA AI Verify framework cho AI có trách nhiệm.</a:t>
            </a:r>
          </a:p>
          <a:p/>
          <a:p>
            <a:r>
              <a:t>Tất cả deployment ở ap-southeast-1, dữ liệu bệnh nhân không bao giờ rời Singapore. AWS đã có signed BAA, ISO 27001, SOC 2 Type II, PDPA-compliant.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a:t>
            </a:r>
          </a:p>
          <a:p/>
          <a:p>
            <a:r>
              <a:t>PoC đã chạy live trên EC2 Singapore với WHO COVID-19 guideline 198 trang. Test 20 câu hỏi thực tế, 100% pass SLA cả emergency và complex, 100% câu trả lời có citation.</a:t>
            </a:r>
          </a:p>
          <a:p/>
          <a:p>
            <a:r>
              <a:t>Cấp cứu TTFT trung bình 2.5 giây, dùng Haiku 4.5 với top-3 vector và top-2 graph. Phức tạp 9.7 giây với Sonnet 4.5 và 18 chunks context. Production thêm Reserved Tier và Prompt Caching sẽ giảm xuống đúng 2 giây spec gốc.</a:t>
            </a:r>
          </a:p>
          <a:p/>
          <a:p>
            <a:r>
              <a:t>Chi phí 600k calls một tháng: phương án Nova khoảng 2,800 USD, phương án Claude với Nova Lite distilled student khoảng 5,500 USD. Sẵn sàng demo live nếu Ban lãnh đạo quan tâm.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[15s closing]</a:t>
            </a:r>
          </a:p>
          <a:p/>
          <a:p>
            <a:r>
              <a:t>Tóm lại: kiến trúc đã được PoC kiểm chứng, Singapore-native, tuân thủ PDPA HCSA sẵn, chi phí từ 2,800 USD một tháng. Lộ trình triển khai 6-10 tuần. PoC đang chạy live, có thể demo ngay. Cảm ơn quý vị.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inslide.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2286000"/>
            <a:ext cx="12191695" cy="2286000"/>
          </a:xfrm>
          <a:prstGeom prst="rect">
            <a:avLst/>
          </a:prstGeom>
          <a:solidFill>
            <a:srgbClr val="000000">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0"/>
            <a:ext cx="10698480" cy="1097280"/>
          </a:xfrm>
          <a:prstGeom prst="rect">
            <a:avLst/>
          </a:prstGeom>
          <a:noFill/>
        </p:spPr>
        <p:txBody>
          <a:bodyPr wrap="square">
            <a:spAutoFit/>
          </a:bodyPr>
          <a:lstStyle/>
          <a:p>
            <a:pPr algn="ctr"/>
            <a:r>
              <a:rPr sz="4000" b="1">
                <a:solidFill>
                  <a:srgbClr val="FFFFFF"/>
                </a:solidFill>
                <a:latin typeface="Calibri"/>
              </a:rPr>
              <a:t>Nova Health Tech · Clinical GenAI Assistant</a:t>
            </a:r>
          </a:p>
        </p:txBody>
      </p:sp>
      <p:sp>
        <p:nvSpPr>
          <p:cNvPr id="5" name="TextBox 4"/>
          <p:cNvSpPr txBox="1"/>
          <p:nvPr/>
        </p:nvSpPr>
        <p:spPr>
          <a:xfrm>
            <a:off x="731520" y="3657600"/>
            <a:ext cx="10698480" cy="640080"/>
          </a:xfrm>
          <a:prstGeom prst="rect">
            <a:avLst/>
          </a:prstGeom>
          <a:noFill/>
        </p:spPr>
        <p:txBody>
          <a:bodyPr wrap="square">
            <a:spAutoFit/>
          </a:bodyPr>
          <a:lstStyle/>
          <a:p>
            <a:pPr algn="ctr"/>
            <a:r>
              <a:rPr sz="2000">
                <a:solidFill>
                  <a:srgbClr val="FFFFFF"/>
                </a:solidFill>
                <a:latin typeface="Calibri"/>
              </a:rPr>
              <a:t>AWS with Claude · Singapore · PDPA &amp; HCSA compliant by design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800" b="1">
                <a:solidFill>
                  <a:srgbClr val="CC4F1F"/>
                </a:solidFill>
                <a:latin typeface="Calibri"/>
              </a:rPr>
              <a:t>The Challenge</a:t>
            </a:r>
          </a:p>
        </p:txBody>
      </p:sp>
      <p:sp>
        <p:nvSpPr>
          <p:cNvPr id="5" name="Rectangle 4"/>
          <p:cNvSpPr/>
          <p:nvPr/>
        </p:nvSpPr>
        <p:spPr>
          <a:xfrm>
            <a:off x="457200" y="91440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AWS Singapore</a:t>
            </a:r>
          </a:p>
        </p:txBody>
      </p:sp>
      <p:sp>
        <p:nvSpPr>
          <p:cNvPr id="7" name="Rounded Rectangle 6"/>
          <p:cNvSpPr/>
          <p:nvPr/>
        </p:nvSpPr>
        <p:spPr>
          <a:xfrm>
            <a:off x="609447" y="1554480"/>
            <a:ext cx="3474720" cy="3200400"/>
          </a:xfrm>
          <a:prstGeom prst="roundRect">
            <a:avLst>
              <a:gd name="adj" fmla="val 6000"/>
            </a:avLst>
          </a:prstGeom>
          <a:solidFill>
            <a:srgbClr val="FFFFFF"/>
          </a:solidFill>
          <a:ln w="317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447" y="1920240"/>
            <a:ext cx="3474720" cy="914400"/>
          </a:xfrm>
          <a:prstGeom prst="rect">
            <a:avLst/>
          </a:prstGeom>
          <a:noFill/>
        </p:spPr>
        <p:txBody>
          <a:bodyPr wrap="none">
            <a:spAutoFit/>
          </a:bodyPr>
          <a:lstStyle/>
          <a:p>
            <a:pPr algn="ctr"/>
            <a:r>
              <a:rPr sz="5600">
                <a:latin typeface="Segoe UI Emoji"/>
              </a:rPr>
              <a:t>⚡</a:t>
            </a:r>
          </a:p>
        </p:txBody>
      </p:sp>
      <p:sp>
        <p:nvSpPr>
          <p:cNvPr id="9" name="TextBox 8"/>
          <p:cNvSpPr txBox="1"/>
          <p:nvPr/>
        </p:nvSpPr>
        <p:spPr>
          <a:xfrm>
            <a:off x="609447" y="3017520"/>
            <a:ext cx="3474720" cy="457200"/>
          </a:xfrm>
          <a:prstGeom prst="rect">
            <a:avLst/>
          </a:prstGeom>
          <a:noFill/>
        </p:spPr>
        <p:txBody>
          <a:bodyPr wrap="none">
            <a:spAutoFit/>
          </a:bodyPr>
          <a:lstStyle/>
          <a:p>
            <a:pPr algn="ctr"/>
            <a:r>
              <a:rPr sz="2200" b="1">
                <a:solidFill>
                  <a:srgbClr val="C0392B"/>
                </a:solidFill>
                <a:latin typeface="Calibri"/>
              </a:rPr>
              <a:t>Speed</a:t>
            </a:r>
          </a:p>
        </p:txBody>
      </p:sp>
      <p:sp>
        <p:nvSpPr>
          <p:cNvPr id="10" name="TextBox 9"/>
          <p:cNvSpPr txBox="1"/>
          <p:nvPr/>
        </p:nvSpPr>
        <p:spPr>
          <a:xfrm>
            <a:off x="792327" y="3657600"/>
            <a:ext cx="3108960" cy="1005840"/>
          </a:xfrm>
          <a:prstGeom prst="rect">
            <a:avLst/>
          </a:prstGeom>
          <a:noFill/>
        </p:spPr>
        <p:txBody>
          <a:bodyPr wrap="square">
            <a:spAutoFit/>
          </a:bodyPr>
          <a:lstStyle/>
          <a:p>
            <a:pPr algn="ctr"/>
            <a:r>
              <a:rPr sz="1400">
                <a:solidFill>
                  <a:srgbClr val="2C3E50"/>
                </a:solidFill>
                <a:latin typeface="Calibri"/>
              </a:rPr>
              <a:t>Emergency response
&lt; 2 seconds</a:t>
            </a:r>
          </a:p>
        </p:txBody>
      </p:sp>
      <p:sp>
        <p:nvSpPr>
          <p:cNvPr id="11" name="Rounded Rectangle 10"/>
          <p:cNvSpPr/>
          <p:nvPr/>
        </p:nvSpPr>
        <p:spPr>
          <a:xfrm>
            <a:off x="4358487" y="1554480"/>
            <a:ext cx="3474720" cy="3200400"/>
          </a:xfrm>
          <a:prstGeom prst="roundRect">
            <a:avLst>
              <a:gd name="adj" fmla="val 6000"/>
            </a:avLst>
          </a:prstGeom>
          <a:solidFill>
            <a:srgbClr val="FFFFFF"/>
          </a:solidFill>
          <a:ln w="31750">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58487" y="1920240"/>
            <a:ext cx="3474720" cy="914400"/>
          </a:xfrm>
          <a:prstGeom prst="rect">
            <a:avLst/>
          </a:prstGeom>
          <a:noFill/>
        </p:spPr>
        <p:txBody>
          <a:bodyPr wrap="none">
            <a:spAutoFit/>
          </a:bodyPr>
          <a:lstStyle/>
          <a:p>
            <a:pPr algn="ctr"/>
            <a:r>
              <a:rPr sz="5600">
                <a:latin typeface="Segoe UI Emoji"/>
              </a:rPr>
              <a:t>🔒</a:t>
            </a:r>
          </a:p>
        </p:txBody>
      </p:sp>
      <p:sp>
        <p:nvSpPr>
          <p:cNvPr id="13" name="TextBox 12"/>
          <p:cNvSpPr txBox="1"/>
          <p:nvPr/>
        </p:nvSpPr>
        <p:spPr>
          <a:xfrm>
            <a:off x="4358487" y="3017520"/>
            <a:ext cx="3474720" cy="457200"/>
          </a:xfrm>
          <a:prstGeom prst="rect">
            <a:avLst/>
          </a:prstGeom>
          <a:noFill/>
        </p:spPr>
        <p:txBody>
          <a:bodyPr wrap="none">
            <a:spAutoFit/>
          </a:bodyPr>
          <a:lstStyle/>
          <a:p>
            <a:pPr algn="ctr"/>
            <a:r>
              <a:rPr sz="2200" b="1">
                <a:solidFill>
                  <a:srgbClr val="CC4F1F"/>
                </a:solidFill>
                <a:latin typeface="Calibri"/>
              </a:rPr>
              <a:t>Patient PHI</a:t>
            </a:r>
          </a:p>
        </p:txBody>
      </p:sp>
      <p:sp>
        <p:nvSpPr>
          <p:cNvPr id="14" name="TextBox 13"/>
          <p:cNvSpPr txBox="1"/>
          <p:nvPr/>
        </p:nvSpPr>
        <p:spPr>
          <a:xfrm>
            <a:off x="4541367" y="3657600"/>
            <a:ext cx="3108960" cy="1005840"/>
          </a:xfrm>
          <a:prstGeom prst="rect">
            <a:avLst/>
          </a:prstGeom>
          <a:noFill/>
        </p:spPr>
        <p:txBody>
          <a:bodyPr wrap="square">
            <a:spAutoFit/>
          </a:bodyPr>
          <a:lstStyle/>
          <a:p>
            <a:pPr algn="ctr"/>
            <a:r>
              <a:rPr sz="1400">
                <a:solidFill>
                  <a:srgbClr val="2C3E50"/>
                </a:solidFill>
                <a:latin typeface="Calibri"/>
              </a:rPr>
              <a:t>Trial data must stay
in Singapore</a:t>
            </a:r>
          </a:p>
        </p:txBody>
      </p:sp>
      <p:sp>
        <p:nvSpPr>
          <p:cNvPr id="15" name="Rounded Rectangle 14"/>
          <p:cNvSpPr/>
          <p:nvPr/>
        </p:nvSpPr>
        <p:spPr>
          <a:xfrm>
            <a:off x="8107527" y="1554480"/>
            <a:ext cx="3474720" cy="3200400"/>
          </a:xfrm>
          <a:prstGeom prst="roundRect">
            <a:avLst>
              <a:gd name="adj" fmla="val 6000"/>
            </a:avLst>
          </a:prstGeom>
          <a:solidFill>
            <a:srgbClr val="FFFFFF"/>
          </a:solidFill>
          <a:ln w="317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07527" y="1920240"/>
            <a:ext cx="3474720" cy="914400"/>
          </a:xfrm>
          <a:prstGeom prst="rect">
            <a:avLst/>
          </a:prstGeom>
          <a:noFill/>
        </p:spPr>
        <p:txBody>
          <a:bodyPr wrap="none">
            <a:spAutoFit/>
          </a:bodyPr>
          <a:lstStyle/>
          <a:p>
            <a:pPr algn="ctr"/>
            <a:r>
              <a:rPr sz="5600">
                <a:latin typeface="Segoe UI Emoji"/>
              </a:rPr>
              <a:t>📅</a:t>
            </a:r>
          </a:p>
        </p:txBody>
      </p:sp>
      <p:sp>
        <p:nvSpPr>
          <p:cNvPr id="17" name="TextBox 16"/>
          <p:cNvSpPr txBox="1"/>
          <p:nvPr/>
        </p:nvSpPr>
        <p:spPr>
          <a:xfrm>
            <a:off x="8107527" y="3017520"/>
            <a:ext cx="3474720" cy="457200"/>
          </a:xfrm>
          <a:prstGeom prst="rect">
            <a:avLst/>
          </a:prstGeom>
          <a:noFill/>
        </p:spPr>
        <p:txBody>
          <a:bodyPr wrap="none">
            <a:spAutoFit/>
          </a:bodyPr>
          <a:lstStyle/>
          <a:p>
            <a:pPr algn="ctr"/>
            <a:r>
              <a:rPr sz="2200" b="1">
                <a:solidFill>
                  <a:srgbClr val="FF6B35"/>
                </a:solidFill>
                <a:latin typeface="Calibri"/>
              </a:rPr>
              <a:t>Freshness</a:t>
            </a:r>
          </a:p>
        </p:txBody>
      </p:sp>
      <p:sp>
        <p:nvSpPr>
          <p:cNvPr id="18" name="TextBox 17"/>
          <p:cNvSpPr txBox="1"/>
          <p:nvPr/>
        </p:nvSpPr>
        <p:spPr>
          <a:xfrm>
            <a:off x="8290407" y="3657600"/>
            <a:ext cx="3108960" cy="1005840"/>
          </a:xfrm>
          <a:prstGeom prst="rect">
            <a:avLst/>
          </a:prstGeom>
          <a:noFill/>
        </p:spPr>
        <p:txBody>
          <a:bodyPr wrap="square">
            <a:spAutoFit/>
          </a:bodyPr>
          <a:lstStyle/>
          <a:p>
            <a:pPr algn="ctr"/>
            <a:r>
              <a:rPr sz="1400">
                <a:solidFill>
                  <a:srgbClr val="2C3E50"/>
                </a:solidFill>
                <a:latin typeface="Calibri"/>
              </a:rPr>
              <a:t>WHO monthly,
ICD-11 daily updates</a:t>
            </a:r>
          </a:p>
        </p:txBody>
      </p:sp>
      <p:sp>
        <p:nvSpPr>
          <p:cNvPr id="19" name="Rounded Rectangle 18"/>
          <p:cNvSpPr/>
          <p:nvPr/>
        </p:nvSpPr>
        <p:spPr>
          <a:xfrm>
            <a:off x="914400" y="5029200"/>
            <a:ext cx="10332720" cy="914400"/>
          </a:xfrm>
          <a:prstGeom prst="roundRect">
            <a:avLst>
              <a:gd name="adj" fmla="val 20000"/>
            </a:avLst>
          </a:prstGeom>
          <a:solidFill>
            <a:srgbClr val="FFE8DA"/>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166360"/>
            <a:ext cx="9966960" cy="731520"/>
          </a:xfrm>
          <a:prstGeom prst="rect">
            <a:avLst/>
          </a:prstGeom>
          <a:noFill/>
        </p:spPr>
        <p:txBody>
          <a:bodyPr wrap="square">
            <a:spAutoFit/>
          </a:bodyPr>
          <a:lstStyle/>
          <a:p>
            <a:pPr algn="ctr"/>
            <a:r>
              <a:rPr sz="1500" b="1">
                <a:solidFill>
                  <a:srgbClr val="CC4F1F"/>
                </a:solidFill>
                <a:latin typeface="Calibri"/>
              </a:rPr>
              <a:t>Plus: Singapore PDPA + HCSA compliance · auditable for 6 years · 600k calls/month at launch</a:t>
            </a:r>
          </a:p>
          <a:p>
            <a:pPr algn="ctr"/>
            <a:r>
              <a:rPr sz="1100" i="1">
                <a:solidFill>
                  <a:srgbClr val="646464"/>
                </a:solidFill>
                <a:latin typeface="Calibri"/>
              </a:rPr>
              <a:t>Internal trial PDFs · WHO API · ICD-11 · PubMed · EHR (FHIR R4)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800" b="1">
                <a:solidFill>
                  <a:srgbClr val="CC4F1F"/>
                </a:solidFill>
                <a:latin typeface="Calibri"/>
              </a:rPr>
              <a:t>Solution: Two-Lane Architecture, Singapore-Native</a:t>
            </a:r>
          </a:p>
        </p:txBody>
      </p:sp>
      <p:sp>
        <p:nvSpPr>
          <p:cNvPr id="5" name="Rectangle 4"/>
          <p:cNvSpPr/>
          <p:nvPr/>
        </p:nvSpPr>
        <p:spPr>
          <a:xfrm>
            <a:off x="457200" y="91440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AWS Singapore</a:t>
            </a:r>
          </a:p>
        </p:txBody>
      </p:sp>
      <p:sp>
        <p:nvSpPr>
          <p:cNvPr id="7" name="Rounded Rectangle 6"/>
          <p:cNvSpPr/>
          <p:nvPr/>
        </p:nvSpPr>
        <p:spPr>
          <a:xfrm>
            <a:off x="457200" y="1280160"/>
            <a:ext cx="5486400" cy="3657600"/>
          </a:xfrm>
          <a:prstGeom prst="roundRect">
            <a:avLst>
              <a:gd name="adj" fmla="val 4000"/>
            </a:avLst>
          </a:prstGeom>
          <a:solidFill>
            <a:srgbClr val="FFFFFF"/>
          </a:solidFill>
          <a:ln w="317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5486400" cy="5486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280160"/>
            <a:ext cx="5486400" cy="548640"/>
          </a:xfrm>
          <a:prstGeom prst="rect">
            <a:avLst/>
          </a:prstGeom>
          <a:noFill/>
        </p:spPr>
        <p:txBody>
          <a:bodyPr wrap="none" anchor="ctr">
            <a:spAutoFit/>
          </a:bodyPr>
          <a:lstStyle/>
          <a:p>
            <a:pPr algn="ctr"/>
            <a:r>
              <a:rPr sz="1800" b="1">
                <a:solidFill>
                  <a:srgbClr val="FFFFFF"/>
                </a:solidFill>
                <a:latin typeface="Calibri"/>
              </a:rPr>
              <a:t>EMERGENCY · 2.5s TTFT</a:t>
            </a:r>
          </a:p>
        </p:txBody>
      </p:sp>
      <p:sp>
        <p:nvSpPr>
          <p:cNvPr id="10" name="TextBox 9"/>
          <p:cNvSpPr txBox="1"/>
          <p:nvPr/>
        </p:nvSpPr>
        <p:spPr>
          <a:xfrm>
            <a:off x="731520" y="2057400"/>
            <a:ext cx="5029200" cy="2743200"/>
          </a:xfrm>
          <a:prstGeom prst="rect">
            <a:avLst/>
          </a:prstGeom>
          <a:noFill/>
        </p:spPr>
        <p:txBody>
          <a:bodyPr wrap="square">
            <a:spAutoFit/>
          </a:bodyPr>
          <a:lstStyle/>
          <a:p>
            <a:pPr>
              <a:spcAft>
                <a:spcPts val="800"/>
              </a:spcAft>
            </a:pPr>
            <a:r>
              <a:rPr sz="1500">
                <a:solidFill>
                  <a:srgbClr val="2C3E50"/>
                </a:solidFill>
                <a:latin typeface="Calibri"/>
              </a:rPr>
              <a:t>▸  Claude Haiku 4.5 (fast)</a:t>
            </a:r>
          </a:p>
          <a:p>
            <a:pPr>
              <a:spcAft>
                <a:spcPts val="800"/>
              </a:spcAft>
            </a:pPr>
            <a:r>
              <a:rPr sz="1500">
                <a:solidFill>
                  <a:srgbClr val="2C3E50"/>
                </a:solidFill>
                <a:latin typeface="Calibri"/>
              </a:rPr>
              <a:t>▸  Vector top-3 + GraphRAG top-2</a:t>
            </a:r>
          </a:p>
          <a:p>
            <a:pPr>
              <a:spcAft>
                <a:spcPts val="800"/>
              </a:spcAft>
            </a:pPr>
            <a:r>
              <a:rPr sz="1500">
                <a:solidFill>
                  <a:srgbClr val="2C3E50"/>
                </a:solidFill>
                <a:latin typeface="Calibri"/>
              </a:rPr>
              <a:t>▸  No router, direct to emergency agent</a:t>
            </a:r>
          </a:p>
          <a:p>
            <a:pPr>
              <a:spcAft>
                <a:spcPts val="800"/>
              </a:spcAft>
            </a:pPr>
            <a:r>
              <a:rPr sz="1500">
                <a:solidFill>
                  <a:srgbClr val="2C3E50"/>
                </a:solidFill>
                <a:latin typeface="Calibri"/>
              </a:rPr>
              <a:t>▸  No guardrails (speed priority)</a:t>
            </a:r>
          </a:p>
          <a:p>
            <a:pPr>
              <a:spcAft>
                <a:spcPts val="800"/>
              </a:spcAft>
            </a:pPr>
            <a:r>
              <a:rPr sz="1500">
                <a:solidFill>
                  <a:srgbClr val="2C3E50"/>
                </a:solidFill>
                <a:latin typeface="Calibri"/>
              </a:rPr>
              <a:t>▸  max_tokens 300, streaming SSE</a:t>
            </a:r>
          </a:p>
          <a:p>
            <a:pPr>
              <a:spcAft>
                <a:spcPts val="800"/>
              </a:spcAft>
            </a:pPr>
            <a:r>
              <a:rPr sz="1500">
                <a:solidFill>
                  <a:srgbClr val="2C3E50"/>
                </a:solidFill>
                <a:latin typeface="Calibri"/>
              </a:rPr>
              <a:t>▸  Target SLA: &lt; 5 seconds</a:t>
            </a:r>
          </a:p>
          <a:p>
            <a:pPr>
              <a:spcAft>
                <a:spcPts val="800"/>
              </a:spcAft>
            </a:pPr>
            <a:r>
              <a:rPr sz="1500">
                <a:solidFill>
                  <a:srgbClr val="2C3E50"/>
                </a:solidFill>
                <a:latin typeface="Calibri"/>
              </a:rPr>
              <a:t>▸  PoC measured: 100% pass</a:t>
            </a:r>
          </a:p>
        </p:txBody>
      </p:sp>
      <p:sp>
        <p:nvSpPr>
          <p:cNvPr id="11" name="Rounded Rectangle 10"/>
          <p:cNvSpPr/>
          <p:nvPr/>
        </p:nvSpPr>
        <p:spPr>
          <a:xfrm>
            <a:off x="6217920" y="1280160"/>
            <a:ext cx="5486400" cy="3657600"/>
          </a:xfrm>
          <a:prstGeom prst="roundRect">
            <a:avLst>
              <a:gd name="adj" fmla="val 4000"/>
            </a:avLst>
          </a:prstGeom>
          <a:solidFill>
            <a:srgbClr val="FFFFFF"/>
          </a:solidFill>
          <a:ln w="31750">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280160"/>
            <a:ext cx="5486400" cy="548640"/>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280160"/>
            <a:ext cx="5486400" cy="548640"/>
          </a:xfrm>
          <a:prstGeom prst="rect">
            <a:avLst/>
          </a:prstGeom>
          <a:noFill/>
        </p:spPr>
        <p:txBody>
          <a:bodyPr wrap="none" anchor="ctr">
            <a:spAutoFit/>
          </a:bodyPr>
          <a:lstStyle/>
          <a:p>
            <a:pPr algn="ctr"/>
            <a:r>
              <a:rPr sz="1800" b="1">
                <a:solidFill>
                  <a:srgbClr val="FFFFFF"/>
                </a:solidFill>
                <a:latin typeface="Calibri"/>
              </a:rPr>
              <a:t>COMPLEX · 9.7s TTFT</a:t>
            </a:r>
          </a:p>
        </p:txBody>
      </p:sp>
      <p:sp>
        <p:nvSpPr>
          <p:cNvPr id="14" name="TextBox 13"/>
          <p:cNvSpPr txBox="1"/>
          <p:nvPr/>
        </p:nvSpPr>
        <p:spPr>
          <a:xfrm>
            <a:off x="6492240" y="2057400"/>
            <a:ext cx="5029200" cy="2743200"/>
          </a:xfrm>
          <a:prstGeom prst="rect">
            <a:avLst/>
          </a:prstGeom>
          <a:noFill/>
        </p:spPr>
        <p:txBody>
          <a:bodyPr wrap="square">
            <a:spAutoFit/>
          </a:bodyPr>
          <a:lstStyle/>
          <a:p>
            <a:pPr>
              <a:spcAft>
                <a:spcPts val="800"/>
              </a:spcAft>
            </a:pPr>
            <a:r>
              <a:rPr sz="1500">
                <a:solidFill>
                  <a:srgbClr val="2C3E50"/>
                </a:solidFill>
                <a:latin typeface="Calibri"/>
              </a:rPr>
              <a:t>▸  Claude Sonnet 4.5 (deep reasoning)</a:t>
            </a:r>
          </a:p>
          <a:p>
            <a:pPr>
              <a:spcAft>
                <a:spcPts val="800"/>
              </a:spcAft>
            </a:pPr>
            <a:r>
              <a:rPr sz="1500">
                <a:solidFill>
                  <a:srgbClr val="2C3E50"/>
                </a:solidFill>
                <a:latin typeface="Calibri"/>
              </a:rPr>
              <a:t>▸  Vector top-15 + GraphRAG top-3</a:t>
            </a:r>
          </a:p>
          <a:p>
            <a:pPr>
              <a:spcAft>
                <a:spcPts val="800"/>
              </a:spcAft>
            </a:pPr>
            <a:r>
              <a:rPr sz="1500">
                <a:solidFill>
                  <a:srgbClr val="2C3E50"/>
                </a:solidFill>
                <a:latin typeface="Calibri"/>
              </a:rPr>
              <a:t>▸  Nova Micro routes to 12 departments</a:t>
            </a:r>
          </a:p>
          <a:p>
            <a:pPr>
              <a:spcAft>
                <a:spcPts val="800"/>
              </a:spcAft>
            </a:pPr>
            <a:r>
              <a:rPr sz="1500">
                <a:solidFill>
                  <a:srgbClr val="2C3E50"/>
                </a:solidFill>
                <a:latin typeface="Calibri"/>
              </a:rPr>
              <a:t>▸  Bedrock Guardrails enabled</a:t>
            </a:r>
          </a:p>
          <a:p>
            <a:pPr>
              <a:spcAft>
                <a:spcPts val="800"/>
              </a:spcAft>
            </a:pPr>
            <a:r>
              <a:rPr sz="1500">
                <a:solidFill>
                  <a:srgbClr val="2C3E50"/>
                </a:solidFill>
                <a:latin typeface="Calibri"/>
              </a:rPr>
              <a:t>▸  max_tokens 1500, streaming SSE</a:t>
            </a:r>
          </a:p>
          <a:p>
            <a:pPr>
              <a:spcAft>
                <a:spcPts val="800"/>
              </a:spcAft>
            </a:pPr>
            <a:r>
              <a:rPr sz="1500">
                <a:solidFill>
                  <a:srgbClr val="2C3E50"/>
                </a:solidFill>
                <a:latin typeface="Calibri"/>
              </a:rPr>
              <a:t>▸  Target SLA: &lt; 15 seconds</a:t>
            </a:r>
          </a:p>
          <a:p>
            <a:pPr>
              <a:spcAft>
                <a:spcPts val="800"/>
              </a:spcAft>
            </a:pPr>
            <a:r>
              <a:rPr sz="1500">
                <a:solidFill>
                  <a:srgbClr val="2C3E50"/>
                </a:solidFill>
                <a:latin typeface="Calibri"/>
              </a:rPr>
              <a:t>▸  PoC measured: 100% pass</a:t>
            </a:r>
          </a:p>
        </p:txBody>
      </p:sp>
      <p:sp>
        <p:nvSpPr>
          <p:cNvPr id="15" name="Rounded Rectangle 14"/>
          <p:cNvSpPr/>
          <p:nvPr/>
        </p:nvSpPr>
        <p:spPr>
          <a:xfrm>
            <a:off x="457200" y="5212080"/>
            <a:ext cx="11247120" cy="1005840"/>
          </a:xfrm>
          <a:prstGeom prst="roundRect">
            <a:avLst>
              <a:gd name="adj" fmla="val 10000"/>
            </a:avLst>
          </a:prstGeom>
          <a:solidFill>
            <a:srgbClr val="FFE8DA"/>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303520"/>
            <a:ext cx="10881360" cy="822960"/>
          </a:xfrm>
          <a:prstGeom prst="rect">
            <a:avLst/>
          </a:prstGeom>
          <a:noFill/>
        </p:spPr>
        <p:txBody>
          <a:bodyPr wrap="square">
            <a:spAutoFit/>
          </a:bodyPr>
          <a:lstStyle/>
          <a:p>
            <a:pPr algn="ctr"/>
            <a:r>
              <a:rPr sz="1500" b="1">
                <a:solidFill>
                  <a:srgbClr val="CC4F1F"/>
                </a:solidFill>
                <a:latin typeface="Calibri"/>
              </a:rPr>
              <a:t>Shared Infrastructure (100% Singapore-Native)</a:t>
            </a:r>
          </a:p>
          <a:p>
            <a:pPr algn="ctr"/>
            <a:r>
              <a:rPr sz="1200">
                <a:solidFill>
                  <a:srgbClr val="2C3E50"/>
                </a:solidFill>
                <a:latin typeface="Calibri"/>
              </a:rPr>
              <a:t>OpenSearch Serverless (vector KB)  ·  Neptune Analytics (GraphRAG)  ·  Cohere Embed Multilingual v3  ·  Bedrock Knowledge Bases  ·  Comprehend Medical (PHI mask)  ·  ElastiCache Redis (semantic cache)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800" b="1">
                <a:solidFill>
                  <a:srgbClr val="CC4F1F"/>
                </a:solidFill>
                <a:latin typeface="Calibri"/>
              </a:rPr>
              <a:t>Singapore Healthcare Compliance: Built-In, Not Bolted-On</a:t>
            </a:r>
          </a:p>
        </p:txBody>
      </p:sp>
      <p:sp>
        <p:nvSpPr>
          <p:cNvPr id="5" name="Rectangle 4"/>
          <p:cNvSpPr/>
          <p:nvPr/>
        </p:nvSpPr>
        <p:spPr>
          <a:xfrm>
            <a:off x="457200" y="91440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AWS Singapore</a:t>
            </a:r>
          </a:p>
        </p:txBody>
      </p:sp>
      <p:sp>
        <p:nvSpPr>
          <p:cNvPr id="7" name="Rounded Rectangle 6"/>
          <p:cNvSpPr/>
          <p:nvPr/>
        </p:nvSpPr>
        <p:spPr>
          <a:xfrm>
            <a:off x="472287" y="1280160"/>
            <a:ext cx="2743200" cy="3657600"/>
          </a:xfrm>
          <a:prstGeom prst="roundRect">
            <a:avLst>
              <a:gd name="adj" fmla="val 5000"/>
            </a:avLst>
          </a:prstGeom>
          <a:solidFill>
            <a:srgbClr val="FFFFFF"/>
          </a:solidFill>
          <a:ln w="25400">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72287" y="1280160"/>
            <a:ext cx="2743200" cy="777240"/>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2287" y="1325880"/>
            <a:ext cx="2743200" cy="777240"/>
          </a:xfrm>
          <a:prstGeom prst="rect">
            <a:avLst/>
          </a:prstGeom>
          <a:noFill/>
        </p:spPr>
        <p:txBody>
          <a:bodyPr wrap="none">
            <a:spAutoFit/>
          </a:bodyPr>
          <a:lstStyle/>
          <a:p>
            <a:pPr algn="ctr"/>
            <a:r>
              <a:rPr sz="2000" b="1">
                <a:solidFill>
                  <a:srgbClr val="FFFFFF"/>
                </a:solidFill>
                <a:latin typeface="Calibri"/>
              </a:rPr>
              <a:t>PDPA</a:t>
            </a:r>
          </a:p>
          <a:p>
            <a:pPr algn="ctr"/>
            <a:r>
              <a:rPr sz="1000">
                <a:solidFill>
                  <a:srgbClr val="FFFFFF"/>
                </a:solidFill>
                <a:latin typeface="Calibri"/>
              </a:rPr>
              <a:t>Personal Data Protection Act</a:t>
            </a:r>
          </a:p>
        </p:txBody>
      </p:sp>
      <p:sp>
        <p:nvSpPr>
          <p:cNvPr id="10" name="TextBox 9"/>
          <p:cNvSpPr txBox="1"/>
          <p:nvPr/>
        </p:nvSpPr>
        <p:spPr>
          <a:xfrm>
            <a:off x="609447" y="2148840"/>
            <a:ext cx="2468880" cy="457200"/>
          </a:xfrm>
          <a:prstGeom prst="rect">
            <a:avLst/>
          </a:prstGeom>
          <a:noFill/>
        </p:spPr>
        <p:txBody>
          <a:bodyPr wrap="square">
            <a:spAutoFit/>
          </a:bodyPr>
          <a:lstStyle/>
          <a:p>
            <a:r>
              <a:rPr sz="900" b="1">
                <a:solidFill>
                  <a:srgbClr val="CC4F1F"/>
                </a:solidFill>
                <a:latin typeface="Calibri"/>
              </a:rPr>
              <a:t>Authority</a:t>
            </a:r>
          </a:p>
          <a:p>
            <a:r>
              <a:rPr sz="1000">
                <a:solidFill>
                  <a:srgbClr val="2C3E50"/>
                </a:solidFill>
                <a:latin typeface="Calibri"/>
              </a:rPr>
              <a:t>PDPC (Personal Data Protection Commission)</a:t>
            </a:r>
          </a:p>
        </p:txBody>
      </p:sp>
      <p:sp>
        <p:nvSpPr>
          <p:cNvPr id="11" name="TextBox 10"/>
          <p:cNvSpPr txBox="1"/>
          <p:nvPr/>
        </p:nvSpPr>
        <p:spPr>
          <a:xfrm>
            <a:off x="609447" y="3017520"/>
            <a:ext cx="2468880" cy="1005840"/>
          </a:xfrm>
          <a:prstGeom prst="rect">
            <a:avLst/>
          </a:prstGeom>
          <a:noFill/>
        </p:spPr>
        <p:txBody>
          <a:bodyPr wrap="square">
            <a:spAutoFit/>
          </a:bodyPr>
          <a:lstStyle/>
          <a:p>
            <a:r>
              <a:rPr sz="900" b="1">
                <a:solidFill>
                  <a:srgbClr val="CC4F1F"/>
                </a:solidFill>
                <a:latin typeface="Calibri"/>
              </a:rPr>
              <a:t>Scope</a:t>
            </a:r>
          </a:p>
          <a:p>
            <a:r>
              <a:rPr sz="1000">
                <a:solidFill>
                  <a:srgbClr val="2C3E50"/>
                </a:solidFill>
                <a:latin typeface="Calibri"/>
              </a:rPr>
              <a:t>Patient data protection, consent, breach notification within 72 hours</a:t>
            </a:r>
          </a:p>
        </p:txBody>
      </p:sp>
      <p:sp>
        <p:nvSpPr>
          <p:cNvPr id="12" name="TextBox 11"/>
          <p:cNvSpPr txBox="1"/>
          <p:nvPr/>
        </p:nvSpPr>
        <p:spPr>
          <a:xfrm>
            <a:off x="609447" y="4069080"/>
            <a:ext cx="2468880" cy="822960"/>
          </a:xfrm>
          <a:prstGeom prst="rect">
            <a:avLst/>
          </a:prstGeom>
          <a:noFill/>
        </p:spPr>
        <p:txBody>
          <a:bodyPr wrap="square">
            <a:spAutoFit/>
          </a:bodyPr>
          <a:lstStyle/>
          <a:p>
            <a:r>
              <a:rPr sz="900" b="1">
                <a:solidFill>
                  <a:srgbClr val="27AE60"/>
                </a:solidFill>
                <a:latin typeface="Calibri"/>
              </a:rPr>
              <a:t>Our Implementation</a:t>
            </a:r>
          </a:p>
          <a:p>
            <a:r>
              <a:rPr sz="1000">
                <a:solidFill>
                  <a:srgbClr val="2C3E50"/>
                </a:solidFill>
                <a:latin typeface="Calibri"/>
              </a:rPr>
              <a:t>Comprehend Medical PHI mask, KMS per-tenant CMK, audit trail</a:t>
            </a:r>
          </a:p>
        </p:txBody>
      </p:sp>
      <p:sp>
        <p:nvSpPr>
          <p:cNvPr id="13" name="Rounded Rectangle 12"/>
          <p:cNvSpPr/>
          <p:nvPr/>
        </p:nvSpPr>
        <p:spPr>
          <a:xfrm>
            <a:off x="3306927" y="1280160"/>
            <a:ext cx="2743200" cy="3657600"/>
          </a:xfrm>
          <a:prstGeom prst="roundRect">
            <a:avLst>
              <a:gd name="adj" fmla="val 5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06927" y="1280160"/>
            <a:ext cx="2743200" cy="77724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06927" y="1325880"/>
            <a:ext cx="2743200" cy="777240"/>
          </a:xfrm>
          <a:prstGeom prst="rect">
            <a:avLst/>
          </a:prstGeom>
          <a:noFill/>
        </p:spPr>
        <p:txBody>
          <a:bodyPr wrap="none">
            <a:spAutoFit/>
          </a:bodyPr>
          <a:lstStyle/>
          <a:p>
            <a:pPr algn="ctr"/>
            <a:r>
              <a:rPr sz="2000" b="1">
                <a:solidFill>
                  <a:srgbClr val="FFFFFF"/>
                </a:solidFill>
                <a:latin typeface="Calibri"/>
              </a:rPr>
              <a:t>HCSA</a:t>
            </a:r>
          </a:p>
          <a:p>
            <a:pPr algn="ctr"/>
            <a:r>
              <a:rPr sz="1000">
                <a:solidFill>
                  <a:srgbClr val="FFFFFF"/>
                </a:solidFill>
                <a:latin typeface="Calibri"/>
              </a:rPr>
              <a:t>Healthcare Services Act 2020</a:t>
            </a:r>
          </a:p>
        </p:txBody>
      </p:sp>
      <p:sp>
        <p:nvSpPr>
          <p:cNvPr id="16" name="TextBox 15"/>
          <p:cNvSpPr txBox="1"/>
          <p:nvPr/>
        </p:nvSpPr>
        <p:spPr>
          <a:xfrm>
            <a:off x="3444087" y="2148840"/>
            <a:ext cx="2468880" cy="457200"/>
          </a:xfrm>
          <a:prstGeom prst="rect">
            <a:avLst/>
          </a:prstGeom>
          <a:noFill/>
        </p:spPr>
        <p:txBody>
          <a:bodyPr wrap="square">
            <a:spAutoFit/>
          </a:bodyPr>
          <a:lstStyle/>
          <a:p>
            <a:r>
              <a:rPr sz="900" b="1">
                <a:solidFill>
                  <a:srgbClr val="CC4F1F"/>
                </a:solidFill>
                <a:latin typeface="Calibri"/>
              </a:rPr>
              <a:t>Authority</a:t>
            </a:r>
          </a:p>
          <a:p>
            <a:r>
              <a:rPr sz="1000">
                <a:solidFill>
                  <a:srgbClr val="2C3E50"/>
                </a:solidFill>
                <a:latin typeface="Calibri"/>
              </a:rPr>
              <a:t>MOH (Ministry of Health)</a:t>
            </a:r>
          </a:p>
        </p:txBody>
      </p:sp>
      <p:sp>
        <p:nvSpPr>
          <p:cNvPr id="17" name="TextBox 16"/>
          <p:cNvSpPr txBox="1"/>
          <p:nvPr/>
        </p:nvSpPr>
        <p:spPr>
          <a:xfrm>
            <a:off x="3444087" y="3017520"/>
            <a:ext cx="2468880" cy="1005840"/>
          </a:xfrm>
          <a:prstGeom prst="rect">
            <a:avLst/>
          </a:prstGeom>
          <a:noFill/>
        </p:spPr>
        <p:txBody>
          <a:bodyPr wrap="square">
            <a:spAutoFit/>
          </a:bodyPr>
          <a:lstStyle/>
          <a:p>
            <a:r>
              <a:rPr sz="900" b="1">
                <a:solidFill>
                  <a:srgbClr val="CC4F1F"/>
                </a:solidFill>
                <a:latin typeface="Calibri"/>
              </a:rPr>
              <a:t>Scope</a:t>
            </a:r>
          </a:p>
          <a:p>
            <a:r>
              <a:rPr sz="1000">
                <a:solidFill>
                  <a:srgbClr val="2C3E50"/>
                </a:solidFill>
                <a:latin typeface="Calibri"/>
              </a:rPr>
              <a:t>Licensing for clinical decision support, replaces PHMC 1980</a:t>
            </a:r>
          </a:p>
        </p:txBody>
      </p:sp>
      <p:sp>
        <p:nvSpPr>
          <p:cNvPr id="18" name="TextBox 17"/>
          <p:cNvSpPr txBox="1"/>
          <p:nvPr/>
        </p:nvSpPr>
        <p:spPr>
          <a:xfrm>
            <a:off x="3444087" y="4069080"/>
            <a:ext cx="2468880" cy="822960"/>
          </a:xfrm>
          <a:prstGeom prst="rect">
            <a:avLst/>
          </a:prstGeom>
          <a:noFill/>
        </p:spPr>
        <p:txBody>
          <a:bodyPr wrap="square">
            <a:spAutoFit/>
          </a:bodyPr>
          <a:lstStyle/>
          <a:p>
            <a:r>
              <a:rPr sz="900" b="1">
                <a:solidFill>
                  <a:srgbClr val="27AE60"/>
                </a:solidFill>
                <a:latin typeface="Calibri"/>
              </a:rPr>
              <a:t>Our Implementation</a:t>
            </a:r>
          </a:p>
          <a:p>
            <a:r>
              <a:rPr sz="1000">
                <a:solidFill>
                  <a:srgbClr val="2C3E50"/>
                </a:solidFill>
                <a:latin typeface="Calibri"/>
              </a:rPr>
              <a:t>Decision support only with human-in-the-loop, audit ready</a:t>
            </a:r>
          </a:p>
        </p:txBody>
      </p:sp>
      <p:sp>
        <p:nvSpPr>
          <p:cNvPr id="19" name="Rounded Rectangle 18"/>
          <p:cNvSpPr/>
          <p:nvPr/>
        </p:nvSpPr>
        <p:spPr>
          <a:xfrm>
            <a:off x="6141567" y="1280160"/>
            <a:ext cx="2743200" cy="3657600"/>
          </a:xfrm>
          <a:prstGeom prst="roundRect">
            <a:avLst>
              <a:gd name="adj" fmla="val 5000"/>
            </a:avLst>
          </a:prstGeom>
          <a:solidFill>
            <a:srgbClr val="FFFFFF"/>
          </a:solidFill>
          <a:ln w="25400">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1567" y="1280160"/>
            <a:ext cx="2743200" cy="777240"/>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41567" y="1325880"/>
            <a:ext cx="2743200" cy="777240"/>
          </a:xfrm>
          <a:prstGeom prst="rect">
            <a:avLst/>
          </a:prstGeom>
          <a:noFill/>
        </p:spPr>
        <p:txBody>
          <a:bodyPr wrap="none">
            <a:spAutoFit/>
          </a:bodyPr>
          <a:lstStyle/>
          <a:p>
            <a:pPr algn="ctr"/>
            <a:r>
              <a:rPr sz="2000" b="1">
                <a:solidFill>
                  <a:srgbClr val="FFFFFF"/>
                </a:solidFill>
                <a:latin typeface="Calibri"/>
              </a:rPr>
              <a:t>Cybersecurity Act</a:t>
            </a:r>
          </a:p>
          <a:p>
            <a:pPr algn="ctr"/>
            <a:r>
              <a:rPr sz="1000">
                <a:solidFill>
                  <a:srgbClr val="FFFFFF"/>
                </a:solidFill>
                <a:latin typeface="Calibri"/>
              </a:rPr>
              <a:t>Critical Info Infrastructure 2018</a:t>
            </a:r>
          </a:p>
        </p:txBody>
      </p:sp>
      <p:sp>
        <p:nvSpPr>
          <p:cNvPr id="22" name="TextBox 21"/>
          <p:cNvSpPr txBox="1"/>
          <p:nvPr/>
        </p:nvSpPr>
        <p:spPr>
          <a:xfrm>
            <a:off x="6278727" y="2148840"/>
            <a:ext cx="2468880" cy="457200"/>
          </a:xfrm>
          <a:prstGeom prst="rect">
            <a:avLst/>
          </a:prstGeom>
          <a:noFill/>
        </p:spPr>
        <p:txBody>
          <a:bodyPr wrap="square">
            <a:spAutoFit/>
          </a:bodyPr>
          <a:lstStyle/>
          <a:p>
            <a:r>
              <a:rPr sz="900" b="1">
                <a:solidFill>
                  <a:srgbClr val="CC4F1F"/>
                </a:solidFill>
                <a:latin typeface="Calibri"/>
              </a:rPr>
              <a:t>Authority</a:t>
            </a:r>
          </a:p>
          <a:p>
            <a:r>
              <a:rPr sz="1000">
                <a:solidFill>
                  <a:srgbClr val="2C3E50"/>
                </a:solidFill>
                <a:latin typeface="Calibri"/>
              </a:rPr>
              <a:t>CSA (Cyber Security Agency)</a:t>
            </a:r>
          </a:p>
        </p:txBody>
      </p:sp>
      <p:sp>
        <p:nvSpPr>
          <p:cNvPr id="23" name="TextBox 22"/>
          <p:cNvSpPr txBox="1"/>
          <p:nvPr/>
        </p:nvSpPr>
        <p:spPr>
          <a:xfrm>
            <a:off x="6278727" y="3017520"/>
            <a:ext cx="2468880" cy="1005840"/>
          </a:xfrm>
          <a:prstGeom prst="rect">
            <a:avLst/>
          </a:prstGeom>
          <a:noFill/>
        </p:spPr>
        <p:txBody>
          <a:bodyPr wrap="square">
            <a:spAutoFit/>
          </a:bodyPr>
          <a:lstStyle/>
          <a:p>
            <a:r>
              <a:rPr sz="900" b="1">
                <a:solidFill>
                  <a:srgbClr val="CC4F1F"/>
                </a:solidFill>
                <a:latin typeface="Calibri"/>
              </a:rPr>
              <a:t>Scope</a:t>
            </a:r>
          </a:p>
          <a:p>
            <a:r>
              <a:rPr sz="1000">
                <a:solidFill>
                  <a:srgbClr val="2C3E50"/>
                </a:solidFill>
                <a:latin typeface="Calibri"/>
              </a:rPr>
              <a:t>Healthcare CII protection, incident reporting, security audits</a:t>
            </a:r>
          </a:p>
        </p:txBody>
      </p:sp>
      <p:sp>
        <p:nvSpPr>
          <p:cNvPr id="24" name="TextBox 23"/>
          <p:cNvSpPr txBox="1"/>
          <p:nvPr/>
        </p:nvSpPr>
        <p:spPr>
          <a:xfrm>
            <a:off x="6278727" y="4069080"/>
            <a:ext cx="2468880" cy="822960"/>
          </a:xfrm>
          <a:prstGeom prst="rect">
            <a:avLst/>
          </a:prstGeom>
          <a:noFill/>
        </p:spPr>
        <p:txBody>
          <a:bodyPr wrap="square">
            <a:spAutoFit/>
          </a:bodyPr>
          <a:lstStyle/>
          <a:p>
            <a:r>
              <a:rPr sz="900" b="1">
                <a:solidFill>
                  <a:srgbClr val="27AE60"/>
                </a:solidFill>
                <a:latin typeface="Calibri"/>
              </a:rPr>
              <a:t>Our Implementation</a:t>
            </a:r>
          </a:p>
          <a:p>
            <a:r>
              <a:rPr sz="1000">
                <a:solidFill>
                  <a:srgbClr val="2C3E50"/>
                </a:solidFill>
                <a:latin typeface="Calibri"/>
              </a:rPr>
              <a:t>GuardDuty + Security Hub + Macie, Security Lake aggregation</a:t>
            </a:r>
          </a:p>
        </p:txBody>
      </p:sp>
      <p:sp>
        <p:nvSpPr>
          <p:cNvPr id="25" name="Rounded Rectangle 24"/>
          <p:cNvSpPr/>
          <p:nvPr/>
        </p:nvSpPr>
        <p:spPr>
          <a:xfrm>
            <a:off x="8976207" y="1280160"/>
            <a:ext cx="2743200" cy="3657600"/>
          </a:xfrm>
          <a:prstGeom prst="roundRect">
            <a:avLst>
              <a:gd name="adj" fmla="val 5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6207" y="1280160"/>
            <a:ext cx="2743200" cy="77724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76207" y="1325880"/>
            <a:ext cx="2743200" cy="777240"/>
          </a:xfrm>
          <a:prstGeom prst="rect">
            <a:avLst/>
          </a:prstGeom>
          <a:noFill/>
        </p:spPr>
        <p:txBody>
          <a:bodyPr wrap="none">
            <a:spAutoFit/>
          </a:bodyPr>
          <a:lstStyle/>
          <a:p>
            <a:pPr algn="ctr"/>
            <a:r>
              <a:rPr sz="2000" b="1">
                <a:solidFill>
                  <a:srgbClr val="FFFFFF"/>
                </a:solidFill>
                <a:latin typeface="Calibri"/>
              </a:rPr>
              <a:t>AI Verify</a:t>
            </a:r>
          </a:p>
          <a:p>
            <a:pPr algn="ctr"/>
            <a:r>
              <a:rPr sz="1000">
                <a:solidFill>
                  <a:srgbClr val="FFFFFF"/>
                </a:solidFill>
                <a:latin typeface="Calibri"/>
              </a:rPr>
              <a:t>Responsible AI Framework</a:t>
            </a:r>
          </a:p>
        </p:txBody>
      </p:sp>
      <p:sp>
        <p:nvSpPr>
          <p:cNvPr id="28" name="TextBox 27"/>
          <p:cNvSpPr txBox="1"/>
          <p:nvPr/>
        </p:nvSpPr>
        <p:spPr>
          <a:xfrm>
            <a:off x="9113367" y="2148840"/>
            <a:ext cx="2468880" cy="457200"/>
          </a:xfrm>
          <a:prstGeom prst="rect">
            <a:avLst/>
          </a:prstGeom>
          <a:noFill/>
        </p:spPr>
        <p:txBody>
          <a:bodyPr wrap="square">
            <a:spAutoFit/>
          </a:bodyPr>
          <a:lstStyle/>
          <a:p>
            <a:r>
              <a:rPr sz="900" b="1">
                <a:solidFill>
                  <a:srgbClr val="CC4F1F"/>
                </a:solidFill>
                <a:latin typeface="Calibri"/>
              </a:rPr>
              <a:t>Authority</a:t>
            </a:r>
          </a:p>
          <a:p>
            <a:r>
              <a:rPr sz="1000">
                <a:solidFill>
                  <a:srgbClr val="2C3E50"/>
                </a:solidFill>
                <a:latin typeface="Calibri"/>
              </a:rPr>
              <a:t>IMDA (Infocomm Media Development)</a:t>
            </a:r>
          </a:p>
        </p:txBody>
      </p:sp>
      <p:sp>
        <p:nvSpPr>
          <p:cNvPr id="29" name="TextBox 28"/>
          <p:cNvSpPr txBox="1"/>
          <p:nvPr/>
        </p:nvSpPr>
        <p:spPr>
          <a:xfrm>
            <a:off x="9113367" y="3017520"/>
            <a:ext cx="2468880" cy="1005840"/>
          </a:xfrm>
          <a:prstGeom prst="rect">
            <a:avLst/>
          </a:prstGeom>
          <a:noFill/>
        </p:spPr>
        <p:txBody>
          <a:bodyPr wrap="square">
            <a:spAutoFit/>
          </a:bodyPr>
          <a:lstStyle/>
          <a:p>
            <a:r>
              <a:rPr sz="900" b="1">
                <a:solidFill>
                  <a:srgbClr val="CC4F1F"/>
                </a:solidFill>
                <a:latin typeface="Calibri"/>
              </a:rPr>
              <a:t>Scope</a:t>
            </a:r>
          </a:p>
          <a:p>
            <a:r>
              <a:rPr sz="1000">
                <a:solidFill>
                  <a:srgbClr val="2C3E50"/>
                </a:solidFill>
                <a:latin typeface="Calibri"/>
              </a:rPr>
              <a:t>Transparency, fairness, accountability for AI systems</a:t>
            </a:r>
          </a:p>
        </p:txBody>
      </p:sp>
      <p:sp>
        <p:nvSpPr>
          <p:cNvPr id="30" name="TextBox 29"/>
          <p:cNvSpPr txBox="1"/>
          <p:nvPr/>
        </p:nvSpPr>
        <p:spPr>
          <a:xfrm>
            <a:off x="9113367" y="4069080"/>
            <a:ext cx="2468880" cy="822960"/>
          </a:xfrm>
          <a:prstGeom prst="rect">
            <a:avLst/>
          </a:prstGeom>
          <a:noFill/>
        </p:spPr>
        <p:txBody>
          <a:bodyPr wrap="square">
            <a:spAutoFit/>
          </a:bodyPr>
          <a:lstStyle/>
          <a:p>
            <a:r>
              <a:rPr sz="900" b="1">
                <a:solidFill>
                  <a:srgbClr val="27AE60"/>
                </a:solidFill>
                <a:latin typeface="Calibri"/>
              </a:rPr>
              <a:t>Our Implementation</a:t>
            </a:r>
          </a:p>
          <a:p>
            <a:r>
              <a:rPr sz="1000">
                <a:solidFill>
                  <a:srgbClr val="2C3E50"/>
                </a:solidFill>
                <a:latin typeface="Calibri"/>
              </a:rPr>
              <a:t>chat_trace audit log, citation validator, Bedrock Guardrails</a:t>
            </a:r>
          </a:p>
        </p:txBody>
      </p:sp>
      <p:sp>
        <p:nvSpPr>
          <p:cNvPr id="31" name="Rounded Rectangle 30"/>
          <p:cNvSpPr/>
          <p:nvPr/>
        </p:nvSpPr>
        <p:spPr>
          <a:xfrm>
            <a:off x="457200" y="5120640"/>
            <a:ext cx="11247120" cy="1005840"/>
          </a:xfrm>
          <a:prstGeom prst="roundRect">
            <a:avLst>
              <a:gd name="adj" fmla="val 10000"/>
            </a:avLst>
          </a:prstGeom>
          <a:solidFill>
            <a:srgbClr val="FFE8DA"/>
          </a:solidFill>
          <a:ln w="25400">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5212080"/>
            <a:ext cx="10881360" cy="822960"/>
          </a:xfrm>
          <a:prstGeom prst="rect">
            <a:avLst/>
          </a:prstGeom>
          <a:noFill/>
        </p:spPr>
        <p:txBody>
          <a:bodyPr wrap="square">
            <a:spAutoFit/>
          </a:bodyPr>
          <a:lstStyle/>
          <a:p>
            <a:pPr algn="ctr"/>
            <a:r>
              <a:rPr sz="1500" b="1">
                <a:solidFill>
                  <a:srgbClr val="CC4F1F"/>
                </a:solidFill>
                <a:latin typeface="Calibri"/>
              </a:rPr>
              <a:t>Data Residency Commitment</a:t>
            </a:r>
          </a:p>
          <a:p>
            <a:pPr algn="ctr"/>
            <a:r>
              <a:rPr sz="1200">
                <a:solidFill>
                  <a:srgbClr val="2C3E50"/>
                </a:solidFill>
                <a:latin typeface="Calibri"/>
              </a:rPr>
              <a:t>100% deployment in ap-southeast-1 (Singapore)  ·  Patient cleartext never leaves SG  ·  Cross-region: tokens only  ·  6-year audit retention via S3 Object Lock (HIPAA §164.530j)</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800" b="1">
                <a:solidFill>
                  <a:srgbClr val="CC4F1F"/>
                </a:solidFill>
                <a:latin typeface="Calibri"/>
              </a:rPr>
              <a:t>PoC Results &amp; Cost</a:t>
            </a:r>
          </a:p>
        </p:txBody>
      </p:sp>
      <p:sp>
        <p:nvSpPr>
          <p:cNvPr id="5" name="Rectangle 4"/>
          <p:cNvSpPr/>
          <p:nvPr/>
        </p:nvSpPr>
        <p:spPr>
          <a:xfrm>
            <a:off x="457200" y="91440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AWS Singapore</a:t>
            </a:r>
          </a:p>
        </p:txBody>
      </p:sp>
      <p:sp>
        <p:nvSpPr>
          <p:cNvPr id="7" name="Rounded Rectangle 6"/>
          <p:cNvSpPr/>
          <p:nvPr/>
        </p:nvSpPr>
        <p:spPr>
          <a:xfrm>
            <a:off x="609447" y="1280160"/>
            <a:ext cx="2606040" cy="1280160"/>
          </a:xfrm>
          <a:prstGeom prst="roundRect">
            <a:avLst>
              <a:gd name="adj" fmla="val 6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447" y="1371600"/>
            <a:ext cx="2606040" cy="274320"/>
          </a:xfrm>
          <a:prstGeom prst="rect">
            <a:avLst/>
          </a:prstGeom>
          <a:noFill/>
        </p:spPr>
        <p:txBody>
          <a:bodyPr wrap="none">
            <a:spAutoFit/>
          </a:bodyPr>
          <a:lstStyle/>
          <a:p>
            <a:pPr algn="ctr"/>
            <a:r>
              <a:rPr sz="1100">
                <a:solidFill>
                  <a:srgbClr val="646464"/>
                </a:solidFill>
                <a:latin typeface="Calibri"/>
              </a:rPr>
              <a:t>Emergency TTFT</a:t>
            </a:r>
          </a:p>
        </p:txBody>
      </p:sp>
      <p:sp>
        <p:nvSpPr>
          <p:cNvPr id="9" name="TextBox 8"/>
          <p:cNvSpPr txBox="1"/>
          <p:nvPr/>
        </p:nvSpPr>
        <p:spPr>
          <a:xfrm>
            <a:off x="609447" y="1600200"/>
            <a:ext cx="2606040" cy="594360"/>
          </a:xfrm>
          <a:prstGeom prst="rect">
            <a:avLst/>
          </a:prstGeom>
          <a:noFill/>
        </p:spPr>
        <p:txBody>
          <a:bodyPr wrap="none">
            <a:spAutoFit/>
          </a:bodyPr>
          <a:lstStyle/>
          <a:p>
            <a:pPr algn="ctr"/>
            <a:r>
              <a:rPr sz="3400" b="1">
                <a:solidFill>
                  <a:srgbClr val="CC4F1F"/>
                </a:solidFill>
                <a:latin typeface="Calibri"/>
              </a:rPr>
              <a:t>2.5s</a:t>
            </a:r>
          </a:p>
        </p:txBody>
      </p:sp>
      <p:sp>
        <p:nvSpPr>
          <p:cNvPr id="10" name="TextBox 9"/>
          <p:cNvSpPr txBox="1"/>
          <p:nvPr/>
        </p:nvSpPr>
        <p:spPr>
          <a:xfrm>
            <a:off x="609447" y="2194560"/>
            <a:ext cx="2606040" cy="320040"/>
          </a:xfrm>
          <a:prstGeom prst="rect">
            <a:avLst/>
          </a:prstGeom>
          <a:noFill/>
        </p:spPr>
        <p:txBody>
          <a:bodyPr wrap="none">
            <a:spAutoFit/>
          </a:bodyPr>
          <a:lstStyle/>
          <a:p>
            <a:pPr algn="ctr"/>
            <a:r>
              <a:rPr sz="1100" i="1">
                <a:solidFill>
                  <a:srgbClr val="2C3E50"/>
                </a:solidFill>
                <a:latin typeface="Calibri"/>
              </a:rPr>
              <a:t>Haiku 4.5 + dual KB</a:t>
            </a:r>
          </a:p>
        </p:txBody>
      </p:sp>
      <p:sp>
        <p:nvSpPr>
          <p:cNvPr id="11" name="Rounded Rectangle 10"/>
          <p:cNvSpPr/>
          <p:nvPr/>
        </p:nvSpPr>
        <p:spPr>
          <a:xfrm>
            <a:off x="3398367" y="1280160"/>
            <a:ext cx="2606040" cy="1280160"/>
          </a:xfrm>
          <a:prstGeom prst="roundRect">
            <a:avLst>
              <a:gd name="adj" fmla="val 6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98367" y="1371600"/>
            <a:ext cx="2606040" cy="274320"/>
          </a:xfrm>
          <a:prstGeom prst="rect">
            <a:avLst/>
          </a:prstGeom>
          <a:noFill/>
        </p:spPr>
        <p:txBody>
          <a:bodyPr wrap="none">
            <a:spAutoFit/>
          </a:bodyPr>
          <a:lstStyle/>
          <a:p>
            <a:pPr algn="ctr"/>
            <a:r>
              <a:rPr sz="1100">
                <a:solidFill>
                  <a:srgbClr val="646464"/>
                </a:solidFill>
                <a:latin typeface="Calibri"/>
              </a:rPr>
              <a:t>Complex TTFT</a:t>
            </a:r>
          </a:p>
        </p:txBody>
      </p:sp>
      <p:sp>
        <p:nvSpPr>
          <p:cNvPr id="13" name="TextBox 12"/>
          <p:cNvSpPr txBox="1"/>
          <p:nvPr/>
        </p:nvSpPr>
        <p:spPr>
          <a:xfrm>
            <a:off x="3398367" y="1600200"/>
            <a:ext cx="2606040" cy="594360"/>
          </a:xfrm>
          <a:prstGeom prst="rect">
            <a:avLst/>
          </a:prstGeom>
          <a:noFill/>
        </p:spPr>
        <p:txBody>
          <a:bodyPr wrap="none">
            <a:spAutoFit/>
          </a:bodyPr>
          <a:lstStyle/>
          <a:p>
            <a:pPr algn="ctr"/>
            <a:r>
              <a:rPr sz="3400" b="1">
                <a:solidFill>
                  <a:srgbClr val="CC4F1F"/>
                </a:solidFill>
                <a:latin typeface="Calibri"/>
              </a:rPr>
              <a:t>9.7s</a:t>
            </a:r>
          </a:p>
        </p:txBody>
      </p:sp>
      <p:sp>
        <p:nvSpPr>
          <p:cNvPr id="14" name="TextBox 13"/>
          <p:cNvSpPr txBox="1"/>
          <p:nvPr/>
        </p:nvSpPr>
        <p:spPr>
          <a:xfrm>
            <a:off x="3398367" y="2194560"/>
            <a:ext cx="2606040" cy="320040"/>
          </a:xfrm>
          <a:prstGeom prst="rect">
            <a:avLst/>
          </a:prstGeom>
          <a:noFill/>
        </p:spPr>
        <p:txBody>
          <a:bodyPr wrap="none">
            <a:spAutoFit/>
          </a:bodyPr>
          <a:lstStyle/>
          <a:p>
            <a:pPr algn="ctr"/>
            <a:r>
              <a:rPr sz="1100" i="1">
                <a:solidFill>
                  <a:srgbClr val="2C3E50"/>
                </a:solidFill>
                <a:latin typeface="Calibri"/>
              </a:rPr>
              <a:t>Sonnet 4.5 + Guardrails</a:t>
            </a:r>
          </a:p>
        </p:txBody>
      </p:sp>
      <p:sp>
        <p:nvSpPr>
          <p:cNvPr id="15" name="Rounded Rectangle 14"/>
          <p:cNvSpPr/>
          <p:nvPr/>
        </p:nvSpPr>
        <p:spPr>
          <a:xfrm>
            <a:off x="6187287" y="1280160"/>
            <a:ext cx="2606040" cy="1280160"/>
          </a:xfrm>
          <a:prstGeom prst="roundRect">
            <a:avLst>
              <a:gd name="adj" fmla="val 6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87287" y="1371600"/>
            <a:ext cx="2606040" cy="274320"/>
          </a:xfrm>
          <a:prstGeom prst="rect">
            <a:avLst/>
          </a:prstGeom>
          <a:noFill/>
        </p:spPr>
        <p:txBody>
          <a:bodyPr wrap="none">
            <a:spAutoFit/>
          </a:bodyPr>
          <a:lstStyle/>
          <a:p>
            <a:pPr algn="ctr"/>
            <a:r>
              <a:rPr sz="1100">
                <a:solidFill>
                  <a:srgbClr val="646464"/>
                </a:solidFill>
                <a:latin typeface="Calibri"/>
              </a:rPr>
              <a:t>Answer Rate</a:t>
            </a:r>
          </a:p>
        </p:txBody>
      </p:sp>
      <p:sp>
        <p:nvSpPr>
          <p:cNvPr id="17" name="TextBox 16"/>
          <p:cNvSpPr txBox="1"/>
          <p:nvPr/>
        </p:nvSpPr>
        <p:spPr>
          <a:xfrm>
            <a:off x="6187287" y="1600200"/>
            <a:ext cx="2606040" cy="594360"/>
          </a:xfrm>
          <a:prstGeom prst="rect">
            <a:avLst/>
          </a:prstGeom>
          <a:noFill/>
        </p:spPr>
        <p:txBody>
          <a:bodyPr wrap="none">
            <a:spAutoFit/>
          </a:bodyPr>
          <a:lstStyle/>
          <a:p>
            <a:pPr algn="ctr"/>
            <a:r>
              <a:rPr sz="3400" b="1">
                <a:solidFill>
                  <a:srgbClr val="CC4F1F"/>
                </a:solidFill>
                <a:latin typeface="Calibri"/>
              </a:rPr>
              <a:t>100%</a:t>
            </a:r>
          </a:p>
        </p:txBody>
      </p:sp>
      <p:sp>
        <p:nvSpPr>
          <p:cNvPr id="18" name="TextBox 17"/>
          <p:cNvSpPr txBox="1"/>
          <p:nvPr/>
        </p:nvSpPr>
        <p:spPr>
          <a:xfrm>
            <a:off x="6187287" y="2194560"/>
            <a:ext cx="2606040" cy="320040"/>
          </a:xfrm>
          <a:prstGeom prst="rect">
            <a:avLst/>
          </a:prstGeom>
          <a:noFill/>
        </p:spPr>
        <p:txBody>
          <a:bodyPr wrap="none">
            <a:spAutoFit/>
          </a:bodyPr>
          <a:lstStyle/>
          <a:p>
            <a:pPr algn="ctr"/>
            <a:r>
              <a:rPr sz="1100" i="1">
                <a:solidFill>
                  <a:srgbClr val="2C3E50"/>
                </a:solidFill>
                <a:latin typeface="Calibri"/>
              </a:rPr>
              <a:t>All grounded with citations</a:t>
            </a:r>
          </a:p>
        </p:txBody>
      </p:sp>
      <p:sp>
        <p:nvSpPr>
          <p:cNvPr id="19" name="Rounded Rectangle 18"/>
          <p:cNvSpPr/>
          <p:nvPr/>
        </p:nvSpPr>
        <p:spPr>
          <a:xfrm>
            <a:off x="8976207" y="1280160"/>
            <a:ext cx="2606040" cy="1280160"/>
          </a:xfrm>
          <a:prstGeom prst="roundRect">
            <a:avLst>
              <a:gd name="adj" fmla="val 6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76207" y="1371600"/>
            <a:ext cx="2606040" cy="274320"/>
          </a:xfrm>
          <a:prstGeom prst="rect">
            <a:avLst/>
          </a:prstGeom>
          <a:noFill/>
        </p:spPr>
        <p:txBody>
          <a:bodyPr wrap="none">
            <a:spAutoFit/>
          </a:bodyPr>
          <a:lstStyle/>
          <a:p>
            <a:pPr algn="ctr"/>
            <a:r>
              <a:rPr sz="1100">
                <a:solidFill>
                  <a:srgbClr val="646464"/>
                </a:solidFill>
                <a:latin typeface="Calibri"/>
              </a:rPr>
              <a:t>SLA Pass</a:t>
            </a:r>
          </a:p>
        </p:txBody>
      </p:sp>
      <p:sp>
        <p:nvSpPr>
          <p:cNvPr id="21" name="TextBox 20"/>
          <p:cNvSpPr txBox="1"/>
          <p:nvPr/>
        </p:nvSpPr>
        <p:spPr>
          <a:xfrm>
            <a:off x="8976207" y="1600200"/>
            <a:ext cx="2606040" cy="594360"/>
          </a:xfrm>
          <a:prstGeom prst="rect">
            <a:avLst/>
          </a:prstGeom>
          <a:noFill/>
        </p:spPr>
        <p:txBody>
          <a:bodyPr wrap="none">
            <a:spAutoFit/>
          </a:bodyPr>
          <a:lstStyle/>
          <a:p>
            <a:pPr algn="ctr"/>
            <a:r>
              <a:rPr sz="3400" b="1">
                <a:solidFill>
                  <a:srgbClr val="CC4F1F"/>
                </a:solidFill>
                <a:latin typeface="Calibri"/>
              </a:rPr>
              <a:t>100%</a:t>
            </a:r>
          </a:p>
        </p:txBody>
      </p:sp>
      <p:sp>
        <p:nvSpPr>
          <p:cNvPr id="22" name="TextBox 21"/>
          <p:cNvSpPr txBox="1"/>
          <p:nvPr/>
        </p:nvSpPr>
        <p:spPr>
          <a:xfrm>
            <a:off x="8976207" y="2194560"/>
            <a:ext cx="2606040" cy="320040"/>
          </a:xfrm>
          <a:prstGeom prst="rect">
            <a:avLst/>
          </a:prstGeom>
          <a:noFill/>
        </p:spPr>
        <p:txBody>
          <a:bodyPr wrap="none">
            <a:spAutoFit/>
          </a:bodyPr>
          <a:lstStyle/>
          <a:p>
            <a:pPr algn="ctr"/>
            <a:r>
              <a:rPr sz="1100" i="1">
                <a:solidFill>
                  <a:srgbClr val="2C3E50"/>
                </a:solidFill>
                <a:latin typeface="Calibri"/>
              </a:rPr>
              <a:t>20/20 test questions</a:t>
            </a:r>
          </a:p>
        </p:txBody>
      </p:sp>
      <p:sp>
        <p:nvSpPr>
          <p:cNvPr id="23" name="TextBox 22"/>
          <p:cNvSpPr txBox="1"/>
          <p:nvPr/>
        </p:nvSpPr>
        <p:spPr>
          <a:xfrm>
            <a:off x="457200" y="2834640"/>
            <a:ext cx="11247120" cy="365760"/>
          </a:xfrm>
          <a:prstGeom prst="rect">
            <a:avLst/>
          </a:prstGeom>
          <a:noFill/>
        </p:spPr>
        <p:txBody>
          <a:bodyPr wrap="none">
            <a:spAutoFit/>
          </a:bodyPr>
          <a:lstStyle/>
          <a:p>
            <a:r>
              <a:rPr sz="1500" b="1">
                <a:solidFill>
                  <a:srgbClr val="CC4F1F"/>
                </a:solidFill>
                <a:latin typeface="Calibri"/>
              </a:rPr>
              <a:t>Monthly Cost Estimation (600,000 calls/month baseline)</a:t>
            </a:r>
          </a:p>
        </p:txBody>
      </p:sp>
      <p:graphicFrame>
        <p:nvGraphicFramePr>
          <p:cNvPr id="24" name="Table 23"/>
          <p:cNvGraphicFramePr>
            <a:graphicFrameLocks noGrp="1"/>
          </p:cNvGraphicFramePr>
          <p:nvPr/>
        </p:nvGraphicFramePr>
        <p:xfrm>
          <a:off x="457200" y="3291840"/>
          <a:ext cx="11247120" cy="2377440"/>
        </p:xfrm>
        <a:graphic>
          <a:graphicData uri="http://schemas.openxmlformats.org/drawingml/2006/table">
            <a:tbl>
              <a:tblPr firstRow="1" bandRow="1">
                <a:tableStyleId>{5C22544A-7EE6-4342-B048-85BDC9FD1C3A}</a:tableStyleId>
              </a:tblPr>
              <a:tblGrid>
                <a:gridCol w="3749040"/>
                <a:gridCol w="3749040"/>
                <a:gridCol w="3749040"/>
              </a:tblGrid>
              <a:tr h="297180">
                <a:tc>
                  <a:txBody>
                    <a:bodyPr lIns="73152" tIns="36576"/>
                    <a:lstStyle/>
                    <a:p>
                      <a:r>
                        <a:rPr sz="1200" b="1">
                          <a:solidFill>
                            <a:srgbClr val="FFFFFF"/>
                          </a:solidFill>
                          <a:latin typeface="Calibri"/>
                        </a:rPr>
                        <a:t>Component</a:t>
                      </a:r>
                    </a:p>
                  </a:txBody>
                  <a:tcPr>
                    <a:solidFill>
                      <a:srgbClr val="FF6B35"/>
                    </a:solidFill>
                  </a:tcPr>
                </a:tc>
                <a:tc>
                  <a:txBody>
                    <a:bodyPr lIns="73152" tIns="36576"/>
                    <a:lstStyle/>
                    <a:p>
                      <a:r>
                        <a:rPr sz="1200" b="1">
                          <a:solidFill>
                            <a:srgbClr val="FFFFFF"/>
                          </a:solidFill>
                          <a:latin typeface="Calibri"/>
                        </a:rPr>
                        <a:t>Variant A1+ (Nova)</a:t>
                      </a:r>
                    </a:p>
                  </a:txBody>
                  <a:tcPr>
                    <a:solidFill>
                      <a:srgbClr val="FF6B35"/>
                    </a:solidFill>
                  </a:tcPr>
                </a:tc>
                <a:tc>
                  <a:txBody>
                    <a:bodyPr lIns="73152" tIns="36576"/>
                    <a:lstStyle/>
                    <a:p>
                      <a:r>
                        <a:rPr sz="1200" b="1">
                          <a:solidFill>
                            <a:srgbClr val="FFFFFF"/>
                          </a:solidFill>
                          <a:latin typeface="Calibri"/>
                        </a:rPr>
                        <a:t>Variant A2 (Claude)</a:t>
                      </a:r>
                    </a:p>
                  </a:txBody>
                  <a:tcPr>
                    <a:solidFill>
                      <a:srgbClr val="FF6B35"/>
                    </a:solidFill>
                  </a:tcPr>
                </a:tc>
              </a:tr>
              <a:tr h="297180">
                <a:tc>
                  <a:txBody>
                    <a:bodyPr lIns="73152" tIns="27432"/>
                    <a:lstStyle/>
                    <a:p>
                      <a:r>
                        <a:rPr sz="1000">
                          <a:solidFill>
                            <a:srgbClr val="2C3E50"/>
                          </a:solidFill>
                          <a:latin typeface="Calibri"/>
                        </a:rPr>
                        <a:t>LLM inference (emergency + complex)</a:t>
                      </a:r>
                    </a:p>
                  </a:txBody>
                  <a:tcPr>
                    <a:solidFill>
                      <a:srgbClr val="FFFFFF"/>
                    </a:solidFill>
                  </a:tcPr>
                </a:tc>
                <a:tc>
                  <a:txBody>
                    <a:bodyPr lIns="73152" tIns="27432"/>
                    <a:lstStyle/>
                    <a:p>
                      <a:r>
                        <a:rPr sz="1000">
                          <a:solidFill>
                            <a:srgbClr val="2C3E50"/>
                          </a:solidFill>
                          <a:latin typeface="Calibri"/>
                        </a:rPr>
                        <a:t>$1,540</a:t>
                      </a:r>
                    </a:p>
                  </a:txBody>
                  <a:tcPr>
                    <a:solidFill>
                      <a:srgbClr val="FFFFFF"/>
                    </a:solidFill>
                  </a:tcPr>
                </a:tc>
                <a:tc>
                  <a:txBody>
                    <a:bodyPr lIns="73152" tIns="27432"/>
                    <a:lstStyle/>
                    <a:p>
                      <a:r>
                        <a:rPr sz="1000">
                          <a:solidFill>
                            <a:srgbClr val="2C3E50"/>
                          </a:solidFill>
                          <a:latin typeface="Calibri"/>
                        </a:rPr>
                        <a:t>$5,810</a:t>
                      </a:r>
                    </a:p>
                  </a:txBody>
                  <a:tcPr>
                    <a:solidFill>
                      <a:srgbClr val="FFFFFF"/>
                    </a:solidFill>
                  </a:tcPr>
                </a:tc>
              </a:tr>
              <a:tr h="297180">
                <a:tc>
                  <a:txBody>
                    <a:bodyPr lIns="73152" tIns="27432"/>
                    <a:lstStyle/>
                    <a:p>
                      <a:r>
                        <a:rPr sz="1000">
                          <a:solidFill>
                            <a:srgbClr val="2C3E50"/>
                          </a:solidFill>
                          <a:latin typeface="Calibri"/>
                        </a:rPr>
                        <a:t>Embedding (Cohere Embed v3 SG)</a:t>
                      </a:r>
                    </a:p>
                  </a:txBody>
                  <a:tcPr>
                    <a:solidFill>
                      <a:srgbClr val="FFE8DA"/>
                    </a:solidFill>
                  </a:tcPr>
                </a:tc>
                <a:tc>
                  <a:txBody>
                    <a:bodyPr lIns="73152" tIns="27432"/>
                    <a:lstStyle/>
                    <a:p>
                      <a:r>
                        <a:rPr sz="1000">
                          <a:solidFill>
                            <a:srgbClr val="2C3E50"/>
                          </a:solidFill>
                          <a:latin typeface="Calibri"/>
                        </a:rPr>
                        <a:t>$10</a:t>
                      </a:r>
                    </a:p>
                  </a:txBody>
                  <a:tcPr>
                    <a:solidFill>
                      <a:srgbClr val="FFE8DA"/>
                    </a:solidFill>
                  </a:tcPr>
                </a:tc>
                <a:tc>
                  <a:txBody>
                    <a:bodyPr lIns="73152" tIns="27432"/>
                    <a:lstStyle/>
                    <a:p>
                      <a:r>
                        <a:rPr sz="1000">
                          <a:solidFill>
                            <a:srgbClr val="2C3E50"/>
                          </a:solidFill>
                          <a:latin typeface="Calibri"/>
                        </a:rPr>
                        <a:t>$10</a:t>
                      </a:r>
                    </a:p>
                  </a:txBody>
                  <a:tcPr>
                    <a:solidFill>
                      <a:srgbClr val="FFE8DA"/>
                    </a:solidFill>
                  </a:tcPr>
                </a:tc>
              </a:tr>
              <a:tr h="297180">
                <a:tc>
                  <a:txBody>
                    <a:bodyPr lIns="73152" tIns="27432"/>
                    <a:lstStyle/>
                    <a:p>
                      <a:r>
                        <a:rPr sz="1000">
                          <a:solidFill>
                            <a:srgbClr val="2C3E50"/>
                          </a:solidFill>
                          <a:latin typeface="Calibri"/>
                        </a:rPr>
                        <a:t>OpenSearch Serverless + Neptune Analytics</a:t>
                      </a:r>
                    </a:p>
                  </a:txBody>
                  <a:tcPr>
                    <a:solidFill>
                      <a:srgbClr val="FFFFFF"/>
                    </a:solidFill>
                  </a:tcPr>
                </a:tc>
                <a:tc>
                  <a:txBody>
                    <a:bodyPr lIns="73152" tIns="27432"/>
                    <a:lstStyle/>
                    <a:p>
                      <a:r>
                        <a:rPr sz="1000">
                          <a:solidFill>
                            <a:srgbClr val="2C3E50"/>
                          </a:solidFill>
                          <a:latin typeface="Calibri"/>
                        </a:rPr>
                        <a:t>$465</a:t>
                      </a:r>
                    </a:p>
                  </a:txBody>
                  <a:tcPr>
                    <a:solidFill>
                      <a:srgbClr val="FFFFFF"/>
                    </a:solidFill>
                  </a:tcPr>
                </a:tc>
                <a:tc>
                  <a:txBody>
                    <a:bodyPr lIns="73152" tIns="27432"/>
                    <a:lstStyle/>
                    <a:p>
                      <a:r>
                        <a:rPr sz="1000">
                          <a:solidFill>
                            <a:srgbClr val="2C3E50"/>
                          </a:solidFill>
                          <a:latin typeface="Calibri"/>
                        </a:rPr>
                        <a:t>$465</a:t>
                      </a:r>
                    </a:p>
                  </a:txBody>
                  <a:tcPr>
                    <a:solidFill>
                      <a:srgbClr val="FFFFFF"/>
                    </a:solidFill>
                  </a:tcPr>
                </a:tc>
              </a:tr>
              <a:tr h="297180">
                <a:tc>
                  <a:txBody>
                    <a:bodyPr lIns="73152" tIns="27432"/>
                    <a:lstStyle/>
                    <a:p>
                      <a:r>
                        <a:rPr sz="1000">
                          <a:solidFill>
                            <a:srgbClr val="2C3E50"/>
                          </a:solidFill>
                          <a:latin typeface="Calibri"/>
                        </a:rPr>
                        <a:t>Bedrock Guardrails + Comprehend Medical</a:t>
                      </a:r>
                    </a:p>
                  </a:txBody>
                  <a:tcPr>
                    <a:solidFill>
                      <a:srgbClr val="FFE8DA"/>
                    </a:solidFill>
                  </a:tcPr>
                </a:tc>
                <a:tc>
                  <a:txBody>
                    <a:bodyPr lIns="73152" tIns="27432"/>
                    <a:lstStyle/>
                    <a:p>
                      <a:r>
                        <a:rPr sz="1000">
                          <a:solidFill>
                            <a:srgbClr val="2C3E50"/>
                          </a:solidFill>
                          <a:latin typeface="Calibri"/>
                        </a:rPr>
                        <a:t>$360</a:t>
                      </a:r>
                    </a:p>
                  </a:txBody>
                  <a:tcPr>
                    <a:solidFill>
                      <a:srgbClr val="FFE8DA"/>
                    </a:solidFill>
                  </a:tcPr>
                </a:tc>
                <a:tc>
                  <a:txBody>
                    <a:bodyPr lIns="73152" tIns="27432"/>
                    <a:lstStyle/>
                    <a:p>
                      <a:r>
                        <a:rPr sz="1000">
                          <a:solidFill>
                            <a:srgbClr val="2C3E50"/>
                          </a:solidFill>
                          <a:latin typeface="Calibri"/>
                        </a:rPr>
                        <a:t>$360</a:t>
                      </a:r>
                    </a:p>
                  </a:txBody>
                  <a:tcPr>
                    <a:solidFill>
                      <a:srgbClr val="FFE8DA"/>
                    </a:solidFill>
                  </a:tcPr>
                </a:tc>
              </a:tr>
              <a:tr h="297180">
                <a:tc>
                  <a:txBody>
                    <a:bodyPr lIns="73152" tIns="27432"/>
                    <a:lstStyle/>
                    <a:p>
                      <a:r>
                        <a:rPr sz="1000">
                          <a:solidFill>
                            <a:srgbClr val="2C3E50"/>
                          </a:solidFill>
                          <a:latin typeface="Calibri"/>
                        </a:rPr>
                        <a:t>ElastiCache Redis + VPN + Lambda + S3</a:t>
                      </a:r>
                    </a:p>
                  </a:txBody>
                  <a:tcPr>
                    <a:solidFill>
                      <a:srgbClr val="FFFFFF"/>
                    </a:solidFill>
                  </a:tcPr>
                </a:tc>
                <a:tc>
                  <a:txBody>
                    <a:bodyPr lIns="73152" tIns="27432"/>
                    <a:lstStyle/>
                    <a:p>
                      <a:r>
                        <a:rPr sz="1000">
                          <a:solidFill>
                            <a:srgbClr val="2C3E50"/>
                          </a:solidFill>
                          <a:latin typeface="Calibri"/>
                        </a:rPr>
                        <a:t>$430</a:t>
                      </a:r>
                    </a:p>
                  </a:txBody>
                  <a:tcPr>
                    <a:solidFill>
                      <a:srgbClr val="FFFFFF"/>
                    </a:solidFill>
                  </a:tcPr>
                </a:tc>
                <a:tc>
                  <a:txBody>
                    <a:bodyPr lIns="73152" tIns="27432"/>
                    <a:lstStyle/>
                    <a:p>
                      <a:r>
                        <a:rPr sz="1000">
                          <a:solidFill>
                            <a:srgbClr val="2C3E50"/>
                          </a:solidFill>
                          <a:latin typeface="Calibri"/>
                        </a:rPr>
                        <a:t>$430</a:t>
                      </a:r>
                    </a:p>
                  </a:txBody>
                  <a:tcPr>
                    <a:solidFill>
                      <a:srgbClr val="FFFFFF"/>
                    </a:solidFill>
                  </a:tcPr>
                </a:tc>
              </a:tr>
              <a:tr h="297180">
                <a:tc>
                  <a:txBody>
                    <a:bodyPr lIns="73152" tIns="27432"/>
                    <a:lstStyle/>
                    <a:p>
                      <a:r>
                        <a:rPr sz="1000">
                          <a:solidFill>
                            <a:srgbClr val="2C3E50"/>
                          </a:solidFill>
                          <a:latin typeface="Calibri"/>
                        </a:rPr>
                        <a:t>Distillation + Nova Lite student offset</a:t>
                      </a:r>
                    </a:p>
                  </a:txBody>
                  <a:tcPr>
                    <a:solidFill>
                      <a:srgbClr val="FFE8DA"/>
                    </a:solidFill>
                  </a:tcPr>
                </a:tc>
                <a:tc>
                  <a:txBody>
                    <a:bodyPr lIns="73152" tIns="27432"/>
                    <a:lstStyle/>
                    <a:p>
                      <a:r>
                        <a:rPr sz="1000">
                          <a:solidFill>
                            <a:srgbClr val="2C3E50"/>
                          </a:solidFill>
                          <a:latin typeface="Calibri"/>
                        </a:rPr>
                        <a:t>—</a:t>
                      </a:r>
                    </a:p>
                  </a:txBody>
                  <a:tcPr>
                    <a:solidFill>
                      <a:srgbClr val="FFE8DA"/>
                    </a:solidFill>
                  </a:tcPr>
                </a:tc>
                <a:tc>
                  <a:txBody>
                    <a:bodyPr lIns="73152" tIns="27432"/>
                    <a:lstStyle/>
                    <a:p>
                      <a:r>
                        <a:rPr sz="1000">
                          <a:solidFill>
                            <a:srgbClr val="2C3E50"/>
                          </a:solidFill>
                          <a:latin typeface="Calibri"/>
                        </a:rPr>
                        <a:t>−$1,530</a:t>
                      </a:r>
                    </a:p>
                  </a:txBody>
                  <a:tcPr>
                    <a:solidFill>
                      <a:srgbClr val="FFE8DA"/>
                    </a:solidFill>
                  </a:tcPr>
                </a:tc>
              </a:tr>
              <a:tr h="297180">
                <a:tc>
                  <a:txBody>
                    <a:bodyPr lIns="73152" tIns="27432"/>
                    <a:lstStyle/>
                    <a:p>
                      <a:r>
                        <a:rPr sz="1000">
                          <a:solidFill>
                            <a:srgbClr val="2C3E50"/>
                          </a:solidFill>
                          <a:latin typeface="Calibri"/>
                        </a:rPr>
                        <a:t>TOTAL / month</a:t>
                      </a:r>
                    </a:p>
                  </a:txBody>
                  <a:tcPr>
                    <a:solidFill>
                      <a:srgbClr val="FFFFFF"/>
                    </a:solidFill>
                  </a:tcPr>
                </a:tc>
                <a:tc>
                  <a:txBody>
                    <a:bodyPr lIns="73152" tIns="27432"/>
                    <a:lstStyle/>
                    <a:p>
                      <a:r>
                        <a:rPr sz="1000">
                          <a:solidFill>
                            <a:srgbClr val="2C3E50"/>
                          </a:solidFill>
                          <a:latin typeface="Calibri"/>
                        </a:rPr>
                        <a:t>$2,805</a:t>
                      </a:r>
                    </a:p>
                  </a:txBody>
                  <a:tcPr>
                    <a:solidFill>
                      <a:srgbClr val="FFFFFF"/>
                    </a:solidFill>
                  </a:tcPr>
                </a:tc>
                <a:tc>
                  <a:txBody>
                    <a:bodyPr lIns="73152" tIns="27432"/>
                    <a:lstStyle/>
                    <a:p>
                      <a:r>
                        <a:rPr sz="1000">
                          <a:solidFill>
                            <a:srgbClr val="2C3E50"/>
                          </a:solidFill>
                          <a:latin typeface="Calibri"/>
                        </a:rPr>
                        <a:t>$5,545</a:t>
                      </a:r>
                    </a:p>
                  </a:txBody>
                  <a:tcPr>
                    <a:solidFill>
                      <a:srgbClr val="FFFFFF"/>
                    </a:solidFill>
                  </a:tcPr>
                </a:tc>
              </a:tr>
            </a:tbl>
          </a:graphicData>
        </a:graphic>
      </p:graphicFrame>
      <p:sp>
        <p:nvSpPr>
          <p:cNvPr id="25" name="Rounded Rectangle 24"/>
          <p:cNvSpPr/>
          <p:nvPr/>
        </p:nvSpPr>
        <p:spPr>
          <a:xfrm>
            <a:off x="457200" y="5760720"/>
            <a:ext cx="11247120" cy="640080"/>
          </a:xfrm>
          <a:prstGeom prst="roundRect">
            <a:avLst>
              <a:gd name="adj" fmla="val 20000"/>
            </a:avLst>
          </a:prstGeom>
          <a:solidFill>
            <a:srgbClr val="FFE8DA"/>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852160"/>
            <a:ext cx="10881360" cy="502920"/>
          </a:xfrm>
          <a:prstGeom prst="rect">
            <a:avLst/>
          </a:prstGeom>
          <a:noFill/>
        </p:spPr>
        <p:txBody>
          <a:bodyPr wrap="square">
            <a:spAutoFit/>
          </a:bodyPr>
          <a:lstStyle/>
          <a:p>
            <a:pPr algn="ctr"/>
            <a:r>
              <a:rPr sz="1200" b="1">
                <a:solidFill>
                  <a:srgbClr val="CC4F1F"/>
                </a:solidFill>
                <a:latin typeface="Calibri"/>
              </a:rPr>
              <a:t>At 3M calls/month: A1+ scales to $10,500   ·   A2 to $23,500   ·   Recommended: A1+ for cost, A2 for premium tier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800" b="1">
                <a:solidFill>
                  <a:srgbClr val="CC4F1F"/>
                </a:solidFill>
                <a:latin typeface="Calibri"/>
              </a:rPr>
              <a:t>Ready to Deploy</a:t>
            </a:r>
          </a:p>
        </p:txBody>
      </p:sp>
      <p:sp>
        <p:nvSpPr>
          <p:cNvPr id="5" name="Rectangle 4"/>
          <p:cNvSpPr/>
          <p:nvPr/>
        </p:nvSpPr>
        <p:spPr>
          <a:xfrm>
            <a:off x="457200" y="91440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AWS Singapore</a:t>
            </a:r>
          </a:p>
        </p:txBody>
      </p:sp>
      <p:sp>
        <p:nvSpPr>
          <p:cNvPr id="7" name="TextBox 6"/>
          <p:cNvSpPr txBox="1"/>
          <p:nvPr/>
        </p:nvSpPr>
        <p:spPr>
          <a:xfrm>
            <a:off x="457200" y="1280160"/>
            <a:ext cx="11247120" cy="365760"/>
          </a:xfrm>
          <a:prstGeom prst="rect">
            <a:avLst/>
          </a:prstGeom>
          <a:noFill/>
        </p:spPr>
        <p:txBody>
          <a:bodyPr wrap="none">
            <a:spAutoFit/>
          </a:bodyPr>
          <a:lstStyle/>
          <a:p>
            <a:r>
              <a:rPr sz="1600" b="1">
                <a:solidFill>
                  <a:srgbClr val="CC4F1F"/>
                </a:solidFill>
                <a:latin typeface="Calibri"/>
              </a:rPr>
              <a:t>Implementation Roadmap (6 to 10 weeks)</a:t>
            </a:r>
          </a:p>
        </p:txBody>
      </p:sp>
      <p:sp>
        <p:nvSpPr>
          <p:cNvPr id="8" name="Rectangle 7"/>
          <p:cNvSpPr/>
          <p:nvPr/>
        </p:nvSpPr>
        <p:spPr>
          <a:xfrm>
            <a:off x="457200" y="1783080"/>
            <a:ext cx="137160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783080"/>
            <a:ext cx="1371600" cy="502920"/>
          </a:xfrm>
          <a:prstGeom prst="rect">
            <a:avLst/>
          </a:prstGeom>
          <a:noFill/>
        </p:spPr>
        <p:txBody>
          <a:bodyPr wrap="none" anchor="ctr">
            <a:spAutoFit/>
          </a:bodyPr>
          <a:lstStyle/>
          <a:p>
            <a:pPr algn="ctr"/>
            <a:r>
              <a:rPr sz="1300" b="1">
                <a:solidFill>
                  <a:srgbClr val="FFFFFF"/>
                </a:solidFill>
                <a:latin typeface="Calibri"/>
              </a:rPr>
              <a:t>Wk 1-2</a:t>
            </a:r>
          </a:p>
        </p:txBody>
      </p:sp>
      <p:sp>
        <p:nvSpPr>
          <p:cNvPr id="10" name="TextBox 9"/>
          <p:cNvSpPr txBox="1"/>
          <p:nvPr/>
        </p:nvSpPr>
        <p:spPr>
          <a:xfrm>
            <a:off x="2011680" y="1783080"/>
            <a:ext cx="2194560" cy="502920"/>
          </a:xfrm>
          <a:prstGeom prst="rect">
            <a:avLst/>
          </a:prstGeom>
          <a:noFill/>
        </p:spPr>
        <p:txBody>
          <a:bodyPr wrap="none" anchor="ctr">
            <a:spAutoFit/>
          </a:bodyPr>
          <a:lstStyle/>
          <a:p>
            <a:r>
              <a:rPr sz="1500" b="1">
                <a:solidFill>
                  <a:srgbClr val="CC4F1F"/>
                </a:solidFill>
                <a:latin typeface="Calibri"/>
              </a:rPr>
              <a:t>Foundation</a:t>
            </a:r>
          </a:p>
        </p:txBody>
      </p:sp>
      <p:sp>
        <p:nvSpPr>
          <p:cNvPr id="11" name="TextBox 10"/>
          <p:cNvSpPr txBox="1"/>
          <p:nvPr/>
        </p:nvSpPr>
        <p:spPr>
          <a:xfrm>
            <a:off x="4297680" y="1783080"/>
            <a:ext cx="7315200" cy="502920"/>
          </a:xfrm>
          <a:prstGeom prst="rect">
            <a:avLst/>
          </a:prstGeom>
          <a:noFill/>
        </p:spPr>
        <p:txBody>
          <a:bodyPr wrap="none" anchor="ctr">
            <a:spAutoFit/>
          </a:bodyPr>
          <a:lstStyle/>
          <a:p>
            <a:r>
              <a:rPr sz="1300">
                <a:solidFill>
                  <a:srgbClr val="2C3E50"/>
                </a:solidFill>
                <a:latin typeface="Calibri"/>
              </a:rPr>
              <a:t>SG provisioning, BAA, WHO+ICD-11 ingest</a:t>
            </a:r>
          </a:p>
        </p:txBody>
      </p:sp>
      <p:sp>
        <p:nvSpPr>
          <p:cNvPr id="12" name="Rectangle 11"/>
          <p:cNvSpPr/>
          <p:nvPr/>
        </p:nvSpPr>
        <p:spPr>
          <a:xfrm>
            <a:off x="457200" y="2359152"/>
            <a:ext cx="137160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359152"/>
            <a:ext cx="1371600" cy="502920"/>
          </a:xfrm>
          <a:prstGeom prst="rect">
            <a:avLst/>
          </a:prstGeom>
          <a:noFill/>
        </p:spPr>
        <p:txBody>
          <a:bodyPr wrap="none" anchor="ctr">
            <a:spAutoFit/>
          </a:bodyPr>
          <a:lstStyle/>
          <a:p>
            <a:pPr algn="ctr"/>
            <a:r>
              <a:rPr sz="1300" b="1">
                <a:solidFill>
                  <a:srgbClr val="FFFFFF"/>
                </a:solidFill>
                <a:latin typeface="Calibri"/>
              </a:rPr>
              <a:t>Wk 3-4</a:t>
            </a:r>
          </a:p>
        </p:txBody>
      </p:sp>
      <p:sp>
        <p:nvSpPr>
          <p:cNvPr id="14" name="TextBox 13"/>
          <p:cNvSpPr txBox="1"/>
          <p:nvPr/>
        </p:nvSpPr>
        <p:spPr>
          <a:xfrm>
            <a:off x="2011680" y="2359152"/>
            <a:ext cx="2194560" cy="502920"/>
          </a:xfrm>
          <a:prstGeom prst="rect">
            <a:avLst/>
          </a:prstGeom>
          <a:noFill/>
        </p:spPr>
        <p:txBody>
          <a:bodyPr wrap="none" anchor="ctr">
            <a:spAutoFit/>
          </a:bodyPr>
          <a:lstStyle/>
          <a:p>
            <a:r>
              <a:rPr sz="1500" b="1">
                <a:solidFill>
                  <a:srgbClr val="CC4F1F"/>
                </a:solidFill>
                <a:latin typeface="Calibri"/>
              </a:rPr>
              <a:t>Customization</a:t>
            </a:r>
          </a:p>
        </p:txBody>
      </p:sp>
      <p:sp>
        <p:nvSpPr>
          <p:cNvPr id="15" name="TextBox 14"/>
          <p:cNvSpPr txBox="1"/>
          <p:nvPr/>
        </p:nvSpPr>
        <p:spPr>
          <a:xfrm>
            <a:off x="4297680" y="2359152"/>
            <a:ext cx="7315200" cy="502920"/>
          </a:xfrm>
          <a:prstGeom prst="rect">
            <a:avLst/>
          </a:prstGeom>
          <a:noFill/>
        </p:spPr>
        <p:txBody>
          <a:bodyPr wrap="none" anchor="ctr">
            <a:spAutoFit/>
          </a:bodyPr>
          <a:lstStyle/>
          <a:p>
            <a:r>
              <a:rPr sz="1300">
                <a:solidFill>
                  <a:srgbClr val="2C3E50"/>
                </a:solidFill>
                <a:latin typeface="Calibri"/>
              </a:rPr>
              <a:t>Bedrock Distillation: Nova Lite student</a:t>
            </a:r>
          </a:p>
        </p:txBody>
      </p:sp>
      <p:sp>
        <p:nvSpPr>
          <p:cNvPr id="16" name="Rectangle 15"/>
          <p:cNvSpPr/>
          <p:nvPr/>
        </p:nvSpPr>
        <p:spPr>
          <a:xfrm>
            <a:off x="457200" y="2935224"/>
            <a:ext cx="137160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935224"/>
            <a:ext cx="1371600" cy="502920"/>
          </a:xfrm>
          <a:prstGeom prst="rect">
            <a:avLst/>
          </a:prstGeom>
          <a:noFill/>
        </p:spPr>
        <p:txBody>
          <a:bodyPr wrap="none" anchor="ctr">
            <a:spAutoFit/>
          </a:bodyPr>
          <a:lstStyle/>
          <a:p>
            <a:pPr algn="ctr"/>
            <a:r>
              <a:rPr sz="1300" b="1">
                <a:solidFill>
                  <a:srgbClr val="FFFFFF"/>
                </a:solidFill>
                <a:latin typeface="Calibri"/>
              </a:rPr>
              <a:t>Wk 5-6</a:t>
            </a:r>
          </a:p>
        </p:txBody>
      </p:sp>
      <p:sp>
        <p:nvSpPr>
          <p:cNvPr id="18" name="TextBox 17"/>
          <p:cNvSpPr txBox="1"/>
          <p:nvPr/>
        </p:nvSpPr>
        <p:spPr>
          <a:xfrm>
            <a:off x="2011680" y="2935224"/>
            <a:ext cx="2194560" cy="502920"/>
          </a:xfrm>
          <a:prstGeom prst="rect">
            <a:avLst/>
          </a:prstGeom>
          <a:noFill/>
        </p:spPr>
        <p:txBody>
          <a:bodyPr wrap="none" anchor="ctr">
            <a:spAutoFit/>
          </a:bodyPr>
          <a:lstStyle/>
          <a:p>
            <a:r>
              <a:rPr sz="1500" b="1">
                <a:solidFill>
                  <a:srgbClr val="CC4F1F"/>
                </a:solidFill>
                <a:latin typeface="Calibri"/>
              </a:rPr>
              <a:t>Integration</a:t>
            </a:r>
          </a:p>
        </p:txBody>
      </p:sp>
      <p:sp>
        <p:nvSpPr>
          <p:cNvPr id="19" name="TextBox 18"/>
          <p:cNvSpPr txBox="1"/>
          <p:nvPr/>
        </p:nvSpPr>
        <p:spPr>
          <a:xfrm>
            <a:off x="4297680" y="2935224"/>
            <a:ext cx="7315200" cy="502920"/>
          </a:xfrm>
          <a:prstGeom prst="rect">
            <a:avLst/>
          </a:prstGeom>
          <a:noFill/>
        </p:spPr>
        <p:txBody>
          <a:bodyPr wrap="none" anchor="ctr">
            <a:spAutoFit/>
          </a:bodyPr>
          <a:lstStyle/>
          <a:p>
            <a:r>
              <a:rPr sz="1300">
                <a:solidFill>
                  <a:srgbClr val="2C3E50"/>
                </a:solidFill>
                <a:latin typeface="Calibri"/>
              </a:rPr>
              <a:t>EHR FHIR, SharePoint, Cognito federation</a:t>
            </a:r>
          </a:p>
        </p:txBody>
      </p:sp>
      <p:sp>
        <p:nvSpPr>
          <p:cNvPr id="20" name="Rectangle 19"/>
          <p:cNvSpPr/>
          <p:nvPr/>
        </p:nvSpPr>
        <p:spPr>
          <a:xfrm>
            <a:off x="457200" y="3511296"/>
            <a:ext cx="137160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511296"/>
            <a:ext cx="1371600" cy="502920"/>
          </a:xfrm>
          <a:prstGeom prst="rect">
            <a:avLst/>
          </a:prstGeom>
          <a:noFill/>
        </p:spPr>
        <p:txBody>
          <a:bodyPr wrap="none" anchor="ctr">
            <a:spAutoFit/>
          </a:bodyPr>
          <a:lstStyle/>
          <a:p>
            <a:pPr algn="ctr"/>
            <a:r>
              <a:rPr sz="1300" b="1">
                <a:solidFill>
                  <a:srgbClr val="FFFFFF"/>
                </a:solidFill>
                <a:latin typeface="Calibri"/>
              </a:rPr>
              <a:t>Wk 7-8</a:t>
            </a:r>
          </a:p>
        </p:txBody>
      </p:sp>
      <p:sp>
        <p:nvSpPr>
          <p:cNvPr id="22" name="TextBox 21"/>
          <p:cNvSpPr txBox="1"/>
          <p:nvPr/>
        </p:nvSpPr>
        <p:spPr>
          <a:xfrm>
            <a:off x="2011680" y="3511296"/>
            <a:ext cx="2194560" cy="502920"/>
          </a:xfrm>
          <a:prstGeom prst="rect">
            <a:avLst/>
          </a:prstGeom>
          <a:noFill/>
        </p:spPr>
        <p:txBody>
          <a:bodyPr wrap="none" anchor="ctr">
            <a:spAutoFit/>
          </a:bodyPr>
          <a:lstStyle/>
          <a:p>
            <a:r>
              <a:rPr sz="1500" b="1">
                <a:solidFill>
                  <a:srgbClr val="CC4F1F"/>
                </a:solidFill>
                <a:latin typeface="Calibri"/>
              </a:rPr>
              <a:t>Hardening</a:t>
            </a:r>
          </a:p>
        </p:txBody>
      </p:sp>
      <p:sp>
        <p:nvSpPr>
          <p:cNvPr id="23" name="TextBox 22"/>
          <p:cNvSpPr txBox="1"/>
          <p:nvPr/>
        </p:nvSpPr>
        <p:spPr>
          <a:xfrm>
            <a:off x="4297680" y="3511296"/>
            <a:ext cx="7315200" cy="502920"/>
          </a:xfrm>
          <a:prstGeom prst="rect">
            <a:avLst/>
          </a:prstGeom>
          <a:noFill/>
        </p:spPr>
        <p:txBody>
          <a:bodyPr wrap="none" anchor="ctr">
            <a:spAutoFit/>
          </a:bodyPr>
          <a:lstStyle/>
          <a:p>
            <a:r>
              <a:rPr sz="1300">
                <a:solidFill>
                  <a:srgbClr val="2C3E50"/>
                </a:solidFill>
                <a:latin typeface="Calibri"/>
              </a:rPr>
              <a:t>Red team, Guardrails tune, load test</a:t>
            </a:r>
          </a:p>
        </p:txBody>
      </p:sp>
      <p:sp>
        <p:nvSpPr>
          <p:cNvPr id="24" name="Rectangle 23"/>
          <p:cNvSpPr/>
          <p:nvPr/>
        </p:nvSpPr>
        <p:spPr>
          <a:xfrm>
            <a:off x="457200" y="4087368"/>
            <a:ext cx="137160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087368"/>
            <a:ext cx="1371600" cy="502920"/>
          </a:xfrm>
          <a:prstGeom prst="rect">
            <a:avLst/>
          </a:prstGeom>
          <a:noFill/>
        </p:spPr>
        <p:txBody>
          <a:bodyPr wrap="none" anchor="ctr">
            <a:spAutoFit/>
          </a:bodyPr>
          <a:lstStyle/>
          <a:p>
            <a:pPr algn="ctr"/>
            <a:r>
              <a:rPr sz="1300" b="1">
                <a:solidFill>
                  <a:srgbClr val="FFFFFF"/>
                </a:solidFill>
                <a:latin typeface="Calibri"/>
              </a:rPr>
              <a:t>Launch</a:t>
            </a:r>
          </a:p>
        </p:txBody>
      </p:sp>
      <p:sp>
        <p:nvSpPr>
          <p:cNvPr id="26" name="TextBox 25"/>
          <p:cNvSpPr txBox="1"/>
          <p:nvPr/>
        </p:nvSpPr>
        <p:spPr>
          <a:xfrm>
            <a:off x="2011680" y="4087368"/>
            <a:ext cx="2194560" cy="502920"/>
          </a:xfrm>
          <a:prstGeom prst="rect">
            <a:avLst/>
          </a:prstGeom>
          <a:noFill/>
        </p:spPr>
        <p:txBody>
          <a:bodyPr wrap="none" anchor="ctr">
            <a:spAutoFit/>
          </a:bodyPr>
          <a:lstStyle/>
          <a:p>
            <a:r>
              <a:rPr sz="1500" b="1">
                <a:solidFill>
                  <a:srgbClr val="CC4F1F"/>
                </a:solidFill>
                <a:latin typeface="Calibri"/>
              </a:rPr>
              <a:t>Go-Live</a:t>
            </a:r>
          </a:p>
        </p:txBody>
      </p:sp>
      <p:sp>
        <p:nvSpPr>
          <p:cNvPr id="27" name="TextBox 26"/>
          <p:cNvSpPr txBox="1"/>
          <p:nvPr/>
        </p:nvSpPr>
        <p:spPr>
          <a:xfrm>
            <a:off x="4297680" y="4087368"/>
            <a:ext cx="7315200" cy="502920"/>
          </a:xfrm>
          <a:prstGeom prst="rect">
            <a:avLst/>
          </a:prstGeom>
          <a:noFill/>
        </p:spPr>
        <p:txBody>
          <a:bodyPr wrap="none" anchor="ctr">
            <a:spAutoFit/>
          </a:bodyPr>
          <a:lstStyle/>
          <a:p>
            <a:r>
              <a:rPr sz="1300">
                <a:solidFill>
                  <a:srgbClr val="2C3E50"/>
                </a:solidFill>
                <a:latin typeface="Calibri"/>
              </a:rPr>
              <a:t>All 12 departments, audit + cache live</a:t>
            </a:r>
          </a:p>
        </p:txBody>
      </p:sp>
      <p:sp>
        <p:nvSpPr>
          <p:cNvPr id="28" name="Rounded Rectangle 27"/>
          <p:cNvSpPr/>
          <p:nvPr/>
        </p:nvSpPr>
        <p:spPr>
          <a:xfrm>
            <a:off x="1371600" y="4937760"/>
            <a:ext cx="9418320" cy="146304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54480" y="5074920"/>
            <a:ext cx="9052560" cy="1188720"/>
          </a:xfrm>
          <a:prstGeom prst="rect">
            <a:avLst/>
          </a:prstGeom>
          <a:noFill/>
        </p:spPr>
        <p:txBody>
          <a:bodyPr wrap="square">
            <a:spAutoFit/>
          </a:bodyPr>
          <a:lstStyle/>
          <a:p>
            <a:pPr algn="ctr"/>
            <a:r>
              <a:rPr sz="2200" b="1">
                <a:solidFill>
                  <a:srgbClr val="FFFFFF"/>
                </a:solidFill>
                <a:latin typeface="Calibri"/>
              </a:rPr>
              <a:t>Live PoC Available Now</a:t>
            </a:r>
          </a:p>
          <a:p>
            <a:pPr algn="ctr"/>
            <a:r>
              <a:rPr sz="1600">
                <a:solidFill>
                  <a:srgbClr val="FFFFFF"/>
                </a:solidFill>
                <a:latin typeface="Consolas"/>
              </a:rPr>
              <a:t>http://47.130.120.152/ui/index.html</a:t>
            </a:r>
          </a:p>
          <a:p>
            <a:pPr algn="ctr"/>
            <a:r>
              <a:rPr sz="1500" i="1">
                <a:solidFill>
                  <a:srgbClr val="FFFFFF"/>
                </a:solidFill>
                <a:latin typeface="Calibri"/>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
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0" r:id="rId5"/>
    <p:sldId id="262" r:id="rId6"/>
    <p:sldId id="259" r:id="rId7"/>
    <p:sldId id="258" r:id="rId8"/>
    <p:sldId id="264" r:id="rId9"/>
    <p:sldId id="269" r:id="rId10"/>
    <p:sldId id="271" r:id="rId11"/>
    <p:sldId id="261" r:id="rId12"/>
    <p:sldId id="265" r:id="rId13"/>
    <p:sldId id="266" r:id="rId14"/>
    <p:sldId id="267" r:id="rId15"/>
    <p:sldId id="268" r:id="rId16"/>
    <p:sldId id="263" r:id="rId17"/>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6" userDrawn="1">
          <p15:clr>
            <a:srgbClr val="A4A3A4"/>
          </p15:clr>
        </p15:guide>
        <p15:guide id="2" pos="2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4F1F"/>
    <a:srgbClr val="FF6B35"/>
    <a:srgbClr val="7433E2"/>
    <a:srgbClr val="5D1DC7"/>
    <a:srgbClr val="7725DF"/>
    <a:srgbClr val="6920D9"/>
    <a:srgbClr val="5C48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6"/>
        <p:guide pos="286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[10s opening]</a:t>
            </a:r>
          </a:p>
          <a:p/>
          <a:p>
            <a:r>
              <a:t>Đề xuất kiến trúc trợ lý AI lâm sàng cho Nova Health Tech: AWS Singapore, Claude 4.5, tuân thủ PDPA và HCSA ngay từ thiết kế.</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[30s]</a:t>
            </a:r>
          </a:p>
          <a:p/>
          <a:p>
            <a:r>
              <a:t>Bác sĩ Nova hiện đang mất niềm tin vào công cụ hỗ trợ lâm sàng vì câu trả lời chậm và thiếu cụ thể. Có 3 thách thức lớn nhất.</a:t>
            </a:r>
          </a:p>
          <a:p/>
          <a:p>
            <a:r>
              <a:t>Một, cấp cứu cần dưới 2 giây, không có chỗ cho độ trễ. Hai, dữ liệu thử nghiệm nội bộ chứa thông tin bệnh nhân, không được rò rỉ ra ngoài Singapore. Ba, WHO cập nhật hàng tháng, ICD-11 hàng ngày, hệ thống phải tự đồng bộ.</a:t>
            </a:r>
          </a:p>
          <a:p/>
          <a:p>
            <a:r>
              <a:t>Cộng thêm yêu cầu tuân thủ PDPA, HCSA, và sẵn sàng cho HIPAA khi onboard khách Mỹ.</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[30s]</a:t>
            </a:r>
          </a:p>
          <a:p/>
          <a:p>
            <a:r>
              <a:t>Bác sĩ Nova hiện đang mất niềm tin vào công cụ hỗ trợ lâm sàng vì câu trả lời chậm và thiếu cụ thể. Có 3 thách thức lớn nhất.</a:t>
            </a:r>
          </a:p>
          <a:p/>
          <a:p>
            <a:r>
              <a:t>Một, cấp cứu cần dưới 2 giây, không có chỗ cho độ trễ. Hai, dữ liệu thử nghiệm nội bộ chứa thông tin bệnh nhân, không được rò rỉ ra ngoài Singapore. Ba, WHO cập nhật hàng tháng, ICD-11 hàng ngày, hệ thống phải tự đồng bộ.</a:t>
            </a:r>
          </a:p>
          <a:p/>
          <a:p>
            <a:r>
              <a:t>Cộng thêm yêu cầu tuân thủ PDPA, HCSA, và sẵn sàng cho HIPAA khi onboard khách Mỹ.</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[45s, KEY SLIDE]</a:t>
            </a:r>
          </a:p>
          <a:p/>
          <a:p>
            <a:r>
              <a:t>Đây là phần Nova Health Tech cần lưu ý nhất. Singapore có 4 quy định chính áp dụng trực tiếp cho hệ thống AI lâm sàng.</a:t>
            </a:r>
          </a:p>
          <a:p/>
          <a:p>
            <a:r>
              <a:t>Một, PDPA do PDPC quản, bảo vệ dữ liệu cá nhân bệnh nhân, yêu cầu Data Protection Officer, thông báo vi phạm trong 72 giờ. Hai, HCSA do MOH ban hành 2020 thay PHMC, bắt buộc license cho dịch vụ y tế và clinical decision support. Ba, Cybersecurity Act 2018 cho Critical Information Infrastructure trong y tế. Bốn, IMDA AI Verify framework cho AI có trách nhiệm.</a:t>
            </a:r>
          </a:p>
          <a:p/>
          <a:p>
            <a:r>
              <a:t>Tất cả deployment ở ap-southeast-1, dữ liệu bệnh nhân không bao giờ rời Singapore. AWS đã có signed BAA, ISO 27001, SOC 2 Type II, PDPA-compliant.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[45s]</a:t>
            </a:r>
          </a:p>
          <a:p/>
          <a:p>
            <a:r>
              <a:t>Giải pháp là kiến trúc 2 luồng. Cấp cứu đi thẳng Claude Haiku 4.5 với top-3 vector và top-2 graph, không qua router, không guardrails để đạt TTFT 2.5 giây. Phức tạp đi qua Nova Micro phân loại 12 phòng ban, rồi Sonnet 4.5 với top-15 vector và top-3 graph, có guardrails đầy đủ.</a:t>
            </a:r>
          </a:p>
          <a:p/>
          <a:p>
            <a:r>
              <a:t>RAG dùng 2 loại: vector trên OpenSearch Serverless và GraphRAG trên Neptune Analytics. Cả 2 đều ở Singapore, dùng Cohere Embed v3 SG-native. Không có cross-region hop nào cho dữ liệu lâm sàng.</a:t>
            </a:r>
          </a:p>
          <a:p/>
          <a:p>
            <a:r>
              <a:t>PoC đã chạy live trên EC2 Singapore, 100% pass SLA, 100% câu trả lời có citation.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[45s]</a:t>
            </a:r>
          </a:p>
          <a:p/>
          <a:p>
            <a:r>
              <a:t>Giải pháp là kiến trúc 2 luồng. Cấp cứu đi thẳng Claude Haiku 4.5 với top-3 vector và top-2 graph, không qua router, không guardrails để đạt TTFT 2.5 giây. Phức tạp đi qua Nova Micro phân loại 12 phòng ban, rồi Sonnet 4.5 với top-15 vector và top-3 graph, có guardrails đầy đủ.</a:t>
            </a:r>
          </a:p>
          <a:p/>
          <a:p>
            <a:r>
              <a:t>RAG dùng 2 loại: vector trên OpenSearch Serverless và GraphRAG trên Neptune Analytics. Cả 2 đều ở Singapore, dùng Cohere Embed v3 SG-native. Không có cross-region hop nào cho dữ liệu lâm sàng.</a:t>
            </a:r>
          </a:p>
          <a:p/>
          <a:p>
            <a:r>
              <a:t>PoC đã chạy live trên EC2 Singapore, 100% pass SLA, 100% câu trả lời có citation.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[15s closing]</a:t>
            </a:r>
          </a:p>
          <a:p/>
          <a:p>
            <a:r>
              <a:t>Tóm lại: kiến trúc đã được PoC kiểm chứng, Singapore-native, tuân thủ PDPA HCSA sẵn, chi phí từ 2,800 USD một tháng. Lộ trình triển khai 6-10 tuần. PoC đang chạy live, có thể demo ngay. Cảm ơn quý vị.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[15s closing]</a:t>
            </a:r>
          </a:p>
          <a:p/>
          <a:p>
            <a:r>
              <a:t>Tóm lại: kiến trúc đã được PoC kiểm chứng, Singapore-native, tuân thủ PDPA HCSA sẵn, chi phí từ 2,800 USD một tháng. Lộ trình triển khai 6-10 tuần. PoC đang chạy live, có thể demo ngay. Cảm ơn quý vị.</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descr="main_slide"/>
          <p:cNvPicPr>
            <a:picLocks noChangeAspect="1"/>
          </p:cNvPicPr>
          <p:nvPr/>
        </p:nvPicPr>
        <p:blipFill>
          <a:blip r:embed="rId1"/>
          <a:stretch>
            <a:fillRect/>
          </a:stretch>
        </p:blipFill>
        <p:spPr>
          <a:xfrm>
            <a:off x="3175" y="0"/>
            <a:ext cx="12185015" cy="6858000"/>
          </a:xfrm>
          <a:prstGeom prst="rect">
            <a:avLst/>
          </a:prstGeom>
        </p:spPr>
      </p:pic>
      <p:sp>
        <p:nvSpPr>
          <p:cNvPr id="4" name="TextBox 3"/>
          <p:cNvSpPr txBox="1"/>
          <p:nvPr/>
        </p:nvSpPr>
        <p:spPr>
          <a:xfrm>
            <a:off x="439420" y="2414270"/>
            <a:ext cx="6069330" cy="1383665"/>
          </a:xfrm>
          <a:prstGeom prst="rect">
            <a:avLst/>
          </a:prstGeom>
          <a:noFill/>
        </p:spPr>
        <p:txBody>
          <a:bodyPr wrap="square">
            <a:spAutoFit/>
          </a:bodyPr>
          <a:lstStyle/>
          <a:p>
            <a:pPr algn="l"/>
            <a:r>
              <a:rPr sz="4400" b="1">
                <a:solidFill>
                  <a:srgbClr val="5D1DC7"/>
                </a:solidFill>
                <a:latin typeface="Calibri" panose="020F0502020204030204"/>
              </a:rPr>
              <a:t>Clinical GenAI Assistant</a:t>
            </a:r>
            <a:endParaRPr sz="4400" b="1">
              <a:solidFill>
                <a:srgbClr val="5D1DC7"/>
              </a:solidFill>
              <a:latin typeface="Calibri" panose="020F0502020204030204"/>
            </a:endParaRPr>
          </a:p>
          <a:p>
            <a:pPr algn="l"/>
            <a:r>
              <a:rPr lang="en-US" sz="4000" b="1">
                <a:latin typeface="Calibri" panose="020F0502020204030204"/>
                <a:sym typeface="+mn-ea"/>
              </a:rPr>
              <a:t>for </a:t>
            </a:r>
            <a:r>
              <a:rPr sz="4000" b="1">
                <a:latin typeface="Calibri" panose="020F0502020204030204"/>
                <a:sym typeface="+mn-ea"/>
              </a:rPr>
              <a:t>Nova Health Tech</a:t>
            </a:r>
            <a:endParaRPr sz="4000" b="1">
              <a:solidFill>
                <a:schemeClr val="tx1"/>
              </a:solidFill>
              <a:latin typeface="Calibri" panose="020F0502020204030204"/>
              <a:sym typeface="+mn-ea"/>
            </a:endParaRPr>
          </a:p>
        </p:txBody>
      </p:sp>
      <p:pic>
        <p:nvPicPr>
          <p:cNvPr id="8" name="Picture 7" descr="qwen-ai-logo"/>
          <p:cNvPicPr>
            <a:picLocks noChangeAspect="1"/>
          </p:cNvPicPr>
          <p:nvPr/>
        </p:nvPicPr>
        <p:blipFill>
          <a:blip r:embed="rId2"/>
          <a:stretch>
            <a:fillRect/>
          </a:stretch>
        </p:blipFill>
        <p:spPr>
          <a:xfrm>
            <a:off x="4422775" y="577215"/>
            <a:ext cx="1332230" cy="443230"/>
          </a:xfrm>
          <a:prstGeom prst="rect">
            <a:avLst/>
          </a:prstGeom>
        </p:spPr>
      </p:pic>
      <p:pic>
        <p:nvPicPr>
          <p:cNvPr id="15" name="Picture 14"/>
          <p:cNvPicPr/>
          <p:nvPr/>
        </p:nvPicPr>
        <p:blipFill>
          <a:blip r:embed="rId3"/>
          <a:stretch>
            <a:fillRect/>
          </a:stretch>
        </p:blipFill>
        <p:spPr>
          <a:xfrm>
            <a:off x="3363595" y="619760"/>
            <a:ext cx="516890" cy="516890"/>
          </a:xfrm>
          <a:prstGeom prst="rect">
            <a:avLst/>
          </a:prstGeom>
        </p:spPr>
      </p:pic>
      <p:sp>
        <p:nvSpPr>
          <p:cNvPr id="28" name="TextBox 3"/>
          <p:cNvSpPr txBox="1"/>
          <p:nvPr/>
        </p:nvSpPr>
        <p:spPr>
          <a:xfrm>
            <a:off x="439420" y="3924935"/>
            <a:ext cx="6069330" cy="706755"/>
          </a:xfrm>
          <a:prstGeom prst="rect">
            <a:avLst/>
          </a:prstGeom>
          <a:noFill/>
        </p:spPr>
        <p:txBody>
          <a:bodyPr wrap="square">
            <a:spAutoFit/>
          </a:bodyPr>
          <a:lstStyle/>
          <a:p>
            <a:pPr algn="l"/>
            <a:r>
              <a:rPr lang="en-US" sz="2000" b="1">
                <a:solidFill>
                  <a:srgbClr val="7433E2"/>
                </a:solidFill>
                <a:latin typeface="Calibri" panose="020F0502020204030204"/>
              </a:rPr>
              <a:t>David Pham</a:t>
            </a:r>
            <a:endParaRPr lang="en-US" sz="2000" b="1">
              <a:solidFill>
                <a:srgbClr val="7433E2"/>
              </a:solidFill>
              <a:latin typeface="Calibri" panose="020F0502020204030204"/>
            </a:endParaRPr>
          </a:p>
          <a:p>
            <a:pPr algn="l"/>
            <a:r>
              <a:rPr lang="en-US" sz="2000" b="1">
                <a:solidFill>
                  <a:schemeClr val="tx1"/>
                </a:solidFill>
                <a:latin typeface="Calibri" panose="020F0502020204030204"/>
                <a:sym typeface="+mn-ea"/>
              </a:rPr>
              <a:t>Solutions Architect</a:t>
            </a:r>
            <a:endParaRPr lang="en-US" sz="2000" b="1">
              <a:solidFill>
                <a:schemeClr val="tx1"/>
              </a:solidFill>
              <a:latin typeface="Calibri" panose="020F0502020204030204"/>
              <a:sym typeface="+mn-ea"/>
            </a:endParaRPr>
          </a:p>
        </p:txBody>
      </p:sp>
      <p:pic>
        <p:nvPicPr>
          <p:cNvPr id="32" name="Picture 31"/>
          <p:cNvPicPr/>
          <p:nvPr/>
        </p:nvPicPr>
        <p:blipFill>
          <a:blip r:embed="rId4"/>
          <a:srcRect b="44076"/>
          <a:stretch>
            <a:fillRect/>
          </a:stretch>
        </p:blipFill>
        <p:spPr>
          <a:xfrm>
            <a:off x="3175" y="497840"/>
            <a:ext cx="1662430" cy="556895"/>
          </a:xfrm>
          <a:prstGeom prst="rect">
            <a:avLst/>
          </a:prstGeom>
        </p:spPr>
      </p:pic>
      <p:pic>
        <p:nvPicPr>
          <p:cNvPr id="35" name="Picture 34"/>
          <p:cNvPicPr/>
          <p:nvPr/>
        </p:nvPicPr>
        <p:blipFill>
          <a:blip r:embed="rId4"/>
          <a:srcRect t="56793"/>
          <a:stretch>
            <a:fillRect/>
          </a:stretch>
        </p:blipFill>
        <p:spPr>
          <a:xfrm>
            <a:off x="1158240" y="664845"/>
            <a:ext cx="1663700" cy="4305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3300" y="342900"/>
            <a:ext cx="1207770" cy="476250"/>
          </a:xfrm>
          <a:prstGeom prst="rect">
            <a:avLst/>
          </a:prstGeom>
          <a:noFill/>
        </p:spPr>
        <p:txBody>
          <a:bodyPr wrap="none" lIns="0" tIns="0">
            <a:spAutoFit/>
          </a:bodyPr>
          <a:lstStyle/>
          <a:p>
            <a:pPr algn="l"/>
            <a:r>
              <a:rPr lang="en-US" sz="2800" b="1">
                <a:solidFill>
                  <a:schemeClr val="tx1"/>
                </a:solidFill>
                <a:latin typeface="Calibri" panose="020F0502020204030204"/>
              </a:rPr>
              <a:t>Agenda</a:t>
            </a:r>
            <a:endParaRPr lang="en-US" sz="2800" b="1">
              <a:solidFill>
                <a:schemeClr val="tx1"/>
              </a:solidFill>
              <a:latin typeface="Calibri" panose="020F0502020204030204"/>
            </a:endParaRPr>
          </a:p>
        </p:txBody>
      </p:sp>
      <p:pic>
        <p:nvPicPr>
          <p:cNvPr id="32" name="Picture 31"/>
          <p:cNvPicPr/>
          <p:nvPr/>
        </p:nvPicPr>
        <p:blipFill>
          <a:blip r:embed="rId1"/>
          <a:srcRect b="44076"/>
          <a:stretch>
            <a:fillRect/>
          </a:stretch>
        </p:blipFill>
        <p:spPr>
          <a:xfrm>
            <a:off x="10314940" y="360045"/>
            <a:ext cx="1006475" cy="337185"/>
          </a:xfrm>
          <a:prstGeom prst="rect">
            <a:avLst/>
          </a:prstGeom>
        </p:spPr>
      </p:pic>
      <p:pic>
        <p:nvPicPr>
          <p:cNvPr id="35" name="Picture 34"/>
          <p:cNvPicPr/>
          <p:nvPr/>
        </p:nvPicPr>
        <p:blipFill>
          <a:blip r:embed="rId1"/>
          <a:srcRect t="56793"/>
          <a:stretch>
            <a:fillRect/>
          </a:stretch>
        </p:blipFill>
        <p:spPr>
          <a:xfrm>
            <a:off x="10993120" y="464185"/>
            <a:ext cx="1005840" cy="260350"/>
          </a:xfrm>
          <a:prstGeom prst="rect">
            <a:avLst/>
          </a:prstGeom>
        </p:spPr>
      </p:pic>
      <p:sp>
        <p:nvSpPr>
          <p:cNvPr id="34" name="TextBox 12"/>
          <p:cNvSpPr txBox="1"/>
          <p:nvPr/>
        </p:nvSpPr>
        <p:spPr>
          <a:xfrm>
            <a:off x="978535" y="3030220"/>
            <a:ext cx="6205220" cy="398780"/>
          </a:xfrm>
          <a:prstGeom prst="rect">
            <a:avLst/>
          </a:prstGeom>
          <a:noFill/>
        </p:spPr>
        <p:txBody>
          <a:bodyPr wrap="square">
            <a:spAutoFit/>
          </a:bodyPr>
          <a:lstStyle/>
          <a:p>
            <a:pPr algn="l"/>
            <a:r>
              <a:rPr lang="en-US" altLang="en-US" sz="2000" b="1" i="0">
                <a:solidFill>
                  <a:srgbClr val="CC4F1F"/>
                </a:solidFill>
                <a:latin typeface="Calibri" panose="020F0502020204030204"/>
              </a:rPr>
              <a:t>Demo AWS with Claude &amp; AWS with Qwen fine-tuning</a:t>
            </a:r>
            <a:endParaRPr lang="en-US" altLang="en-US" sz="2000" b="1" i="0">
              <a:solidFill>
                <a:srgbClr val="CC4F1F"/>
              </a:solidFill>
              <a:latin typeface="Calibri" panose="020F0502020204030204"/>
            </a:endParaRPr>
          </a:p>
        </p:txBody>
      </p:sp>
      <p:sp>
        <p:nvSpPr>
          <p:cNvPr id="36" name="TextBox 13"/>
          <p:cNvSpPr txBox="1"/>
          <p:nvPr/>
        </p:nvSpPr>
        <p:spPr>
          <a:xfrm>
            <a:off x="991870" y="2276474"/>
            <a:ext cx="5029200" cy="398780"/>
          </a:xfrm>
          <a:prstGeom prst="rect">
            <a:avLst/>
          </a:prstGeom>
          <a:noFill/>
        </p:spPr>
        <p:txBody>
          <a:bodyPr wrap="square">
            <a:spAutoFit/>
          </a:bodyPr>
          <a:lstStyle/>
          <a:p>
            <a:pPr algn="l"/>
            <a:r>
              <a:rPr lang="en-US" sz="2000" b="1" i="0">
                <a:solidFill>
                  <a:srgbClr val="CC4F1F"/>
                </a:solidFill>
                <a:latin typeface="Calibri" panose="020F0502020204030204"/>
              </a:rPr>
              <a:t>Solution</a:t>
            </a:r>
            <a:endParaRPr lang="en-US" sz="2000" b="1" i="0">
              <a:solidFill>
                <a:srgbClr val="CC4F1F"/>
              </a:solidFill>
              <a:latin typeface="Calibri" panose="020F0502020204030204"/>
            </a:endParaRPr>
          </a:p>
        </p:txBody>
      </p:sp>
      <p:sp>
        <p:nvSpPr>
          <p:cNvPr id="37" name="TextBox 14"/>
          <p:cNvSpPr txBox="1"/>
          <p:nvPr/>
        </p:nvSpPr>
        <p:spPr>
          <a:xfrm>
            <a:off x="635000" y="1577213"/>
            <a:ext cx="495300" cy="398780"/>
          </a:xfrm>
          <a:prstGeom prst="rect">
            <a:avLst/>
          </a:prstGeom>
          <a:noFill/>
        </p:spPr>
        <p:txBody>
          <a:bodyPr wrap="none">
            <a:spAutoFit/>
          </a:bodyPr>
          <a:lstStyle/>
          <a:p>
            <a:r>
              <a:rPr sz="2000" b="1">
                <a:solidFill>
                  <a:srgbClr val="FF6B35"/>
                </a:solidFill>
                <a:latin typeface="Calibri" panose="020F0502020204030204"/>
              </a:rPr>
              <a:t>▸ </a:t>
            </a:r>
            <a:endParaRPr>
              <a:solidFill>
                <a:srgbClr val="2C3E50"/>
              </a:solidFill>
              <a:latin typeface="Calibri" panose="020F0502020204030204"/>
            </a:endParaRPr>
          </a:p>
        </p:txBody>
      </p:sp>
      <p:sp>
        <p:nvSpPr>
          <p:cNvPr id="38" name="TextBox 15"/>
          <p:cNvSpPr txBox="1"/>
          <p:nvPr/>
        </p:nvSpPr>
        <p:spPr>
          <a:xfrm>
            <a:off x="635000" y="2279650"/>
            <a:ext cx="495300" cy="398780"/>
          </a:xfrm>
          <a:prstGeom prst="rect">
            <a:avLst/>
          </a:prstGeom>
          <a:noFill/>
        </p:spPr>
        <p:txBody>
          <a:bodyPr wrap="none">
            <a:spAutoFit/>
          </a:bodyPr>
          <a:lstStyle/>
          <a:p>
            <a:r>
              <a:rPr sz="2000" b="1">
                <a:solidFill>
                  <a:srgbClr val="FF6B35"/>
                </a:solidFill>
                <a:latin typeface="Calibri" panose="020F0502020204030204"/>
              </a:rPr>
              <a:t>▸ </a:t>
            </a:r>
            <a:endParaRPr lang="en-US">
              <a:solidFill>
                <a:srgbClr val="2C3E50"/>
              </a:solidFill>
              <a:latin typeface="Calibri" panose="020F0502020204030204"/>
            </a:endParaRPr>
          </a:p>
        </p:txBody>
      </p:sp>
      <p:sp>
        <p:nvSpPr>
          <p:cNvPr id="39" name="TextBox 16"/>
          <p:cNvSpPr txBox="1"/>
          <p:nvPr/>
        </p:nvSpPr>
        <p:spPr>
          <a:xfrm>
            <a:off x="635000" y="3039872"/>
            <a:ext cx="495300" cy="398780"/>
          </a:xfrm>
          <a:prstGeom prst="rect">
            <a:avLst/>
          </a:prstGeom>
          <a:noFill/>
        </p:spPr>
        <p:txBody>
          <a:bodyPr wrap="none">
            <a:spAutoFit/>
          </a:bodyPr>
          <a:lstStyle/>
          <a:p>
            <a:r>
              <a:rPr sz="2000" b="1">
                <a:solidFill>
                  <a:srgbClr val="FF6B35"/>
                </a:solidFill>
                <a:latin typeface="Calibri" panose="020F0502020204030204"/>
              </a:rPr>
              <a:t>▸ </a:t>
            </a:r>
            <a:endParaRPr>
              <a:solidFill>
                <a:srgbClr val="2C3E50"/>
              </a:solidFill>
              <a:latin typeface="Calibri" panose="020F0502020204030204"/>
            </a:endParaRPr>
          </a:p>
        </p:txBody>
      </p:sp>
      <p:sp>
        <p:nvSpPr>
          <p:cNvPr id="2" name="TextBox 12"/>
          <p:cNvSpPr txBox="1"/>
          <p:nvPr/>
        </p:nvSpPr>
        <p:spPr>
          <a:xfrm>
            <a:off x="978535" y="3769995"/>
            <a:ext cx="1889760" cy="398780"/>
          </a:xfrm>
          <a:prstGeom prst="rect">
            <a:avLst/>
          </a:prstGeom>
          <a:noFill/>
        </p:spPr>
        <p:txBody>
          <a:bodyPr wrap="square">
            <a:spAutoFit/>
          </a:bodyPr>
          <a:lstStyle/>
          <a:p>
            <a:pPr algn="l"/>
            <a:r>
              <a:rPr lang="en-US" altLang="en-US" sz="2000" b="1" i="0">
                <a:solidFill>
                  <a:srgbClr val="CC4F1F"/>
                </a:solidFill>
                <a:latin typeface="Calibri" panose="020F0502020204030204"/>
              </a:rPr>
              <a:t>Estimate Cost</a:t>
            </a:r>
            <a:endParaRPr lang="en-US" altLang="en-US" sz="2000" b="1" i="0">
              <a:solidFill>
                <a:srgbClr val="CC4F1F"/>
              </a:solidFill>
              <a:latin typeface="Calibri" panose="020F0502020204030204"/>
            </a:endParaRPr>
          </a:p>
        </p:txBody>
      </p:sp>
      <p:sp>
        <p:nvSpPr>
          <p:cNvPr id="5" name="TextBox 16"/>
          <p:cNvSpPr txBox="1"/>
          <p:nvPr/>
        </p:nvSpPr>
        <p:spPr>
          <a:xfrm>
            <a:off x="635000" y="3779647"/>
            <a:ext cx="495300" cy="398780"/>
          </a:xfrm>
          <a:prstGeom prst="rect">
            <a:avLst/>
          </a:prstGeom>
          <a:noFill/>
        </p:spPr>
        <p:txBody>
          <a:bodyPr wrap="none">
            <a:spAutoFit/>
          </a:bodyPr>
          <a:lstStyle/>
          <a:p>
            <a:r>
              <a:rPr sz="2000" b="1">
                <a:solidFill>
                  <a:srgbClr val="FF6B35"/>
                </a:solidFill>
                <a:latin typeface="Calibri" panose="020F0502020204030204"/>
              </a:rPr>
              <a:t>▸ </a:t>
            </a:r>
            <a:endParaRPr>
              <a:solidFill>
                <a:srgbClr val="2C3E50"/>
              </a:solidFill>
              <a:latin typeface="Calibri" panose="020F0502020204030204"/>
            </a:endParaRPr>
          </a:p>
        </p:txBody>
      </p:sp>
      <p:sp>
        <p:nvSpPr>
          <p:cNvPr id="10" name="TextBox 13"/>
          <p:cNvSpPr txBox="1"/>
          <p:nvPr/>
        </p:nvSpPr>
        <p:spPr>
          <a:xfrm>
            <a:off x="1022985" y="1585594"/>
            <a:ext cx="5029200" cy="398780"/>
          </a:xfrm>
          <a:prstGeom prst="rect">
            <a:avLst/>
          </a:prstGeom>
          <a:noFill/>
        </p:spPr>
        <p:txBody>
          <a:bodyPr wrap="square">
            <a:spAutoFit/>
          </a:bodyPr>
          <a:lstStyle/>
          <a:p>
            <a:pPr algn="l"/>
            <a:r>
              <a:rPr lang="en-US" sz="2000" b="1" i="0">
                <a:solidFill>
                  <a:srgbClr val="CC4F1F"/>
                </a:solidFill>
                <a:latin typeface="Calibri" panose="020F0502020204030204"/>
              </a:rPr>
              <a:t>Context</a:t>
            </a:r>
            <a:endParaRPr lang="en-US" sz="2000" b="1" i="0">
              <a:solidFill>
                <a:srgbClr val="CC4F1F"/>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3300" y="342900"/>
            <a:ext cx="1236345" cy="476250"/>
          </a:xfrm>
          <a:prstGeom prst="rect">
            <a:avLst/>
          </a:prstGeom>
          <a:noFill/>
        </p:spPr>
        <p:txBody>
          <a:bodyPr wrap="none" lIns="0" tIns="0">
            <a:spAutoFit/>
          </a:bodyPr>
          <a:lstStyle/>
          <a:p>
            <a:pPr algn="l"/>
            <a:r>
              <a:rPr lang="en-US" sz="2800" b="1">
                <a:solidFill>
                  <a:schemeClr val="tx1"/>
                </a:solidFill>
                <a:latin typeface="Calibri" panose="020F0502020204030204"/>
              </a:rPr>
              <a:t>Context</a:t>
            </a:r>
            <a:endParaRPr lang="en-US" sz="2800" b="1">
              <a:solidFill>
                <a:schemeClr val="tx1"/>
              </a:solidFill>
              <a:latin typeface="Calibri" panose="020F0502020204030204"/>
            </a:endParaRPr>
          </a:p>
        </p:txBody>
      </p:sp>
      <p:sp>
        <p:nvSpPr>
          <p:cNvPr id="7" name="Rounded Rectangle 6"/>
          <p:cNvSpPr/>
          <p:nvPr/>
        </p:nvSpPr>
        <p:spPr>
          <a:xfrm>
            <a:off x="636905" y="4305935"/>
            <a:ext cx="3438525" cy="1946910"/>
          </a:xfrm>
          <a:prstGeom prst="roundRect">
            <a:avLst>
              <a:gd name="adj" fmla="val 6000"/>
            </a:avLst>
          </a:prstGeom>
          <a:solidFill>
            <a:srgbClr val="FFFFFF"/>
          </a:solidFill>
          <a:ln w="317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26767" y="4452620"/>
            <a:ext cx="1097280" cy="1198880"/>
          </a:xfrm>
          <a:prstGeom prst="rect">
            <a:avLst/>
          </a:prstGeom>
          <a:noFill/>
        </p:spPr>
        <p:txBody>
          <a:bodyPr wrap="none">
            <a:spAutoFit/>
          </a:bodyPr>
          <a:lstStyle/>
          <a:p>
            <a:pPr algn="ctr"/>
            <a:r>
              <a:rPr sz="7200">
                <a:latin typeface="Segoe UI Emoji" panose="020B0502040204020203"/>
              </a:rPr>
              <a:t>⚡</a:t>
            </a:r>
            <a:endParaRPr sz="7200">
              <a:latin typeface="Segoe UI Emoji" panose="020B0502040204020203"/>
            </a:endParaRPr>
          </a:p>
        </p:txBody>
      </p:sp>
      <p:sp>
        <p:nvSpPr>
          <p:cNvPr id="9" name="TextBox 8"/>
          <p:cNvSpPr txBox="1"/>
          <p:nvPr/>
        </p:nvSpPr>
        <p:spPr>
          <a:xfrm>
            <a:off x="1312710" y="5562600"/>
            <a:ext cx="2068195" cy="429895"/>
          </a:xfrm>
          <a:prstGeom prst="rect">
            <a:avLst/>
          </a:prstGeom>
          <a:noFill/>
        </p:spPr>
        <p:txBody>
          <a:bodyPr wrap="none">
            <a:spAutoFit/>
          </a:bodyPr>
          <a:lstStyle/>
          <a:p>
            <a:pPr algn="ctr"/>
            <a:r>
              <a:rPr lang="en-US" sz="2200" b="1">
                <a:solidFill>
                  <a:srgbClr val="C00000"/>
                </a:solidFill>
                <a:latin typeface="Calibri" panose="020F0502020204030204"/>
              </a:rPr>
              <a:t>Response Speed</a:t>
            </a:r>
            <a:endParaRPr lang="en-US" sz="2200" b="1">
              <a:solidFill>
                <a:srgbClr val="C00000"/>
              </a:solidFill>
              <a:latin typeface="Calibri" panose="020F0502020204030204"/>
            </a:endParaRPr>
          </a:p>
        </p:txBody>
      </p:sp>
      <p:sp>
        <p:nvSpPr>
          <p:cNvPr id="11" name="Rounded Rectangle 10"/>
          <p:cNvSpPr/>
          <p:nvPr/>
        </p:nvSpPr>
        <p:spPr>
          <a:xfrm>
            <a:off x="4385945" y="4311015"/>
            <a:ext cx="3465830" cy="1946910"/>
          </a:xfrm>
          <a:prstGeom prst="roundRect">
            <a:avLst>
              <a:gd name="adj" fmla="val 6000"/>
            </a:avLst>
          </a:prstGeom>
          <a:solidFill>
            <a:srgbClr val="FFFFFF"/>
          </a:solidFill>
          <a:ln w="3175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4465320"/>
            <a:ext cx="3474720" cy="914400"/>
          </a:xfrm>
          <a:prstGeom prst="rect">
            <a:avLst/>
          </a:prstGeom>
          <a:noFill/>
        </p:spPr>
        <p:txBody>
          <a:bodyPr wrap="none">
            <a:spAutoFit/>
          </a:bodyPr>
          <a:lstStyle/>
          <a:p>
            <a:pPr algn="ctr"/>
            <a:r>
              <a:rPr sz="5600">
                <a:latin typeface="Segoe UI Emoji" panose="020B0502040204020203"/>
              </a:rPr>
              <a:t>🔒</a:t>
            </a:r>
            <a:endParaRPr sz="5600">
              <a:latin typeface="Segoe UI Emoji" panose="020B0502040204020203"/>
            </a:endParaRPr>
          </a:p>
        </p:txBody>
      </p:sp>
      <p:sp>
        <p:nvSpPr>
          <p:cNvPr id="13" name="TextBox 12"/>
          <p:cNvSpPr txBox="1"/>
          <p:nvPr/>
        </p:nvSpPr>
        <p:spPr>
          <a:xfrm>
            <a:off x="4748694" y="5562600"/>
            <a:ext cx="2694305" cy="429895"/>
          </a:xfrm>
          <a:prstGeom prst="rect">
            <a:avLst/>
          </a:prstGeom>
          <a:noFill/>
        </p:spPr>
        <p:txBody>
          <a:bodyPr wrap="none">
            <a:spAutoFit/>
          </a:bodyPr>
          <a:lstStyle/>
          <a:p>
            <a:pPr algn="ctr"/>
            <a:r>
              <a:rPr lang="en-US" sz="2200" b="1">
                <a:solidFill>
                  <a:srgbClr val="C00000"/>
                </a:solidFill>
                <a:latin typeface="Calibri" panose="020F0502020204030204"/>
              </a:rPr>
              <a:t>Compliance &amp; Privacy</a:t>
            </a:r>
            <a:endParaRPr lang="en-US" sz="2200" b="1">
              <a:solidFill>
                <a:srgbClr val="C00000"/>
              </a:solidFill>
              <a:latin typeface="Calibri" panose="020F0502020204030204"/>
            </a:endParaRPr>
          </a:p>
        </p:txBody>
      </p:sp>
      <p:sp>
        <p:nvSpPr>
          <p:cNvPr id="15" name="Rounded Rectangle 14"/>
          <p:cNvSpPr/>
          <p:nvPr/>
        </p:nvSpPr>
        <p:spPr>
          <a:xfrm>
            <a:off x="8134985" y="4305935"/>
            <a:ext cx="3446780" cy="1946910"/>
          </a:xfrm>
          <a:prstGeom prst="roundRect">
            <a:avLst>
              <a:gd name="adj" fmla="val 6000"/>
            </a:avLst>
          </a:prstGeom>
          <a:solidFill>
            <a:srgbClr val="FFFFFF"/>
          </a:solidFill>
          <a:ln w="3175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527" y="4465320"/>
            <a:ext cx="3474720" cy="914400"/>
          </a:xfrm>
          <a:prstGeom prst="rect">
            <a:avLst/>
          </a:prstGeom>
          <a:noFill/>
        </p:spPr>
        <p:txBody>
          <a:bodyPr wrap="none">
            <a:spAutoFit/>
          </a:bodyPr>
          <a:lstStyle/>
          <a:p>
            <a:pPr algn="ctr"/>
            <a:r>
              <a:rPr sz="5600">
                <a:latin typeface="Segoe UI Emoji" panose="020B0502040204020203"/>
              </a:rPr>
              <a:t>📅</a:t>
            </a:r>
            <a:endParaRPr sz="5600">
              <a:latin typeface="Segoe UI Emoji" panose="020B0502040204020203"/>
            </a:endParaRPr>
          </a:p>
        </p:txBody>
      </p:sp>
      <p:sp>
        <p:nvSpPr>
          <p:cNvPr id="17" name="TextBox 16"/>
          <p:cNvSpPr txBox="1"/>
          <p:nvPr/>
        </p:nvSpPr>
        <p:spPr>
          <a:xfrm>
            <a:off x="8115300" y="5471795"/>
            <a:ext cx="3474720" cy="768350"/>
          </a:xfrm>
          <a:prstGeom prst="rect">
            <a:avLst/>
          </a:prstGeom>
          <a:noFill/>
        </p:spPr>
        <p:txBody>
          <a:bodyPr wrap="square">
            <a:spAutoFit/>
          </a:bodyPr>
          <a:lstStyle/>
          <a:p>
            <a:pPr algn="ctr"/>
            <a:r>
              <a:rPr lang="en-US" sz="2200" b="1">
                <a:solidFill>
                  <a:srgbClr val="C00000"/>
                </a:solidFill>
                <a:latin typeface="Calibri" panose="020F0502020204030204"/>
              </a:rPr>
              <a:t>Data </a:t>
            </a:r>
            <a:r>
              <a:rPr sz="2200" b="1">
                <a:solidFill>
                  <a:srgbClr val="C00000"/>
                </a:solidFill>
                <a:latin typeface="Calibri" panose="020F0502020204030204"/>
              </a:rPr>
              <a:t>Freshnes</a:t>
            </a:r>
            <a:r>
              <a:rPr lang="en-US" sz="2200" b="1">
                <a:solidFill>
                  <a:srgbClr val="C00000"/>
                </a:solidFill>
                <a:latin typeface="Calibri" panose="020F0502020204030204"/>
              </a:rPr>
              <a:t>s</a:t>
            </a:r>
            <a:endParaRPr lang="en-US" sz="2200" b="1">
              <a:solidFill>
                <a:srgbClr val="C00000"/>
              </a:solidFill>
              <a:latin typeface="Calibri" panose="020F0502020204030204"/>
            </a:endParaRPr>
          </a:p>
          <a:p>
            <a:pPr algn="ctr"/>
            <a:r>
              <a:rPr lang="en-US" sz="2200" b="1">
                <a:solidFill>
                  <a:srgbClr val="C00000"/>
                </a:solidFill>
                <a:latin typeface="Calibri" panose="020F0502020204030204"/>
                <a:sym typeface="+mn-ea"/>
              </a:rPr>
              <a:t>&amp; </a:t>
            </a:r>
            <a:r>
              <a:rPr lang="en-US" sz="2200" b="1">
                <a:solidFill>
                  <a:srgbClr val="C00000"/>
                </a:solidFill>
                <a:latin typeface="Calibri" panose="020F0502020204030204"/>
              </a:rPr>
              <a:t>Inconsistancy</a:t>
            </a:r>
            <a:endParaRPr lang="en-US" sz="2200" b="1">
              <a:solidFill>
                <a:srgbClr val="C00000"/>
              </a:solidFill>
              <a:latin typeface="Calibri" panose="020F0502020204030204"/>
            </a:endParaRPr>
          </a:p>
        </p:txBody>
      </p:sp>
      <p:pic>
        <p:nvPicPr>
          <p:cNvPr id="32" name="Picture 31"/>
          <p:cNvPicPr/>
          <p:nvPr/>
        </p:nvPicPr>
        <p:blipFill>
          <a:blip r:embed="rId1"/>
          <a:srcRect b="44076"/>
          <a:stretch>
            <a:fillRect/>
          </a:stretch>
        </p:blipFill>
        <p:spPr>
          <a:xfrm>
            <a:off x="10314940" y="360045"/>
            <a:ext cx="1006475" cy="337185"/>
          </a:xfrm>
          <a:prstGeom prst="rect">
            <a:avLst/>
          </a:prstGeom>
        </p:spPr>
      </p:pic>
      <p:pic>
        <p:nvPicPr>
          <p:cNvPr id="35" name="Picture 34"/>
          <p:cNvPicPr/>
          <p:nvPr/>
        </p:nvPicPr>
        <p:blipFill>
          <a:blip r:embed="rId1"/>
          <a:srcRect t="56793"/>
          <a:stretch>
            <a:fillRect/>
          </a:stretch>
        </p:blipFill>
        <p:spPr>
          <a:xfrm>
            <a:off x="10993120" y="464185"/>
            <a:ext cx="1005840" cy="260350"/>
          </a:xfrm>
          <a:prstGeom prst="rect">
            <a:avLst/>
          </a:prstGeom>
        </p:spPr>
      </p:pic>
      <p:sp>
        <p:nvSpPr>
          <p:cNvPr id="24" name="Rounded Rectangle 23"/>
          <p:cNvSpPr/>
          <p:nvPr/>
        </p:nvSpPr>
        <p:spPr>
          <a:xfrm>
            <a:off x="608965" y="962025"/>
            <a:ext cx="10973435" cy="1188720"/>
          </a:xfrm>
          <a:prstGeom prst="roundRect">
            <a:avLst>
              <a:gd name="adj" fmla="val 6000"/>
            </a:avLst>
          </a:prstGeom>
          <a:solidFill>
            <a:srgbClr val="FFFFFF"/>
          </a:solidFill>
          <a:ln w="2540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8965" y="1000125"/>
            <a:ext cx="10982325" cy="402590"/>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12"/>
          <p:cNvSpPr txBox="1"/>
          <p:nvPr/>
        </p:nvSpPr>
        <p:spPr>
          <a:xfrm>
            <a:off x="610235" y="1499235"/>
            <a:ext cx="10980420" cy="398780"/>
          </a:xfrm>
          <a:prstGeom prst="rect">
            <a:avLst/>
          </a:prstGeom>
          <a:noFill/>
        </p:spPr>
        <p:txBody>
          <a:bodyPr wrap="square">
            <a:spAutoFit/>
          </a:bodyPr>
          <a:lstStyle/>
          <a:p>
            <a:pPr algn="ctr"/>
            <a:r>
              <a:rPr lang="en-US" altLang="en-US" sz="2000" b="0" i="0">
                <a:solidFill>
                  <a:srgbClr val="2C3E50"/>
                </a:solidFill>
                <a:latin typeface="Calibri" panose="020F0502020204030204"/>
              </a:rPr>
              <a:t>Flagship clinical support tool struggling to meet physician expectations for speed &amp; medical relevance </a:t>
            </a:r>
            <a:endParaRPr lang="en-US" altLang="en-US" sz="2000" b="0" i="0">
              <a:solidFill>
                <a:srgbClr val="2C3E50"/>
              </a:solidFill>
              <a:latin typeface="Calibri" panose="020F0502020204030204"/>
            </a:endParaRPr>
          </a:p>
        </p:txBody>
      </p:sp>
      <p:sp>
        <p:nvSpPr>
          <p:cNvPr id="28" name="Rounded Rectangle 27"/>
          <p:cNvSpPr/>
          <p:nvPr/>
        </p:nvSpPr>
        <p:spPr>
          <a:xfrm>
            <a:off x="609600" y="955040"/>
            <a:ext cx="10972800" cy="402590"/>
          </a:xfrm>
          <a:prstGeom prst="round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a:p>
            <a:endParaRPr lang="en-US"/>
          </a:p>
        </p:txBody>
      </p:sp>
      <p:sp>
        <p:nvSpPr>
          <p:cNvPr id="31" name="TextBox 11"/>
          <p:cNvSpPr txBox="1"/>
          <p:nvPr/>
        </p:nvSpPr>
        <p:spPr>
          <a:xfrm>
            <a:off x="579120" y="992505"/>
            <a:ext cx="11002645" cy="398780"/>
          </a:xfrm>
          <a:prstGeom prst="rect">
            <a:avLst/>
          </a:prstGeom>
          <a:noFill/>
        </p:spPr>
        <p:txBody>
          <a:bodyPr wrap="square">
            <a:spAutoFit/>
          </a:bodyPr>
          <a:lstStyle/>
          <a:p>
            <a:pPr algn="ctr"/>
            <a:r>
              <a:rPr lang="en-US" sz="2000" b="1" i="0">
                <a:solidFill>
                  <a:srgbClr val="FFFFFF"/>
                </a:solidFill>
                <a:latin typeface="Calibri" panose="020F0502020204030204"/>
              </a:rPr>
              <a:t>Customer’s c</a:t>
            </a:r>
            <a:r>
              <a:rPr sz="2000" b="1" i="0">
                <a:solidFill>
                  <a:srgbClr val="FFFFFF"/>
                </a:solidFill>
                <a:latin typeface="Calibri" panose="020F0502020204030204"/>
              </a:rPr>
              <a:t>hallenge</a:t>
            </a:r>
            <a:endParaRPr lang="en-US" sz="2000" b="1" i="0">
              <a:solidFill>
                <a:srgbClr val="FFFFFF"/>
              </a:solidFill>
              <a:latin typeface="Calibri" panose="020F0502020204030204"/>
            </a:endParaRPr>
          </a:p>
        </p:txBody>
      </p:sp>
      <p:sp>
        <p:nvSpPr>
          <p:cNvPr id="34" name="TextBox 12"/>
          <p:cNvSpPr txBox="1"/>
          <p:nvPr/>
        </p:nvSpPr>
        <p:spPr>
          <a:xfrm>
            <a:off x="635000" y="3799840"/>
            <a:ext cx="1889760" cy="398780"/>
          </a:xfrm>
          <a:prstGeom prst="rect">
            <a:avLst/>
          </a:prstGeom>
          <a:noFill/>
        </p:spPr>
        <p:txBody>
          <a:bodyPr wrap="square">
            <a:spAutoFit/>
          </a:bodyPr>
          <a:lstStyle/>
          <a:p>
            <a:pPr algn="l"/>
            <a:r>
              <a:rPr lang="en-US" altLang="en-US" sz="2000" b="1" i="0">
                <a:solidFill>
                  <a:srgbClr val="CC4F1F"/>
                </a:solidFill>
                <a:latin typeface="Calibri" panose="020F0502020204030204"/>
              </a:rPr>
              <a:t>Requirements:</a:t>
            </a:r>
            <a:endParaRPr lang="en-US" altLang="en-US" sz="2000" b="1" i="0">
              <a:solidFill>
                <a:srgbClr val="CC4F1F"/>
              </a:solidFill>
              <a:latin typeface="Calibri" panose="020F0502020204030204"/>
            </a:endParaRPr>
          </a:p>
        </p:txBody>
      </p:sp>
      <p:sp>
        <p:nvSpPr>
          <p:cNvPr id="36" name="TextBox 13"/>
          <p:cNvSpPr txBox="1"/>
          <p:nvPr/>
        </p:nvSpPr>
        <p:spPr>
          <a:xfrm>
            <a:off x="641985" y="2324734"/>
            <a:ext cx="5029200" cy="398780"/>
          </a:xfrm>
          <a:prstGeom prst="rect">
            <a:avLst/>
          </a:prstGeom>
          <a:noFill/>
        </p:spPr>
        <p:txBody>
          <a:bodyPr wrap="square">
            <a:spAutoFit/>
          </a:bodyPr>
          <a:lstStyle/>
          <a:p>
            <a:pPr algn="l"/>
            <a:r>
              <a:rPr lang="en-US" sz="2000" b="1" i="0">
                <a:solidFill>
                  <a:srgbClr val="CC4F1F"/>
                </a:solidFill>
                <a:latin typeface="Calibri" panose="020F0502020204030204"/>
              </a:rPr>
              <a:t>Solution: a Gen-AI assistant that can</a:t>
            </a:r>
            <a:endParaRPr lang="en-US" sz="2000" b="1" i="0">
              <a:solidFill>
                <a:srgbClr val="CC4F1F"/>
              </a:solidFill>
              <a:latin typeface="Calibri" panose="020F0502020204030204"/>
            </a:endParaRPr>
          </a:p>
        </p:txBody>
      </p:sp>
      <p:sp>
        <p:nvSpPr>
          <p:cNvPr id="37" name="TextBox 14"/>
          <p:cNvSpPr txBox="1"/>
          <p:nvPr/>
        </p:nvSpPr>
        <p:spPr>
          <a:xfrm>
            <a:off x="635000" y="2680208"/>
            <a:ext cx="5574665" cy="398780"/>
          </a:xfrm>
          <a:prstGeom prst="rect">
            <a:avLst/>
          </a:prstGeom>
          <a:noFill/>
        </p:spPr>
        <p:txBody>
          <a:bodyPr wrap="none">
            <a:spAutoFit/>
          </a:bodyPr>
          <a:lstStyle/>
          <a:p>
            <a:r>
              <a:rPr sz="2000" b="1">
                <a:solidFill>
                  <a:srgbClr val="FF6B35"/>
                </a:solidFill>
                <a:latin typeface="Calibri" panose="020F0502020204030204"/>
              </a:rPr>
              <a:t>▸ </a:t>
            </a:r>
            <a:r>
              <a:rPr>
                <a:solidFill>
                  <a:srgbClr val="2C3E50"/>
                </a:solidFill>
                <a:latin typeface="Calibri" panose="020F0502020204030204"/>
              </a:rPr>
              <a:t>Answer complex medical questions in natural language</a:t>
            </a:r>
            <a:endParaRPr>
              <a:solidFill>
                <a:srgbClr val="2C3E50"/>
              </a:solidFill>
              <a:latin typeface="Calibri" panose="020F0502020204030204"/>
            </a:endParaRPr>
          </a:p>
        </p:txBody>
      </p:sp>
      <p:sp>
        <p:nvSpPr>
          <p:cNvPr id="38" name="TextBox 15"/>
          <p:cNvSpPr txBox="1"/>
          <p:nvPr/>
        </p:nvSpPr>
        <p:spPr>
          <a:xfrm>
            <a:off x="635000" y="3027680"/>
            <a:ext cx="6057265" cy="398780"/>
          </a:xfrm>
          <a:prstGeom prst="rect">
            <a:avLst/>
          </a:prstGeom>
          <a:noFill/>
        </p:spPr>
        <p:txBody>
          <a:bodyPr wrap="none">
            <a:spAutoFit/>
          </a:bodyPr>
          <a:lstStyle/>
          <a:p>
            <a:r>
              <a:rPr sz="2000" b="1">
                <a:solidFill>
                  <a:srgbClr val="FF6B35"/>
                </a:solidFill>
                <a:latin typeface="Calibri" panose="020F0502020204030204"/>
              </a:rPr>
              <a:t>▸ </a:t>
            </a:r>
            <a:r>
              <a:rPr>
                <a:solidFill>
                  <a:srgbClr val="2C3E50"/>
                </a:solidFill>
                <a:latin typeface="Calibri" panose="020F0502020204030204"/>
              </a:rPr>
              <a:t>Rely on internal trials, treatment protocols, </a:t>
            </a:r>
            <a:r>
              <a:rPr lang="en-US">
                <a:solidFill>
                  <a:srgbClr val="2C3E50"/>
                </a:solidFill>
                <a:latin typeface="Calibri" panose="020F0502020204030204"/>
              </a:rPr>
              <a:t>external sources</a:t>
            </a:r>
            <a:endParaRPr lang="en-US">
              <a:solidFill>
                <a:srgbClr val="2C3E50"/>
              </a:solidFill>
              <a:latin typeface="Calibri" panose="020F0502020204030204"/>
            </a:endParaRPr>
          </a:p>
        </p:txBody>
      </p:sp>
      <p:sp>
        <p:nvSpPr>
          <p:cNvPr id="39" name="TextBox 16"/>
          <p:cNvSpPr txBox="1"/>
          <p:nvPr/>
        </p:nvSpPr>
        <p:spPr>
          <a:xfrm>
            <a:off x="635000" y="3375152"/>
            <a:ext cx="5521325" cy="398780"/>
          </a:xfrm>
          <a:prstGeom prst="rect">
            <a:avLst/>
          </a:prstGeom>
          <a:noFill/>
        </p:spPr>
        <p:txBody>
          <a:bodyPr wrap="none">
            <a:spAutoFit/>
          </a:bodyPr>
          <a:lstStyle/>
          <a:p>
            <a:r>
              <a:rPr sz="2000" b="1">
                <a:solidFill>
                  <a:srgbClr val="FF6B35"/>
                </a:solidFill>
                <a:latin typeface="Calibri" panose="020F0502020204030204"/>
              </a:rPr>
              <a:t>▸ </a:t>
            </a:r>
            <a:r>
              <a:rPr>
                <a:solidFill>
                  <a:srgbClr val="2C3E50"/>
                </a:solidFill>
                <a:latin typeface="Calibri" panose="020F0502020204030204"/>
              </a:rPr>
              <a:t>Be auditable, compliant, and fast enough for diagnosis</a:t>
            </a:r>
            <a:endParaRPr>
              <a:solidFill>
                <a:srgbClr val="2C3E50"/>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ounded Rectangle 6"/>
          <p:cNvSpPr/>
          <p:nvPr/>
        </p:nvSpPr>
        <p:spPr>
          <a:xfrm>
            <a:off x="472287" y="1280160"/>
            <a:ext cx="2743200" cy="3657600"/>
          </a:xfrm>
          <a:prstGeom prst="roundRect">
            <a:avLst>
              <a:gd name="adj" fmla="val 5000"/>
            </a:avLst>
          </a:prstGeom>
          <a:solidFill>
            <a:srgbClr val="FFFFFF"/>
          </a:solidFill>
          <a:ln w="2540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2287" y="1280160"/>
            <a:ext cx="2743200" cy="777240"/>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287" y="1325880"/>
            <a:ext cx="2743200" cy="777240"/>
          </a:xfrm>
          <a:prstGeom prst="rect">
            <a:avLst/>
          </a:prstGeom>
          <a:noFill/>
        </p:spPr>
        <p:txBody>
          <a:bodyPr wrap="none">
            <a:spAutoFit/>
          </a:bodyPr>
          <a:lstStyle/>
          <a:p>
            <a:pPr algn="ctr"/>
            <a:r>
              <a:rPr sz="2000" b="1">
                <a:solidFill>
                  <a:srgbClr val="FFFFFF"/>
                </a:solidFill>
                <a:latin typeface="Calibri" panose="020F0502020204030204"/>
              </a:rPr>
              <a:t>PDPA</a:t>
            </a:r>
            <a:endParaRPr sz="2000" b="1">
              <a:solidFill>
                <a:srgbClr val="FFFFFF"/>
              </a:solidFill>
              <a:latin typeface="Calibri" panose="020F0502020204030204"/>
            </a:endParaRPr>
          </a:p>
          <a:p>
            <a:pPr algn="ctr"/>
            <a:r>
              <a:rPr sz="1000">
                <a:solidFill>
                  <a:srgbClr val="FFFFFF"/>
                </a:solidFill>
                <a:latin typeface="Calibri" panose="020F0502020204030204"/>
              </a:rPr>
              <a:t>Personal Data Protection Act</a:t>
            </a:r>
            <a:endParaRPr sz="1000">
              <a:solidFill>
                <a:srgbClr val="FFFFFF"/>
              </a:solidFill>
              <a:latin typeface="Calibri" panose="020F0502020204030204"/>
            </a:endParaRPr>
          </a:p>
        </p:txBody>
      </p:sp>
      <p:sp>
        <p:nvSpPr>
          <p:cNvPr id="10" name="TextBox 9"/>
          <p:cNvSpPr txBox="1"/>
          <p:nvPr/>
        </p:nvSpPr>
        <p:spPr>
          <a:xfrm>
            <a:off x="609447" y="2148840"/>
            <a:ext cx="2468880" cy="457200"/>
          </a:xfrm>
          <a:prstGeom prst="rect">
            <a:avLst/>
          </a:prstGeom>
          <a:noFill/>
        </p:spPr>
        <p:txBody>
          <a:bodyPr wrap="square">
            <a:spAutoFit/>
          </a:bodyPr>
          <a:lstStyle/>
          <a:p>
            <a:r>
              <a:rPr sz="900" b="1">
                <a:solidFill>
                  <a:srgbClr val="CC4F1F"/>
                </a:solidFill>
                <a:latin typeface="Calibri" panose="020F0502020204030204"/>
              </a:rPr>
              <a:t>Authority</a:t>
            </a:r>
            <a:endParaRPr sz="900" b="1">
              <a:solidFill>
                <a:srgbClr val="CC4F1F"/>
              </a:solidFill>
              <a:latin typeface="Calibri" panose="020F0502020204030204"/>
            </a:endParaRPr>
          </a:p>
          <a:p>
            <a:r>
              <a:rPr sz="1000">
                <a:solidFill>
                  <a:srgbClr val="2C3E50"/>
                </a:solidFill>
                <a:latin typeface="Calibri" panose="020F0502020204030204"/>
              </a:rPr>
              <a:t>PDPC (Personal Data Protection Commission)</a:t>
            </a:r>
            <a:endParaRPr sz="1000">
              <a:solidFill>
                <a:srgbClr val="2C3E50"/>
              </a:solidFill>
              <a:latin typeface="Calibri" panose="020F0502020204030204"/>
            </a:endParaRPr>
          </a:p>
        </p:txBody>
      </p:sp>
      <p:sp>
        <p:nvSpPr>
          <p:cNvPr id="11" name="TextBox 10"/>
          <p:cNvSpPr txBox="1"/>
          <p:nvPr/>
        </p:nvSpPr>
        <p:spPr>
          <a:xfrm>
            <a:off x="609447" y="3017520"/>
            <a:ext cx="2468880" cy="1005840"/>
          </a:xfrm>
          <a:prstGeom prst="rect">
            <a:avLst/>
          </a:prstGeom>
          <a:noFill/>
        </p:spPr>
        <p:txBody>
          <a:bodyPr wrap="square">
            <a:spAutoFit/>
          </a:bodyPr>
          <a:lstStyle/>
          <a:p>
            <a:r>
              <a:rPr sz="900" b="1">
                <a:solidFill>
                  <a:srgbClr val="CC4F1F"/>
                </a:solidFill>
                <a:latin typeface="Calibri" panose="020F0502020204030204"/>
              </a:rPr>
              <a:t>Scope</a:t>
            </a:r>
            <a:endParaRPr sz="900" b="1">
              <a:solidFill>
                <a:srgbClr val="CC4F1F"/>
              </a:solidFill>
              <a:latin typeface="Calibri" panose="020F0502020204030204"/>
            </a:endParaRPr>
          </a:p>
          <a:p>
            <a:r>
              <a:rPr sz="1000">
                <a:solidFill>
                  <a:srgbClr val="2C3E50"/>
                </a:solidFill>
                <a:latin typeface="Calibri" panose="020F0502020204030204"/>
              </a:rPr>
              <a:t>Patient data protection, consent, breach notification within 72 hours</a:t>
            </a:r>
            <a:endParaRPr sz="1000">
              <a:solidFill>
                <a:srgbClr val="2C3E50"/>
              </a:solidFill>
              <a:latin typeface="Calibri" panose="020F0502020204030204"/>
            </a:endParaRPr>
          </a:p>
        </p:txBody>
      </p:sp>
      <p:sp>
        <p:nvSpPr>
          <p:cNvPr id="12" name="TextBox 11"/>
          <p:cNvSpPr txBox="1"/>
          <p:nvPr/>
        </p:nvSpPr>
        <p:spPr>
          <a:xfrm>
            <a:off x="609447" y="4069080"/>
            <a:ext cx="2468880" cy="822960"/>
          </a:xfrm>
          <a:prstGeom prst="rect">
            <a:avLst/>
          </a:prstGeom>
          <a:noFill/>
        </p:spPr>
        <p:txBody>
          <a:bodyPr wrap="square">
            <a:spAutoFit/>
          </a:bodyPr>
          <a:lstStyle/>
          <a:p>
            <a:r>
              <a:rPr sz="900" b="1">
                <a:solidFill>
                  <a:srgbClr val="27AE60"/>
                </a:solidFill>
                <a:latin typeface="Calibri" panose="020F0502020204030204"/>
              </a:rPr>
              <a:t>Our Implementation</a:t>
            </a:r>
            <a:endParaRPr sz="900" b="1">
              <a:solidFill>
                <a:srgbClr val="27AE60"/>
              </a:solidFill>
              <a:latin typeface="Calibri" panose="020F0502020204030204"/>
            </a:endParaRPr>
          </a:p>
          <a:p>
            <a:r>
              <a:rPr sz="1000">
                <a:solidFill>
                  <a:srgbClr val="2C3E50"/>
                </a:solidFill>
                <a:latin typeface="Calibri" panose="020F0502020204030204"/>
              </a:rPr>
              <a:t>Comprehend Medical PHI mask, KMS per-tenant CMK, audit trail</a:t>
            </a:r>
            <a:endParaRPr sz="1000">
              <a:solidFill>
                <a:srgbClr val="2C3E50"/>
              </a:solidFill>
              <a:latin typeface="Calibri" panose="020F0502020204030204"/>
            </a:endParaRPr>
          </a:p>
        </p:txBody>
      </p:sp>
      <p:sp>
        <p:nvSpPr>
          <p:cNvPr id="13" name="Rounded Rectangle 12"/>
          <p:cNvSpPr/>
          <p:nvPr/>
        </p:nvSpPr>
        <p:spPr>
          <a:xfrm>
            <a:off x="3306927" y="1280160"/>
            <a:ext cx="2743200" cy="3657600"/>
          </a:xfrm>
          <a:prstGeom prst="roundRect">
            <a:avLst>
              <a:gd name="adj" fmla="val 5000"/>
            </a:avLst>
          </a:prstGeom>
          <a:solidFill>
            <a:srgbClr val="FFFFF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06927" y="1280160"/>
            <a:ext cx="2743200" cy="77724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06927" y="1325880"/>
            <a:ext cx="2743200" cy="777240"/>
          </a:xfrm>
          <a:prstGeom prst="rect">
            <a:avLst/>
          </a:prstGeom>
          <a:noFill/>
        </p:spPr>
        <p:txBody>
          <a:bodyPr wrap="none">
            <a:spAutoFit/>
          </a:bodyPr>
          <a:lstStyle/>
          <a:p>
            <a:pPr algn="ctr"/>
            <a:r>
              <a:rPr sz="2000" b="1">
                <a:solidFill>
                  <a:srgbClr val="FFFFFF"/>
                </a:solidFill>
                <a:latin typeface="Calibri" panose="020F0502020204030204"/>
              </a:rPr>
              <a:t>HCSA</a:t>
            </a:r>
            <a:endParaRPr sz="2000" b="1">
              <a:solidFill>
                <a:srgbClr val="FFFFFF"/>
              </a:solidFill>
              <a:latin typeface="Calibri" panose="020F0502020204030204"/>
            </a:endParaRPr>
          </a:p>
          <a:p>
            <a:pPr algn="ctr"/>
            <a:r>
              <a:rPr sz="1000">
                <a:solidFill>
                  <a:srgbClr val="FFFFFF"/>
                </a:solidFill>
                <a:latin typeface="Calibri" panose="020F0502020204030204"/>
              </a:rPr>
              <a:t>Healthcare Services Act 2020</a:t>
            </a:r>
            <a:endParaRPr sz="1000">
              <a:solidFill>
                <a:srgbClr val="FFFFFF"/>
              </a:solidFill>
              <a:latin typeface="Calibri" panose="020F0502020204030204"/>
            </a:endParaRPr>
          </a:p>
        </p:txBody>
      </p:sp>
      <p:sp>
        <p:nvSpPr>
          <p:cNvPr id="16" name="TextBox 15"/>
          <p:cNvSpPr txBox="1"/>
          <p:nvPr/>
        </p:nvSpPr>
        <p:spPr>
          <a:xfrm>
            <a:off x="3444087" y="2148840"/>
            <a:ext cx="2468880" cy="457200"/>
          </a:xfrm>
          <a:prstGeom prst="rect">
            <a:avLst/>
          </a:prstGeom>
          <a:noFill/>
        </p:spPr>
        <p:txBody>
          <a:bodyPr wrap="square">
            <a:spAutoFit/>
          </a:bodyPr>
          <a:lstStyle/>
          <a:p>
            <a:r>
              <a:rPr sz="900" b="1">
                <a:solidFill>
                  <a:srgbClr val="CC4F1F"/>
                </a:solidFill>
                <a:latin typeface="Calibri" panose="020F0502020204030204"/>
              </a:rPr>
              <a:t>Authority</a:t>
            </a:r>
            <a:endParaRPr sz="900" b="1">
              <a:solidFill>
                <a:srgbClr val="CC4F1F"/>
              </a:solidFill>
              <a:latin typeface="Calibri" panose="020F0502020204030204"/>
            </a:endParaRPr>
          </a:p>
          <a:p>
            <a:r>
              <a:rPr sz="1000">
                <a:solidFill>
                  <a:srgbClr val="2C3E50"/>
                </a:solidFill>
                <a:latin typeface="Calibri" panose="020F0502020204030204"/>
              </a:rPr>
              <a:t>MOH (Ministry of Health)</a:t>
            </a:r>
            <a:endParaRPr sz="1000">
              <a:solidFill>
                <a:srgbClr val="2C3E50"/>
              </a:solidFill>
              <a:latin typeface="Calibri" panose="020F0502020204030204"/>
            </a:endParaRPr>
          </a:p>
        </p:txBody>
      </p:sp>
      <p:sp>
        <p:nvSpPr>
          <p:cNvPr id="17" name="TextBox 16"/>
          <p:cNvSpPr txBox="1"/>
          <p:nvPr/>
        </p:nvSpPr>
        <p:spPr>
          <a:xfrm>
            <a:off x="3444087" y="3017520"/>
            <a:ext cx="2468880" cy="1005840"/>
          </a:xfrm>
          <a:prstGeom prst="rect">
            <a:avLst/>
          </a:prstGeom>
          <a:noFill/>
        </p:spPr>
        <p:txBody>
          <a:bodyPr wrap="square">
            <a:spAutoFit/>
          </a:bodyPr>
          <a:lstStyle/>
          <a:p>
            <a:r>
              <a:rPr sz="900" b="1">
                <a:solidFill>
                  <a:srgbClr val="CC4F1F"/>
                </a:solidFill>
                <a:latin typeface="Calibri" panose="020F0502020204030204"/>
              </a:rPr>
              <a:t>Scope</a:t>
            </a:r>
            <a:endParaRPr sz="900" b="1">
              <a:solidFill>
                <a:srgbClr val="CC4F1F"/>
              </a:solidFill>
              <a:latin typeface="Calibri" panose="020F0502020204030204"/>
            </a:endParaRPr>
          </a:p>
          <a:p>
            <a:r>
              <a:rPr sz="1000">
                <a:solidFill>
                  <a:srgbClr val="2C3E50"/>
                </a:solidFill>
                <a:latin typeface="Calibri" panose="020F0502020204030204"/>
              </a:rPr>
              <a:t>Licensing for clinical decision support, replaces PHMC 1980</a:t>
            </a:r>
            <a:endParaRPr sz="1000">
              <a:solidFill>
                <a:srgbClr val="2C3E50"/>
              </a:solidFill>
              <a:latin typeface="Calibri" panose="020F0502020204030204"/>
            </a:endParaRPr>
          </a:p>
        </p:txBody>
      </p:sp>
      <p:sp>
        <p:nvSpPr>
          <p:cNvPr id="18" name="TextBox 17"/>
          <p:cNvSpPr txBox="1"/>
          <p:nvPr/>
        </p:nvSpPr>
        <p:spPr>
          <a:xfrm>
            <a:off x="3444087" y="4069080"/>
            <a:ext cx="2468880" cy="822960"/>
          </a:xfrm>
          <a:prstGeom prst="rect">
            <a:avLst/>
          </a:prstGeom>
          <a:noFill/>
        </p:spPr>
        <p:txBody>
          <a:bodyPr wrap="square">
            <a:spAutoFit/>
          </a:bodyPr>
          <a:lstStyle/>
          <a:p>
            <a:r>
              <a:rPr sz="900" b="1">
                <a:solidFill>
                  <a:srgbClr val="27AE60"/>
                </a:solidFill>
                <a:latin typeface="Calibri" panose="020F0502020204030204"/>
              </a:rPr>
              <a:t>Our Implementation</a:t>
            </a:r>
            <a:endParaRPr sz="900" b="1">
              <a:solidFill>
                <a:srgbClr val="27AE60"/>
              </a:solidFill>
              <a:latin typeface="Calibri" panose="020F0502020204030204"/>
            </a:endParaRPr>
          </a:p>
          <a:p>
            <a:r>
              <a:rPr sz="1000">
                <a:solidFill>
                  <a:srgbClr val="2C3E50"/>
                </a:solidFill>
                <a:latin typeface="Calibri" panose="020F0502020204030204"/>
              </a:rPr>
              <a:t>Decision support only with human-in-the-loop, audit ready</a:t>
            </a:r>
            <a:endParaRPr sz="1000">
              <a:solidFill>
                <a:srgbClr val="2C3E50"/>
              </a:solidFill>
              <a:latin typeface="Calibri" panose="020F0502020204030204"/>
            </a:endParaRPr>
          </a:p>
        </p:txBody>
      </p:sp>
      <p:sp>
        <p:nvSpPr>
          <p:cNvPr id="19" name="Rounded Rectangle 18"/>
          <p:cNvSpPr/>
          <p:nvPr/>
        </p:nvSpPr>
        <p:spPr>
          <a:xfrm>
            <a:off x="6141567" y="1280160"/>
            <a:ext cx="2743200" cy="3657600"/>
          </a:xfrm>
          <a:prstGeom prst="roundRect">
            <a:avLst>
              <a:gd name="adj" fmla="val 5000"/>
            </a:avLst>
          </a:prstGeom>
          <a:solidFill>
            <a:srgbClr val="FFFFFF"/>
          </a:solidFill>
          <a:ln w="2540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1567" y="1280160"/>
            <a:ext cx="2743200" cy="777240"/>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1567" y="1325880"/>
            <a:ext cx="2743200" cy="777240"/>
          </a:xfrm>
          <a:prstGeom prst="rect">
            <a:avLst/>
          </a:prstGeom>
          <a:noFill/>
        </p:spPr>
        <p:txBody>
          <a:bodyPr wrap="none">
            <a:spAutoFit/>
          </a:bodyPr>
          <a:lstStyle/>
          <a:p>
            <a:pPr algn="ctr"/>
            <a:r>
              <a:rPr sz="2000" b="1">
                <a:solidFill>
                  <a:srgbClr val="FFFFFF"/>
                </a:solidFill>
                <a:latin typeface="Calibri" panose="020F0502020204030204"/>
              </a:rPr>
              <a:t>Cybersecurity Act</a:t>
            </a:r>
            <a:endParaRPr sz="2000" b="1">
              <a:solidFill>
                <a:srgbClr val="FFFFFF"/>
              </a:solidFill>
              <a:latin typeface="Calibri" panose="020F0502020204030204"/>
            </a:endParaRPr>
          </a:p>
          <a:p>
            <a:pPr algn="ctr"/>
            <a:r>
              <a:rPr sz="1000">
                <a:solidFill>
                  <a:srgbClr val="FFFFFF"/>
                </a:solidFill>
                <a:latin typeface="Calibri" panose="020F0502020204030204"/>
              </a:rPr>
              <a:t>Critical Info Infrastructure 2018</a:t>
            </a:r>
            <a:endParaRPr sz="1000">
              <a:solidFill>
                <a:srgbClr val="FFFFFF"/>
              </a:solidFill>
              <a:latin typeface="Calibri" panose="020F0502020204030204"/>
            </a:endParaRPr>
          </a:p>
        </p:txBody>
      </p:sp>
      <p:sp>
        <p:nvSpPr>
          <p:cNvPr id="22" name="TextBox 21"/>
          <p:cNvSpPr txBox="1"/>
          <p:nvPr/>
        </p:nvSpPr>
        <p:spPr>
          <a:xfrm>
            <a:off x="6278727" y="2148840"/>
            <a:ext cx="2468880" cy="457200"/>
          </a:xfrm>
          <a:prstGeom prst="rect">
            <a:avLst/>
          </a:prstGeom>
          <a:noFill/>
        </p:spPr>
        <p:txBody>
          <a:bodyPr wrap="square">
            <a:spAutoFit/>
          </a:bodyPr>
          <a:lstStyle/>
          <a:p>
            <a:r>
              <a:rPr sz="900" b="1">
                <a:solidFill>
                  <a:srgbClr val="CC4F1F"/>
                </a:solidFill>
                <a:latin typeface="Calibri" panose="020F0502020204030204"/>
              </a:rPr>
              <a:t>Authority</a:t>
            </a:r>
            <a:endParaRPr sz="900" b="1">
              <a:solidFill>
                <a:srgbClr val="CC4F1F"/>
              </a:solidFill>
              <a:latin typeface="Calibri" panose="020F0502020204030204"/>
            </a:endParaRPr>
          </a:p>
          <a:p>
            <a:r>
              <a:rPr sz="1000">
                <a:solidFill>
                  <a:srgbClr val="2C3E50"/>
                </a:solidFill>
                <a:latin typeface="Calibri" panose="020F0502020204030204"/>
              </a:rPr>
              <a:t>CSA (Cyber Security Agency)</a:t>
            </a:r>
            <a:endParaRPr sz="1000">
              <a:solidFill>
                <a:srgbClr val="2C3E50"/>
              </a:solidFill>
              <a:latin typeface="Calibri" panose="020F0502020204030204"/>
            </a:endParaRPr>
          </a:p>
        </p:txBody>
      </p:sp>
      <p:sp>
        <p:nvSpPr>
          <p:cNvPr id="23" name="TextBox 22"/>
          <p:cNvSpPr txBox="1"/>
          <p:nvPr/>
        </p:nvSpPr>
        <p:spPr>
          <a:xfrm>
            <a:off x="6278727" y="3017520"/>
            <a:ext cx="2468880" cy="1005840"/>
          </a:xfrm>
          <a:prstGeom prst="rect">
            <a:avLst/>
          </a:prstGeom>
          <a:noFill/>
        </p:spPr>
        <p:txBody>
          <a:bodyPr wrap="square">
            <a:spAutoFit/>
          </a:bodyPr>
          <a:lstStyle/>
          <a:p>
            <a:r>
              <a:rPr sz="900" b="1">
                <a:solidFill>
                  <a:srgbClr val="CC4F1F"/>
                </a:solidFill>
                <a:latin typeface="Calibri" panose="020F0502020204030204"/>
              </a:rPr>
              <a:t>Scope</a:t>
            </a:r>
            <a:endParaRPr sz="900" b="1">
              <a:solidFill>
                <a:srgbClr val="CC4F1F"/>
              </a:solidFill>
              <a:latin typeface="Calibri" panose="020F0502020204030204"/>
            </a:endParaRPr>
          </a:p>
          <a:p>
            <a:r>
              <a:rPr sz="1000">
                <a:solidFill>
                  <a:srgbClr val="2C3E50"/>
                </a:solidFill>
                <a:latin typeface="Calibri" panose="020F0502020204030204"/>
              </a:rPr>
              <a:t>Healthcare CII protection, incident reporting, security audits</a:t>
            </a:r>
            <a:endParaRPr sz="1000">
              <a:solidFill>
                <a:srgbClr val="2C3E50"/>
              </a:solidFill>
              <a:latin typeface="Calibri" panose="020F0502020204030204"/>
            </a:endParaRPr>
          </a:p>
        </p:txBody>
      </p:sp>
      <p:sp>
        <p:nvSpPr>
          <p:cNvPr id="24" name="TextBox 23"/>
          <p:cNvSpPr txBox="1"/>
          <p:nvPr/>
        </p:nvSpPr>
        <p:spPr>
          <a:xfrm>
            <a:off x="6278727" y="4069080"/>
            <a:ext cx="2468880" cy="822960"/>
          </a:xfrm>
          <a:prstGeom prst="rect">
            <a:avLst/>
          </a:prstGeom>
          <a:noFill/>
        </p:spPr>
        <p:txBody>
          <a:bodyPr wrap="square">
            <a:spAutoFit/>
          </a:bodyPr>
          <a:lstStyle/>
          <a:p>
            <a:r>
              <a:rPr sz="900" b="1">
                <a:solidFill>
                  <a:srgbClr val="27AE60"/>
                </a:solidFill>
                <a:latin typeface="Calibri" panose="020F0502020204030204"/>
              </a:rPr>
              <a:t>Our Implementation</a:t>
            </a:r>
            <a:endParaRPr sz="900" b="1">
              <a:solidFill>
                <a:srgbClr val="27AE60"/>
              </a:solidFill>
              <a:latin typeface="Calibri" panose="020F0502020204030204"/>
            </a:endParaRPr>
          </a:p>
          <a:p>
            <a:r>
              <a:rPr sz="1000">
                <a:solidFill>
                  <a:srgbClr val="2C3E50"/>
                </a:solidFill>
                <a:latin typeface="Calibri" panose="020F0502020204030204"/>
              </a:rPr>
              <a:t>GuardDuty + Security Hub + Macie, Security Lake aggregation</a:t>
            </a:r>
            <a:endParaRPr sz="1000">
              <a:solidFill>
                <a:srgbClr val="2C3E50"/>
              </a:solidFill>
              <a:latin typeface="Calibri" panose="020F0502020204030204"/>
            </a:endParaRPr>
          </a:p>
        </p:txBody>
      </p:sp>
      <p:sp>
        <p:nvSpPr>
          <p:cNvPr id="25" name="Rounded Rectangle 24"/>
          <p:cNvSpPr/>
          <p:nvPr/>
        </p:nvSpPr>
        <p:spPr>
          <a:xfrm>
            <a:off x="8976207" y="1280160"/>
            <a:ext cx="2743200" cy="3657600"/>
          </a:xfrm>
          <a:prstGeom prst="roundRect">
            <a:avLst>
              <a:gd name="adj" fmla="val 5000"/>
            </a:avLst>
          </a:prstGeom>
          <a:solidFill>
            <a:srgbClr val="FFFFFF"/>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6207" y="1280160"/>
            <a:ext cx="2743200" cy="77724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6207" y="1325880"/>
            <a:ext cx="2743200" cy="777240"/>
          </a:xfrm>
          <a:prstGeom prst="rect">
            <a:avLst/>
          </a:prstGeom>
          <a:noFill/>
        </p:spPr>
        <p:txBody>
          <a:bodyPr wrap="none">
            <a:spAutoFit/>
          </a:bodyPr>
          <a:lstStyle/>
          <a:p>
            <a:pPr algn="ctr"/>
            <a:r>
              <a:rPr sz="2000" b="1">
                <a:solidFill>
                  <a:srgbClr val="FFFFFF"/>
                </a:solidFill>
                <a:latin typeface="Calibri" panose="020F0502020204030204"/>
              </a:rPr>
              <a:t>AI Verify</a:t>
            </a:r>
            <a:endParaRPr sz="2000" b="1">
              <a:solidFill>
                <a:srgbClr val="FFFFFF"/>
              </a:solidFill>
              <a:latin typeface="Calibri" panose="020F0502020204030204"/>
            </a:endParaRPr>
          </a:p>
          <a:p>
            <a:pPr algn="ctr"/>
            <a:r>
              <a:rPr sz="1000">
                <a:solidFill>
                  <a:srgbClr val="FFFFFF"/>
                </a:solidFill>
                <a:latin typeface="Calibri" panose="020F0502020204030204"/>
              </a:rPr>
              <a:t>Responsible AI Framework</a:t>
            </a:r>
            <a:endParaRPr sz="1000">
              <a:solidFill>
                <a:srgbClr val="FFFFFF"/>
              </a:solidFill>
              <a:latin typeface="Calibri" panose="020F0502020204030204"/>
            </a:endParaRPr>
          </a:p>
        </p:txBody>
      </p:sp>
      <p:sp>
        <p:nvSpPr>
          <p:cNvPr id="28" name="TextBox 27"/>
          <p:cNvSpPr txBox="1"/>
          <p:nvPr/>
        </p:nvSpPr>
        <p:spPr>
          <a:xfrm>
            <a:off x="9113367" y="2148840"/>
            <a:ext cx="2468880" cy="457200"/>
          </a:xfrm>
          <a:prstGeom prst="rect">
            <a:avLst/>
          </a:prstGeom>
          <a:noFill/>
        </p:spPr>
        <p:txBody>
          <a:bodyPr wrap="square">
            <a:spAutoFit/>
          </a:bodyPr>
          <a:lstStyle/>
          <a:p>
            <a:r>
              <a:rPr sz="900" b="1">
                <a:solidFill>
                  <a:srgbClr val="CC4F1F"/>
                </a:solidFill>
                <a:latin typeface="Calibri" panose="020F0502020204030204"/>
              </a:rPr>
              <a:t>Authority</a:t>
            </a:r>
            <a:endParaRPr sz="900" b="1">
              <a:solidFill>
                <a:srgbClr val="CC4F1F"/>
              </a:solidFill>
              <a:latin typeface="Calibri" panose="020F0502020204030204"/>
            </a:endParaRPr>
          </a:p>
          <a:p>
            <a:r>
              <a:rPr sz="1000">
                <a:solidFill>
                  <a:srgbClr val="2C3E50"/>
                </a:solidFill>
                <a:latin typeface="Calibri" panose="020F0502020204030204"/>
              </a:rPr>
              <a:t>IMDA (Infocomm Media Development)</a:t>
            </a:r>
            <a:endParaRPr sz="1000">
              <a:solidFill>
                <a:srgbClr val="2C3E50"/>
              </a:solidFill>
              <a:latin typeface="Calibri" panose="020F0502020204030204"/>
            </a:endParaRPr>
          </a:p>
        </p:txBody>
      </p:sp>
      <p:sp>
        <p:nvSpPr>
          <p:cNvPr id="29" name="TextBox 28"/>
          <p:cNvSpPr txBox="1"/>
          <p:nvPr/>
        </p:nvSpPr>
        <p:spPr>
          <a:xfrm>
            <a:off x="9113367" y="3017520"/>
            <a:ext cx="2468880" cy="1005840"/>
          </a:xfrm>
          <a:prstGeom prst="rect">
            <a:avLst/>
          </a:prstGeom>
          <a:noFill/>
        </p:spPr>
        <p:txBody>
          <a:bodyPr wrap="square">
            <a:spAutoFit/>
          </a:bodyPr>
          <a:lstStyle/>
          <a:p>
            <a:r>
              <a:rPr sz="900" b="1">
                <a:solidFill>
                  <a:srgbClr val="CC4F1F"/>
                </a:solidFill>
                <a:latin typeface="Calibri" panose="020F0502020204030204"/>
              </a:rPr>
              <a:t>Scope</a:t>
            </a:r>
            <a:endParaRPr sz="900" b="1">
              <a:solidFill>
                <a:srgbClr val="CC4F1F"/>
              </a:solidFill>
              <a:latin typeface="Calibri" panose="020F0502020204030204"/>
            </a:endParaRPr>
          </a:p>
          <a:p>
            <a:r>
              <a:rPr sz="1000">
                <a:solidFill>
                  <a:srgbClr val="2C3E50"/>
                </a:solidFill>
                <a:latin typeface="Calibri" panose="020F0502020204030204"/>
              </a:rPr>
              <a:t>Transparency, fairness, accountability for AI systems</a:t>
            </a:r>
            <a:endParaRPr sz="1000">
              <a:solidFill>
                <a:srgbClr val="2C3E50"/>
              </a:solidFill>
              <a:latin typeface="Calibri" panose="020F0502020204030204"/>
            </a:endParaRPr>
          </a:p>
        </p:txBody>
      </p:sp>
      <p:sp>
        <p:nvSpPr>
          <p:cNvPr id="30" name="TextBox 29"/>
          <p:cNvSpPr txBox="1"/>
          <p:nvPr/>
        </p:nvSpPr>
        <p:spPr>
          <a:xfrm>
            <a:off x="9113367" y="4069080"/>
            <a:ext cx="2468880" cy="822960"/>
          </a:xfrm>
          <a:prstGeom prst="rect">
            <a:avLst/>
          </a:prstGeom>
          <a:noFill/>
        </p:spPr>
        <p:txBody>
          <a:bodyPr wrap="square">
            <a:spAutoFit/>
          </a:bodyPr>
          <a:lstStyle/>
          <a:p>
            <a:r>
              <a:rPr sz="900" b="1">
                <a:solidFill>
                  <a:srgbClr val="27AE60"/>
                </a:solidFill>
                <a:latin typeface="Calibri" panose="020F0502020204030204"/>
              </a:rPr>
              <a:t>Our Implementation</a:t>
            </a:r>
            <a:endParaRPr sz="900" b="1">
              <a:solidFill>
                <a:srgbClr val="27AE60"/>
              </a:solidFill>
              <a:latin typeface="Calibri" panose="020F0502020204030204"/>
            </a:endParaRPr>
          </a:p>
          <a:p>
            <a:r>
              <a:rPr sz="1000">
                <a:solidFill>
                  <a:srgbClr val="2C3E50"/>
                </a:solidFill>
                <a:latin typeface="Calibri" panose="020F0502020204030204"/>
              </a:rPr>
              <a:t>chat_trace audit log, citation validator, Bedrock Guardrails</a:t>
            </a:r>
            <a:endParaRPr sz="1000">
              <a:solidFill>
                <a:srgbClr val="2C3E50"/>
              </a:solidFill>
              <a:latin typeface="Calibri" panose="020F0502020204030204"/>
            </a:endParaRPr>
          </a:p>
        </p:txBody>
      </p:sp>
      <p:sp>
        <p:nvSpPr>
          <p:cNvPr id="31" name="Rounded Rectangle 30"/>
          <p:cNvSpPr/>
          <p:nvPr/>
        </p:nvSpPr>
        <p:spPr>
          <a:xfrm>
            <a:off x="457200" y="5120640"/>
            <a:ext cx="11247120" cy="1005840"/>
          </a:xfrm>
          <a:prstGeom prst="roundRect">
            <a:avLst>
              <a:gd name="adj" fmla="val 10000"/>
            </a:avLst>
          </a:prstGeom>
          <a:solidFill>
            <a:srgbClr val="FFE8DA"/>
          </a:solidFill>
          <a:ln w="2540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336540"/>
            <a:ext cx="10881360" cy="506730"/>
          </a:xfrm>
          <a:prstGeom prst="rect">
            <a:avLst/>
          </a:prstGeom>
          <a:noFill/>
        </p:spPr>
        <p:txBody>
          <a:bodyPr wrap="square">
            <a:spAutoFit/>
          </a:bodyPr>
          <a:lstStyle/>
          <a:p>
            <a:pPr algn="ctr"/>
            <a:r>
              <a:rPr sz="1500" b="1">
                <a:solidFill>
                  <a:srgbClr val="CC4F1F"/>
                </a:solidFill>
                <a:latin typeface="Calibri" panose="020F0502020204030204"/>
              </a:rPr>
              <a:t>Data Residency Commitment</a:t>
            </a:r>
            <a:endParaRPr sz="1500" b="1">
              <a:solidFill>
                <a:srgbClr val="CC4F1F"/>
              </a:solidFill>
              <a:latin typeface="Calibri" panose="020F0502020204030204"/>
            </a:endParaRPr>
          </a:p>
          <a:p>
            <a:pPr algn="ctr"/>
            <a:r>
              <a:rPr sz="1200">
                <a:solidFill>
                  <a:srgbClr val="2C3E50"/>
                </a:solidFill>
                <a:latin typeface="Calibri" panose="020F0502020204030204"/>
              </a:rPr>
              <a:t>100% deployment in ap-southeast-1 (Singapore)  ·  Patient cleartext never leaves SG  ·  6-year audit retention via S3 Object Lock (HIPAA §164.530j)</a:t>
            </a:r>
            <a:endParaRPr sz="1200">
              <a:solidFill>
                <a:srgbClr val="2C3E50"/>
              </a:solidFill>
              <a:latin typeface="Calibri" panose="020F0502020204030204"/>
            </a:endParaRPr>
          </a:p>
        </p:txBody>
      </p:sp>
      <p:sp>
        <p:nvSpPr>
          <p:cNvPr id="33" name="Rectangle 32"/>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
          <p:cNvSpPr txBox="1"/>
          <p:nvPr/>
        </p:nvSpPr>
        <p:spPr>
          <a:xfrm>
            <a:off x="1003300" y="342900"/>
            <a:ext cx="1820545" cy="476250"/>
          </a:xfrm>
          <a:prstGeom prst="rect">
            <a:avLst/>
          </a:prstGeom>
          <a:noFill/>
        </p:spPr>
        <p:txBody>
          <a:bodyPr wrap="none" lIns="0" tIns="0">
            <a:spAutoFit/>
          </a:bodyPr>
          <a:lstStyle/>
          <a:p>
            <a:pPr algn="l"/>
            <a:r>
              <a:rPr lang="en-US" altLang="en-US" sz="2800" b="1">
                <a:solidFill>
                  <a:schemeClr val="tx1"/>
                </a:solidFill>
                <a:latin typeface="Calibri" panose="020F0502020204030204"/>
              </a:rPr>
              <a:t>Compliance</a:t>
            </a:r>
            <a:endParaRPr lang="en-US" altLang="en-US" sz="2800" b="1">
              <a:solidFill>
                <a:schemeClr val="tx1"/>
              </a:solidFill>
              <a:latin typeface="Calibri" panose="020F0502020204030204"/>
            </a:endParaRPr>
          </a:p>
        </p:txBody>
      </p:sp>
      <p:pic>
        <p:nvPicPr>
          <p:cNvPr id="35" name="Picture 34"/>
          <p:cNvPicPr/>
          <p:nvPr/>
        </p:nvPicPr>
        <p:blipFill>
          <a:blip r:embed="rId1"/>
          <a:srcRect b="44076"/>
          <a:stretch>
            <a:fillRect/>
          </a:stretch>
        </p:blipFill>
        <p:spPr>
          <a:xfrm>
            <a:off x="10314940" y="360045"/>
            <a:ext cx="1006475" cy="337185"/>
          </a:xfrm>
          <a:prstGeom prst="rect">
            <a:avLst/>
          </a:prstGeom>
        </p:spPr>
      </p:pic>
      <p:pic>
        <p:nvPicPr>
          <p:cNvPr id="36" name="Picture 35"/>
          <p:cNvPicPr/>
          <p:nvPr/>
        </p:nvPicPr>
        <p:blipFill>
          <a:blip r:embed="rId1"/>
          <a:srcRect t="56793"/>
          <a:stretch>
            <a:fillRect/>
          </a:stretch>
        </p:blipFill>
        <p:spPr>
          <a:xfrm>
            <a:off x="10993120" y="464185"/>
            <a:ext cx="1005840" cy="260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3"/>
          <p:cNvSpPr txBox="1"/>
          <p:nvPr/>
        </p:nvSpPr>
        <p:spPr>
          <a:xfrm>
            <a:off x="1003300" y="342900"/>
            <a:ext cx="1322705" cy="476250"/>
          </a:xfrm>
          <a:prstGeom prst="rect">
            <a:avLst/>
          </a:prstGeom>
          <a:noFill/>
        </p:spPr>
        <p:txBody>
          <a:bodyPr wrap="none" lIns="0" tIns="0">
            <a:spAutoFit/>
          </a:bodyPr>
          <a:lstStyle/>
          <a:p>
            <a:pPr algn="l"/>
            <a:r>
              <a:rPr lang="en-US" sz="2800" b="1">
                <a:solidFill>
                  <a:schemeClr val="tx1"/>
                </a:solidFill>
                <a:latin typeface="Calibri" panose="020F0502020204030204"/>
              </a:rPr>
              <a:t>Solution</a:t>
            </a:r>
            <a:endParaRPr lang="en-US" sz="2800" b="1">
              <a:solidFill>
                <a:schemeClr val="tx1"/>
              </a:solidFill>
              <a:latin typeface="Calibri" panose="020F0502020204030204"/>
            </a:endParaRPr>
          </a:p>
        </p:txBody>
      </p:sp>
      <p:pic>
        <p:nvPicPr>
          <p:cNvPr id="32" name="Picture 31"/>
          <p:cNvPicPr/>
          <p:nvPr/>
        </p:nvPicPr>
        <p:blipFill>
          <a:blip r:embed="rId1"/>
          <a:srcRect b="44076"/>
          <a:stretch>
            <a:fillRect/>
          </a:stretch>
        </p:blipFill>
        <p:spPr>
          <a:xfrm>
            <a:off x="10314940" y="360045"/>
            <a:ext cx="1006475" cy="337185"/>
          </a:xfrm>
          <a:prstGeom prst="rect">
            <a:avLst/>
          </a:prstGeom>
        </p:spPr>
      </p:pic>
      <p:pic>
        <p:nvPicPr>
          <p:cNvPr id="35" name="Picture 34"/>
          <p:cNvPicPr/>
          <p:nvPr/>
        </p:nvPicPr>
        <p:blipFill>
          <a:blip r:embed="rId1"/>
          <a:srcRect t="56793"/>
          <a:stretch>
            <a:fillRect/>
          </a:stretch>
        </p:blipFill>
        <p:spPr>
          <a:xfrm>
            <a:off x="10993120" y="464185"/>
            <a:ext cx="1005840" cy="260350"/>
          </a:xfrm>
          <a:prstGeom prst="rect">
            <a:avLst/>
          </a:prstGeom>
        </p:spPr>
      </p:pic>
      <p:pic>
        <p:nvPicPr>
          <p:cNvPr id="19" name="Picture 18" descr="2lv_architecture"/>
          <p:cNvPicPr>
            <a:picLocks noChangeAspect="1"/>
          </p:cNvPicPr>
          <p:nvPr/>
        </p:nvPicPr>
        <p:blipFill>
          <a:blip r:embed="rId2"/>
          <a:stretch>
            <a:fillRect/>
          </a:stretch>
        </p:blipFill>
        <p:spPr>
          <a:xfrm>
            <a:off x="2169795" y="866775"/>
            <a:ext cx="7715885" cy="58578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3"/>
          <p:cNvSpPr txBox="1"/>
          <p:nvPr/>
        </p:nvSpPr>
        <p:spPr>
          <a:xfrm>
            <a:off x="1003300" y="342900"/>
            <a:ext cx="3645535" cy="476250"/>
          </a:xfrm>
          <a:prstGeom prst="rect">
            <a:avLst/>
          </a:prstGeom>
          <a:noFill/>
        </p:spPr>
        <p:txBody>
          <a:bodyPr wrap="none" lIns="0" tIns="0">
            <a:spAutoFit/>
          </a:bodyPr>
          <a:lstStyle/>
          <a:p>
            <a:pPr algn="l"/>
            <a:r>
              <a:rPr lang="en-US" sz="2800" b="1">
                <a:solidFill>
                  <a:schemeClr val="tx1"/>
                </a:solidFill>
                <a:latin typeface="Calibri" panose="020F0502020204030204"/>
              </a:rPr>
              <a:t>Solution - Alibaba Cloud</a:t>
            </a:r>
            <a:endParaRPr lang="en-US" sz="2800" b="1">
              <a:solidFill>
                <a:schemeClr val="tx1"/>
              </a:solidFill>
              <a:latin typeface="Calibri" panose="020F0502020204030204"/>
            </a:endParaRPr>
          </a:p>
        </p:txBody>
      </p:sp>
      <p:pic>
        <p:nvPicPr>
          <p:cNvPr id="32" name="Picture 31"/>
          <p:cNvPicPr/>
          <p:nvPr/>
        </p:nvPicPr>
        <p:blipFill>
          <a:blip r:embed="rId1"/>
          <a:srcRect b="44076"/>
          <a:stretch>
            <a:fillRect/>
          </a:stretch>
        </p:blipFill>
        <p:spPr>
          <a:xfrm>
            <a:off x="10314940" y="360045"/>
            <a:ext cx="1006475" cy="337185"/>
          </a:xfrm>
          <a:prstGeom prst="rect">
            <a:avLst/>
          </a:prstGeom>
        </p:spPr>
      </p:pic>
      <p:pic>
        <p:nvPicPr>
          <p:cNvPr id="35" name="Picture 34"/>
          <p:cNvPicPr/>
          <p:nvPr/>
        </p:nvPicPr>
        <p:blipFill>
          <a:blip r:embed="rId1"/>
          <a:srcRect t="56793"/>
          <a:stretch>
            <a:fillRect/>
          </a:stretch>
        </p:blipFill>
        <p:spPr>
          <a:xfrm>
            <a:off x="10993120" y="464185"/>
            <a:ext cx="1005840" cy="260350"/>
          </a:xfrm>
          <a:prstGeom prst="rect">
            <a:avLst/>
          </a:prstGeom>
        </p:spPr>
      </p:pic>
      <p:pic>
        <p:nvPicPr>
          <p:cNvPr id="3" name="Picture 2" descr="ChatGPT Image May 18, 2026, 07_23_26 PM"/>
          <p:cNvPicPr>
            <a:picLocks noChangeAspect="1"/>
          </p:cNvPicPr>
          <p:nvPr/>
        </p:nvPicPr>
        <p:blipFill>
          <a:blip r:embed="rId2"/>
          <a:stretch>
            <a:fillRect/>
          </a:stretch>
        </p:blipFill>
        <p:spPr>
          <a:xfrm>
            <a:off x="738505" y="819150"/>
            <a:ext cx="10713720" cy="6029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ChatGPT Image May 19, 2026, 03_38_14 PM"/>
          <p:cNvPicPr>
            <a:picLocks noChangeAspect="1"/>
          </p:cNvPicPr>
          <p:nvPr/>
        </p:nvPicPr>
        <p:blipFill>
          <a:blip r:embed="rId1"/>
          <a:srcRect t="16694"/>
          <a:stretch>
            <a:fillRect/>
          </a:stretch>
        </p:blipFill>
        <p:spPr>
          <a:xfrm>
            <a:off x="6985" y="935990"/>
            <a:ext cx="12185015" cy="5713095"/>
          </a:xfrm>
          <a:prstGeom prst="rect">
            <a:avLst/>
          </a:prstGeom>
        </p:spPr>
      </p:pic>
      <p:sp>
        <p:nvSpPr>
          <p:cNvPr id="33" name="Rectangle 32"/>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
          <p:cNvSpPr txBox="1"/>
          <p:nvPr/>
        </p:nvSpPr>
        <p:spPr>
          <a:xfrm>
            <a:off x="1003300" y="342900"/>
            <a:ext cx="3695700" cy="476250"/>
          </a:xfrm>
          <a:prstGeom prst="rect">
            <a:avLst/>
          </a:prstGeom>
          <a:noFill/>
        </p:spPr>
        <p:txBody>
          <a:bodyPr wrap="none" lIns="0" tIns="0">
            <a:spAutoFit/>
          </a:bodyPr>
          <a:lstStyle/>
          <a:p>
            <a:pPr algn="l"/>
            <a:r>
              <a:rPr lang="en-US" altLang="en-US" sz="2800" b="1">
                <a:solidFill>
                  <a:schemeClr val="tx1"/>
                </a:solidFill>
                <a:latin typeface="Calibri" panose="020F0502020204030204"/>
              </a:rPr>
              <a:t>Multi-agent architecture</a:t>
            </a:r>
            <a:endParaRPr lang="en-US" altLang="en-US" sz="2800" b="1">
              <a:solidFill>
                <a:schemeClr val="tx1"/>
              </a:solidFill>
              <a:latin typeface="Calibri" panose="020F0502020204030204"/>
            </a:endParaRPr>
          </a:p>
        </p:txBody>
      </p:sp>
      <p:pic>
        <p:nvPicPr>
          <p:cNvPr id="35" name="Picture 34"/>
          <p:cNvPicPr/>
          <p:nvPr/>
        </p:nvPicPr>
        <p:blipFill>
          <a:blip r:embed="rId2"/>
          <a:srcRect b="44076"/>
          <a:stretch>
            <a:fillRect/>
          </a:stretch>
        </p:blipFill>
        <p:spPr>
          <a:xfrm>
            <a:off x="10314940" y="360045"/>
            <a:ext cx="1006475" cy="337185"/>
          </a:xfrm>
          <a:prstGeom prst="rect">
            <a:avLst/>
          </a:prstGeom>
        </p:spPr>
      </p:pic>
      <p:pic>
        <p:nvPicPr>
          <p:cNvPr id="36" name="Picture 35"/>
          <p:cNvPicPr/>
          <p:nvPr/>
        </p:nvPicPr>
        <p:blipFill>
          <a:blip r:embed="rId2"/>
          <a:srcRect t="56793"/>
          <a:stretch>
            <a:fillRect/>
          </a:stretch>
        </p:blipFill>
        <p:spPr>
          <a:xfrm>
            <a:off x="10993120" y="464185"/>
            <a:ext cx="1005840" cy="260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May 11, 2026, 04_52_24 AM"/>
          <p:cNvPicPr>
            <a:picLocks noChangeAspect="1"/>
          </p:cNvPicPr>
          <p:nvPr/>
        </p:nvPicPr>
        <p:blipFill>
          <a:blip r:embed="rId1"/>
          <a:stretch>
            <a:fillRect/>
          </a:stretch>
        </p:blipFill>
        <p:spPr>
          <a:xfrm>
            <a:off x="489585" y="580390"/>
            <a:ext cx="11212830" cy="6152515"/>
          </a:xfrm>
          <a:prstGeom prst="rect">
            <a:avLst/>
          </a:prstGeom>
        </p:spPr>
      </p:pic>
      <p:sp>
        <p:nvSpPr>
          <p:cNvPr id="33" name="Rectangle 32"/>
          <p:cNvSpPr/>
          <p:nvPr/>
        </p:nvSpPr>
        <p:spPr>
          <a:xfrm>
            <a:off x="635000" y="371475"/>
            <a:ext cx="199390" cy="398780"/>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
          <p:cNvSpPr txBox="1"/>
          <p:nvPr/>
        </p:nvSpPr>
        <p:spPr>
          <a:xfrm>
            <a:off x="1003300" y="342900"/>
            <a:ext cx="728980" cy="476250"/>
          </a:xfrm>
          <a:prstGeom prst="rect">
            <a:avLst/>
          </a:prstGeom>
          <a:noFill/>
        </p:spPr>
        <p:txBody>
          <a:bodyPr wrap="none" lIns="0" tIns="0">
            <a:spAutoFit/>
          </a:bodyPr>
          <a:lstStyle/>
          <a:p>
            <a:pPr algn="l"/>
            <a:r>
              <a:rPr lang="en-US" altLang="en-US" sz="2800" b="1">
                <a:solidFill>
                  <a:schemeClr val="tx1"/>
                </a:solidFill>
                <a:latin typeface="Calibri" panose="020F0502020204030204"/>
              </a:rPr>
              <a:t>RAG</a:t>
            </a:r>
            <a:endParaRPr lang="en-US" altLang="en-US" sz="2800" b="1">
              <a:solidFill>
                <a:schemeClr val="tx1"/>
              </a:solidFill>
              <a:latin typeface="Calibri" panose="020F0502020204030204"/>
            </a:endParaRPr>
          </a:p>
        </p:txBody>
      </p:sp>
      <p:pic>
        <p:nvPicPr>
          <p:cNvPr id="35" name="Picture 34"/>
          <p:cNvPicPr/>
          <p:nvPr/>
        </p:nvPicPr>
        <p:blipFill>
          <a:blip r:embed="rId2"/>
          <a:srcRect b="44076"/>
          <a:stretch>
            <a:fillRect/>
          </a:stretch>
        </p:blipFill>
        <p:spPr>
          <a:xfrm>
            <a:off x="10314940" y="360045"/>
            <a:ext cx="1006475" cy="337185"/>
          </a:xfrm>
          <a:prstGeom prst="rect">
            <a:avLst/>
          </a:prstGeom>
        </p:spPr>
      </p:pic>
      <p:pic>
        <p:nvPicPr>
          <p:cNvPr id="36" name="Picture 35"/>
          <p:cNvPicPr/>
          <p:nvPr/>
        </p:nvPicPr>
        <p:blipFill>
          <a:blip r:embed="rId2"/>
          <a:srcRect t="56793"/>
          <a:stretch>
            <a:fillRect/>
          </a:stretch>
        </p:blipFill>
        <p:spPr>
          <a:xfrm>
            <a:off x="10993120" y="464185"/>
            <a:ext cx="1005840" cy="260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Rounded Rectangle 27"/>
          <p:cNvSpPr/>
          <p:nvPr/>
        </p:nvSpPr>
        <p:spPr>
          <a:xfrm>
            <a:off x="1386840" y="2697480"/>
            <a:ext cx="9418320" cy="14630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a:solidFill>
                  <a:srgbClr val="FFFFFF"/>
                </a:solidFill>
                <a:latin typeface="Calibri" panose="020F0502020204030204"/>
              </a:rPr>
              <a:t>DEMO TIME</a:t>
            </a:r>
            <a:endParaRPr sz="3200" b="1">
              <a:solidFill>
                <a:srgbClr val="FFFFFF"/>
              </a:solidFill>
              <a:latin typeface="Calibri" panose="020F0502020204030204"/>
            </a:endParaRPr>
          </a:p>
          <a:p>
            <a:pPr algn="ctr"/>
            <a:r>
              <a:rPr lang="en-US">
                <a:solidFill>
                  <a:srgbClr val="FFFFFF"/>
                </a:solidFill>
                <a:latin typeface="Consolas" panose="020B0609020204030204"/>
                <a:sym typeface="+mn-ea"/>
              </a:rPr>
              <a:t>AWS with Claude: </a:t>
            </a:r>
            <a:r>
              <a:rPr>
                <a:solidFill>
                  <a:srgbClr val="FFFFFF"/>
                </a:solidFill>
                <a:latin typeface="Consolas" panose="020B0609020204030204"/>
                <a:sym typeface="+mn-ea"/>
              </a:rPr>
              <a:t>http://47.130.120.152/ui/index.html</a:t>
            </a:r>
            <a:endParaRPr>
              <a:solidFill>
                <a:srgbClr val="FFFFFF"/>
              </a:solidFill>
              <a:latin typeface="Consolas" panose="020B0609020204030204"/>
              <a:sym typeface="+mn-ea"/>
            </a:endParaRPr>
          </a:p>
          <a:p>
            <a:pPr algn="ctr"/>
            <a:r>
              <a:rPr lang="en-US">
                <a:solidFill>
                  <a:srgbClr val="FFFFFF"/>
                </a:solidFill>
                <a:latin typeface="Consolas" panose="020B0609020204030204"/>
                <a:sym typeface="+mn-ea"/>
              </a:rPr>
              <a:t>AWS with Qwen: </a:t>
            </a:r>
            <a:r>
              <a:rPr lang="en-US" altLang="en-US">
                <a:solidFill>
                  <a:srgbClr val="FFFFFF"/>
                </a:solidFill>
                <a:latin typeface="Consolas" panose="020B0609020204030204"/>
                <a:sym typeface="+mn-ea"/>
              </a:rPr>
              <a:t>http://54.179.152.27/ui/index.html</a:t>
            </a:r>
            <a:r>
              <a:rPr lang="en-US">
                <a:solidFill>
                  <a:srgbClr val="FFFFFF"/>
                </a:solidFill>
                <a:latin typeface="Consolas" panose="020B0609020204030204"/>
                <a:sym typeface="+mn-ea"/>
              </a:rPr>
              <a:t> </a:t>
            </a:r>
            <a:endParaRPr lang="en-US">
              <a:solidFill>
                <a:srgbClr val="FFFFFF"/>
              </a:solidFill>
              <a:latin typeface="Consolas" panose="020B0609020204030204"/>
              <a:sym typeface="+mn-ea"/>
            </a:endParaRPr>
          </a:p>
        </p:txBody>
      </p:sp>
      <p:pic>
        <p:nvPicPr>
          <p:cNvPr id="32" name="Picture 31"/>
          <p:cNvPicPr/>
          <p:nvPr/>
        </p:nvPicPr>
        <p:blipFill>
          <a:blip r:embed="rId1"/>
          <a:srcRect b="44076"/>
          <a:stretch>
            <a:fillRect/>
          </a:stretch>
        </p:blipFill>
        <p:spPr>
          <a:xfrm>
            <a:off x="10314940" y="360045"/>
            <a:ext cx="1006475" cy="337185"/>
          </a:xfrm>
          <a:prstGeom prst="rect">
            <a:avLst/>
          </a:prstGeom>
        </p:spPr>
      </p:pic>
      <p:pic>
        <p:nvPicPr>
          <p:cNvPr id="35" name="Picture 34"/>
          <p:cNvPicPr/>
          <p:nvPr/>
        </p:nvPicPr>
        <p:blipFill>
          <a:blip r:embed="rId1"/>
          <a:srcRect t="56793"/>
          <a:stretch>
            <a:fillRect/>
          </a:stretch>
        </p:blipFill>
        <p:spPr>
          <a:xfrm>
            <a:off x="10993120" y="464185"/>
            <a:ext cx="1005840" cy="2603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274320" y="109728"/>
            <a:ext cx="11430000" cy="502920"/>
          </a:xfrm>
          <a:prstGeom prst="rect">
            <a:avLst/>
          </a:prstGeom>
          <a:noFill/>
        </p:spPr>
        <p:txBody>
          <a:bodyPr wrap="square">
            <a:spAutoFit/>
          </a:bodyPr>
          <a:lstStyle/>
          <a:p>
            <a:pPr algn="l"/>
            <a:r>
              <a:rPr sz="2400" b="1" i="0">
                <a:solidFill>
                  <a:srgbClr val="5D1DC7"/>
                </a:solidFill>
                <a:latin typeface="Calibri" panose="020F0502020204030204"/>
              </a:rPr>
              <a:t>Production Cost Comparison — 3 Versions</a:t>
            </a:r>
            <a:endParaRPr sz="2400" b="1" i="0">
              <a:solidFill>
                <a:srgbClr val="5D1DC7"/>
              </a:solidFill>
              <a:latin typeface="Calibri" panose="020F0502020204030204"/>
            </a:endParaRPr>
          </a:p>
        </p:txBody>
      </p:sp>
      <p:sp>
        <p:nvSpPr>
          <p:cNvPr id="4" name="TextBox 3"/>
          <p:cNvSpPr txBox="1"/>
          <p:nvPr/>
        </p:nvSpPr>
        <p:spPr>
          <a:xfrm>
            <a:off x="274320" y="594360"/>
            <a:ext cx="11430000" cy="292608"/>
          </a:xfrm>
          <a:prstGeom prst="rect">
            <a:avLst/>
          </a:prstGeom>
          <a:noFill/>
        </p:spPr>
        <p:txBody>
          <a:bodyPr wrap="square">
            <a:spAutoFit/>
          </a:bodyPr>
          <a:lstStyle/>
          <a:p>
            <a:pPr algn="l"/>
            <a:r>
              <a:rPr sz="1100" b="0" i="1">
                <a:solidFill>
                  <a:srgbClr val="7F8C8D"/>
                </a:solidFill>
                <a:latin typeface="Calibri" panose="020F0502020204030204"/>
              </a:rPr>
              <a:t>Monthly estimate · 500 clinicians · 150,000 queries/month · Singapore region · All prices USD list price</a:t>
            </a:r>
            <a:endParaRPr sz="1100" b="0" i="1">
              <a:solidFill>
                <a:srgbClr val="7F8C8D"/>
              </a:solidFill>
              <a:latin typeface="Calibri" panose="020F0502020204030204"/>
            </a:endParaRPr>
          </a:p>
        </p:txBody>
      </p:sp>
      <p:sp>
        <p:nvSpPr>
          <p:cNvPr id="5" name="Rectangle 4"/>
          <p:cNvSpPr/>
          <p:nvPr/>
        </p:nvSpPr>
        <p:spPr>
          <a:xfrm>
            <a:off x="0" y="868680"/>
            <a:ext cx="12188952" cy="365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88952" cy="347472"/>
          </a:xfrm>
          <a:prstGeom prst="rect">
            <a:avLst/>
          </a:prstGeom>
          <a:solidFill>
            <a:srgbClr val="EDE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932688"/>
            <a:ext cx="11704320" cy="292608"/>
          </a:xfrm>
          <a:prstGeom prst="rect">
            <a:avLst/>
          </a:prstGeom>
          <a:noFill/>
        </p:spPr>
        <p:txBody>
          <a:bodyPr wrap="square">
            <a:spAutoFit/>
          </a:bodyPr>
          <a:lstStyle/>
          <a:p>
            <a:pPr algn="l"/>
            <a:r>
              <a:rPr sz="850" b="0" i="1">
                <a:solidFill>
                  <a:srgbClr val="5D1DC7"/>
                </a:solidFill>
                <a:latin typeface="Calibri" panose="020F0502020204030204"/>
              </a:rPr>
              <a:t>Assumptions: 500 clinicians  |  10 queries/day  |  150,000 queries/month  (30k emergency + 120k complex)  |  Avg 3,000 in / 600 out tokens (complex)  |  1,500 in / 300 out (emergency)  |  1 fine-tuning run/month  |  Singapore region</a:t>
            </a:r>
            <a:endParaRPr sz="850" b="0" i="1">
              <a:solidFill>
                <a:srgbClr val="5D1DC7"/>
              </a:solidFill>
              <a:latin typeface="Calibri" panose="020F0502020204030204"/>
            </a:endParaRPr>
          </a:p>
        </p:txBody>
      </p:sp>
      <p:sp>
        <p:nvSpPr>
          <p:cNvPr id="8" name="Rectangle 7"/>
          <p:cNvSpPr/>
          <p:nvPr/>
        </p:nvSpPr>
        <p:spPr>
          <a:xfrm>
            <a:off x="274320" y="1276350"/>
            <a:ext cx="2560320" cy="8778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67790"/>
            <a:ext cx="2423160" cy="329184"/>
          </a:xfrm>
          <a:prstGeom prst="rect">
            <a:avLst/>
          </a:prstGeom>
          <a:noFill/>
        </p:spPr>
        <p:txBody>
          <a:bodyPr wrap="square">
            <a:spAutoFit/>
          </a:bodyPr>
          <a:lstStyle/>
          <a:p>
            <a:pPr algn="l"/>
            <a:r>
              <a:rPr sz="1100" b="1" i="0">
                <a:solidFill>
                  <a:srgbClr val="FFFFFF"/>
                </a:solidFill>
                <a:latin typeface="Calibri" panose="020F0502020204030204"/>
              </a:rPr>
              <a:t>Cost Category</a:t>
            </a:r>
            <a:endParaRPr sz="1100" b="1" i="0">
              <a:solidFill>
                <a:srgbClr val="FFFFFF"/>
              </a:solidFill>
              <a:latin typeface="Calibri" panose="020F0502020204030204"/>
            </a:endParaRPr>
          </a:p>
        </p:txBody>
      </p:sp>
      <p:sp>
        <p:nvSpPr>
          <p:cNvPr id="10" name="TextBox 9"/>
          <p:cNvSpPr txBox="1"/>
          <p:nvPr/>
        </p:nvSpPr>
        <p:spPr>
          <a:xfrm>
            <a:off x="365760" y="1669542"/>
            <a:ext cx="2423160" cy="256032"/>
          </a:xfrm>
          <a:prstGeom prst="rect">
            <a:avLst/>
          </a:prstGeom>
          <a:noFill/>
        </p:spPr>
        <p:txBody>
          <a:bodyPr wrap="square">
            <a:spAutoFit/>
          </a:bodyPr>
          <a:lstStyle/>
          <a:p>
            <a:pPr algn="l"/>
            <a:r>
              <a:rPr sz="800" b="0" i="1">
                <a:solidFill>
                  <a:srgbClr val="BBBBBB"/>
                </a:solidFill>
                <a:latin typeface="Calibri" panose="020F0502020204030204"/>
              </a:rPr>
              <a:t>What it covers</a:t>
            </a:r>
            <a:endParaRPr sz="800" b="0" i="1">
              <a:solidFill>
                <a:srgbClr val="BBBBBB"/>
              </a:solidFill>
              <a:latin typeface="Calibri" panose="020F0502020204030204"/>
            </a:endParaRPr>
          </a:p>
        </p:txBody>
      </p:sp>
      <p:sp>
        <p:nvSpPr>
          <p:cNvPr id="11" name="Rectangle 10"/>
          <p:cNvSpPr/>
          <p:nvPr/>
        </p:nvSpPr>
        <p:spPr>
          <a:xfrm>
            <a:off x="2834639" y="1276350"/>
            <a:ext cx="3017520" cy="475488"/>
          </a:xfrm>
          <a:prstGeom prst="rect">
            <a:avLst/>
          </a:prstGeom>
          <a:solidFill>
            <a:srgbClr val="5D1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79" y="1294638"/>
            <a:ext cx="2880360" cy="237744"/>
          </a:xfrm>
          <a:prstGeom prst="rect">
            <a:avLst/>
          </a:prstGeom>
          <a:noFill/>
        </p:spPr>
        <p:txBody>
          <a:bodyPr wrap="square">
            <a:spAutoFit/>
          </a:bodyPr>
          <a:lstStyle/>
          <a:p>
            <a:pPr algn="l"/>
            <a:r>
              <a:rPr sz="1200" b="1" i="0">
                <a:solidFill>
                  <a:srgbClr val="FFFFFF"/>
                </a:solidFill>
                <a:latin typeface="Calibri" panose="020F0502020204030204"/>
              </a:rPr>
              <a:t>Version A</a:t>
            </a:r>
            <a:endParaRPr sz="1200" b="1" i="0">
              <a:solidFill>
                <a:srgbClr val="FFFFFF"/>
              </a:solidFill>
              <a:latin typeface="Calibri" panose="020F0502020204030204"/>
            </a:endParaRPr>
          </a:p>
        </p:txBody>
      </p:sp>
      <p:sp>
        <p:nvSpPr>
          <p:cNvPr id="13" name="TextBox 12"/>
          <p:cNvSpPr txBox="1"/>
          <p:nvPr/>
        </p:nvSpPr>
        <p:spPr>
          <a:xfrm>
            <a:off x="2926079" y="1532382"/>
            <a:ext cx="2880360" cy="201168"/>
          </a:xfrm>
          <a:prstGeom prst="rect">
            <a:avLst/>
          </a:prstGeom>
          <a:noFill/>
        </p:spPr>
        <p:txBody>
          <a:bodyPr wrap="square">
            <a:spAutoFit/>
          </a:bodyPr>
          <a:lstStyle/>
          <a:p>
            <a:pPr algn="l"/>
            <a:r>
              <a:rPr sz="900" b="0" i="0">
                <a:solidFill>
                  <a:srgbClr val="FFFFFF"/>
                </a:solidFill>
                <a:latin typeface="Calibri" panose="020F0502020204030204"/>
              </a:rPr>
              <a:t>AWS + Claude</a:t>
            </a:r>
            <a:endParaRPr sz="900" b="0" i="0">
              <a:solidFill>
                <a:srgbClr val="FFFFFF"/>
              </a:solidFill>
              <a:latin typeface="Calibri" panose="020F0502020204030204"/>
            </a:endParaRPr>
          </a:p>
        </p:txBody>
      </p:sp>
      <p:sp>
        <p:nvSpPr>
          <p:cNvPr id="14" name="Rectangle 13"/>
          <p:cNvSpPr/>
          <p:nvPr/>
        </p:nvSpPr>
        <p:spPr>
          <a:xfrm>
            <a:off x="2834639" y="1751838"/>
            <a:ext cx="3017520" cy="402336"/>
          </a:xfrm>
          <a:prstGeom prst="rect">
            <a:avLst/>
          </a:prstGeom>
          <a:solidFill>
            <a:srgbClr val="EDE7F6"/>
          </a:solidFill>
          <a:ln w="19050">
            <a:solidFill>
              <a:srgbClr val="5D1D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79" y="1779270"/>
            <a:ext cx="2880360" cy="347472"/>
          </a:xfrm>
          <a:prstGeom prst="rect">
            <a:avLst/>
          </a:prstGeom>
          <a:noFill/>
        </p:spPr>
        <p:txBody>
          <a:bodyPr wrap="square">
            <a:spAutoFit/>
          </a:bodyPr>
          <a:lstStyle/>
          <a:p>
            <a:pPr algn="ctr"/>
            <a:r>
              <a:rPr sz="1400" b="1" i="0">
                <a:solidFill>
                  <a:srgbClr val="5D1DC7"/>
                </a:solidFill>
                <a:latin typeface="Calibri" panose="020F0502020204030204"/>
              </a:rPr>
              <a:t>$2,350–$2,600</a:t>
            </a:r>
            <a:endParaRPr sz="1400" b="1" i="0">
              <a:solidFill>
                <a:srgbClr val="5D1DC7"/>
              </a:solidFill>
              <a:latin typeface="Calibri" panose="020F0502020204030204"/>
            </a:endParaRPr>
          </a:p>
        </p:txBody>
      </p:sp>
      <p:sp>
        <p:nvSpPr>
          <p:cNvPr id="16" name="Rectangle 15"/>
          <p:cNvSpPr/>
          <p:nvPr/>
        </p:nvSpPr>
        <p:spPr>
          <a:xfrm>
            <a:off x="5852159" y="1276350"/>
            <a:ext cx="3017520" cy="475488"/>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599" y="1294638"/>
            <a:ext cx="2880360" cy="237744"/>
          </a:xfrm>
          <a:prstGeom prst="rect">
            <a:avLst/>
          </a:prstGeom>
          <a:noFill/>
        </p:spPr>
        <p:txBody>
          <a:bodyPr wrap="square">
            <a:spAutoFit/>
          </a:bodyPr>
          <a:lstStyle/>
          <a:p>
            <a:pPr algn="l"/>
            <a:r>
              <a:rPr sz="1200" b="1" i="0">
                <a:solidFill>
                  <a:srgbClr val="FFFFFF"/>
                </a:solidFill>
                <a:latin typeface="Calibri" panose="020F0502020204030204"/>
              </a:rPr>
              <a:t>Version B</a:t>
            </a:r>
            <a:endParaRPr sz="1200" b="1" i="0">
              <a:solidFill>
                <a:srgbClr val="FFFFFF"/>
              </a:solidFill>
              <a:latin typeface="Calibri" panose="020F0502020204030204"/>
            </a:endParaRPr>
          </a:p>
        </p:txBody>
      </p:sp>
      <p:sp>
        <p:nvSpPr>
          <p:cNvPr id="18" name="TextBox 17"/>
          <p:cNvSpPr txBox="1"/>
          <p:nvPr/>
        </p:nvSpPr>
        <p:spPr>
          <a:xfrm>
            <a:off x="5943599" y="1532382"/>
            <a:ext cx="2880360" cy="201168"/>
          </a:xfrm>
          <a:prstGeom prst="rect">
            <a:avLst/>
          </a:prstGeom>
          <a:noFill/>
        </p:spPr>
        <p:txBody>
          <a:bodyPr wrap="square">
            <a:spAutoFit/>
          </a:bodyPr>
          <a:lstStyle/>
          <a:p>
            <a:pPr algn="l"/>
            <a:r>
              <a:rPr sz="900" b="0" i="0">
                <a:solidFill>
                  <a:srgbClr val="FFFFFF"/>
                </a:solidFill>
                <a:latin typeface="Calibri" panose="020F0502020204030204"/>
              </a:rPr>
              <a:t>AWS + Qwen</a:t>
            </a:r>
            <a:endParaRPr sz="900" b="0" i="0">
              <a:solidFill>
                <a:srgbClr val="FFFFFF"/>
              </a:solidFill>
              <a:latin typeface="Calibri" panose="020F0502020204030204"/>
            </a:endParaRPr>
          </a:p>
        </p:txBody>
      </p:sp>
      <p:sp>
        <p:nvSpPr>
          <p:cNvPr id="19" name="Rectangle 18"/>
          <p:cNvSpPr/>
          <p:nvPr/>
        </p:nvSpPr>
        <p:spPr>
          <a:xfrm>
            <a:off x="5852159" y="1751838"/>
            <a:ext cx="3017520" cy="402336"/>
          </a:xfrm>
          <a:prstGeom prst="rect">
            <a:avLst/>
          </a:prstGeom>
          <a:solidFill>
            <a:srgbClr val="FFE8DA"/>
          </a:solidFill>
          <a:ln w="1905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599" y="1779270"/>
            <a:ext cx="2880360" cy="347472"/>
          </a:xfrm>
          <a:prstGeom prst="rect">
            <a:avLst/>
          </a:prstGeom>
          <a:noFill/>
        </p:spPr>
        <p:txBody>
          <a:bodyPr wrap="square">
            <a:spAutoFit/>
          </a:bodyPr>
          <a:lstStyle/>
          <a:p>
            <a:pPr algn="ctr"/>
            <a:r>
              <a:rPr sz="1400" b="1" i="0">
                <a:solidFill>
                  <a:srgbClr val="CC4F1F"/>
                </a:solidFill>
                <a:latin typeface="Calibri" panose="020F0502020204030204"/>
              </a:rPr>
              <a:t>$2,150–$2,350</a:t>
            </a:r>
            <a:endParaRPr sz="1400" b="1" i="0">
              <a:solidFill>
                <a:srgbClr val="CC4F1F"/>
              </a:solidFill>
              <a:latin typeface="Calibri" panose="020F0502020204030204"/>
            </a:endParaRPr>
          </a:p>
        </p:txBody>
      </p:sp>
      <p:sp>
        <p:nvSpPr>
          <p:cNvPr id="21" name="Rectangle 20"/>
          <p:cNvSpPr/>
          <p:nvPr/>
        </p:nvSpPr>
        <p:spPr>
          <a:xfrm>
            <a:off x="8869680" y="1276350"/>
            <a:ext cx="3017520" cy="475488"/>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19" y="1294638"/>
            <a:ext cx="2880360" cy="237744"/>
          </a:xfrm>
          <a:prstGeom prst="rect">
            <a:avLst/>
          </a:prstGeom>
          <a:noFill/>
        </p:spPr>
        <p:txBody>
          <a:bodyPr wrap="square">
            <a:spAutoFit/>
          </a:bodyPr>
          <a:lstStyle/>
          <a:p>
            <a:pPr algn="l"/>
            <a:r>
              <a:rPr sz="1200" b="1" i="0">
                <a:solidFill>
                  <a:srgbClr val="FFFFFF"/>
                </a:solidFill>
                <a:latin typeface="Calibri" panose="020F0502020204030204"/>
              </a:rPr>
              <a:t>Version C</a:t>
            </a:r>
            <a:endParaRPr sz="1200" b="1" i="0">
              <a:solidFill>
                <a:srgbClr val="FFFFFF"/>
              </a:solidFill>
              <a:latin typeface="Calibri" panose="020F0502020204030204"/>
            </a:endParaRPr>
          </a:p>
        </p:txBody>
      </p:sp>
      <p:sp>
        <p:nvSpPr>
          <p:cNvPr id="23" name="TextBox 22"/>
          <p:cNvSpPr txBox="1"/>
          <p:nvPr/>
        </p:nvSpPr>
        <p:spPr>
          <a:xfrm>
            <a:off x="8961119" y="1532382"/>
            <a:ext cx="2880360" cy="201168"/>
          </a:xfrm>
          <a:prstGeom prst="rect">
            <a:avLst/>
          </a:prstGeom>
          <a:noFill/>
        </p:spPr>
        <p:txBody>
          <a:bodyPr wrap="square">
            <a:spAutoFit/>
          </a:bodyPr>
          <a:lstStyle/>
          <a:p>
            <a:pPr algn="l"/>
            <a:r>
              <a:rPr sz="900" b="0" i="0">
                <a:solidFill>
                  <a:srgbClr val="FFFFFF"/>
                </a:solidFill>
                <a:latin typeface="Calibri" panose="020F0502020204030204"/>
              </a:rPr>
              <a:t>Alibaba Cloud</a:t>
            </a:r>
            <a:endParaRPr sz="900" b="0" i="0">
              <a:solidFill>
                <a:srgbClr val="FFFFFF"/>
              </a:solidFill>
              <a:latin typeface="Calibri" panose="020F0502020204030204"/>
            </a:endParaRPr>
          </a:p>
        </p:txBody>
      </p:sp>
      <p:sp>
        <p:nvSpPr>
          <p:cNvPr id="24" name="Rectangle 23"/>
          <p:cNvSpPr/>
          <p:nvPr/>
        </p:nvSpPr>
        <p:spPr>
          <a:xfrm>
            <a:off x="8869680" y="1751838"/>
            <a:ext cx="3017520" cy="402336"/>
          </a:xfrm>
          <a:prstGeom prst="rect">
            <a:avLst/>
          </a:prstGeom>
          <a:solidFill>
            <a:srgbClr val="FFF3E0"/>
          </a:solidFill>
          <a:ln w="1905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19" y="1779270"/>
            <a:ext cx="2880360" cy="347472"/>
          </a:xfrm>
          <a:prstGeom prst="rect">
            <a:avLst/>
          </a:prstGeom>
          <a:noFill/>
        </p:spPr>
        <p:txBody>
          <a:bodyPr wrap="square">
            <a:spAutoFit/>
          </a:bodyPr>
          <a:lstStyle/>
          <a:p>
            <a:pPr algn="ctr"/>
            <a:r>
              <a:rPr sz="1400" b="1" i="0">
                <a:solidFill>
                  <a:srgbClr val="FF6B35"/>
                </a:solidFill>
                <a:latin typeface="Calibri" panose="020F0502020204030204"/>
              </a:rPr>
              <a:t>$2,100–$2,300</a:t>
            </a:r>
            <a:endParaRPr sz="1400" b="1" i="0">
              <a:solidFill>
                <a:srgbClr val="FF6B35"/>
              </a:solidFill>
              <a:latin typeface="Calibri" panose="020F0502020204030204"/>
            </a:endParaRPr>
          </a:p>
        </p:txBody>
      </p:sp>
      <p:sp>
        <p:nvSpPr>
          <p:cNvPr id="26" name="Rectangle 25"/>
          <p:cNvSpPr/>
          <p:nvPr/>
        </p:nvSpPr>
        <p:spPr>
          <a:xfrm>
            <a:off x="274320" y="2218182"/>
            <a:ext cx="73152" cy="420624"/>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2218182"/>
            <a:ext cx="2487168"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 y="2245614"/>
            <a:ext cx="2359151" cy="201168"/>
          </a:xfrm>
          <a:prstGeom prst="rect">
            <a:avLst/>
          </a:prstGeom>
          <a:noFill/>
        </p:spPr>
        <p:txBody>
          <a:bodyPr wrap="square">
            <a:spAutoFit/>
          </a:bodyPr>
          <a:lstStyle/>
          <a:p>
            <a:pPr algn="l"/>
            <a:r>
              <a:rPr sz="900" b="1" i="0">
                <a:solidFill>
                  <a:srgbClr val="2C3E50"/>
                </a:solidFill>
                <a:latin typeface="Calibri" panose="020F0502020204030204"/>
              </a:rPr>
              <a:t>LLM Inference</a:t>
            </a:r>
            <a:endParaRPr sz="900" b="1" i="0">
              <a:solidFill>
                <a:srgbClr val="2C3E50"/>
              </a:solidFill>
              <a:latin typeface="Calibri" panose="020F0502020204030204"/>
            </a:endParaRPr>
          </a:p>
        </p:txBody>
      </p:sp>
      <p:sp>
        <p:nvSpPr>
          <p:cNvPr id="29" name="TextBox 28"/>
          <p:cNvSpPr txBox="1"/>
          <p:nvPr/>
        </p:nvSpPr>
        <p:spPr>
          <a:xfrm>
            <a:off x="402336" y="2437638"/>
            <a:ext cx="2359151" cy="182880"/>
          </a:xfrm>
          <a:prstGeom prst="rect">
            <a:avLst/>
          </a:prstGeom>
          <a:noFill/>
        </p:spPr>
        <p:txBody>
          <a:bodyPr wrap="square">
            <a:spAutoFit/>
          </a:bodyPr>
          <a:lstStyle/>
          <a:p>
            <a:pPr algn="l"/>
            <a:r>
              <a:rPr sz="750" b="0" i="1">
                <a:solidFill>
                  <a:srgbClr val="7F8C8D"/>
                </a:solidFill>
                <a:latin typeface="Calibri" panose="020F0502020204030204"/>
              </a:rPr>
              <a:t>Router + specialist agents
+ emergency model</a:t>
            </a:r>
            <a:endParaRPr sz="750" b="0" i="1">
              <a:solidFill>
                <a:srgbClr val="7F8C8D"/>
              </a:solidFill>
              <a:latin typeface="Calibri" panose="020F0502020204030204"/>
            </a:endParaRPr>
          </a:p>
        </p:txBody>
      </p:sp>
      <p:sp>
        <p:nvSpPr>
          <p:cNvPr id="30" name="Rectangle 29"/>
          <p:cNvSpPr/>
          <p:nvPr/>
        </p:nvSpPr>
        <p:spPr>
          <a:xfrm>
            <a:off x="2834639" y="2218182"/>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79" y="2273046"/>
            <a:ext cx="2852927" cy="329184"/>
          </a:xfrm>
          <a:prstGeom prst="rect">
            <a:avLst/>
          </a:prstGeom>
          <a:noFill/>
        </p:spPr>
        <p:txBody>
          <a:bodyPr wrap="square">
            <a:spAutoFit/>
          </a:bodyPr>
          <a:lstStyle/>
          <a:p>
            <a:pPr algn="ctr"/>
            <a:r>
              <a:rPr sz="1000" b="1" i="0">
                <a:solidFill>
                  <a:srgbClr val="5D1DC7"/>
                </a:solidFill>
                <a:latin typeface="Calibri" panose="020F0502020204030204"/>
              </a:rPr>
              <a:t>$1,455 / mo</a:t>
            </a:r>
            <a:endParaRPr sz="1000" b="1" i="0">
              <a:solidFill>
                <a:srgbClr val="5D1DC7"/>
              </a:solidFill>
              <a:latin typeface="Calibri" panose="020F0502020204030204"/>
            </a:endParaRPr>
          </a:p>
        </p:txBody>
      </p:sp>
      <p:sp>
        <p:nvSpPr>
          <p:cNvPr id="32" name="Rectangle 31"/>
          <p:cNvSpPr/>
          <p:nvPr/>
        </p:nvSpPr>
        <p:spPr>
          <a:xfrm>
            <a:off x="5852159" y="2218182"/>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599" y="2273046"/>
            <a:ext cx="2852927" cy="329184"/>
          </a:xfrm>
          <a:prstGeom prst="rect">
            <a:avLst/>
          </a:prstGeom>
          <a:noFill/>
        </p:spPr>
        <p:txBody>
          <a:bodyPr wrap="square">
            <a:spAutoFit/>
          </a:bodyPr>
          <a:lstStyle/>
          <a:p>
            <a:pPr algn="ctr"/>
            <a:r>
              <a:rPr sz="1000" b="1" i="0">
                <a:solidFill>
                  <a:srgbClr val="CC4F1F"/>
                </a:solidFill>
                <a:latin typeface="Calibri" panose="020F0502020204030204"/>
              </a:rPr>
              <a:t>$553 / mo</a:t>
            </a:r>
            <a:endParaRPr sz="1000" b="1" i="0">
              <a:solidFill>
                <a:srgbClr val="CC4F1F"/>
              </a:solidFill>
              <a:latin typeface="Calibri" panose="020F0502020204030204"/>
            </a:endParaRPr>
          </a:p>
        </p:txBody>
      </p:sp>
      <p:sp>
        <p:nvSpPr>
          <p:cNvPr id="34" name="Rectangle 33"/>
          <p:cNvSpPr/>
          <p:nvPr/>
        </p:nvSpPr>
        <p:spPr>
          <a:xfrm>
            <a:off x="8869680" y="2218182"/>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19" y="2273046"/>
            <a:ext cx="2852927" cy="329184"/>
          </a:xfrm>
          <a:prstGeom prst="rect">
            <a:avLst/>
          </a:prstGeom>
          <a:noFill/>
        </p:spPr>
        <p:txBody>
          <a:bodyPr wrap="square">
            <a:spAutoFit/>
          </a:bodyPr>
          <a:lstStyle/>
          <a:p>
            <a:pPr algn="ctr"/>
            <a:r>
              <a:rPr sz="1000" b="1" i="0">
                <a:solidFill>
                  <a:srgbClr val="FF6B35"/>
                </a:solidFill>
                <a:latin typeface="Calibri" panose="020F0502020204030204"/>
              </a:rPr>
              <a:t>$107 / mo</a:t>
            </a:r>
            <a:endParaRPr sz="1000" b="1" i="0">
              <a:solidFill>
                <a:srgbClr val="FF6B35"/>
              </a:solidFill>
              <a:latin typeface="Calibri" panose="020F0502020204030204"/>
            </a:endParaRPr>
          </a:p>
        </p:txBody>
      </p:sp>
      <p:sp>
        <p:nvSpPr>
          <p:cNvPr id="36" name="Rectangle 35"/>
          <p:cNvSpPr/>
          <p:nvPr/>
        </p:nvSpPr>
        <p:spPr>
          <a:xfrm>
            <a:off x="274320" y="2638806"/>
            <a:ext cx="73152" cy="420624"/>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7472" y="2638806"/>
            <a:ext cx="2487168"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2336" y="2666238"/>
            <a:ext cx="2359151" cy="201168"/>
          </a:xfrm>
          <a:prstGeom prst="rect">
            <a:avLst/>
          </a:prstGeom>
          <a:noFill/>
        </p:spPr>
        <p:txBody>
          <a:bodyPr wrap="square">
            <a:spAutoFit/>
          </a:bodyPr>
          <a:lstStyle/>
          <a:p>
            <a:pPr algn="l"/>
            <a:r>
              <a:rPr sz="900" b="1" i="0">
                <a:solidFill>
                  <a:srgbClr val="2C3E50"/>
                </a:solidFill>
                <a:latin typeface="Calibri" panose="020F0502020204030204"/>
              </a:rPr>
              <a:t>Student Inference Endpoint</a:t>
            </a:r>
            <a:endParaRPr sz="900" b="1" i="0">
              <a:solidFill>
                <a:srgbClr val="2C3E50"/>
              </a:solidFill>
              <a:latin typeface="Calibri" panose="020F0502020204030204"/>
            </a:endParaRPr>
          </a:p>
        </p:txBody>
      </p:sp>
      <p:sp>
        <p:nvSpPr>
          <p:cNvPr id="39" name="TextBox 38"/>
          <p:cNvSpPr txBox="1"/>
          <p:nvPr/>
        </p:nvSpPr>
        <p:spPr>
          <a:xfrm>
            <a:off x="402336" y="2858261"/>
            <a:ext cx="2359151" cy="182880"/>
          </a:xfrm>
          <a:prstGeom prst="rect">
            <a:avLst/>
          </a:prstGeom>
          <a:noFill/>
        </p:spPr>
        <p:txBody>
          <a:bodyPr wrap="square">
            <a:spAutoFit/>
          </a:bodyPr>
          <a:lstStyle/>
          <a:p>
            <a:pPr algn="l"/>
            <a:r>
              <a:rPr sz="750" b="0" i="1">
                <a:solidFill>
                  <a:srgbClr val="7F8C8D"/>
                </a:solidFill>
                <a:latin typeface="Calibri" panose="020F0502020204030204"/>
              </a:rPr>
              <a:t>Fine-tuned model (SageMaker scale-to-0
/ PAI-EAS min=1 auto-scale)</a:t>
            </a:r>
            <a:endParaRPr sz="750" b="0" i="1">
              <a:solidFill>
                <a:srgbClr val="7F8C8D"/>
              </a:solidFill>
              <a:latin typeface="Calibri" panose="020F0502020204030204"/>
            </a:endParaRPr>
          </a:p>
        </p:txBody>
      </p:sp>
      <p:sp>
        <p:nvSpPr>
          <p:cNvPr id="40" name="Rectangle 39"/>
          <p:cNvSpPr/>
          <p:nvPr/>
        </p:nvSpPr>
        <p:spPr>
          <a:xfrm>
            <a:off x="2834639" y="2638806"/>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79" y="2693670"/>
            <a:ext cx="2852927" cy="329184"/>
          </a:xfrm>
          <a:prstGeom prst="rect">
            <a:avLst/>
          </a:prstGeom>
          <a:noFill/>
        </p:spPr>
        <p:txBody>
          <a:bodyPr wrap="square">
            <a:spAutoFit/>
          </a:bodyPr>
          <a:lstStyle/>
          <a:p>
            <a:pPr algn="ctr"/>
            <a:r>
              <a:rPr sz="1000" b="0" i="1">
                <a:solidFill>
                  <a:srgbClr val="7F8C8D"/>
                </a:solidFill>
                <a:latin typeface="Calibri" panose="020F0502020204030204"/>
              </a:rPr>
              <a:t>—
(no student model)</a:t>
            </a:r>
            <a:endParaRPr sz="1000" b="0" i="1">
              <a:solidFill>
                <a:srgbClr val="7F8C8D"/>
              </a:solidFill>
              <a:latin typeface="Calibri" panose="020F0502020204030204"/>
            </a:endParaRPr>
          </a:p>
        </p:txBody>
      </p:sp>
      <p:sp>
        <p:nvSpPr>
          <p:cNvPr id="42" name="Rectangle 41"/>
          <p:cNvSpPr/>
          <p:nvPr/>
        </p:nvSpPr>
        <p:spPr>
          <a:xfrm>
            <a:off x="5852159" y="2638806"/>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599" y="2693670"/>
            <a:ext cx="2852927" cy="329184"/>
          </a:xfrm>
          <a:prstGeom prst="rect">
            <a:avLst/>
          </a:prstGeom>
          <a:noFill/>
        </p:spPr>
        <p:txBody>
          <a:bodyPr wrap="square">
            <a:spAutoFit/>
          </a:bodyPr>
          <a:lstStyle/>
          <a:p>
            <a:pPr algn="ctr"/>
            <a:r>
              <a:rPr sz="1000" b="1" i="0">
                <a:solidFill>
                  <a:srgbClr val="CC4F1F"/>
                </a:solidFill>
                <a:latin typeface="Calibri" panose="020F0502020204030204"/>
              </a:rPr>
              <a:t>$710 / mo
(360hr, scale-to-0)</a:t>
            </a:r>
            <a:endParaRPr sz="1000" b="1" i="0">
              <a:solidFill>
                <a:srgbClr val="CC4F1F"/>
              </a:solidFill>
              <a:latin typeface="Calibri" panose="020F0502020204030204"/>
            </a:endParaRPr>
          </a:p>
        </p:txBody>
      </p:sp>
      <p:sp>
        <p:nvSpPr>
          <p:cNvPr id="44" name="Rectangle 43"/>
          <p:cNvSpPr/>
          <p:nvPr/>
        </p:nvSpPr>
        <p:spPr>
          <a:xfrm>
            <a:off x="8869680" y="2638806"/>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19" y="2693670"/>
            <a:ext cx="2852927" cy="329184"/>
          </a:xfrm>
          <a:prstGeom prst="rect">
            <a:avLst/>
          </a:prstGeom>
          <a:noFill/>
        </p:spPr>
        <p:txBody>
          <a:bodyPr wrap="square">
            <a:spAutoFit/>
          </a:bodyPr>
          <a:lstStyle/>
          <a:p>
            <a:pPr algn="ctr"/>
            <a:r>
              <a:rPr sz="1000" b="1" i="0">
                <a:solidFill>
                  <a:srgbClr val="FF6B35"/>
                </a:solidFill>
                <a:latin typeface="Calibri" panose="020F0502020204030204"/>
              </a:rPr>
              <a:t>$918 / mo
(min=1, 85% util)</a:t>
            </a:r>
            <a:endParaRPr sz="1000" b="1" i="0">
              <a:solidFill>
                <a:srgbClr val="FF6B35"/>
              </a:solidFill>
              <a:latin typeface="Calibri" panose="020F0502020204030204"/>
            </a:endParaRPr>
          </a:p>
        </p:txBody>
      </p:sp>
      <p:sp>
        <p:nvSpPr>
          <p:cNvPr id="46" name="Rectangle 45"/>
          <p:cNvSpPr/>
          <p:nvPr/>
        </p:nvSpPr>
        <p:spPr>
          <a:xfrm>
            <a:off x="274320" y="3059430"/>
            <a:ext cx="73152" cy="420624"/>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7472" y="3059430"/>
            <a:ext cx="2487168"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2336" y="3086861"/>
            <a:ext cx="2359151" cy="201168"/>
          </a:xfrm>
          <a:prstGeom prst="rect">
            <a:avLst/>
          </a:prstGeom>
          <a:noFill/>
        </p:spPr>
        <p:txBody>
          <a:bodyPr wrap="square">
            <a:spAutoFit/>
          </a:bodyPr>
          <a:lstStyle/>
          <a:p>
            <a:pPr algn="l"/>
            <a:r>
              <a:rPr sz="900" b="1" i="0">
                <a:solidFill>
                  <a:srgbClr val="2C3E50"/>
                </a:solidFill>
                <a:latin typeface="Calibri" panose="020F0502020204030204"/>
              </a:rPr>
              <a:t>RAG / Knowledge Base</a:t>
            </a:r>
            <a:endParaRPr sz="900" b="1" i="0">
              <a:solidFill>
                <a:srgbClr val="2C3E50"/>
              </a:solidFill>
              <a:latin typeface="Calibri" panose="020F0502020204030204"/>
            </a:endParaRPr>
          </a:p>
        </p:txBody>
      </p:sp>
      <p:sp>
        <p:nvSpPr>
          <p:cNvPr id="49" name="TextBox 48"/>
          <p:cNvSpPr txBox="1"/>
          <p:nvPr/>
        </p:nvSpPr>
        <p:spPr>
          <a:xfrm>
            <a:off x="402336" y="3278885"/>
            <a:ext cx="2359151" cy="182880"/>
          </a:xfrm>
          <a:prstGeom prst="rect">
            <a:avLst/>
          </a:prstGeom>
          <a:noFill/>
        </p:spPr>
        <p:txBody>
          <a:bodyPr wrap="square">
            <a:spAutoFit/>
          </a:bodyPr>
          <a:lstStyle/>
          <a:p>
            <a:pPr algn="l"/>
            <a:r>
              <a:rPr sz="750" b="0" i="1">
                <a:solidFill>
                  <a:srgbClr val="7F8C8D"/>
                </a:solidFill>
                <a:latin typeface="Calibri" panose="020F0502020204030204"/>
              </a:rPr>
              <a:t>Vector store + GraphRAG
(OpenSearch + Neptune/AnalyticDB)</a:t>
            </a:r>
            <a:endParaRPr sz="750" b="0" i="1">
              <a:solidFill>
                <a:srgbClr val="7F8C8D"/>
              </a:solidFill>
              <a:latin typeface="Calibri" panose="020F0502020204030204"/>
            </a:endParaRPr>
          </a:p>
        </p:txBody>
      </p:sp>
      <p:sp>
        <p:nvSpPr>
          <p:cNvPr id="50" name="Rectangle 49"/>
          <p:cNvSpPr/>
          <p:nvPr/>
        </p:nvSpPr>
        <p:spPr>
          <a:xfrm>
            <a:off x="2834639" y="3059430"/>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79" y="3114294"/>
            <a:ext cx="2852927" cy="329184"/>
          </a:xfrm>
          <a:prstGeom prst="rect">
            <a:avLst/>
          </a:prstGeom>
          <a:noFill/>
        </p:spPr>
        <p:txBody>
          <a:bodyPr wrap="square">
            <a:spAutoFit/>
          </a:bodyPr>
          <a:lstStyle/>
          <a:p>
            <a:pPr algn="ctr"/>
            <a:r>
              <a:rPr sz="1000" b="1" i="0">
                <a:solidFill>
                  <a:srgbClr val="5D1DC7"/>
                </a:solidFill>
                <a:latin typeface="Calibri" panose="020F0502020204030204"/>
              </a:rPr>
              <a:t>$461 / mo</a:t>
            </a:r>
            <a:endParaRPr sz="1000" b="1" i="0">
              <a:solidFill>
                <a:srgbClr val="5D1DC7"/>
              </a:solidFill>
              <a:latin typeface="Calibri" panose="020F0502020204030204"/>
            </a:endParaRPr>
          </a:p>
        </p:txBody>
      </p:sp>
      <p:sp>
        <p:nvSpPr>
          <p:cNvPr id="52" name="Rectangle 51"/>
          <p:cNvSpPr/>
          <p:nvPr/>
        </p:nvSpPr>
        <p:spPr>
          <a:xfrm>
            <a:off x="5852159" y="3059430"/>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599" y="3114294"/>
            <a:ext cx="2852927" cy="329184"/>
          </a:xfrm>
          <a:prstGeom prst="rect">
            <a:avLst/>
          </a:prstGeom>
          <a:noFill/>
        </p:spPr>
        <p:txBody>
          <a:bodyPr wrap="square">
            <a:spAutoFit/>
          </a:bodyPr>
          <a:lstStyle/>
          <a:p>
            <a:pPr algn="ctr"/>
            <a:r>
              <a:rPr sz="1000" b="1" i="0">
                <a:solidFill>
                  <a:srgbClr val="CC4F1F"/>
                </a:solidFill>
                <a:latin typeface="Calibri" panose="020F0502020204030204"/>
              </a:rPr>
              <a:t>$461 / mo</a:t>
            </a:r>
            <a:endParaRPr sz="1000" b="1" i="0">
              <a:solidFill>
                <a:srgbClr val="CC4F1F"/>
              </a:solidFill>
              <a:latin typeface="Calibri" panose="020F0502020204030204"/>
            </a:endParaRPr>
          </a:p>
        </p:txBody>
      </p:sp>
      <p:sp>
        <p:nvSpPr>
          <p:cNvPr id="54" name="Rectangle 53"/>
          <p:cNvSpPr/>
          <p:nvPr/>
        </p:nvSpPr>
        <p:spPr>
          <a:xfrm>
            <a:off x="8869680" y="3059430"/>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3114294"/>
            <a:ext cx="2852927" cy="329184"/>
          </a:xfrm>
          <a:prstGeom prst="rect">
            <a:avLst/>
          </a:prstGeom>
          <a:noFill/>
        </p:spPr>
        <p:txBody>
          <a:bodyPr wrap="square">
            <a:spAutoFit/>
          </a:bodyPr>
          <a:lstStyle/>
          <a:p>
            <a:pPr algn="ctr"/>
            <a:r>
              <a:rPr sz="1000" b="1" i="0">
                <a:solidFill>
                  <a:srgbClr val="FF6B35"/>
                </a:solidFill>
                <a:latin typeface="Calibri" panose="020F0502020204030204"/>
              </a:rPr>
              <a:t>$519 / mo</a:t>
            </a:r>
            <a:endParaRPr sz="1000" b="1" i="0">
              <a:solidFill>
                <a:srgbClr val="FF6B35"/>
              </a:solidFill>
              <a:latin typeface="Calibri" panose="020F0502020204030204"/>
            </a:endParaRPr>
          </a:p>
        </p:txBody>
      </p:sp>
      <p:sp>
        <p:nvSpPr>
          <p:cNvPr id="56" name="Rectangle 55"/>
          <p:cNvSpPr/>
          <p:nvPr/>
        </p:nvSpPr>
        <p:spPr>
          <a:xfrm>
            <a:off x="274320" y="3480054"/>
            <a:ext cx="73152" cy="420624"/>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47472" y="3480054"/>
            <a:ext cx="2487168"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02336" y="3507485"/>
            <a:ext cx="2359151" cy="201168"/>
          </a:xfrm>
          <a:prstGeom prst="rect">
            <a:avLst/>
          </a:prstGeom>
          <a:noFill/>
        </p:spPr>
        <p:txBody>
          <a:bodyPr wrap="square">
            <a:spAutoFit/>
          </a:bodyPr>
          <a:lstStyle/>
          <a:p>
            <a:pPr algn="l"/>
            <a:r>
              <a:rPr sz="900" b="1" i="0">
                <a:solidFill>
                  <a:srgbClr val="2C3E50"/>
                </a:solidFill>
                <a:latin typeface="Calibri" panose="020F0502020204030204"/>
              </a:rPr>
              <a:t>Semantic Cache</a:t>
            </a:r>
            <a:endParaRPr sz="900" b="1" i="0">
              <a:solidFill>
                <a:srgbClr val="2C3E50"/>
              </a:solidFill>
              <a:latin typeface="Calibri" panose="020F0502020204030204"/>
            </a:endParaRPr>
          </a:p>
        </p:txBody>
      </p:sp>
      <p:sp>
        <p:nvSpPr>
          <p:cNvPr id="59" name="TextBox 58"/>
          <p:cNvSpPr txBox="1"/>
          <p:nvPr/>
        </p:nvSpPr>
        <p:spPr>
          <a:xfrm>
            <a:off x="402336" y="3699509"/>
            <a:ext cx="2359151" cy="182880"/>
          </a:xfrm>
          <a:prstGeom prst="rect">
            <a:avLst/>
          </a:prstGeom>
          <a:noFill/>
        </p:spPr>
        <p:txBody>
          <a:bodyPr wrap="square">
            <a:spAutoFit/>
          </a:bodyPr>
          <a:lstStyle/>
          <a:p>
            <a:pPr algn="l"/>
            <a:r>
              <a:rPr sz="750" b="0" i="1">
                <a:solidFill>
                  <a:srgbClr val="7F8C8D"/>
                </a:solidFill>
                <a:latin typeface="Calibri" panose="020F0502020204030204"/>
              </a:rPr>
              <a:t>Redis/Tair in-memory cache
(10min emergency / 24hr complex TTL)</a:t>
            </a:r>
            <a:endParaRPr sz="750" b="0" i="1">
              <a:solidFill>
                <a:srgbClr val="7F8C8D"/>
              </a:solidFill>
              <a:latin typeface="Calibri" panose="020F0502020204030204"/>
            </a:endParaRPr>
          </a:p>
        </p:txBody>
      </p:sp>
      <p:sp>
        <p:nvSpPr>
          <p:cNvPr id="60" name="Rectangle 59"/>
          <p:cNvSpPr/>
          <p:nvPr/>
        </p:nvSpPr>
        <p:spPr>
          <a:xfrm>
            <a:off x="2834639" y="3480054"/>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926079" y="3534918"/>
            <a:ext cx="2852927" cy="329184"/>
          </a:xfrm>
          <a:prstGeom prst="rect">
            <a:avLst/>
          </a:prstGeom>
          <a:noFill/>
        </p:spPr>
        <p:txBody>
          <a:bodyPr wrap="square">
            <a:spAutoFit/>
          </a:bodyPr>
          <a:lstStyle/>
          <a:p>
            <a:pPr algn="ctr"/>
            <a:r>
              <a:rPr sz="1000" b="1" i="0">
                <a:solidFill>
                  <a:srgbClr val="5D1DC7"/>
                </a:solidFill>
                <a:latin typeface="Calibri" panose="020F0502020204030204"/>
              </a:rPr>
              <a:t>$120 / mo</a:t>
            </a:r>
            <a:endParaRPr sz="1000" b="1" i="0">
              <a:solidFill>
                <a:srgbClr val="5D1DC7"/>
              </a:solidFill>
              <a:latin typeface="Calibri" panose="020F0502020204030204"/>
            </a:endParaRPr>
          </a:p>
        </p:txBody>
      </p:sp>
      <p:sp>
        <p:nvSpPr>
          <p:cNvPr id="62" name="Rectangle 61"/>
          <p:cNvSpPr/>
          <p:nvPr/>
        </p:nvSpPr>
        <p:spPr>
          <a:xfrm>
            <a:off x="5852159" y="3480054"/>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599" y="3534918"/>
            <a:ext cx="2852927" cy="329184"/>
          </a:xfrm>
          <a:prstGeom prst="rect">
            <a:avLst/>
          </a:prstGeom>
          <a:noFill/>
        </p:spPr>
        <p:txBody>
          <a:bodyPr wrap="square">
            <a:spAutoFit/>
          </a:bodyPr>
          <a:lstStyle/>
          <a:p>
            <a:pPr algn="ctr"/>
            <a:r>
              <a:rPr sz="1000" b="1" i="0">
                <a:solidFill>
                  <a:srgbClr val="CC4F1F"/>
                </a:solidFill>
                <a:latin typeface="Calibri" panose="020F0502020204030204"/>
              </a:rPr>
              <a:t>$120 / mo</a:t>
            </a:r>
            <a:endParaRPr sz="1000" b="1" i="0">
              <a:solidFill>
                <a:srgbClr val="CC4F1F"/>
              </a:solidFill>
              <a:latin typeface="Calibri" panose="020F0502020204030204"/>
            </a:endParaRPr>
          </a:p>
        </p:txBody>
      </p:sp>
      <p:sp>
        <p:nvSpPr>
          <p:cNvPr id="64" name="Rectangle 63"/>
          <p:cNvSpPr/>
          <p:nvPr/>
        </p:nvSpPr>
        <p:spPr>
          <a:xfrm>
            <a:off x="8869680" y="3480054"/>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961119" y="3534918"/>
            <a:ext cx="2852927" cy="329184"/>
          </a:xfrm>
          <a:prstGeom prst="rect">
            <a:avLst/>
          </a:prstGeom>
          <a:noFill/>
        </p:spPr>
        <p:txBody>
          <a:bodyPr wrap="square">
            <a:spAutoFit/>
          </a:bodyPr>
          <a:lstStyle/>
          <a:p>
            <a:pPr algn="ctr"/>
            <a:r>
              <a:rPr sz="1000" b="1" i="0">
                <a:solidFill>
                  <a:srgbClr val="FF6B35"/>
                </a:solidFill>
                <a:latin typeface="Calibri" panose="020F0502020204030204"/>
              </a:rPr>
              <a:t>$60 / mo</a:t>
            </a:r>
            <a:endParaRPr sz="1000" b="1" i="0">
              <a:solidFill>
                <a:srgbClr val="FF6B35"/>
              </a:solidFill>
              <a:latin typeface="Calibri" panose="020F0502020204030204"/>
            </a:endParaRPr>
          </a:p>
        </p:txBody>
      </p:sp>
      <p:sp>
        <p:nvSpPr>
          <p:cNvPr id="66" name="Rectangle 65"/>
          <p:cNvSpPr/>
          <p:nvPr/>
        </p:nvSpPr>
        <p:spPr>
          <a:xfrm>
            <a:off x="274320" y="3900678"/>
            <a:ext cx="73152" cy="420624"/>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47472" y="3900678"/>
            <a:ext cx="2487168"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2336" y="3928110"/>
            <a:ext cx="2359151" cy="201168"/>
          </a:xfrm>
          <a:prstGeom prst="rect">
            <a:avLst/>
          </a:prstGeom>
          <a:noFill/>
        </p:spPr>
        <p:txBody>
          <a:bodyPr wrap="square">
            <a:spAutoFit/>
          </a:bodyPr>
          <a:lstStyle/>
          <a:p>
            <a:pPr algn="l"/>
            <a:r>
              <a:rPr sz="900" b="1" i="0">
                <a:solidFill>
                  <a:srgbClr val="2C3E50"/>
                </a:solidFill>
                <a:latin typeface="Calibri" panose="020F0502020204030204"/>
              </a:rPr>
              <a:t>Fine-tuning (monthly)</a:t>
            </a:r>
            <a:endParaRPr sz="900" b="1" i="0">
              <a:solidFill>
                <a:srgbClr val="2C3E50"/>
              </a:solidFill>
              <a:latin typeface="Calibri" panose="020F0502020204030204"/>
            </a:endParaRPr>
          </a:p>
        </p:txBody>
      </p:sp>
      <p:sp>
        <p:nvSpPr>
          <p:cNvPr id="69" name="TextBox 68"/>
          <p:cNvSpPr txBox="1"/>
          <p:nvPr/>
        </p:nvSpPr>
        <p:spPr>
          <a:xfrm>
            <a:off x="402336" y="4120134"/>
            <a:ext cx="2359151" cy="182880"/>
          </a:xfrm>
          <a:prstGeom prst="rect">
            <a:avLst/>
          </a:prstGeom>
          <a:noFill/>
        </p:spPr>
        <p:txBody>
          <a:bodyPr wrap="square">
            <a:spAutoFit/>
          </a:bodyPr>
          <a:lstStyle/>
          <a:p>
            <a:pPr algn="l"/>
            <a:r>
              <a:rPr sz="750" b="0" i="1">
                <a:solidFill>
                  <a:srgbClr val="7F8C8D"/>
                </a:solidFill>
                <a:latin typeface="Calibri" panose="020F0502020204030204"/>
              </a:rPr>
              <a:t>Data generation + GPU training
+ model storage</a:t>
            </a:r>
            <a:endParaRPr sz="750" b="0" i="1">
              <a:solidFill>
                <a:srgbClr val="7F8C8D"/>
              </a:solidFill>
              <a:latin typeface="Calibri" panose="020F0502020204030204"/>
            </a:endParaRPr>
          </a:p>
        </p:txBody>
      </p:sp>
      <p:sp>
        <p:nvSpPr>
          <p:cNvPr id="70" name="Rectangle 69"/>
          <p:cNvSpPr/>
          <p:nvPr/>
        </p:nvSpPr>
        <p:spPr>
          <a:xfrm>
            <a:off x="2834639" y="3900678"/>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26079" y="3955542"/>
            <a:ext cx="2852927" cy="329184"/>
          </a:xfrm>
          <a:prstGeom prst="rect">
            <a:avLst/>
          </a:prstGeom>
          <a:noFill/>
        </p:spPr>
        <p:txBody>
          <a:bodyPr wrap="square">
            <a:spAutoFit/>
          </a:bodyPr>
          <a:lstStyle/>
          <a:p>
            <a:pPr algn="ctr"/>
            <a:r>
              <a:rPr sz="1000" b="0" i="1">
                <a:solidFill>
                  <a:srgbClr val="7F8C8D"/>
                </a:solidFill>
                <a:latin typeface="Calibri" panose="020F0502020204030204"/>
              </a:rPr>
              <a:t>—
(no fine-tuning)</a:t>
            </a:r>
            <a:endParaRPr sz="1000" b="0" i="1">
              <a:solidFill>
                <a:srgbClr val="7F8C8D"/>
              </a:solidFill>
              <a:latin typeface="Calibri" panose="020F0502020204030204"/>
            </a:endParaRPr>
          </a:p>
        </p:txBody>
      </p:sp>
      <p:sp>
        <p:nvSpPr>
          <p:cNvPr id="72" name="Rectangle 71"/>
          <p:cNvSpPr/>
          <p:nvPr/>
        </p:nvSpPr>
        <p:spPr>
          <a:xfrm>
            <a:off x="5852159" y="3900678"/>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599" y="3955542"/>
            <a:ext cx="2852927" cy="329184"/>
          </a:xfrm>
          <a:prstGeom prst="rect">
            <a:avLst/>
          </a:prstGeom>
          <a:noFill/>
        </p:spPr>
        <p:txBody>
          <a:bodyPr wrap="square">
            <a:spAutoFit/>
          </a:bodyPr>
          <a:lstStyle/>
          <a:p>
            <a:pPr algn="ctr"/>
            <a:r>
              <a:rPr sz="1000" b="1" i="0">
                <a:solidFill>
                  <a:srgbClr val="CC4F1F"/>
                </a:solidFill>
                <a:latin typeface="Calibri" panose="020F0502020204030204"/>
              </a:rPr>
              <a:t>$17 / mo</a:t>
            </a:r>
            <a:endParaRPr sz="1000" b="1" i="0">
              <a:solidFill>
                <a:srgbClr val="CC4F1F"/>
              </a:solidFill>
              <a:latin typeface="Calibri" panose="020F0502020204030204"/>
            </a:endParaRPr>
          </a:p>
        </p:txBody>
      </p:sp>
      <p:sp>
        <p:nvSpPr>
          <p:cNvPr id="74" name="Rectangle 73"/>
          <p:cNvSpPr/>
          <p:nvPr/>
        </p:nvSpPr>
        <p:spPr>
          <a:xfrm>
            <a:off x="8869680" y="3900678"/>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961119" y="3955542"/>
            <a:ext cx="2852927" cy="329184"/>
          </a:xfrm>
          <a:prstGeom prst="rect">
            <a:avLst/>
          </a:prstGeom>
          <a:noFill/>
        </p:spPr>
        <p:txBody>
          <a:bodyPr wrap="square">
            <a:spAutoFit/>
          </a:bodyPr>
          <a:lstStyle/>
          <a:p>
            <a:pPr algn="ctr"/>
            <a:r>
              <a:rPr sz="1000" b="1" i="0">
                <a:solidFill>
                  <a:srgbClr val="FF6B35"/>
                </a:solidFill>
                <a:latin typeface="Calibri" panose="020F0502020204030204"/>
              </a:rPr>
              <a:t>$9 / mo</a:t>
            </a:r>
            <a:endParaRPr sz="1000" b="1" i="0">
              <a:solidFill>
                <a:srgbClr val="FF6B35"/>
              </a:solidFill>
              <a:latin typeface="Calibri" panose="020F0502020204030204"/>
            </a:endParaRPr>
          </a:p>
        </p:txBody>
      </p:sp>
      <p:sp>
        <p:nvSpPr>
          <p:cNvPr id="76" name="Rectangle 75"/>
          <p:cNvSpPr/>
          <p:nvPr/>
        </p:nvSpPr>
        <p:spPr>
          <a:xfrm>
            <a:off x="274320" y="4321302"/>
            <a:ext cx="73152" cy="420624"/>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47472" y="4321302"/>
            <a:ext cx="2487168"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02336" y="4348734"/>
            <a:ext cx="2359151" cy="201168"/>
          </a:xfrm>
          <a:prstGeom prst="rect">
            <a:avLst/>
          </a:prstGeom>
          <a:noFill/>
        </p:spPr>
        <p:txBody>
          <a:bodyPr wrap="square">
            <a:spAutoFit/>
          </a:bodyPr>
          <a:lstStyle/>
          <a:p>
            <a:pPr algn="l"/>
            <a:r>
              <a:rPr sz="900" b="1" i="0">
                <a:solidFill>
                  <a:srgbClr val="2C3E50"/>
                </a:solidFill>
                <a:latin typeface="Calibri" panose="020F0502020204030204"/>
              </a:rPr>
              <a:t>Compute / Serverless</a:t>
            </a:r>
            <a:endParaRPr sz="900" b="1" i="0">
              <a:solidFill>
                <a:srgbClr val="2C3E50"/>
              </a:solidFill>
              <a:latin typeface="Calibri" panose="020F0502020204030204"/>
            </a:endParaRPr>
          </a:p>
        </p:txBody>
      </p:sp>
      <p:sp>
        <p:nvSpPr>
          <p:cNvPr id="79" name="TextBox 78"/>
          <p:cNvSpPr txBox="1"/>
          <p:nvPr/>
        </p:nvSpPr>
        <p:spPr>
          <a:xfrm>
            <a:off x="402336" y="4540758"/>
            <a:ext cx="2359151" cy="182880"/>
          </a:xfrm>
          <a:prstGeom prst="rect">
            <a:avLst/>
          </a:prstGeom>
          <a:noFill/>
        </p:spPr>
        <p:txBody>
          <a:bodyPr wrap="square">
            <a:spAutoFit/>
          </a:bodyPr>
          <a:lstStyle/>
          <a:p>
            <a:pPr algn="l"/>
            <a:r>
              <a:rPr sz="750" b="0" i="1">
                <a:solidFill>
                  <a:srgbClr val="7F8C8D"/>
                </a:solidFill>
                <a:latin typeface="Calibri" panose="020F0502020204030204"/>
              </a:rPr>
              <a:t>API server EC2 / Function Compute
+ API Gateway</a:t>
            </a:r>
            <a:endParaRPr sz="750" b="0" i="1">
              <a:solidFill>
                <a:srgbClr val="7F8C8D"/>
              </a:solidFill>
              <a:latin typeface="Calibri" panose="020F0502020204030204"/>
            </a:endParaRPr>
          </a:p>
        </p:txBody>
      </p:sp>
      <p:sp>
        <p:nvSpPr>
          <p:cNvPr id="80" name="Rectangle 79"/>
          <p:cNvSpPr/>
          <p:nvPr/>
        </p:nvSpPr>
        <p:spPr>
          <a:xfrm>
            <a:off x="2834639" y="4321302"/>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26079" y="4376166"/>
            <a:ext cx="2852927" cy="329184"/>
          </a:xfrm>
          <a:prstGeom prst="rect">
            <a:avLst/>
          </a:prstGeom>
          <a:noFill/>
        </p:spPr>
        <p:txBody>
          <a:bodyPr wrap="square">
            <a:spAutoFit/>
          </a:bodyPr>
          <a:lstStyle/>
          <a:p>
            <a:pPr algn="ctr"/>
            <a:r>
              <a:rPr sz="1000" b="1" i="0">
                <a:solidFill>
                  <a:srgbClr val="5D1DC7"/>
                </a:solidFill>
                <a:latin typeface="Calibri" panose="020F0502020204030204"/>
              </a:rPr>
              <a:t>$67 / mo</a:t>
            </a:r>
            <a:endParaRPr sz="1000" b="1" i="0">
              <a:solidFill>
                <a:srgbClr val="5D1DC7"/>
              </a:solidFill>
              <a:latin typeface="Calibri" panose="020F0502020204030204"/>
            </a:endParaRPr>
          </a:p>
        </p:txBody>
      </p:sp>
      <p:sp>
        <p:nvSpPr>
          <p:cNvPr id="82" name="Rectangle 81"/>
          <p:cNvSpPr/>
          <p:nvPr/>
        </p:nvSpPr>
        <p:spPr>
          <a:xfrm>
            <a:off x="5852159" y="4321302"/>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43599" y="4376166"/>
            <a:ext cx="2852927" cy="329184"/>
          </a:xfrm>
          <a:prstGeom prst="rect">
            <a:avLst/>
          </a:prstGeom>
          <a:noFill/>
        </p:spPr>
        <p:txBody>
          <a:bodyPr wrap="square">
            <a:spAutoFit/>
          </a:bodyPr>
          <a:lstStyle/>
          <a:p>
            <a:pPr algn="ctr"/>
            <a:r>
              <a:rPr sz="1000" b="1" i="0">
                <a:solidFill>
                  <a:srgbClr val="CC4F1F"/>
                </a:solidFill>
                <a:latin typeface="Calibri" panose="020F0502020204030204"/>
              </a:rPr>
              <a:t>$67 / mo</a:t>
            </a:r>
            <a:endParaRPr sz="1000" b="1" i="0">
              <a:solidFill>
                <a:srgbClr val="CC4F1F"/>
              </a:solidFill>
              <a:latin typeface="Calibri" panose="020F0502020204030204"/>
            </a:endParaRPr>
          </a:p>
        </p:txBody>
      </p:sp>
      <p:sp>
        <p:nvSpPr>
          <p:cNvPr id="84" name="Rectangle 83"/>
          <p:cNvSpPr/>
          <p:nvPr/>
        </p:nvSpPr>
        <p:spPr>
          <a:xfrm>
            <a:off x="8869680" y="4321302"/>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961119" y="4376166"/>
            <a:ext cx="2852927" cy="329184"/>
          </a:xfrm>
          <a:prstGeom prst="rect">
            <a:avLst/>
          </a:prstGeom>
          <a:noFill/>
        </p:spPr>
        <p:txBody>
          <a:bodyPr wrap="square">
            <a:spAutoFit/>
          </a:bodyPr>
          <a:lstStyle/>
          <a:p>
            <a:pPr algn="ctr"/>
            <a:r>
              <a:rPr sz="1000" b="1" i="0">
                <a:solidFill>
                  <a:srgbClr val="FF6B35"/>
                </a:solidFill>
                <a:latin typeface="Calibri" panose="020F0502020204030204"/>
              </a:rPr>
              <a:t>$27 / mo</a:t>
            </a:r>
            <a:endParaRPr sz="1000" b="1" i="0">
              <a:solidFill>
                <a:srgbClr val="FF6B35"/>
              </a:solidFill>
              <a:latin typeface="Calibri" panose="020F0502020204030204"/>
            </a:endParaRPr>
          </a:p>
        </p:txBody>
      </p:sp>
      <p:sp>
        <p:nvSpPr>
          <p:cNvPr id="86" name="Rectangle 85"/>
          <p:cNvSpPr/>
          <p:nvPr/>
        </p:nvSpPr>
        <p:spPr>
          <a:xfrm>
            <a:off x="274320" y="4741926"/>
            <a:ext cx="73152" cy="420624"/>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47472" y="4741926"/>
            <a:ext cx="2487168"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02336" y="4769358"/>
            <a:ext cx="2359151" cy="201168"/>
          </a:xfrm>
          <a:prstGeom prst="rect">
            <a:avLst/>
          </a:prstGeom>
          <a:noFill/>
        </p:spPr>
        <p:txBody>
          <a:bodyPr wrap="square">
            <a:spAutoFit/>
          </a:bodyPr>
          <a:lstStyle/>
          <a:p>
            <a:pPr algn="l"/>
            <a:r>
              <a:rPr sz="900" b="1" i="0">
                <a:solidFill>
                  <a:srgbClr val="2C3E50"/>
                </a:solidFill>
                <a:latin typeface="Calibri" panose="020F0502020204030204"/>
              </a:rPr>
              <a:t>Storage + Logs</a:t>
            </a:r>
            <a:endParaRPr sz="900" b="1" i="0">
              <a:solidFill>
                <a:srgbClr val="2C3E50"/>
              </a:solidFill>
              <a:latin typeface="Calibri" panose="020F0502020204030204"/>
            </a:endParaRPr>
          </a:p>
        </p:txBody>
      </p:sp>
      <p:sp>
        <p:nvSpPr>
          <p:cNvPr id="89" name="TextBox 88"/>
          <p:cNvSpPr txBox="1"/>
          <p:nvPr/>
        </p:nvSpPr>
        <p:spPr>
          <a:xfrm>
            <a:off x="402336" y="4961382"/>
            <a:ext cx="2359151" cy="182880"/>
          </a:xfrm>
          <a:prstGeom prst="rect">
            <a:avLst/>
          </a:prstGeom>
          <a:noFill/>
        </p:spPr>
        <p:txBody>
          <a:bodyPr wrap="square">
            <a:spAutoFit/>
          </a:bodyPr>
          <a:lstStyle/>
          <a:p>
            <a:pPr algn="l"/>
            <a:r>
              <a:rPr sz="750" b="0" i="1">
                <a:solidFill>
                  <a:srgbClr val="7F8C8D"/>
                </a:solidFill>
                <a:latin typeface="Calibri" panose="020F0502020204030204"/>
              </a:rPr>
              <a:t>S3/OSS corpus + audit logs
+ WORM archive</a:t>
            </a:r>
            <a:endParaRPr sz="750" b="0" i="1">
              <a:solidFill>
                <a:srgbClr val="7F8C8D"/>
              </a:solidFill>
              <a:latin typeface="Calibri" panose="020F0502020204030204"/>
            </a:endParaRPr>
          </a:p>
        </p:txBody>
      </p:sp>
      <p:sp>
        <p:nvSpPr>
          <p:cNvPr id="90" name="Rectangle 89"/>
          <p:cNvSpPr/>
          <p:nvPr/>
        </p:nvSpPr>
        <p:spPr>
          <a:xfrm>
            <a:off x="2834639" y="4741926"/>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6079" y="4796790"/>
            <a:ext cx="2852927" cy="329184"/>
          </a:xfrm>
          <a:prstGeom prst="rect">
            <a:avLst/>
          </a:prstGeom>
          <a:noFill/>
        </p:spPr>
        <p:txBody>
          <a:bodyPr wrap="square">
            <a:spAutoFit/>
          </a:bodyPr>
          <a:lstStyle/>
          <a:p>
            <a:pPr algn="ctr"/>
            <a:r>
              <a:rPr sz="1000" b="1" i="0">
                <a:solidFill>
                  <a:srgbClr val="5D1DC7"/>
                </a:solidFill>
                <a:latin typeface="Calibri" panose="020F0502020204030204"/>
              </a:rPr>
              <a:t>$7 / mo</a:t>
            </a:r>
            <a:endParaRPr sz="1000" b="1" i="0">
              <a:solidFill>
                <a:srgbClr val="5D1DC7"/>
              </a:solidFill>
              <a:latin typeface="Calibri" panose="020F0502020204030204"/>
            </a:endParaRPr>
          </a:p>
        </p:txBody>
      </p:sp>
      <p:sp>
        <p:nvSpPr>
          <p:cNvPr id="92" name="Rectangle 91"/>
          <p:cNvSpPr/>
          <p:nvPr/>
        </p:nvSpPr>
        <p:spPr>
          <a:xfrm>
            <a:off x="5852159" y="4741926"/>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943599" y="4796790"/>
            <a:ext cx="2852927" cy="329184"/>
          </a:xfrm>
          <a:prstGeom prst="rect">
            <a:avLst/>
          </a:prstGeom>
          <a:noFill/>
        </p:spPr>
        <p:txBody>
          <a:bodyPr wrap="square">
            <a:spAutoFit/>
          </a:bodyPr>
          <a:lstStyle/>
          <a:p>
            <a:pPr algn="ctr"/>
            <a:r>
              <a:rPr sz="1000" b="1" i="0">
                <a:solidFill>
                  <a:srgbClr val="CC4F1F"/>
                </a:solidFill>
                <a:latin typeface="Calibri" panose="020F0502020204030204"/>
              </a:rPr>
              <a:t>$7 / mo</a:t>
            </a:r>
            <a:endParaRPr sz="1000" b="1" i="0">
              <a:solidFill>
                <a:srgbClr val="CC4F1F"/>
              </a:solidFill>
              <a:latin typeface="Calibri" panose="020F0502020204030204"/>
            </a:endParaRPr>
          </a:p>
        </p:txBody>
      </p:sp>
      <p:sp>
        <p:nvSpPr>
          <p:cNvPr id="94" name="Rectangle 93"/>
          <p:cNvSpPr/>
          <p:nvPr/>
        </p:nvSpPr>
        <p:spPr>
          <a:xfrm>
            <a:off x="8869680" y="4741926"/>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961119" y="4796790"/>
            <a:ext cx="2852927" cy="329184"/>
          </a:xfrm>
          <a:prstGeom prst="rect">
            <a:avLst/>
          </a:prstGeom>
          <a:noFill/>
        </p:spPr>
        <p:txBody>
          <a:bodyPr wrap="square">
            <a:spAutoFit/>
          </a:bodyPr>
          <a:lstStyle/>
          <a:p>
            <a:pPr algn="ctr"/>
            <a:r>
              <a:rPr sz="1000" b="1" i="0">
                <a:solidFill>
                  <a:srgbClr val="FF6B35"/>
                </a:solidFill>
                <a:latin typeface="Calibri" panose="020F0502020204030204"/>
              </a:rPr>
              <a:t>$8 / mo</a:t>
            </a:r>
            <a:endParaRPr sz="1000" b="1" i="0">
              <a:solidFill>
                <a:srgbClr val="FF6B35"/>
              </a:solidFill>
              <a:latin typeface="Calibri" panose="020F0502020204030204"/>
            </a:endParaRPr>
          </a:p>
        </p:txBody>
      </p:sp>
      <p:sp>
        <p:nvSpPr>
          <p:cNvPr id="96" name="Rectangle 95"/>
          <p:cNvSpPr/>
          <p:nvPr/>
        </p:nvSpPr>
        <p:spPr>
          <a:xfrm>
            <a:off x="274320" y="5162550"/>
            <a:ext cx="73152" cy="420624"/>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347472" y="5162550"/>
            <a:ext cx="2487168"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02336" y="5189982"/>
            <a:ext cx="2359151" cy="201168"/>
          </a:xfrm>
          <a:prstGeom prst="rect">
            <a:avLst/>
          </a:prstGeom>
          <a:noFill/>
        </p:spPr>
        <p:txBody>
          <a:bodyPr wrap="square">
            <a:spAutoFit/>
          </a:bodyPr>
          <a:lstStyle/>
          <a:p>
            <a:pPr algn="l"/>
            <a:r>
              <a:rPr sz="900" b="1" i="0">
                <a:solidFill>
                  <a:srgbClr val="2C3E50"/>
                </a:solidFill>
                <a:latin typeface="Calibri" panose="020F0502020204030204"/>
              </a:rPr>
              <a:t>Security / Observability</a:t>
            </a:r>
            <a:endParaRPr sz="900" b="1" i="0">
              <a:solidFill>
                <a:srgbClr val="2C3E50"/>
              </a:solidFill>
              <a:latin typeface="Calibri" panose="020F0502020204030204"/>
            </a:endParaRPr>
          </a:p>
        </p:txBody>
      </p:sp>
      <p:sp>
        <p:nvSpPr>
          <p:cNvPr id="99" name="TextBox 98"/>
          <p:cNvSpPr txBox="1"/>
          <p:nvPr/>
        </p:nvSpPr>
        <p:spPr>
          <a:xfrm>
            <a:off x="402336" y="5382006"/>
            <a:ext cx="2359151" cy="182880"/>
          </a:xfrm>
          <a:prstGeom prst="rect">
            <a:avLst/>
          </a:prstGeom>
          <a:noFill/>
        </p:spPr>
        <p:txBody>
          <a:bodyPr wrap="square">
            <a:spAutoFit/>
          </a:bodyPr>
          <a:lstStyle/>
          <a:p>
            <a:pPr algn="l"/>
            <a:r>
              <a:rPr sz="750" b="0" i="1">
                <a:solidFill>
                  <a:srgbClr val="7F8C8D"/>
                </a:solidFill>
                <a:latin typeface="Calibri" panose="020F0502020204030204"/>
              </a:rPr>
              <a:t>WAF + Guardrails + IAM
+ CloudWatch / ARMS</a:t>
            </a:r>
            <a:endParaRPr sz="750" b="0" i="1">
              <a:solidFill>
                <a:srgbClr val="7F8C8D"/>
              </a:solidFill>
              <a:latin typeface="Calibri" panose="020F0502020204030204"/>
            </a:endParaRPr>
          </a:p>
        </p:txBody>
      </p:sp>
      <p:sp>
        <p:nvSpPr>
          <p:cNvPr id="100" name="Rectangle 99"/>
          <p:cNvSpPr/>
          <p:nvPr/>
        </p:nvSpPr>
        <p:spPr>
          <a:xfrm>
            <a:off x="2834639" y="5162550"/>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926079" y="5217414"/>
            <a:ext cx="2852927" cy="329184"/>
          </a:xfrm>
          <a:prstGeom prst="rect">
            <a:avLst/>
          </a:prstGeom>
          <a:noFill/>
        </p:spPr>
        <p:txBody>
          <a:bodyPr wrap="square">
            <a:spAutoFit/>
          </a:bodyPr>
          <a:lstStyle/>
          <a:p>
            <a:pPr algn="ctr"/>
            <a:r>
              <a:rPr sz="1000" b="1" i="0">
                <a:solidFill>
                  <a:srgbClr val="5D1DC7"/>
                </a:solidFill>
                <a:latin typeface="Calibri" panose="020F0502020204030204"/>
              </a:rPr>
              <a:t>$1 / mo</a:t>
            </a:r>
            <a:endParaRPr sz="1000" b="1" i="0">
              <a:solidFill>
                <a:srgbClr val="5D1DC7"/>
              </a:solidFill>
              <a:latin typeface="Calibri" panose="020F0502020204030204"/>
            </a:endParaRPr>
          </a:p>
        </p:txBody>
      </p:sp>
      <p:sp>
        <p:nvSpPr>
          <p:cNvPr id="102" name="Rectangle 101"/>
          <p:cNvSpPr/>
          <p:nvPr/>
        </p:nvSpPr>
        <p:spPr>
          <a:xfrm>
            <a:off x="5852159" y="5162550"/>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943599" y="5217414"/>
            <a:ext cx="2852927" cy="329184"/>
          </a:xfrm>
          <a:prstGeom prst="rect">
            <a:avLst/>
          </a:prstGeom>
          <a:noFill/>
        </p:spPr>
        <p:txBody>
          <a:bodyPr wrap="square">
            <a:spAutoFit/>
          </a:bodyPr>
          <a:lstStyle/>
          <a:p>
            <a:pPr algn="ctr"/>
            <a:r>
              <a:rPr sz="1000" b="1" i="0">
                <a:solidFill>
                  <a:srgbClr val="CC4F1F"/>
                </a:solidFill>
                <a:latin typeface="Calibri" panose="020F0502020204030204"/>
              </a:rPr>
              <a:t>$1 / mo</a:t>
            </a:r>
            <a:endParaRPr sz="1000" b="1" i="0">
              <a:solidFill>
                <a:srgbClr val="CC4F1F"/>
              </a:solidFill>
              <a:latin typeface="Calibri" panose="020F0502020204030204"/>
            </a:endParaRPr>
          </a:p>
        </p:txBody>
      </p:sp>
      <p:sp>
        <p:nvSpPr>
          <p:cNvPr id="104" name="Rectangle 103"/>
          <p:cNvSpPr/>
          <p:nvPr/>
        </p:nvSpPr>
        <p:spPr>
          <a:xfrm>
            <a:off x="8869680" y="5162550"/>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61119" y="5217414"/>
            <a:ext cx="2852927" cy="329184"/>
          </a:xfrm>
          <a:prstGeom prst="rect">
            <a:avLst/>
          </a:prstGeom>
          <a:noFill/>
        </p:spPr>
        <p:txBody>
          <a:bodyPr wrap="square">
            <a:spAutoFit/>
          </a:bodyPr>
          <a:lstStyle/>
          <a:p>
            <a:pPr algn="ctr"/>
            <a:r>
              <a:rPr sz="1000" b="1" i="0">
                <a:solidFill>
                  <a:srgbClr val="FF6B35"/>
                </a:solidFill>
                <a:latin typeface="Calibri" panose="020F0502020204030204"/>
              </a:rPr>
              <a:t>$1 / mo</a:t>
            </a:r>
            <a:endParaRPr sz="1000" b="1" i="0">
              <a:solidFill>
                <a:srgbClr val="FF6B35"/>
              </a:solidFill>
              <a:latin typeface="Calibri" panose="020F0502020204030204"/>
            </a:endParaRPr>
          </a:p>
        </p:txBody>
      </p:sp>
      <p:sp>
        <p:nvSpPr>
          <p:cNvPr id="106" name="Rectangle 105"/>
          <p:cNvSpPr/>
          <p:nvPr/>
        </p:nvSpPr>
        <p:spPr>
          <a:xfrm>
            <a:off x="274320" y="5583174"/>
            <a:ext cx="73152" cy="420624"/>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347472" y="5583174"/>
            <a:ext cx="2487168"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02336" y="5610606"/>
            <a:ext cx="2359151" cy="201168"/>
          </a:xfrm>
          <a:prstGeom prst="rect">
            <a:avLst/>
          </a:prstGeom>
          <a:noFill/>
        </p:spPr>
        <p:txBody>
          <a:bodyPr wrap="square">
            <a:spAutoFit/>
          </a:bodyPr>
          <a:lstStyle/>
          <a:p>
            <a:pPr algn="l"/>
            <a:r>
              <a:rPr sz="900" b="1" i="0">
                <a:solidFill>
                  <a:srgbClr val="2C3E50"/>
                </a:solidFill>
                <a:latin typeface="Calibri" panose="020F0502020204030204"/>
              </a:rPr>
              <a:t>Network / VPN / CDN</a:t>
            </a:r>
            <a:endParaRPr sz="900" b="1" i="0">
              <a:solidFill>
                <a:srgbClr val="2C3E50"/>
              </a:solidFill>
              <a:latin typeface="Calibri" panose="020F0502020204030204"/>
            </a:endParaRPr>
          </a:p>
        </p:txBody>
      </p:sp>
      <p:sp>
        <p:nvSpPr>
          <p:cNvPr id="109" name="TextBox 108"/>
          <p:cNvSpPr txBox="1"/>
          <p:nvPr/>
        </p:nvSpPr>
        <p:spPr>
          <a:xfrm>
            <a:off x="402336" y="5802630"/>
            <a:ext cx="2359151" cy="182880"/>
          </a:xfrm>
          <a:prstGeom prst="rect">
            <a:avLst/>
          </a:prstGeom>
          <a:noFill/>
        </p:spPr>
        <p:txBody>
          <a:bodyPr wrap="square">
            <a:spAutoFit/>
          </a:bodyPr>
          <a:lstStyle/>
          <a:p>
            <a:pPr algn="l"/>
            <a:r>
              <a:rPr sz="750" b="0" i="1">
                <a:solidFill>
                  <a:srgbClr val="7F8C8D"/>
                </a:solidFill>
                <a:latin typeface="Calibri" panose="020F0502020204030204"/>
              </a:rPr>
              <a:t>VPN Gateway (hospital S2S)
+ CDN + Anti-DDoS</a:t>
            </a:r>
            <a:endParaRPr sz="750" b="0" i="1">
              <a:solidFill>
                <a:srgbClr val="7F8C8D"/>
              </a:solidFill>
              <a:latin typeface="Calibri" panose="020F0502020204030204"/>
            </a:endParaRPr>
          </a:p>
        </p:txBody>
      </p:sp>
      <p:sp>
        <p:nvSpPr>
          <p:cNvPr id="110" name="Rectangle 109"/>
          <p:cNvSpPr/>
          <p:nvPr/>
        </p:nvSpPr>
        <p:spPr>
          <a:xfrm>
            <a:off x="2834639" y="5583174"/>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926079" y="5638038"/>
            <a:ext cx="2852927" cy="329184"/>
          </a:xfrm>
          <a:prstGeom prst="rect">
            <a:avLst/>
          </a:prstGeom>
          <a:noFill/>
        </p:spPr>
        <p:txBody>
          <a:bodyPr wrap="square">
            <a:spAutoFit/>
          </a:bodyPr>
          <a:lstStyle/>
          <a:p>
            <a:pPr algn="ctr"/>
            <a:r>
              <a:rPr sz="1000" b="1" i="0">
                <a:solidFill>
                  <a:srgbClr val="5D1DC7"/>
                </a:solidFill>
                <a:latin typeface="Calibri" panose="020F0502020204030204"/>
              </a:rPr>
              <a:t>$42 / mo</a:t>
            </a:r>
            <a:endParaRPr sz="1000" b="1" i="0">
              <a:solidFill>
                <a:srgbClr val="5D1DC7"/>
              </a:solidFill>
              <a:latin typeface="Calibri" panose="020F0502020204030204"/>
            </a:endParaRPr>
          </a:p>
        </p:txBody>
      </p:sp>
      <p:sp>
        <p:nvSpPr>
          <p:cNvPr id="112" name="Rectangle 111"/>
          <p:cNvSpPr/>
          <p:nvPr/>
        </p:nvSpPr>
        <p:spPr>
          <a:xfrm>
            <a:off x="5852159" y="5583174"/>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943599" y="5638038"/>
            <a:ext cx="2852927" cy="329184"/>
          </a:xfrm>
          <a:prstGeom prst="rect">
            <a:avLst/>
          </a:prstGeom>
          <a:noFill/>
        </p:spPr>
        <p:txBody>
          <a:bodyPr wrap="square">
            <a:spAutoFit/>
          </a:bodyPr>
          <a:lstStyle/>
          <a:p>
            <a:pPr algn="ctr"/>
            <a:r>
              <a:rPr sz="1000" b="1" i="0">
                <a:solidFill>
                  <a:srgbClr val="CC4F1F"/>
                </a:solidFill>
                <a:latin typeface="Calibri" panose="020F0502020204030204"/>
              </a:rPr>
              <a:t>$42 / mo</a:t>
            </a:r>
            <a:endParaRPr sz="1000" b="1" i="0">
              <a:solidFill>
                <a:srgbClr val="CC4F1F"/>
              </a:solidFill>
              <a:latin typeface="Calibri" panose="020F0502020204030204"/>
            </a:endParaRPr>
          </a:p>
        </p:txBody>
      </p:sp>
      <p:sp>
        <p:nvSpPr>
          <p:cNvPr id="114" name="Rectangle 113"/>
          <p:cNvSpPr/>
          <p:nvPr/>
        </p:nvSpPr>
        <p:spPr>
          <a:xfrm>
            <a:off x="8869680" y="5583174"/>
            <a:ext cx="3017520" cy="420624"/>
          </a:xfrm>
          <a:prstGeom prst="rect">
            <a:avLst/>
          </a:prstGeom>
          <a:solidFill>
            <a:srgbClr val="F5F5F5"/>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961119" y="5638038"/>
            <a:ext cx="2852927" cy="329184"/>
          </a:xfrm>
          <a:prstGeom prst="rect">
            <a:avLst/>
          </a:prstGeom>
          <a:noFill/>
        </p:spPr>
        <p:txBody>
          <a:bodyPr wrap="square">
            <a:spAutoFit/>
          </a:bodyPr>
          <a:lstStyle/>
          <a:p>
            <a:pPr algn="ctr"/>
            <a:r>
              <a:rPr sz="1000" b="1" i="0">
                <a:solidFill>
                  <a:srgbClr val="FF6B35"/>
                </a:solidFill>
                <a:latin typeface="Calibri" panose="020F0502020204030204"/>
              </a:rPr>
              <a:t>$158 / mo</a:t>
            </a:r>
            <a:endParaRPr sz="1000" b="1" i="0">
              <a:solidFill>
                <a:srgbClr val="FF6B35"/>
              </a:solidFill>
              <a:latin typeface="Calibri" panose="020F0502020204030204"/>
            </a:endParaRPr>
          </a:p>
        </p:txBody>
      </p:sp>
      <p:sp>
        <p:nvSpPr>
          <p:cNvPr id="116" name="Rectangle 115"/>
          <p:cNvSpPr/>
          <p:nvPr/>
        </p:nvSpPr>
        <p:spPr>
          <a:xfrm>
            <a:off x="274320" y="6003798"/>
            <a:ext cx="73152" cy="420624"/>
          </a:xfrm>
          <a:prstGeom prst="rect">
            <a:avLst/>
          </a:prstGeom>
          <a:solidFill>
            <a:srgbClr val="CC4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47472" y="6003798"/>
            <a:ext cx="2487168"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02336" y="6031230"/>
            <a:ext cx="2359151" cy="201168"/>
          </a:xfrm>
          <a:prstGeom prst="rect">
            <a:avLst/>
          </a:prstGeom>
          <a:noFill/>
        </p:spPr>
        <p:txBody>
          <a:bodyPr wrap="square">
            <a:spAutoFit/>
          </a:bodyPr>
          <a:lstStyle/>
          <a:p>
            <a:pPr algn="l"/>
            <a:r>
              <a:rPr sz="900" b="1" i="0">
                <a:solidFill>
                  <a:srgbClr val="2C3E50"/>
                </a:solidFill>
                <a:latin typeface="Calibri" panose="020F0502020204030204"/>
              </a:rPr>
              <a:t>IdaaS / SSO</a:t>
            </a:r>
            <a:endParaRPr sz="900" b="1" i="0">
              <a:solidFill>
                <a:srgbClr val="2C3E50"/>
              </a:solidFill>
              <a:latin typeface="Calibri" panose="020F0502020204030204"/>
            </a:endParaRPr>
          </a:p>
        </p:txBody>
      </p:sp>
      <p:sp>
        <p:nvSpPr>
          <p:cNvPr id="119" name="TextBox 118"/>
          <p:cNvSpPr txBox="1"/>
          <p:nvPr/>
        </p:nvSpPr>
        <p:spPr>
          <a:xfrm>
            <a:off x="402336" y="6223254"/>
            <a:ext cx="2359151" cy="182880"/>
          </a:xfrm>
          <a:prstGeom prst="rect">
            <a:avLst/>
          </a:prstGeom>
          <a:noFill/>
        </p:spPr>
        <p:txBody>
          <a:bodyPr wrap="square">
            <a:spAutoFit/>
          </a:bodyPr>
          <a:lstStyle/>
          <a:p>
            <a:pPr algn="l"/>
            <a:r>
              <a:rPr sz="750" b="0" i="1">
                <a:solidFill>
                  <a:srgbClr val="7F8C8D"/>
                </a:solidFill>
                <a:latin typeface="Calibri" panose="020F0502020204030204"/>
              </a:rPr>
              <a:t>Hospital IdP federation
(SAML/OIDC)</a:t>
            </a:r>
            <a:endParaRPr sz="750" b="0" i="1">
              <a:solidFill>
                <a:srgbClr val="7F8C8D"/>
              </a:solidFill>
              <a:latin typeface="Calibri" panose="020F0502020204030204"/>
            </a:endParaRPr>
          </a:p>
        </p:txBody>
      </p:sp>
      <p:sp>
        <p:nvSpPr>
          <p:cNvPr id="120" name="Rectangle 119"/>
          <p:cNvSpPr/>
          <p:nvPr/>
        </p:nvSpPr>
        <p:spPr>
          <a:xfrm>
            <a:off x="2834639" y="6003798"/>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926079" y="6058662"/>
            <a:ext cx="2852927" cy="329184"/>
          </a:xfrm>
          <a:prstGeom prst="rect">
            <a:avLst/>
          </a:prstGeom>
          <a:noFill/>
        </p:spPr>
        <p:txBody>
          <a:bodyPr wrap="square">
            <a:spAutoFit/>
          </a:bodyPr>
          <a:lstStyle/>
          <a:p>
            <a:pPr algn="ctr"/>
            <a:r>
              <a:rPr sz="1000" b="0" i="1">
                <a:solidFill>
                  <a:srgbClr val="7F8C8D"/>
                </a:solidFill>
                <a:latin typeface="Calibri" panose="020F0502020204030204"/>
              </a:rPr>
              <a:t>—</a:t>
            </a:r>
            <a:endParaRPr sz="1000" b="0" i="1">
              <a:solidFill>
                <a:srgbClr val="7F8C8D"/>
              </a:solidFill>
              <a:latin typeface="Calibri" panose="020F0502020204030204"/>
            </a:endParaRPr>
          </a:p>
        </p:txBody>
      </p:sp>
      <p:sp>
        <p:nvSpPr>
          <p:cNvPr id="122" name="Rectangle 121"/>
          <p:cNvSpPr/>
          <p:nvPr/>
        </p:nvSpPr>
        <p:spPr>
          <a:xfrm>
            <a:off x="5852159" y="6003798"/>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943599" y="6058662"/>
            <a:ext cx="2852927" cy="329184"/>
          </a:xfrm>
          <a:prstGeom prst="rect">
            <a:avLst/>
          </a:prstGeom>
          <a:noFill/>
        </p:spPr>
        <p:txBody>
          <a:bodyPr wrap="square">
            <a:spAutoFit/>
          </a:bodyPr>
          <a:lstStyle/>
          <a:p>
            <a:pPr algn="ctr"/>
            <a:r>
              <a:rPr sz="1000" b="0" i="1">
                <a:solidFill>
                  <a:srgbClr val="7F8C8D"/>
                </a:solidFill>
                <a:latin typeface="Calibri" panose="020F0502020204030204"/>
              </a:rPr>
              <a:t>—</a:t>
            </a:r>
            <a:endParaRPr sz="1000" b="0" i="1">
              <a:solidFill>
                <a:srgbClr val="7F8C8D"/>
              </a:solidFill>
              <a:latin typeface="Calibri" panose="020F0502020204030204"/>
            </a:endParaRPr>
          </a:p>
        </p:txBody>
      </p:sp>
      <p:sp>
        <p:nvSpPr>
          <p:cNvPr id="124" name="Rectangle 123"/>
          <p:cNvSpPr/>
          <p:nvPr/>
        </p:nvSpPr>
        <p:spPr>
          <a:xfrm>
            <a:off x="8869680" y="6003798"/>
            <a:ext cx="3017520" cy="420624"/>
          </a:xfrm>
          <a:prstGeom prst="rect">
            <a:avLst/>
          </a:prstGeom>
          <a:solidFill>
            <a:srgbClr val="FFFFFF"/>
          </a:solidFill>
          <a:ln w="381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961119" y="6058662"/>
            <a:ext cx="2852927" cy="329184"/>
          </a:xfrm>
          <a:prstGeom prst="rect">
            <a:avLst/>
          </a:prstGeom>
          <a:noFill/>
        </p:spPr>
        <p:txBody>
          <a:bodyPr wrap="square">
            <a:spAutoFit/>
          </a:bodyPr>
          <a:lstStyle/>
          <a:p>
            <a:pPr algn="ctr"/>
            <a:r>
              <a:rPr sz="1000" b="1" i="0">
                <a:solidFill>
                  <a:srgbClr val="FF6B35"/>
                </a:solidFill>
                <a:latin typeface="Calibri" panose="020F0502020204030204"/>
              </a:rPr>
              <a:t>$50 / mo</a:t>
            </a:r>
            <a:endParaRPr sz="1000" b="1" i="0">
              <a:solidFill>
                <a:srgbClr val="FF6B35"/>
              </a:solidFill>
              <a:latin typeface="Calibri" panose="020F0502020204030204"/>
            </a:endParaRPr>
          </a:p>
        </p:txBody>
      </p:sp>
      <p:sp>
        <p:nvSpPr>
          <p:cNvPr id="126" name="Rectangle 125"/>
          <p:cNvSpPr/>
          <p:nvPr/>
        </p:nvSpPr>
        <p:spPr>
          <a:xfrm>
            <a:off x="274320" y="6424422"/>
            <a:ext cx="73152"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47472" y="6424422"/>
            <a:ext cx="2487168" cy="420624"/>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02336" y="6515862"/>
            <a:ext cx="2359151" cy="256032"/>
          </a:xfrm>
          <a:prstGeom prst="rect">
            <a:avLst/>
          </a:prstGeom>
          <a:noFill/>
        </p:spPr>
        <p:txBody>
          <a:bodyPr wrap="square">
            <a:spAutoFit/>
          </a:bodyPr>
          <a:lstStyle/>
          <a:p>
            <a:pPr algn="l"/>
            <a:r>
              <a:rPr sz="1000" b="1" i="0">
                <a:solidFill>
                  <a:srgbClr val="FFFFFF"/>
                </a:solidFill>
                <a:latin typeface="Calibri" panose="020F0502020204030204"/>
              </a:rPr>
              <a:t>TOTAL / MONTH</a:t>
            </a:r>
            <a:endParaRPr sz="1000" b="1" i="0">
              <a:solidFill>
                <a:srgbClr val="FFFFFF"/>
              </a:solidFill>
              <a:latin typeface="Calibri" panose="020F0502020204030204"/>
            </a:endParaRPr>
          </a:p>
        </p:txBody>
      </p:sp>
      <p:sp>
        <p:nvSpPr>
          <p:cNvPr id="129" name="Rectangle 128"/>
          <p:cNvSpPr/>
          <p:nvPr/>
        </p:nvSpPr>
        <p:spPr>
          <a:xfrm>
            <a:off x="2834639" y="6424422"/>
            <a:ext cx="3017520" cy="420624"/>
          </a:xfrm>
          <a:prstGeom prst="rect">
            <a:avLst/>
          </a:prstGeom>
          <a:solidFill>
            <a:srgbClr val="EDE7F6"/>
          </a:solidFill>
          <a:ln w="25400">
            <a:solidFill>
              <a:srgbClr val="5D1D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26079" y="6497574"/>
            <a:ext cx="2852927" cy="274320"/>
          </a:xfrm>
          <a:prstGeom prst="rect">
            <a:avLst/>
          </a:prstGeom>
          <a:noFill/>
        </p:spPr>
        <p:txBody>
          <a:bodyPr wrap="square">
            <a:spAutoFit/>
          </a:bodyPr>
          <a:lstStyle/>
          <a:p>
            <a:pPr algn="ctr"/>
            <a:r>
              <a:rPr sz="1300" b="1" i="0">
                <a:solidFill>
                  <a:srgbClr val="5D1DC7"/>
                </a:solidFill>
                <a:latin typeface="Calibri" panose="020F0502020204030204"/>
              </a:rPr>
              <a:t>$2,350 – $2,600</a:t>
            </a:r>
            <a:endParaRPr sz="1300" b="1" i="0">
              <a:solidFill>
                <a:srgbClr val="5D1DC7"/>
              </a:solidFill>
              <a:latin typeface="Calibri" panose="020F0502020204030204"/>
            </a:endParaRPr>
          </a:p>
        </p:txBody>
      </p:sp>
      <p:sp>
        <p:nvSpPr>
          <p:cNvPr id="131" name="Rectangle 130"/>
          <p:cNvSpPr/>
          <p:nvPr/>
        </p:nvSpPr>
        <p:spPr>
          <a:xfrm>
            <a:off x="5852159" y="6424422"/>
            <a:ext cx="3017520" cy="420624"/>
          </a:xfrm>
          <a:prstGeom prst="rect">
            <a:avLst/>
          </a:prstGeom>
          <a:solidFill>
            <a:srgbClr val="FFE8DA"/>
          </a:solidFill>
          <a:ln w="25400">
            <a:solidFill>
              <a:srgbClr val="CC4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943599" y="6497574"/>
            <a:ext cx="2852927" cy="274320"/>
          </a:xfrm>
          <a:prstGeom prst="rect">
            <a:avLst/>
          </a:prstGeom>
          <a:noFill/>
        </p:spPr>
        <p:txBody>
          <a:bodyPr wrap="square">
            <a:spAutoFit/>
          </a:bodyPr>
          <a:lstStyle/>
          <a:p>
            <a:pPr algn="ctr"/>
            <a:r>
              <a:rPr sz="1300" b="1" i="0">
                <a:solidFill>
                  <a:srgbClr val="CC4F1F"/>
                </a:solidFill>
                <a:latin typeface="Calibri" panose="020F0502020204030204"/>
              </a:rPr>
              <a:t>$2,150 – $2,350</a:t>
            </a:r>
            <a:endParaRPr sz="1300" b="1" i="0">
              <a:solidFill>
                <a:srgbClr val="CC4F1F"/>
              </a:solidFill>
              <a:latin typeface="Calibri" panose="020F0502020204030204"/>
            </a:endParaRPr>
          </a:p>
        </p:txBody>
      </p:sp>
      <p:sp>
        <p:nvSpPr>
          <p:cNvPr id="133" name="Rectangle 132"/>
          <p:cNvSpPr/>
          <p:nvPr/>
        </p:nvSpPr>
        <p:spPr>
          <a:xfrm>
            <a:off x="8869680" y="6424422"/>
            <a:ext cx="3017520" cy="420624"/>
          </a:xfrm>
          <a:prstGeom prst="rect">
            <a:avLst/>
          </a:prstGeom>
          <a:solidFill>
            <a:srgbClr val="FFF3E0"/>
          </a:solidFill>
          <a:ln w="25400">
            <a:solidFill>
              <a:srgbClr val="FF6B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961119" y="6497574"/>
            <a:ext cx="2852927" cy="274320"/>
          </a:xfrm>
          <a:prstGeom prst="rect">
            <a:avLst/>
          </a:prstGeom>
          <a:noFill/>
        </p:spPr>
        <p:txBody>
          <a:bodyPr wrap="square">
            <a:spAutoFit/>
          </a:bodyPr>
          <a:lstStyle/>
          <a:p>
            <a:pPr algn="ctr"/>
            <a:r>
              <a:rPr sz="1300" b="1" i="0">
                <a:solidFill>
                  <a:srgbClr val="FF6B35"/>
                </a:solidFill>
                <a:latin typeface="Calibri" panose="020F0502020204030204"/>
              </a:rPr>
              <a:t>$2,100 – $2,300</a:t>
            </a:r>
            <a:endParaRPr sz="1300" b="1" i="0">
              <a:solidFill>
                <a:srgbClr val="FF6B35"/>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274320" y="109728"/>
            <a:ext cx="11430000" cy="502920"/>
          </a:xfrm>
          <a:prstGeom prst="rect">
            <a:avLst/>
          </a:prstGeom>
          <a:noFill/>
        </p:spPr>
        <p:txBody>
          <a:bodyPr wrap="square">
            <a:spAutoFit/>
          </a:bodyPr>
          <a:lstStyle/>
          <a:p>
            <a:pPr algn="l"/>
            <a:r>
              <a:rPr sz="2400" b="1" i="0">
                <a:solidFill>
                  <a:srgbClr val="5D1DC7"/>
                </a:solidFill>
                <a:latin typeface="Calibri" panose="020F0502020204030204"/>
              </a:rPr>
              <a:t>Version A — AWS + Claude  |  Cost Breakdown</a:t>
            </a:r>
            <a:endParaRPr sz="2400" b="1" i="0">
              <a:solidFill>
                <a:srgbClr val="5D1DC7"/>
              </a:solidFill>
              <a:latin typeface="Calibri" panose="020F0502020204030204"/>
            </a:endParaRPr>
          </a:p>
        </p:txBody>
      </p:sp>
      <p:sp>
        <p:nvSpPr>
          <p:cNvPr id="4" name="TextBox 3"/>
          <p:cNvSpPr txBox="1"/>
          <p:nvPr/>
        </p:nvSpPr>
        <p:spPr>
          <a:xfrm>
            <a:off x="274320" y="594360"/>
            <a:ext cx="11430000" cy="292608"/>
          </a:xfrm>
          <a:prstGeom prst="rect">
            <a:avLst/>
          </a:prstGeom>
          <a:noFill/>
        </p:spPr>
        <p:txBody>
          <a:bodyPr wrap="square">
            <a:spAutoFit/>
          </a:bodyPr>
          <a:lstStyle/>
          <a:p>
            <a:pPr algn="l"/>
            <a:r>
              <a:rPr sz="1100" b="0" i="1">
                <a:solidFill>
                  <a:srgbClr val="7F8C8D"/>
                </a:solidFill>
                <a:latin typeface="Calibri" panose="020F0502020204030204"/>
              </a:rPr>
              <a:t>Amazon Bedrock · ap-southeast-1 Singapore · 150,000 queries/month · No fine-tuning</a:t>
            </a:r>
            <a:endParaRPr sz="1100" b="0" i="1">
              <a:solidFill>
                <a:srgbClr val="7F8C8D"/>
              </a:solidFill>
              <a:latin typeface="Calibri" panose="020F0502020204030204"/>
            </a:endParaRPr>
          </a:p>
        </p:txBody>
      </p:sp>
      <p:sp>
        <p:nvSpPr>
          <p:cNvPr id="5" name="Rectangle 4"/>
          <p:cNvSpPr/>
          <p:nvPr/>
        </p:nvSpPr>
        <p:spPr>
          <a:xfrm>
            <a:off x="0" y="868680"/>
            <a:ext cx="12188952"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88952" cy="347472"/>
          </a:xfrm>
          <a:prstGeom prst="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932688"/>
            <a:ext cx="11704320" cy="292608"/>
          </a:xfrm>
          <a:prstGeom prst="rect">
            <a:avLst/>
          </a:prstGeom>
          <a:noFill/>
        </p:spPr>
        <p:txBody>
          <a:bodyPr wrap="square">
            <a:spAutoFit/>
          </a:bodyPr>
          <a:lstStyle/>
          <a:p>
            <a:pPr algn="l"/>
            <a:r>
              <a:rPr sz="850" b="0" i="1">
                <a:solidFill>
                  <a:srgbClr val="5D1DC7"/>
                </a:solidFill>
                <a:latin typeface="Calibri" panose="020F0502020204030204"/>
              </a:rPr>
              <a:t>Assumptions: 500 clinicians  |  10 queries/day  |  150,000 queries/month  (30k emergency + 120k complex)  |  Avg 3,000 in / 600 out tokens (complex)  |  1,500 in / 300 out (emergency)  |  1 fine-tuning run/month  |  Singapore region</a:t>
            </a:r>
            <a:endParaRPr sz="850" b="0" i="1">
              <a:solidFill>
                <a:srgbClr val="5D1DC7"/>
              </a:solidFill>
              <a:latin typeface="Calibri" panose="020F0502020204030204"/>
            </a:endParaRPr>
          </a:p>
        </p:txBody>
      </p:sp>
      <p:sp>
        <p:nvSpPr>
          <p:cNvPr id="8" name="Rectangle 7"/>
          <p:cNvSpPr/>
          <p:nvPr/>
        </p:nvSpPr>
        <p:spPr>
          <a:xfrm>
            <a:off x="228600" y="1325880"/>
            <a:ext cx="5760720" cy="329184"/>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371600"/>
            <a:ext cx="5577840" cy="237744"/>
          </a:xfrm>
          <a:prstGeom prst="rect">
            <a:avLst/>
          </a:prstGeom>
          <a:noFill/>
        </p:spPr>
        <p:txBody>
          <a:bodyPr wrap="square">
            <a:spAutoFit/>
          </a:bodyPr>
          <a:lstStyle/>
          <a:p>
            <a:pPr algn="l"/>
            <a:r>
              <a:rPr sz="1000" b="1" i="0">
                <a:solidFill>
                  <a:srgbClr val="FFFFFF"/>
                </a:solidFill>
                <a:latin typeface="Calibri" panose="020F0502020204030204"/>
              </a:rPr>
              <a:t>LLM INFERENCE  (Bedrock on-demand, Singapore)</a:t>
            </a:r>
            <a:endParaRPr sz="1000" b="1" i="0">
              <a:solidFill>
                <a:srgbClr val="FFFFFF"/>
              </a:solidFill>
              <a:latin typeface="Calibri" panose="020F0502020204030204"/>
            </a:endParaRPr>
          </a:p>
        </p:txBody>
      </p:sp>
      <p:sp>
        <p:nvSpPr>
          <p:cNvPr id="10" name="Rectangle 9"/>
          <p:cNvSpPr/>
          <p:nvPr/>
        </p:nvSpPr>
        <p:spPr>
          <a:xfrm>
            <a:off x="228600"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2" name="Rectangle 11"/>
          <p:cNvSpPr/>
          <p:nvPr/>
        </p:nvSpPr>
        <p:spPr>
          <a:xfrm>
            <a:off x="1150315"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6891"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4" name="Rectangle 13"/>
          <p:cNvSpPr/>
          <p:nvPr/>
        </p:nvSpPr>
        <p:spPr>
          <a:xfrm>
            <a:off x="2417673"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54249"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6" name="Rectangle 15"/>
          <p:cNvSpPr/>
          <p:nvPr/>
        </p:nvSpPr>
        <p:spPr>
          <a:xfrm>
            <a:off x="3166567"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3143"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8" name="Rectangle 17"/>
          <p:cNvSpPr/>
          <p:nvPr/>
        </p:nvSpPr>
        <p:spPr>
          <a:xfrm>
            <a:off x="3915460"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52036"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20" name="Rectangle 19"/>
          <p:cNvSpPr/>
          <p:nvPr/>
        </p:nvSpPr>
        <p:spPr>
          <a:xfrm>
            <a:off x="5298033"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4609"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22" name="Rectangle 21"/>
          <p:cNvSpPr/>
          <p:nvPr/>
        </p:nvSpPr>
        <p:spPr>
          <a:xfrm>
            <a:off x="228600"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 y="1920240"/>
            <a:ext cx="866851" cy="301752"/>
          </a:xfrm>
          <a:prstGeom prst="rect">
            <a:avLst/>
          </a:prstGeom>
          <a:noFill/>
        </p:spPr>
        <p:txBody>
          <a:bodyPr wrap="square">
            <a:spAutoFit/>
          </a:bodyPr>
          <a:lstStyle/>
          <a:p>
            <a:pPr algn="l"/>
            <a:r>
              <a:rPr sz="700" b="0" i="0">
                <a:solidFill>
                  <a:srgbClr val="2C3E50"/>
                </a:solidFill>
                <a:latin typeface="Calibri" panose="020F0502020204030204"/>
              </a:rPr>
              <a:t>Emergency lane</a:t>
            </a:r>
            <a:endParaRPr sz="700" b="0" i="0">
              <a:solidFill>
                <a:srgbClr val="2C3E50"/>
              </a:solidFill>
              <a:latin typeface="Calibri" panose="020F0502020204030204"/>
            </a:endParaRPr>
          </a:p>
        </p:txBody>
      </p:sp>
      <p:sp>
        <p:nvSpPr>
          <p:cNvPr id="24" name="Rectangle 23"/>
          <p:cNvSpPr/>
          <p:nvPr/>
        </p:nvSpPr>
        <p:spPr>
          <a:xfrm>
            <a:off x="1150315"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6891" y="1920240"/>
            <a:ext cx="1212494" cy="301752"/>
          </a:xfrm>
          <a:prstGeom prst="rect">
            <a:avLst/>
          </a:prstGeom>
          <a:noFill/>
        </p:spPr>
        <p:txBody>
          <a:bodyPr wrap="square">
            <a:spAutoFit/>
          </a:bodyPr>
          <a:lstStyle/>
          <a:p>
            <a:pPr algn="l"/>
            <a:r>
              <a:rPr sz="700" b="0" i="0">
                <a:solidFill>
                  <a:srgbClr val="2C3E50"/>
                </a:solidFill>
                <a:latin typeface="Calibri" panose="020F0502020204030204"/>
              </a:rPr>
              <a:t>Claude Haiku 4.5 (Bedrock)</a:t>
            </a:r>
            <a:endParaRPr sz="700" b="0" i="0">
              <a:solidFill>
                <a:srgbClr val="2C3E50"/>
              </a:solidFill>
              <a:latin typeface="Calibri" panose="020F0502020204030204"/>
            </a:endParaRPr>
          </a:p>
        </p:txBody>
      </p:sp>
      <p:sp>
        <p:nvSpPr>
          <p:cNvPr id="26" name="Rectangle 25"/>
          <p:cNvSpPr/>
          <p:nvPr/>
        </p:nvSpPr>
        <p:spPr>
          <a:xfrm>
            <a:off x="2417673"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54249" y="1920240"/>
            <a:ext cx="694029" cy="301752"/>
          </a:xfrm>
          <a:prstGeom prst="rect">
            <a:avLst/>
          </a:prstGeom>
          <a:noFill/>
        </p:spPr>
        <p:txBody>
          <a:bodyPr wrap="square">
            <a:spAutoFit/>
          </a:bodyPr>
          <a:lstStyle/>
          <a:p>
            <a:pPr algn="l"/>
            <a:r>
              <a:rPr sz="700" b="0" i="0">
                <a:solidFill>
                  <a:srgbClr val="2C3E50"/>
                </a:solidFill>
                <a:latin typeface="Calibri" panose="020F0502020204030204"/>
              </a:rPr>
              <a:t>30k calls</a:t>
            </a:r>
            <a:endParaRPr sz="700" b="0" i="0">
              <a:solidFill>
                <a:srgbClr val="2C3E50"/>
              </a:solidFill>
              <a:latin typeface="Calibri" panose="020F0502020204030204"/>
            </a:endParaRPr>
          </a:p>
        </p:txBody>
      </p:sp>
      <p:sp>
        <p:nvSpPr>
          <p:cNvPr id="28" name="Rectangle 27"/>
          <p:cNvSpPr/>
          <p:nvPr/>
        </p:nvSpPr>
        <p:spPr>
          <a:xfrm>
            <a:off x="3166567"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3143" y="1920240"/>
            <a:ext cx="694029" cy="301752"/>
          </a:xfrm>
          <a:prstGeom prst="rect">
            <a:avLst/>
          </a:prstGeom>
          <a:noFill/>
        </p:spPr>
        <p:txBody>
          <a:bodyPr wrap="square">
            <a:spAutoFit/>
          </a:bodyPr>
          <a:lstStyle/>
          <a:p>
            <a:pPr algn="l"/>
            <a:r>
              <a:rPr sz="700" b="0" i="0">
                <a:solidFill>
                  <a:srgbClr val="2C3E50"/>
                </a:solidFill>
                <a:latin typeface="Calibri" panose="020F0502020204030204"/>
              </a:rPr>
              <a:t>$1/$5 per 1M</a:t>
            </a:r>
            <a:endParaRPr sz="700" b="0" i="0">
              <a:solidFill>
                <a:srgbClr val="2C3E50"/>
              </a:solidFill>
              <a:latin typeface="Calibri" panose="020F0502020204030204"/>
            </a:endParaRPr>
          </a:p>
        </p:txBody>
      </p:sp>
      <p:sp>
        <p:nvSpPr>
          <p:cNvPr id="30" name="Rectangle 29"/>
          <p:cNvSpPr/>
          <p:nvPr/>
        </p:nvSpPr>
        <p:spPr>
          <a:xfrm>
            <a:off x="3915460"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2036" y="1920240"/>
            <a:ext cx="1327708" cy="301752"/>
          </a:xfrm>
          <a:prstGeom prst="rect">
            <a:avLst/>
          </a:prstGeom>
          <a:noFill/>
        </p:spPr>
        <p:txBody>
          <a:bodyPr wrap="square">
            <a:spAutoFit/>
          </a:bodyPr>
          <a:lstStyle/>
          <a:p>
            <a:pPr algn="l"/>
            <a:r>
              <a:rPr sz="700" b="0" i="0">
                <a:solidFill>
                  <a:srgbClr val="2C3E50"/>
                </a:solidFill>
                <a:latin typeface="Calibri" panose="020F0502020204030204"/>
              </a:rPr>
              <a:t>30k×1.5k×$1 + 30k×0.3k×$5</a:t>
            </a:r>
            <a:endParaRPr sz="700" b="0" i="0">
              <a:solidFill>
                <a:srgbClr val="2C3E50"/>
              </a:solidFill>
              <a:latin typeface="Calibri" panose="020F0502020204030204"/>
            </a:endParaRPr>
          </a:p>
        </p:txBody>
      </p:sp>
      <p:sp>
        <p:nvSpPr>
          <p:cNvPr id="32" name="Rectangle 31"/>
          <p:cNvSpPr/>
          <p:nvPr/>
        </p:nvSpPr>
        <p:spPr>
          <a:xfrm>
            <a:off x="5298033"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34609" y="1920240"/>
            <a:ext cx="636422" cy="301752"/>
          </a:xfrm>
          <a:prstGeom prst="rect">
            <a:avLst/>
          </a:prstGeom>
          <a:noFill/>
        </p:spPr>
        <p:txBody>
          <a:bodyPr wrap="square">
            <a:spAutoFit/>
          </a:bodyPr>
          <a:lstStyle/>
          <a:p>
            <a:pPr algn="r"/>
            <a:r>
              <a:rPr sz="900" b="1" i="0">
                <a:solidFill>
                  <a:srgbClr val="2C3E50"/>
                </a:solidFill>
                <a:latin typeface="Calibri" panose="020F0502020204030204"/>
              </a:rPr>
              <a:t>$90</a:t>
            </a:r>
            <a:endParaRPr sz="900" b="1" i="0">
              <a:solidFill>
                <a:srgbClr val="2C3E50"/>
              </a:solidFill>
              <a:latin typeface="Calibri" panose="020F0502020204030204"/>
            </a:endParaRPr>
          </a:p>
        </p:txBody>
      </p:sp>
      <p:sp>
        <p:nvSpPr>
          <p:cNvPr id="34" name="Rectangle 33"/>
          <p:cNvSpPr/>
          <p:nvPr/>
        </p:nvSpPr>
        <p:spPr>
          <a:xfrm>
            <a:off x="228600"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5176" y="2267712"/>
            <a:ext cx="866851" cy="301752"/>
          </a:xfrm>
          <a:prstGeom prst="rect">
            <a:avLst/>
          </a:prstGeom>
          <a:noFill/>
        </p:spPr>
        <p:txBody>
          <a:bodyPr wrap="square">
            <a:spAutoFit/>
          </a:bodyPr>
          <a:lstStyle/>
          <a:p>
            <a:pPr algn="l"/>
            <a:r>
              <a:rPr sz="700" b="0" i="0">
                <a:solidFill>
                  <a:srgbClr val="2C3E50"/>
                </a:solidFill>
                <a:latin typeface="Calibri" panose="020F0502020204030204"/>
              </a:rPr>
              <a:t>Router</a:t>
            </a:r>
            <a:endParaRPr sz="700" b="0" i="0">
              <a:solidFill>
                <a:srgbClr val="2C3E50"/>
              </a:solidFill>
              <a:latin typeface="Calibri" panose="020F0502020204030204"/>
            </a:endParaRPr>
          </a:p>
        </p:txBody>
      </p:sp>
      <p:sp>
        <p:nvSpPr>
          <p:cNvPr id="36" name="Rectangle 35"/>
          <p:cNvSpPr/>
          <p:nvPr/>
        </p:nvSpPr>
        <p:spPr>
          <a:xfrm>
            <a:off x="1150315"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6891" y="2267712"/>
            <a:ext cx="1212494" cy="301752"/>
          </a:xfrm>
          <a:prstGeom prst="rect">
            <a:avLst/>
          </a:prstGeom>
          <a:noFill/>
        </p:spPr>
        <p:txBody>
          <a:bodyPr wrap="square">
            <a:spAutoFit/>
          </a:bodyPr>
          <a:lstStyle/>
          <a:p>
            <a:pPr algn="l"/>
            <a:r>
              <a:rPr sz="700" b="0" i="0">
                <a:solidFill>
                  <a:srgbClr val="2C3E50"/>
                </a:solidFill>
                <a:latin typeface="Calibri" panose="020F0502020204030204"/>
              </a:rPr>
              <a:t>Nova Micro (Bedrock)</a:t>
            </a:r>
            <a:endParaRPr sz="700" b="0" i="0">
              <a:solidFill>
                <a:srgbClr val="2C3E50"/>
              </a:solidFill>
              <a:latin typeface="Calibri" panose="020F0502020204030204"/>
            </a:endParaRPr>
          </a:p>
        </p:txBody>
      </p:sp>
      <p:sp>
        <p:nvSpPr>
          <p:cNvPr id="38" name="Rectangle 37"/>
          <p:cNvSpPr/>
          <p:nvPr/>
        </p:nvSpPr>
        <p:spPr>
          <a:xfrm>
            <a:off x="2417673"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54249" y="2267712"/>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40" name="Rectangle 39"/>
          <p:cNvSpPr/>
          <p:nvPr/>
        </p:nvSpPr>
        <p:spPr>
          <a:xfrm>
            <a:off x="3166567"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3143" y="2267712"/>
            <a:ext cx="694029" cy="301752"/>
          </a:xfrm>
          <a:prstGeom prst="rect">
            <a:avLst/>
          </a:prstGeom>
          <a:noFill/>
        </p:spPr>
        <p:txBody>
          <a:bodyPr wrap="square">
            <a:spAutoFit/>
          </a:bodyPr>
          <a:lstStyle/>
          <a:p>
            <a:pPr algn="l"/>
            <a:r>
              <a:rPr sz="700" b="0" i="0">
                <a:solidFill>
                  <a:srgbClr val="2C3E50"/>
                </a:solidFill>
                <a:latin typeface="Calibri" panose="020F0502020204030204"/>
              </a:rPr>
              <a:t>$0.035/$0.14/1M</a:t>
            </a:r>
            <a:endParaRPr sz="700" b="0" i="0">
              <a:solidFill>
                <a:srgbClr val="2C3E50"/>
              </a:solidFill>
              <a:latin typeface="Calibri" panose="020F0502020204030204"/>
            </a:endParaRPr>
          </a:p>
        </p:txBody>
      </p:sp>
      <p:sp>
        <p:nvSpPr>
          <p:cNvPr id="42" name="Rectangle 41"/>
          <p:cNvSpPr/>
          <p:nvPr/>
        </p:nvSpPr>
        <p:spPr>
          <a:xfrm>
            <a:off x="3915460"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52036" y="2267712"/>
            <a:ext cx="1327708" cy="301752"/>
          </a:xfrm>
          <a:prstGeom prst="rect">
            <a:avLst/>
          </a:prstGeom>
          <a:noFill/>
        </p:spPr>
        <p:txBody>
          <a:bodyPr wrap="square">
            <a:spAutoFit/>
          </a:bodyPr>
          <a:lstStyle/>
          <a:p>
            <a:pPr algn="l"/>
            <a:r>
              <a:rPr sz="700" b="0" i="0">
                <a:solidFill>
                  <a:srgbClr val="2C3E50"/>
                </a:solidFill>
                <a:latin typeface="Calibri" panose="020F0502020204030204"/>
              </a:rPr>
              <a:t>120k×0.5k×$0.035 + 120k×0.04k×$0.14</a:t>
            </a:r>
            <a:endParaRPr sz="700" b="0" i="0">
              <a:solidFill>
                <a:srgbClr val="2C3E50"/>
              </a:solidFill>
              <a:latin typeface="Calibri" panose="020F0502020204030204"/>
            </a:endParaRPr>
          </a:p>
        </p:txBody>
      </p:sp>
      <p:sp>
        <p:nvSpPr>
          <p:cNvPr id="44" name="Rectangle 43"/>
          <p:cNvSpPr/>
          <p:nvPr/>
        </p:nvSpPr>
        <p:spPr>
          <a:xfrm>
            <a:off x="5298033"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34609" y="2267712"/>
            <a:ext cx="636422" cy="301752"/>
          </a:xfrm>
          <a:prstGeom prst="rect">
            <a:avLst/>
          </a:prstGeom>
          <a:noFill/>
        </p:spPr>
        <p:txBody>
          <a:bodyPr wrap="square">
            <a:spAutoFit/>
          </a:bodyPr>
          <a:lstStyle/>
          <a:p>
            <a:pPr algn="r"/>
            <a:r>
              <a:rPr sz="900" b="1" i="0">
                <a:solidFill>
                  <a:srgbClr val="2C3E50"/>
                </a:solidFill>
                <a:latin typeface="Calibri" panose="020F0502020204030204"/>
              </a:rPr>
              <a:t>$3</a:t>
            </a:r>
            <a:endParaRPr sz="900" b="1" i="0">
              <a:solidFill>
                <a:srgbClr val="2C3E50"/>
              </a:solidFill>
              <a:latin typeface="Calibri" panose="020F0502020204030204"/>
            </a:endParaRPr>
          </a:p>
        </p:txBody>
      </p:sp>
      <p:sp>
        <p:nvSpPr>
          <p:cNvPr id="46" name="Rectangle 45"/>
          <p:cNvSpPr/>
          <p:nvPr/>
        </p:nvSpPr>
        <p:spPr>
          <a:xfrm>
            <a:off x="228600"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5176" y="2615184"/>
            <a:ext cx="866851" cy="301752"/>
          </a:xfrm>
          <a:prstGeom prst="rect">
            <a:avLst/>
          </a:prstGeom>
          <a:noFill/>
        </p:spPr>
        <p:txBody>
          <a:bodyPr wrap="square">
            <a:spAutoFit/>
          </a:bodyPr>
          <a:lstStyle/>
          <a:p>
            <a:pPr algn="l"/>
            <a:r>
              <a:rPr sz="700" b="0" i="0">
                <a:solidFill>
                  <a:srgbClr val="2C3E50"/>
                </a:solidFill>
                <a:latin typeface="Calibri" panose="020F0502020204030204"/>
              </a:rPr>
              <a:t>Specialist agents</a:t>
            </a:r>
            <a:endParaRPr sz="700" b="0" i="0">
              <a:solidFill>
                <a:srgbClr val="2C3E50"/>
              </a:solidFill>
              <a:latin typeface="Calibri" panose="020F0502020204030204"/>
            </a:endParaRPr>
          </a:p>
        </p:txBody>
      </p:sp>
      <p:sp>
        <p:nvSpPr>
          <p:cNvPr id="48" name="Rectangle 47"/>
          <p:cNvSpPr/>
          <p:nvPr/>
        </p:nvSpPr>
        <p:spPr>
          <a:xfrm>
            <a:off x="1150315"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86891" y="2615184"/>
            <a:ext cx="1212494" cy="301752"/>
          </a:xfrm>
          <a:prstGeom prst="rect">
            <a:avLst/>
          </a:prstGeom>
          <a:noFill/>
        </p:spPr>
        <p:txBody>
          <a:bodyPr wrap="square">
            <a:spAutoFit/>
          </a:bodyPr>
          <a:lstStyle/>
          <a:p>
            <a:pPr algn="l"/>
            <a:r>
              <a:rPr sz="700" b="0" i="0">
                <a:solidFill>
                  <a:srgbClr val="2C3E50"/>
                </a:solidFill>
                <a:latin typeface="Calibri" panose="020F0502020204030204"/>
              </a:rPr>
              <a:t>Claude Sonnet 4.5 (Bedrock)</a:t>
            </a:r>
            <a:endParaRPr sz="700" b="0" i="0">
              <a:solidFill>
                <a:srgbClr val="2C3E50"/>
              </a:solidFill>
              <a:latin typeface="Calibri" panose="020F0502020204030204"/>
            </a:endParaRPr>
          </a:p>
        </p:txBody>
      </p:sp>
      <p:sp>
        <p:nvSpPr>
          <p:cNvPr id="50" name="Rectangle 49"/>
          <p:cNvSpPr/>
          <p:nvPr/>
        </p:nvSpPr>
        <p:spPr>
          <a:xfrm>
            <a:off x="2417673"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54249" y="2615184"/>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52" name="Rectangle 51"/>
          <p:cNvSpPr/>
          <p:nvPr/>
        </p:nvSpPr>
        <p:spPr>
          <a:xfrm>
            <a:off x="3166567"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3143" y="2615184"/>
            <a:ext cx="694029" cy="301752"/>
          </a:xfrm>
          <a:prstGeom prst="rect">
            <a:avLst/>
          </a:prstGeom>
          <a:noFill/>
        </p:spPr>
        <p:txBody>
          <a:bodyPr wrap="square">
            <a:spAutoFit/>
          </a:bodyPr>
          <a:lstStyle/>
          <a:p>
            <a:pPr algn="l"/>
            <a:r>
              <a:rPr sz="700" b="0" i="0">
                <a:solidFill>
                  <a:srgbClr val="2C3E50"/>
                </a:solidFill>
                <a:latin typeface="Calibri" panose="020F0502020204030204"/>
              </a:rPr>
              <a:t>$3/$15 per 1M</a:t>
            </a:r>
            <a:endParaRPr sz="700" b="0" i="0">
              <a:solidFill>
                <a:srgbClr val="2C3E50"/>
              </a:solidFill>
              <a:latin typeface="Calibri" panose="020F0502020204030204"/>
            </a:endParaRPr>
          </a:p>
        </p:txBody>
      </p:sp>
      <p:sp>
        <p:nvSpPr>
          <p:cNvPr id="54" name="Rectangle 53"/>
          <p:cNvSpPr/>
          <p:nvPr/>
        </p:nvSpPr>
        <p:spPr>
          <a:xfrm>
            <a:off x="3915460"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52036" y="2615184"/>
            <a:ext cx="1327708" cy="301752"/>
          </a:xfrm>
          <a:prstGeom prst="rect">
            <a:avLst/>
          </a:prstGeom>
          <a:noFill/>
        </p:spPr>
        <p:txBody>
          <a:bodyPr wrap="square">
            <a:spAutoFit/>
          </a:bodyPr>
          <a:lstStyle/>
          <a:p>
            <a:pPr algn="l"/>
            <a:r>
              <a:rPr sz="700" b="0" i="0">
                <a:solidFill>
                  <a:srgbClr val="2C3E50"/>
                </a:solidFill>
                <a:latin typeface="Calibri" panose="020F0502020204030204"/>
              </a:rPr>
              <a:t>120k×3k×$3 + 120k×0.6k×$15</a:t>
            </a:r>
            <a:endParaRPr sz="700" b="0" i="0">
              <a:solidFill>
                <a:srgbClr val="2C3E50"/>
              </a:solidFill>
              <a:latin typeface="Calibri" panose="020F0502020204030204"/>
            </a:endParaRPr>
          </a:p>
        </p:txBody>
      </p:sp>
      <p:sp>
        <p:nvSpPr>
          <p:cNvPr id="56" name="Rectangle 55"/>
          <p:cNvSpPr/>
          <p:nvPr/>
        </p:nvSpPr>
        <p:spPr>
          <a:xfrm>
            <a:off x="5298033"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34609" y="2615184"/>
            <a:ext cx="636422" cy="301752"/>
          </a:xfrm>
          <a:prstGeom prst="rect">
            <a:avLst/>
          </a:prstGeom>
          <a:noFill/>
        </p:spPr>
        <p:txBody>
          <a:bodyPr wrap="square">
            <a:spAutoFit/>
          </a:bodyPr>
          <a:lstStyle/>
          <a:p>
            <a:pPr algn="r"/>
            <a:r>
              <a:rPr sz="900" b="1" i="0">
                <a:solidFill>
                  <a:srgbClr val="2C3E50"/>
                </a:solidFill>
                <a:latin typeface="Calibri" panose="020F0502020204030204"/>
              </a:rPr>
              <a:t>$2,160</a:t>
            </a:r>
            <a:endParaRPr sz="900" b="1" i="0">
              <a:solidFill>
                <a:srgbClr val="2C3E50"/>
              </a:solidFill>
              <a:latin typeface="Calibri" panose="020F0502020204030204"/>
            </a:endParaRPr>
          </a:p>
        </p:txBody>
      </p:sp>
      <p:sp>
        <p:nvSpPr>
          <p:cNvPr id="58" name="Rectangle 57"/>
          <p:cNvSpPr/>
          <p:nvPr/>
        </p:nvSpPr>
        <p:spPr>
          <a:xfrm>
            <a:off x="228600"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5176" y="2962656"/>
            <a:ext cx="866851" cy="301752"/>
          </a:xfrm>
          <a:prstGeom prst="rect">
            <a:avLst/>
          </a:prstGeom>
          <a:noFill/>
        </p:spPr>
        <p:txBody>
          <a:bodyPr wrap="square">
            <a:spAutoFit/>
          </a:bodyPr>
          <a:lstStyle/>
          <a:p>
            <a:pPr algn="l"/>
            <a:r>
              <a:rPr sz="700" b="0" i="0">
                <a:solidFill>
                  <a:srgbClr val="2C3E50"/>
                </a:solidFill>
                <a:latin typeface="Calibri" panose="020F0502020204030204"/>
              </a:rPr>
              <a:t>Embeddings</a:t>
            </a:r>
            <a:endParaRPr sz="700" b="0" i="0">
              <a:solidFill>
                <a:srgbClr val="2C3E50"/>
              </a:solidFill>
              <a:latin typeface="Calibri" panose="020F0502020204030204"/>
            </a:endParaRPr>
          </a:p>
        </p:txBody>
      </p:sp>
      <p:sp>
        <p:nvSpPr>
          <p:cNvPr id="60" name="Rectangle 59"/>
          <p:cNvSpPr/>
          <p:nvPr/>
        </p:nvSpPr>
        <p:spPr>
          <a:xfrm>
            <a:off x="1150315"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86891" y="2962656"/>
            <a:ext cx="1212494" cy="301752"/>
          </a:xfrm>
          <a:prstGeom prst="rect">
            <a:avLst/>
          </a:prstGeom>
          <a:noFill/>
        </p:spPr>
        <p:txBody>
          <a:bodyPr wrap="square">
            <a:spAutoFit/>
          </a:bodyPr>
          <a:lstStyle/>
          <a:p>
            <a:pPr algn="l"/>
            <a:r>
              <a:rPr sz="700" b="0" i="0">
                <a:solidFill>
                  <a:srgbClr val="2C3E50"/>
                </a:solidFill>
                <a:latin typeface="Calibri" panose="020F0502020204030204"/>
              </a:rPr>
              <a:t>Cohere Embed Multilingual v3</a:t>
            </a:r>
            <a:endParaRPr sz="700" b="0" i="0">
              <a:solidFill>
                <a:srgbClr val="2C3E50"/>
              </a:solidFill>
              <a:latin typeface="Calibri" panose="020F0502020204030204"/>
            </a:endParaRPr>
          </a:p>
        </p:txBody>
      </p:sp>
      <p:sp>
        <p:nvSpPr>
          <p:cNvPr id="62" name="Rectangle 61"/>
          <p:cNvSpPr/>
          <p:nvPr/>
        </p:nvSpPr>
        <p:spPr>
          <a:xfrm>
            <a:off x="2417673"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454249" y="2962656"/>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64" name="Rectangle 63"/>
          <p:cNvSpPr/>
          <p:nvPr/>
        </p:nvSpPr>
        <p:spPr>
          <a:xfrm>
            <a:off x="3166567"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3143" y="2962656"/>
            <a:ext cx="694029" cy="301752"/>
          </a:xfrm>
          <a:prstGeom prst="rect">
            <a:avLst/>
          </a:prstGeom>
          <a:noFill/>
        </p:spPr>
        <p:txBody>
          <a:bodyPr wrap="square">
            <a:spAutoFit/>
          </a:bodyPr>
          <a:lstStyle/>
          <a:p>
            <a:pPr algn="l"/>
            <a:r>
              <a:rPr sz="700" b="0" i="0">
                <a:solidFill>
                  <a:srgbClr val="2C3E50"/>
                </a:solidFill>
                <a:latin typeface="Calibri" panose="020F0502020204030204"/>
              </a:rPr>
              <a:t>$0.10 per 1M</a:t>
            </a:r>
            <a:endParaRPr sz="700" b="0" i="0">
              <a:solidFill>
                <a:srgbClr val="2C3E50"/>
              </a:solidFill>
              <a:latin typeface="Calibri" panose="020F0502020204030204"/>
            </a:endParaRPr>
          </a:p>
        </p:txBody>
      </p:sp>
      <p:sp>
        <p:nvSpPr>
          <p:cNvPr id="66" name="Rectangle 65"/>
          <p:cNvSpPr/>
          <p:nvPr/>
        </p:nvSpPr>
        <p:spPr>
          <a:xfrm>
            <a:off x="3915460"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52036" y="2962656"/>
            <a:ext cx="1327708" cy="301752"/>
          </a:xfrm>
          <a:prstGeom prst="rect">
            <a:avLst/>
          </a:prstGeom>
          <a:noFill/>
        </p:spPr>
        <p:txBody>
          <a:bodyPr wrap="square">
            <a:spAutoFit/>
          </a:bodyPr>
          <a:lstStyle/>
          <a:p>
            <a:pPr algn="l"/>
            <a:r>
              <a:rPr sz="700" b="0" i="0">
                <a:solidFill>
                  <a:srgbClr val="2C3E50"/>
                </a:solidFill>
                <a:latin typeface="Calibri" panose="020F0502020204030204"/>
              </a:rPr>
              <a:t>150k×0.08k×$0.10</a:t>
            </a:r>
            <a:endParaRPr sz="700" b="0" i="0">
              <a:solidFill>
                <a:srgbClr val="2C3E50"/>
              </a:solidFill>
              <a:latin typeface="Calibri" panose="020F0502020204030204"/>
            </a:endParaRPr>
          </a:p>
        </p:txBody>
      </p:sp>
      <p:sp>
        <p:nvSpPr>
          <p:cNvPr id="68" name="Rectangle 67"/>
          <p:cNvSpPr/>
          <p:nvPr/>
        </p:nvSpPr>
        <p:spPr>
          <a:xfrm>
            <a:off x="5298033"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334609" y="2962656"/>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70" name="Rectangle 69"/>
          <p:cNvSpPr/>
          <p:nvPr/>
        </p:nvSpPr>
        <p:spPr>
          <a:xfrm>
            <a:off x="228600"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5176" y="3310127"/>
            <a:ext cx="866851" cy="301752"/>
          </a:xfrm>
          <a:prstGeom prst="rect">
            <a:avLst/>
          </a:prstGeom>
          <a:noFill/>
        </p:spPr>
        <p:txBody>
          <a:bodyPr wrap="square">
            <a:spAutoFit/>
          </a:bodyPr>
          <a:lstStyle/>
          <a:p>
            <a:pPr algn="l"/>
            <a:r>
              <a:rPr sz="700" b="0" i="0">
                <a:solidFill>
                  <a:srgbClr val="2C3E50"/>
                </a:solidFill>
                <a:latin typeface="Calibri" panose="020F0502020204030204"/>
              </a:rPr>
              <a:t>Guardrails</a:t>
            </a:r>
            <a:endParaRPr sz="700" b="0" i="0">
              <a:solidFill>
                <a:srgbClr val="2C3E50"/>
              </a:solidFill>
              <a:latin typeface="Calibri" panose="020F0502020204030204"/>
            </a:endParaRPr>
          </a:p>
        </p:txBody>
      </p:sp>
      <p:sp>
        <p:nvSpPr>
          <p:cNvPr id="72" name="Rectangle 71"/>
          <p:cNvSpPr/>
          <p:nvPr/>
        </p:nvSpPr>
        <p:spPr>
          <a:xfrm>
            <a:off x="1150315"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86891" y="3310127"/>
            <a:ext cx="1212494" cy="301752"/>
          </a:xfrm>
          <a:prstGeom prst="rect">
            <a:avLst/>
          </a:prstGeom>
          <a:noFill/>
        </p:spPr>
        <p:txBody>
          <a:bodyPr wrap="square">
            <a:spAutoFit/>
          </a:bodyPr>
          <a:lstStyle/>
          <a:p>
            <a:pPr algn="l"/>
            <a:r>
              <a:rPr sz="700" b="0" i="0">
                <a:solidFill>
                  <a:srgbClr val="2C3E50"/>
                </a:solidFill>
                <a:latin typeface="Calibri" panose="020F0502020204030204"/>
              </a:rPr>
              <a:t>Bedrock Guardrails</a:t>
            </a:r>
            <a:endParaRPr sz="700" b="0" i="0">
              <a:solidFill>
                <a:srgbClr val="2C3E50"/>
              </a:solidFill>
              <a:latin typeface="Calibri" panose="020F0502020204030204"/>
            </a:endParaRPr>
          </a:p>
        </p:txBody>
      </p:sp>
      <p:sp>
        <p:nvSpPr>
          <p:cNvPr id="74" name="Rectangle 73"/>
          <p:cNvSpPr/>
          <p:nvPr/>
        </p:nvSpPr>
        <p:spPr>
          <a:xfrm>
            <a:off x="2417673"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54249" y="3310127"/>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76" name="Rectangle 75"/>
          <p:cNvSpPr/>
          <p:nvPr/>
        </p:nvSpPr>
        <p:spPr>
          <a:xfrm>
            <a:off x="3166567"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03143" y="3310127"/>
            <a:ext cx="694029" cy="301752"/>
          </a:xfrm>
          <a:prstGeom prst="rect">
            <a:avLst/>
          </a:prstGeom>
          <a:noFill/>
        </p:spPr>
        <p:txBody>
          <a:bodyPr wrap="square">
            <a:spAutoFit/>
          </a:bodyPr>
          <a:lstStyle/>
          <a:p>
            <a:pPr algn="l"/>
            <a:r>
              <a:rPr sz="700" b="0" i="0">
                <a:solidFill>
                  <a:srgbClr val="2C3E50"/>
                </a:solidFill>
                <a:latin typeface="Calibri" panose="020F0502020204030204"/>
              </a:rPr>
              <a:t>$0.15/1k units</a:t>
            </a:r>
            <a:endParaRPr sz="700" b="0" i="0">
              <a:solidFill>
                <a:srgbClr val="2C3E50"/>
              </a:solidFill>
              <a:latin typeface="Calibri" panose="020F0502020204030204"/>
            </a:endParaRPr>
          </a:p>
        </p:txBody>
      </p:sp>
      <p:sp>
        <p:nvSpPr>
          <p:cNvPr id="78" name="Rectangle 77"/>
          <p:cNvSpPr/>
          <p:nvPr/>
        </p:nvSpPr>
        <p:spPr>
          <a:xfrm>
            <a:off x="3915460"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952036" y="3310127"/>
            <a:ext cx="1327708" cy="301752"/>
          </a:xfrm>
          <a:prstGeom prst="rect">
            <a:avLst/>
          </a:prstGeom>
          <a:noFill/>
        </p:spPr>
        <p:txBody>
          <a:bodyPr wrap="square">
            <a:spAutoFit/>
          </a:bodyPr>
          <a:lstStyle/>
          <a:p>
            <a:pPr algn="l"/>
            <a:r>
              <a:rPr sz="700" b="0" i="0">
                <a:solidFill>
                  <a:srgbClr val="2C3E50"/>
                </a:solidFill>
                <a:latin typeface="Calibri" panose="020F0502020204030204"/>
              </a:rPr>
              <a:t>120k×3.6 units×$0.15/1k</a:t>
            </a:r>
            <a:endParaRPr sz="700" b="0" i="0">
              <a:solidFill>
                <a:srgbClr val="2C3E50"/>
              </a:solidFill>
              <a:latin typeface="Calibri" panose="020F0502020204030204"/>
            </a:endParaRPr>
          </a:p>
        </p:txBody>
      </p:sp>
      <p:sp>
        <p:nvSpPr>
          <p:cNvPr id="80" name="Rectangle 79"/>
          <p:cNvSpPr/>
          <p:nvPr/>
        </p:nvSpPr>
        <p:spPr>
          <a:xfrm>
            <a:off x="5298033"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34609" y="3310127"/>
            <a:ext cx="636422" cy="301752"/>
          </a:xfrm>
          <a:prstGeom prst="rect">
            <a:avLst/>
          </a:prstGeom>
          <a:noFill/>
        </p:spPr>
        <p:txBody>
          <a:bodyPr wrap="square">
            <a:spAutoFit/>
          </a:bodyPr>
          <a:lstStyle/>
          <a:p>
            <a:pPr algn="r"/>
            <a:r>
              <a:rPr sz="900" b="1" i="0">
                <a:solidFill>
                  <a:srgbClr val="2C3E50"/>
                </a:solidFill>
                <a:latin typeface="Calibri" panose="020F0502020204030204"/>
              </a:rPr>
              <a:t>$65</a:t>
            </a:r>
            <a:endParaRPr sz="900" b="1" i="0">
              <a:solidFill>
                <a:srgbClr val="2C3E50"/>
              </a:solidFill>
              <a:latin typeface="Calibri" panose="020F0502020204030204"/>
            </a:endParaRPr>
          </a:p>
        </p:txBody>
      </p:sp>
      <p:sp>
        <p:nvSpPr>
          <p:cNvPr id="82" name="Rectangle 81"/>
          <p:cNvSpPr/>
          <p:nvPr/>
        </p:nvSpPr>
        <p:spPr>
          <a:xfrm>
            <a:off x="228600" y="3630168"/>
            <a:ext cx="921715"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5176" y="3657599"/>
            <a:ext cx="866851" cy="301752"/>
          </a:xfrm>
          <a:prstGeom prst="rect">
            <a:avLst/>
          </a:prstGeom>
          <a:noFill/>
        </p:spPr>
        <p:txBody>
          <a:bodyPr wrap="square">
            <a:spAutoFit/>
          </a:bodyPr>
          <a:lstStyle/>
          <a:p>
            <a:pPr algn="l"/>
            <a:r>
              <a:rPr sz="700" b="0" i="0">
                <a:solidFill>
                  <a:srgbClr val="2C3E50"/>
                </a:solidFill>
                <a:latin typeface="Calibri" panose="020F0502020204030204"/>
              </a:rPr>
              <a:t>Prompt cache</a:t>
            </a:r>
            <a:endParaRPr sz="700" b="0" i="0">
              <a:solidFill>
                <a:srgbClr val="2C3E50"/>
              </a:solidFill>
              <a:latin typeface="Calibri" panose="020F0502020204030204"/>
            </a:endParaRPr>
          </a:p>
        </p:txBody>
      </p:sp>
      <p:sp>
        <p:nvSpPr>
          <p:cNvPr id="84" name="Rectangle 83"/>
          <p:cNvSpPr/>
          <p:nvPr/>
        </p:nvSpPr>
        <p:spPr>
          <a:xfrm>
            <a:off x="1150315" y="3630168"/>
            <a:ext cx="1267358"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86891" y="3657599"/>
            <a:ext cx="1212494" cy="301752"/>
          </a:xfrm>
          <a:prstGeom prst="rect">
            <a:avLst/>
          </a:prstGeom>
          <a:noFill/>
        </p:spPr>
        <p:txBody>
          <a:bodyPr wrap="square">
            <a:spAutoFit/>
          </a:bodyPr>
          <a:lstStyle/>
          <a:p>
            <a:pPr algn="l"/>
            <a:r>
              <a:rPr sz="700" b="0" i="0">
                <a:solidFill>
                  <a:srgbClr val="2C3E50"/>
                </a:solidFill>
                <a:latin typeface="Calibri" panose="020F0502020204030204"/>
              </a:rPr>
              <a:t>Auto (Claude 4.x, ~60% hit)</a:t>
            </a:r>
            <a:endParaRPr sz="700" b="0" i="0">
              <a:solidFill>
                <a:srgbClr val="2C3E50"/>
              </a:solidFill>
              <a:latin typeface="Calibri" panose="020F0502020204030204"/>
            </a:endParaRPr>
          </a:p>
        </p:txBody>
      </p:sp>
      <p:sp>
        <p:nvSpPr>
          <p:cNvPr id="86" name="Rectangle 85"/>
          <p:cNvSpPr/>
          <p:nvPr/>
        </p:nvSpPr>
        <p:spPr>
          <a:xfrm>
            <a:off x="2417673" y="3630168"/>
            <a:ext cx="748893"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454249" y="3657599"/>
            <a:ext cx="694029" cy="301752"/>
          </a:xfrm>
          <a:prstGeom prst="rect">
            <a:avLst/>
          </a:prstGeom>
          <a:noFill/>
        </p:spPr>
        <p:txBody>
          <a:bodyPr wrap="square">
            <a:spAutoFit/>
          </a:bodyPr>
          <a:lstStyle/>
          <a:p>
            <a:pPr algn="l"/>
            <a:r>
              <a:rPr sz="700" b="0" i="0">
                <a:solidFill>
                  <a:srgbClr val="2C3E50"/>
                </a:solidFill>
                <a:latin typeface="Calibri" panose="020F0502020204030204"/>
              </a:rPr>
              <a:t>—</a:t>
            </a:r>
            <a:endParaRPr sz="700" b="0" i="0">
              <a:solidFill>
                <a:srgbClr val="2C3E50"/>
              </a:solidFill>
              <a:latin typeface="Calibri" panose="020F0502020204030204"/>
            </a:endParaRPr>
          </a:p>
        </p:txBody>
      </p:sp>
      <p:sp>
        <p:nvSpPr>
          <p:cNvPr id="88" name="Rectangle 87"/>
          <p:cNvSpPr/>
          <p:nvPr/>
        </p:nvSpPr>
        <p:spPr>
          <a:xfrm>
            <a:off x="3166567" y="3630168"/>
            <a:ext cx="748893"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203143" y="3657599"/>
            <a:ext cx="694029" cy="301752"/>
          </a:xfrm>
          <a:prstGeom prst="rect">
            <a:avLst/>
          </a:prstGeom>
          <a:noFill/>
        </p:spPr>
        <p:txBody>
          <a:bodyPr wrap="square">
            <a:spAutoFit/>
          </a:bodyPr>
          <a:lstStyle/>
          <a:p>
            <a:pPr algn="l"/>
            <a:r>
              <a:rPr sz="700" b="0" i="0">
                <a:solidFill>
                  <a:srgbClr val="2C3E50"/>
                </a:solidFill>
                <a:latin typeface="Calibri" panose="020F0502020204030204"/>
              </a:rPr>
              <a:t>−90% cached tok</a:t>
            </a:r>
            <a:endParaRPr sz="700" b="0" i="0">
              <a:solidFill>
                <a:srgbClr val="2C3E50"/>
              </a:solidFill>
              <a:latin typeface="Calibri" panose="020F0502020204030204"/>
            </a:endParaRPr>
          </a:p>
        </p:txBody>
      </p:sp>
      <p:sp>
        <p:nvSpPr>
          <p:cNvPr id="90" name="Rectangle 89"/>
          <p:cNvSpPr/>
          <p:nvPr/>
        </p:nvSpPr>
        <p:spPr>
          <a:xfrm>
            <a:off x="3915460" y="3630168"/>
            <a:ext cx="1382572"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52036" y="3657599"/>
            <a:ext cx="1327708" cy="301752"/>
          </a:xfrm>
          <a:prstGeom prst="rect">
            <a:avLst/>
          </a:prstGeom>
          <a:noFill/>
        </p:spPr>
        <p:txBody>
          <a:bodyPr wrap="square">
            <a:spAutoFit/>
          </a:bodyPr>
          <a:lstStyle/>
          <a:p>
            <a:pPr algn="l"/>
            <a:r>
              <a:rPr sz="700" b="0" i="0">
                <a:solidFill>
                  <a:srgbClr val="2C3E50"/>
                </a:solidFill>
                <a:latin typeface="Calibri" panose="020F0502020204030204"/>
              </a:rPr>
              <a:t>~40% reduction on Sonnet cost</a:t>
            </a:r>
            <a:endParaRPr sz="700" b="0" i="0">
              <a:solidFill>
                <a:srgbClr val="2C3E50"/>
              </a:solidFill>
              <a:latin typeface="Calibri" panose="020F0502020204030204"/>
            </a:endParaRPr>
          </a:p>
        </p:txBody>
      </p:sp>
      <p:sp>
        <p:nvSpPr>
          <p:cNvPr id="92" name="Rectangle 91"/>
          <p:cNvSpPr/>
          <p:nvPr/>
        </p:nvSpPr>
        <p:spPr>
          <a:xfrm>
            <a:off x="5298033" y="3630168"/>
            <a:ext cx="691286"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34609" y="3657599"/>
            <a:ext cx="636422" cy="301752"/>
          </a:xfrm>
          <a:prstGeom prst="rect">
            <a:avLst/>
          </a:prstGeom>
          <a:noFill/>
        </p:spPr>
        <p:txBody>
          <a:bodyPr wrap="square">
            <a:spAutoFit/>
          </a:bodyPr>
          <a:lstStyle/>
          <a:p>
            <a:pPr algn="r"/>
            <a:r>
              <a:rPr sz="900" b="1" i="0">
                <a:solidFill>
                  <a:srgbClr val="27AE60"/>
                </a:solidFill>
                <a:latin typeface="Calibri" panose="020F0502020204030204"/>
              </a:rPr>
              <a:t>−$864</a:t>
            </a:r>
            <a:endParaRPr sz="900" b="1" i="0">
              <a:solidFill>
                <a:srgbClr val="27AE60"/>
              </a:solidFill>
              <a:latin typeface="Calibri" panose="020F0502020204030204"/>
            </a:endParaRPr>
          </a:p>
        </p:txBody>
      </p:sp>
      <p:sp>
        <p:nvSpPr>
          <p:cNvPr id="94" name="Rectangle 93"/>
          <p:cNvSpPr/>
          <p:nvPr/>
        </p:nvSpPr>
        <p:spPr>
          <a:xfrm>
            <a:off x="228600" y="4014215"/>
            <a:ext cx="5760720" cy="310896"/>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38328" y="4069079"/>
            <a:ext cx="3744468" cy="219456"/>
          </a:xfrm>
          <a:prstGeom prst="rect">
            <a:avLst/>
          </a:prstGeom>
          <a:noFill/>
        </p:spPr>
        <p:txBody>
          <a:bodyPr wrap="square">
            <a:spAutoFit/>
          </a:bodyPr>
          <a:lstStyle/>
          <a:p>
            <a:pPr algn="l"/>
            <a:r>
              <a:rPr sz="900" b="1" i="0">
                <a:solidFill>
                  <a:srgbClr val="FFFFFF"/>
                </a:solidFill>
                <a:latin typeface="Calibri" panose="020F0502020204030204"/>
              </a:rPr>
              <a:t>LLM Subtotal (after prompt cache savings)</a:t>
            </a:r>
            <a:endParaRPr sz="900" b="1" i="0">
              <a:solidFill>
                <a:srgbClr val="FFFFFF"/>
              </a:solidFill>
              <a:latin typeface="Calibri" panose="020F0502020204030204"/>
            </a:endParaRPr>
          </a:p>
        </p:txBody>
      </p:sp>
      <p:sp>
        <p:nvSpPr>
          <p:cNvPr id="96" name="TextBox 95"/>
          <p:cNvSpPr txBox="1"/>
          <p:nvPr/>
        </p:nvSpPr>
        <p:spPr>
          <a:xfrm>
            <a:off x="3973068" y="4050791"/>
            <a:ext cx="1901037" cy="256032"/>
          </a:xfrm>
          <a:prstGeom prst="rect">
            <a:avLst/>
          </a:prstGeom>
          <a:noFill/>
        </p:spPr>
        <p:txBody>
          <a:bodyPr wrap="square">
            <a:spAutoFit/>
          </a:bodyPr>
          <a:lstStyle/>
          <a:p>
            <a:pPr algn="r"/>
            <a:r>
              <a:rPr sz="1200" b="1" i="0">
                <a:solidFill>
                  <a:srgbClr val="FFC107"/>
                </a:solidFill>
                <a:latin typeface="Calibri" panose="020F0502020204030204"/>
              </a:rPr>
              <a:t>~$1,455 / mo</a:t>
            </a:r>
            <a:endParaRPr sz="1200" b="1" i="0">
              <a:solidFill>
                <a:srgbClr val="FFC107"/>
              </a:solidFill>
              <a:latin typeface="Calibri" panose="020F0502020204030204"/>
            </a:endParaRPr>
          </a:p>
        </p:txBody>
      </p:sp>
      <p:sp>
        <p:nvSpPr>
          <p:cNvPr id="97" name="Rectangle 96"/>
          <p:cNvSpPr/>
          <p:nvPr/>
        </p:nvSpPr>
        <p:spPr>
          <a:xfrm>
            <a:off x="228600" y="4398264"/>
            <a:ext cx="5760720" cy="2743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38328" y="4416551"/>
            <a:ext cx="5577840" cy="219456"/>
          </a:xfrm>
          <a:prstGeom prst="rect">
            <a:avLst/>
          </a:prstGeom>
          <a:noFill/>
        </p:spPr>
        <p:txBody>
          <a:bodyPr wrap="square">
            <a:spAutoFit/>
          </a:bodyPr>
          <a:lstStyle/>
          <a:p>
            <a:pPr algn="l"/>
            <a:r>
              <a:rPr sz="900" b="0" i="1">
                <a:solidFill>
                  <a:srgbClr val="FFFFFF"/>
                </a:solidFill>
                <a:latin typeface="Calibri" panose="020F0502020204030204"/>
              </a:rPr>
              <a:t>FINE-TUNING  —  Not applicable in Version A (base Claude only)</a:t>
            </a:r>
            <a:endParaRPr sz="900" b="0" i="1">
              <a:solidFill>
                <a:srgbClr val="FFFFFF"/>
              </a:solidFill>
              <a:latin typeface="Calibri" panose="020F0502020204030204"/>
            </a:endParaRPr>
          </a:p>
        </p:txBody>
      </p:sp>
      <p:sp>
        <p:nvSpPr>
          <p:cNvPr id="99" name="Rectangle 98"/>
          <p:cNvSpPr/>
          <p:nvPr/>
        </p:nvSpPr>
        <p:spPr>
          <a:xfrm>
            <a:off x="6199632" y="1325880"/>
            <a:ext cx="5760720" cy="32918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309360" y="1371600"/>
            <a:ext cx="5577840" cy="237744"/>
          </a:xfrm>
          <a:prstGeom prst="rect">
            <a:avLst/>
          </a:prstGeom>
          <a:noFill/>
        </p:spPr>
        <p:txBody>
          <a:bodyPr wrap="square">
            <a:spAutoFit/>
          </a:bodyPr>
          <a:lstStyle/>
          <a:p>
            <a:pPr algn="l"/>
            <a:r>
              <a:rPr sz="1000" b="1" i="0">
                <a:solidFill>
                  <a:srgbClr val="FFFFFF"/>
                </a:solidFill>
                <a:latin typeface="Calibri" panose="020F0502020204030204"/>
              </a:rPr>
              <a:t>INFRASTRUCTURE &amp; SERVICES  (Singapore)</a:t>
            </a:r>
            <a:endParaRPr sz="1000" b="1" i="0">
              <a:solidFill>
                <a:srgbClr val="FFFFFF"/>
              </a:solidFill>
              <a:latin typeface="Calibri" panose="020F0502020204030204"/>
            </a:endParaRPr>
          </a:p>
        </p:txBody>
      </p:sp>
      <p:sp>
        <p:nvSpPr>
          <p:cNvPr id="101" name="Rectangle 100"/>
          <p:cNvSpPr/>
          <p:nvPr/>
        </p:nvSpPr>
        <p:spPr>
          <a:xfrm>
            <a:off x="6199632"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236208"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03" name="Rectangle 102"/>
          <p:cNvSpPr/>
          <p:nvPr/>
        </p:nvSpPr>
        <p:spPr>
          <a:xfrm>
            <a:off x="7121347"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157923"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05" name="Rectangle 104"/>
          <p:cNvSpPr/>
          <p:nvPr/>
        </p:nvSpPr>
        <p:spPr>
          <a:xfrm>
            <a:off x="8388705"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425281"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07" name="Rectangle 106"/>
          <p:cNvSpPr/>
          <p:nvPr/>
        </p:nvSpPr>
        <p:spPr>
          <a:xfrm>
            <a:off x="9137599"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174175"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09" name="Rectangle 108"/>
          <p:cNvSpPr/>
          <p:nvPr/>
        </p:nvSpPr>
        <p:spPr>
          <a:xfrm>
            <a:off x="9886492"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923068"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111" name="Rectangle 110"/>
          <p:cNvSpPr/>
          <p:nvPr/>
        </p:nvSpPr>
        <p:spPr>
          <a:xfrm>
            <a:off x="11269065"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1305641"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113" name="Rectangle 112"/>
          <p:cNvSpPr/>
          <p:nvPr/>
        </p:nvSpPr>
        <p:spPr>
          <a:xfrm>
            <a:off x="6199632"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236208" y="1920240"/>
            <a:ext cx="866851" cy="301752"/>
          </a:xfrm>
          <a:prstGeom prst="rect">
            <a:avLst/>
          </a:prstGeom>
          <a:noFill/>
        </p:spPr>
        <p:txBody>
          <a:bodyPr wrap="square">
            <a:spAutoFit/>
          </a:bodyPr>
          <a:lstStyle/>
          <a:p>
            <a:pPr algn="l"/>
            <a:r>
              <a:rPr sz="700" b="0" i="0">
                <a:solidFill>
                  <a:srgbClr val="2C3E50"/>
                </a:solidFill>
                <a:latin typeface="Calibri" panose="020F0502020204030204"/>
              </a:rPr>
              <a:t>Vector KB</a:t>
            </a:r>
            <a:endParaRPr sz="700" b="0" i="0">
              <a:solidFill>
                <a:srgbClr val="2C3E50"/>
              </a:solidFill>
              <a:latin typeface="Calibri" panose="020F0502020204030204"/>
            </a:endParaRPr>
          </a:p>
        </p:txBody>
      </p:sp>
      <p:sp>
        <p:nvSpPr>
          <p:cNvPr id="115" name="Rectangle 114"/>
          <p:cNvSpPr/>
          <p:nvPr/>
        </p:nvSpPr>
        <p:spPr>
          <a:xfrm>
            <a:off x="7121347"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157923" y="1920240"/>
            <a:ext cx="1212494" cy="301752"/>
          </a:xfrm>
          <a:prstGeom prst="rect">
            <a:avLst/>
          </a:prstGeom>
          <a:noFill/>
        </p:spPr>
        <p:txBody>
          <a:bodyPr wrap="square">
            <a:spAutoFit/>
          </a:bodyPr>
          <a:lstStyle/>
          <a:p>
            <a:pPr algn="l"/>
            <a:r>
              <a:rPr sz="700" b="0" i="0">
                <a:solidFill>
                  <a:srgbClr val="2C3E50"/>
                </a:solidFill>
                <a:latin typeface="Calibri" panose="020F0502020204030204"/>
              </a:rPr>
              <a:t>Bedrock KB OpenSearch Serverless</a:t>
            </a:r>
            <a:endParaRPr sz="700" b="0" i="0">
              <a:solidFill>
                <a:srgbClr val="2C3E50"/>
              </a:solidFill>
              <a:latin typeface="Calibri" panose="020F0502020204030204"/>
            </a:endParaRPr>
          </a:p>
        </p:txBody>
      </p:sp>
      <p:sp>
        <p:nvSpPr>
          <p:cNvPr id="117" name="Rectangle 116"/>
          <p:cNvSpPr/>
          <p:nvPr/>
        </p:nvSpPr>
        <p:spPr>
          <a:xfrm>
            <a:off x="8388705"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425281" y="1920240"/>
            <a:ext cx="694029" cy="301752"/>
          </a:xfrm>
          <a:prstGeom prst="rect">
            <a:avLst/>
          </a:prstGeom>
          <a:noFill/>
        </p:spPr>
        <p:txBody>
          <a:bodyPr wrap="square">
            <a:spAutoFit/>
          </a:bodyPr>
          <a:lstStyle/>
          <a:p>
            <a:pPr algn="l"/>
            <a:r>
              <a:rPr sz="700" b="0" i="0">
                <a:solidFill>
                  <a:srgbClr val="2C3E50"/>
                </a:solidFill>
                <a:latin typeface="Calibri" panose="020F0502020204030204"/>
              </a:rPr>
              <a:t>2 OCU × 720hr</a:t>
            </a:r>
            <a:endParaRPr sz="700" b="0" i="0">
              <a:solidFill>
                <a:srgbClr val="2C3E50"/>
              </a:solidFill>
              <a:latin typeface="Calibri" panose="020F0502020204030204"/>
            </a:endParaRPr>
          </a:p>
        </p:txBody>
      </p:sp>
      <p:sp>
        <p:nvSpPr>
          <p:cNvPr id="119" name="Rectangle 118"/>
          <p:cNvSpPr/>
          <p:nvPr/>
        </p:nvSpPr>
        <p:spPr>
          <a:xfrm>
            <a:off x="9137599"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174175" y="1920240"/>
            <a:ext cx="694029" cy="301752"/>
          </a:xfrm>
          <a:prstGeom prst="rect">
            <a:avLst/>
          </a:prstGeom>
          <a:noFill/>
        </p:spPr>
        <p:txBody>
          <a:bodyPr wrap="square">
            <a:spAutoFit/>
          </a:bodyPr>
          <a:lstStyle/>
          <a:p>
            <a:pPr algn="l"/>
            <a:r>
              <a:rPr sz="700" b="0" i="0">
                <a:solidFill>
                  <a:srgbClr val="2C3E50"/>
                </a:solidFill>
                <a:latin typeface="Calibri" panose="020F0502020204030204"/>
              </a:rPr>
              <a:t>$0.24/OCU-hr</a:t>
            </a:r>
            <a:endParaRPr sz="700" b="0" i="0">
              <a:solidFill>
                <a:srgbClr val="2C3E50"/>
              </a:solidFill>
              <a:latin typeface="Calibri" panose="020F0502020204030204"/>
            </a:endParaRPr>
          </a:p>
        </p:txBody>
      </p:sp>
      <p:sp>
        <p:nvSpPr>
          <p:cNvPr id="121" name="Rectangle 120"/>
          <p:cNvSpPr/>
          <p:nvPr/>
        </p:nvSpPr>
        <p:spPr>
          <a:xfrm>
            <a:off x="9886492"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923068" y="1920240"/>
            <a:ext cx="1327708" cy="301752"/>
          </a:xfrm>
          <a:prstGeom prst="rect">
            <a:avLst/>
          </a:prstGeom>
          <a:noFill/>
        </p:spPr>
        <p:txBody>
          <a:bodyPr wrap="square">
            <a:spAutoFit/>
          </a:bodyPr>
          <a:lstStyle/>
          <a:p>
            <a:pPr algn="l"/>
            <a:r>
              <a:rPr sz="700" b="0" i="0">
                <a:solidFill>
                  <a:srgbClr val="2C3E50"/>
                </a:solidFill>
                <a:latin typeface="Calibri" panose="020F0502020204030204"/>
              </a:rPr>
              <a:t>2×720×$0.24</a:t>
            </a:r>
            <a:endParaRPr sz="700" b="0" i="0">
              <a:solidFill>
                <a:srgbClr val="2C3E50"/>
              </a:solidFill>
              <a:latin typeface="Calibri" panose="020F0502020204030204"/>
            </a:endParaRPr>
          </a:p>
        </p:txBody>
      </p:sp>
      <p:sp>
        <p:nvSpPr>
          <p:cNvPr id="123" name="Rectangle 122"/>
          <p:cNvSpPr/>
          <p:nvPr/>
        </p:nvSpPr>
        <p:spPr>
          <a:xfrm>
            <a:off x="11269065"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305641" y="1920240"/>
            <a:ext cx="636422" cy="301752"/>
          </a:xfrm>
          <a:prstGeom prst="rect">
            <a:avLst/>
          </a:prstGeom>
          <a:noFill/>
        </p:spPr>
        <p:txBody>
          <a:bodyPr wrap="square">
            <a:spAutoFit/>
          </a:bodyPr>
          <a:lstStyle/>
          <a:p>
            <a:pPr algn="r"/>
            <a:r>
              <a:rPr sz="900" b="1" i="0">
                <a:solidFill>
                  <a:srgbClr val="2C3E50"/>
                </a:solidFill>
                <a:latin typeface="Calibri" panose="020F0502020204030204"/>
              </a:rPr>
              <a:t>$346</a:t>
            </a:r>
            <a:endParaRPr sz="900" b="1" i="0">
              <a:solidFill>
                <a:srgbClr val="2C3E50"/>
              </a:solidFill>
              <a:latin typeface="Calibri" panose="020F0502020204030204"/>
            </a:endParaRPr>
          </a:p>
        </p:txBody>
      </p:sp>
      <p:sp>
        <p:nvSpPr>
          <p:cNvPr id="125" name="Rectangle 124"/>
          <p:cNvSpPr/>
          <p:nvPr/>
        </p:nvSpPr>
        <p:spPr>
          <a:xfrm>
            <a:off x="6199632"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236208" y="2267712"/>
            <a:ext cx="866851" cy="301752"/>
          </a:xfrm>
          <a:prstGeom prst="rect">
            <a:avLst/>
          </a:prstGeom>
          <a:noFill/>
        </p:spPr>
        <p:txBody>
          <a:bodyPr wrap="square">
            <a:spAutoFit/>
          </a:bodyPr>
          <a:lstStyle/>
          <a:p>
            <a:pPr algn="l"/>
            <a:r>
              <a:rPr sz="700" b="0" i="0">
                <a:solidFill>
                  <a:srgbClr val="2C3E50"/>
                </a:solidFill>
                <a:latin typeface="Calibri" panose="020F0502020204030204"/>
              </a:rPr>
              <a:t>GraphRAG KB</a:t>
            </a:r>
            <a:endParaRPr sz="700" b="0" i="0">
              <a:solidFill>
                <a:srgbClr val="2C3E50"/>
              </a:solidFill>
              <a:latin typeface="Calibri" panose="020F0502020204030204"/>
            </a:endParaRPr>
          </a:p>
        </p:txBody>
      </p:sp>
      <p:sp>
        <p:nvSpPr>
          <p:cNvPr id="127" name="Rectangle 126"/>
          <p:cNvSpPr/>
          <p:nvPr/>
        </p:nvSpPr>
        <p:spPr>
          <a:xfrm>
            <a:off x="7121347"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7157923" y="2267712"/>
            <a:ext cx="1212494" cy="301752"/>
          </a:xfrm>
          <a:prstGeom prst="rect">
            <a:avLst/>
          </a:prstGeom>
          <a:noFill/>
        </p:spPr>
        <p:txBody>
          <a:bodyPr wrap="square">
            <a:spAutoFit/>
          </a:bodyPr>
          <a:lstStyle/>
          <a:p>
            <a:pPr algn="l"/>
            <a:r>
              <a:rPr sz="700" b="0" i="0">
                <a:solidFill>
                  <a:srgbClr val="2C3E50"/>
                </a:solidFill>
                <a:latin typeface="Calibri" panose="020F0502020204030204"/>
              </a:rPr>
              <a:t>Neptune Analytics</a:t>
            </a:r>
            <a:endParaRPr sz="700" b="0" i="0">
              <a:solidFill>
                <a:srgbClr val="2C3E50"/>
              </a:solidFill>
              <a:latin typeface="Calibri" panose="020F0502020204030204"/>
            </a:endParaRPr>
          </a:p>
        </p:txBody>
      </p:sp>
      <p:sp>
        <p:nvSpPr>
          <p:cNvPr id="129" name="Rectangle 128"/>
          <p:cNvSpPr/>
          <p:nvPr/>
        </p:nvSpPr>
        <p:spPr>
          <a:xfrm>
            <a:off x="8388705"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8425281" y="2267712"/>
            <a:ext cx="694029" cy="301752"/>
          </a:xfrm>
          <a:prstGeom prst="rect">
            <a:avLst/>
          </a:prstGeom>
          <a:noFill/>
        </p:spPr>
        <p:txBody>
          <a:bodyPr wrap="square">
            <a:spAutoFit/>
          </a:bodyPr>
          <a:lstStyle/>
          <a:p>
            <a:pPr algn="l"/>
            <a:r>
              <a:rPr sz="700" b="0" i="0">
                <a:solidFill>
                  <a:srgbClr val="2C3E50"/>
                </a:solidFill>
                <a:latin typeface="Calibri" panose="020F0502020204030204"/>
              </a:rPr>
              <a:t>1 m-NCU × 720hr</a:t>
            </a:r>
            <a:endParaRPr sz="700" b="0" i="0">
              <a:solidFill>
                <a:srgbClr val="2C3E50"/>
              </a:solidFill>
              <a:latin typeface="Calibri" panose="020F0502020204030204"/>
            </a:endParaRPr>
          </a:p>
        </p:txBody>
      </p:sp>
      <p:sp>
        <p:nvSpPr>
          <p:cNvPr id="131" name="Rectangle 130"/>
          <p:cNvSpPr/>
          <p:nvPr/>
        </p:nvSpPr>
        <p:spPr>
          <a:xfrm>
            <a:off x="9137599"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174175" y="2267712"/>
            <a:ext cx="694029" cy="301752"/>
          </a:xfrm>
          <a:prstGeom prst="rect">
            <a:avLst/>
          </a:prstGeom>
          <a:noFill/>
        </p:spPr>
        <p:txBody>
          <a:bodyPr wrap="square">
            <a:spAutoFit/>
          </a:bodyPr>
          <a:lstStyle/>
          <a:p>
            <a:pPr algn="l"/>
            <a:r>
              <a:rPr sz="700" b="0" i="0">
                <a:solidFill>
                  <a:srgbClr val="2C3E50"/>
                </a:solidFill>
                <a:latin typeface="Calibri" panose="020F0502020204030204"/>
              </a:rPr>
              <a:t>$0.16/m-NCU-hr</a:t>
            </a:r>
            <a:endParaRPr sz="700" b="0" i="0">
              <a:solidFill>
                <a:srgbClr val="2C3E50"/>
              </a:solidFill>
              <a:latin typeface="Calibri" panose="020F0502020204030204"/>
            </a:endParaRPr>
          </a:p>
        </p:txBody>
      </p:sp>
      <p:sp>
        <p:nvSpPr>
          <p:cNvPr id="133" name="Rectangle 132"/>
          <p:cNvSpPr/>
          <p:nvPr/>
        </p:nvSpPr>
        <p:spPr>
          <a:xfrm>
            <a:off x="9886492"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923068" y="2267712"/>
            <a:ext cx="1327708" cy="301752"/>
          </a:xfrm>
          <a:prstGeom prst="rect">
            <a:avLst/>
          </a:prstGeom>
          <a:noFill/>
        </p:spPr>
        <p:txBody>
          <a:bodyPr wrap="square">
            <a:spAutoFit/>
          </a:bodyPr>
          <a:lstStyle/>
          <a:p>
            <a:pPr algn="l"/>
            <a:r>
              <a:rPr sz="700" b="0" i="0">
                <a:solidFill>
                  <a:srgbClr val="2C3E50"/>
                </a:solidFill>
                <a:latin typeface="Calibri" panose="020F0502020204030204"/>
              </a:rPr>
              <a:t>1×720×$0.16</a:t>
            </a:r>
            <a:endParaRPr sz="700" b="0" i="0">
              <a:solidFill>
                <a:srgbClr val="2C3E50"/>
              </a:solidFill>
              <a:latin typeface="Calibri" panose="020F0502020204030204"/>
            </a:endParaRPr>
          </a:p>
        </p:txBody>
      </p:sp>
      <p:sp>
        <p:nvSpPr>
          <p:cNvPr id="135" name="Rectangle 134"/>
          <p:cNvSpPr/>
          <p:nvPr/>
        </p:nvSpPr>
        <p:spPr>
          <a:xfrm>
            <a:off x="11269065"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305641" y="2267712"/>
            <a:ext cx="636422" cy="301752"/>
          </a:xfrm>
          <a:prstGeom prst="rect">
            <a:avLst/>
          </a:prstGeom>
          <a:noFill/>
        </p:spPr>
        <p:txBody>
          <a:bodyPr wrap="square">
            <a:spAutoFit/>
          </a:bodyPr>
          <a:lstStyle/>
          <a:p>
            <a:pPr algn="r"/>
            <a:r>
              <a:rPr sz="900" b="1" i="0">
                <a:solidFill>
                  <a:srgbClr val="2C3E50"/>
                </a:solidFill>
                <a:latin typeface="Calibri" panose="020F0502020204030204"/>
              </a:rPr>
              <a:t>$115</a:t>
            </a:r>
            <a:endParaRPr sz="900" b="1" i="0">
              <a:solidFill>
                <a:srgbClr val="2C3E50"/>
              </a:solidFill>
              <a:latin typeface="Calibri" panose="020F0502020204030204"/>
            </a:endParaRPr>
          </a:p>
        </p:txBody>
      </p:sp>
      <p:sp>
        <p:nvSpPr>
          <p:cNvPr id="137" name="Rectangle 136"/>
          <p:cNvSpPr/>
          <p:nvPr/>
        </p:nvSpPr>
        <p:spPr>
          <a:xfrm>
            <a:off x="6199632"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236208" y="2615184"/>
            <a:ext cx="866851" cy="301752"/>
          </a:xfrm>
          <a:prstGeom prst="rect">
            <a:avLst/>
          </a:prstGeom>
          <a:noFill/>
        </p:spPr>
        <p:txBody>
          <a:bodyPr wrap="square">
            <a:spAutoFit/>
          </a:bodyPr>
          <a:lstStyle/>
          <a:p>
            <a:pPr algn="l"/>
            <a:r>
              <a:rPr sz="700" b="0" i="0">
                <a:solidFill>
                  <a:srgbClr val="2C3E50"/>
                </a:solidFill>
                <a:latin typeface="Calibri" panose="020F0502020204030204"/>
              </a:rPr>
              <a:t>Semantic cache</a:t>
            </a:r>
            <a:endParaRPr sz="700" b="0" i="0">
              <a:solidFill>
                <a:srgbClr val="2C3E50"/>
              </a:solidFill>
              <a:latin typeface="Calibri" panose="020F0502020204030204"/>
            </a:endParaRPr>
          </a:p>
        </p:txBody>
      </p:sp>
      <p:sp>
        <p:nvSpPr>
          <p:cNvPr id="139" name="Rectangle 138"/>
          <p:cNvSpPr/>
          <p:nvPr/>
        </p:nvSpPr>
        <p:spPr>
          <a:xfrm>
            <a:off x="7121347"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157923" y="2615184"/>
            <a:ext cx="1212494" cy="301752"/>
          </a:xfrm>
          <a:prstGeom prst="rect">
            <a:avLst/>
          </a:prstGeom>
          <a:noFill/>
        </p:spPr>
        <p:txBody>
          <a:bodyPr wrap="square">
            <a:spAutoFit/>
          </a:bodyPr>
          <a:lstStyle/>
          <a:p>
            <a:pPr algn="l"/>
            <a:r>
              <a:rPr sz="700" b="0" i="0">
                <a:solidFill>
                  <a:srgbClr val="2C3E50"/>
                </a:solidFill>
                <a:latin typeface="Calibri" panose="020F0502020204030204"/>
              </a:rPr>
              <a:t>ElastiCache Redis OSS r7g.large</a:t>
            </a:r>
            <a:endParaRPr sz="700" b="0" i="0">
              <a:solidFill>
                <a:srgbClr val="2C3E50"/>
              </a:solidFill>
              <a:latin typeface="Calibri" panose="020F0502020204030204"/>
            </a:endParaRPr>
          </a:p>
        </p:txBody>
      </p:sp>
      <p:sp>
        <p:nvSpPr>
          <p:cNvPr id="141" name="Rectangle 140"/>
          <p:cNvSpPr/>
          <p:nvPr/>
        </p:nvSpPr>
        <p:spPr>
          <a:xfrm>
            <a:off x="8388705"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425281" y="2615184"/>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143" name="Rectangle 142"/>
          <p:cNvSpPr/>
          <p:nvPr/>
        </p:nvSpPr>
        <p:spPr>
          <a:xfrm>
            <a:off x="9137599"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174175" y="2615184"/>
            <a:ext cx="694029" cy="301752"/>
          </a:xfrm>
          <a:prstGeom prst="rect">
            <a:avLst/>
          </a:prstGeom>
          <a:noFill/>
        </p:spPr>
        <p:txBody>
          <a:bodyPr wrap="square">
            <a:spAutoFit/>
          </a:bodyPr>
          <a:lstStyle/>
          <a:p>
            <a:pPr algn="l"/>
            <a:r>
              <a:rPr sz="700" b="0" i="0">
                <a:solidFill>
                  <a:srgbClr val="2C3E50"/>
                </a:solidFill>
                <a:latin typeface="Calibri" panose="020F0502020204030204"/>
              </a:rPr>
              <a:t>$0.166/hr</a:t>
            </a:r>
            <a:endParaRPr sz="700" b="0" i="0">
              <a:solidFill>
                <a:srgbClr val="2C3E50"/>
              </a:solidFill>
              <a:latin typeface="Calibri" panose="020F0502020204030204"/>
            </a:endParaRPr>
          </a:p>
        </p:txBody>
      </p:sp>
      <p:sp>
        <p:nvSpPr>
          <p:cNvPr id="145" name="Rectangle 144"/>
          <p:cNvSpPr/>
          <p:nvPr/>
        </p:nvSpPr>
        <p:spPr>
          <a:xfrm>
            <a:off x="9886492"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923068" y="2615184"/>
            <a:ext cx="1327708" cy="301752"/>
          </a:xfrm>
          <a:prstGeom prst="rect">
            <a:avLst/>
          </a:prstGeom>
          <a:noFill/>
        </p:spPr>
        <p:txBody>
          <a:bodyPr wrap="square">
            <a:spAutoFit/>
          </a:bodyPr>
          <a:lstStyle/>
          <a:p>
            <a:pPr algn="l"/>
            <a:r>
              <a:rPr sz="700" b="0" i="0">
                <a:solidFill>
                  <a:srgbClr val="2C3E50"/>
                </a:solidFill>
                <a:latin typeface="Calibri" panose="020F0502020204030204"/>
              </a:rPr>
              <a:t>720×$0.166</a:t>
            </a:r>
            <a:endParaRPr sz="700" b="0" i="0">
              <a:solidFill>
                <a:srgbClr val="2C3E50"/>
              </a:solidFill>
              <a:latin typeface="Calibri" panose="020F0502020204030204"/>
            </a:endParaRPr>
          </a:p>
        </p:txBody>
      </p:sp>
      <p:sp>
        <p:nvSpPr>
          <p:cNvPr id="147" name="Rectangle 146"/>
          <p:cNvSpPr/>
          <p:nvPr/>
        </p:nvSpPr>
        <p:spPr>
          <a:xfrm>
            <a:off x="11269065"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305641" y="2615184"/>
            <a:ext cx="636422" cy="301752"/>
          </a:xfrm>
          <a:prstGeom prst="rect">
            <a:avLst/>
          </a:prstGeom>
          <a:noFill/>
        </p:spPr>
        <p:txBody>
          <a:bodyPr wrap="square">
            <a:spAutoFit/>
          </a:bodyPr>
          <a:lstStyle/>
          <a:p>
            <a:pPr algn="r"/>
            <a:r>
              <a:rPr sz="900" b="1" i="0">
                <a:solidFill>
                  <a:srgbClr val="2C3E50"/>
                </a:solidFill>
                <a:latin typeface="Calibri" panose="020F0502020204030204"/>
              </a:rPr>
              <a:t>$120</a:t>
            </a:r>
            <a:endParaRPr sz="900" b="1" i="0">
              <a:solidFill>
                <a:srgbClr val="2C3E50"/>
              </a:solidFill>
              <a:latin typeface="Calibri" panose="020F0502020204030204"/>
            </a:endParaRPr>
          </a:p>
        </p:txBody>
      </p:sp>
      <p:sp>
        <p:nvSpPr>
          <p:cNvPr id="149" name="Rectangle 148"/>
          <p:cNvSpPr/>
          <p:nvPr/>
        </p:nvSpPr>
        <p:spPr>
          <a:xfrm>
            <a:off x="6199632"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236208" y="2962656"/>
            <a:ext cx="866851" cy="301752"/>
          </a:xfrm>
          <a:prstGeom prst="rect">
            <a:avLst/>
          </a:prstGeom>
          <a:noFill/>
        </p:spPr>
        <p:txBody>
          <a:bodyPr wrap="square">
            <a:spAutoFit/>
          </a:bodyPr>
          <a:lstStyle/>
          <a:p>
            <a:pPr algn="l"/>
            <a:r>
              <a:rPr sz="700" b="0" i="0">
                <a:solidFill>
                  <a:srgbClr val="2C3E50"/>
                </a:solidFill>
                <a:latin typeface="Calibri" panose="020F0502020204030204"/>
              </a:rPr>
              <a:t>API server</a:t>
            </a:r>
            <a:endParaRPr sz="700" b="0" i="0">
              <a:solidFill>
                <a:srgbClr val="2C3E50"/>
              </a:solidFill>
              <a:latin typeface="Calibri" panose="020F0502020204030204"/>
            </a:endParaRPr>
          </a:p>
        </p:txBody>
      </p:sp>
      <p:sp>
        <p:nvSpPr>
          <p:cNvPr id="151" name="Rectangle 150"/>
          <p:cNvSpPr/>
          <p:nvPr/>
        </p:nvSpPr>
        <p:spPr>
          <a:xfrm>
            <a:off x="7121347"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157923" y="2962656"/>
            <a:ext cx="1212494" cy="301752"/>
          </a:xfrm>
          <a:prstGeom prst="rect">
            <a:avLst/>
          </a:prstGeom>
          <a:noFill/>
        </p:spPr>
        <p:txBody>
          <a:bodyPr wrap="square">
            <a:spAutoFit/>
          </a:bodyPr>
          <a:lstStyle/>
          <a:p>
            <a:pPr algn="l"/>
            <a:r>
              <a:rPr sz="700" b="0" i="0">
                <a:solidFill>
                  <a:srgbClr val="2C3E50"/>
                </a:solidFill>
                <a:latin typeface="Calibri" panose="020F0502020204030204"/>
              </a:rPr>
              <a:t>EC2 t4g.medium × 2 (HA)</a:t>
            </a:r>
            <a:endParaRPr sz="700" b="0" i="0">
              <a:solidFill>
                <a:srgbClr val="2C3E50"/>
              </a:solidFill>
              <a:latin typeface="Calibri" panose="020F0502020204030204"/>
            </a:endParaRPr>
          </a:p>
        </p:txBody>
      </p:sp>
      <p:sp>
        <p:nvSpPr>
          <p:cNvPr id="153" name="Rectangle 152"/>
          <p:cNvSpPr/>
          <p:nvPr/>
        </p:nvSpPr>
        <p:spPr>
          <a:xfrm>
            <a:off x="8388705"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425281" y="2962656"/>
            <a:ext cx="694029" cy="301752"/>
          </a:xfrm>
          <a:prstGeom prst="rect">
            <a:avLst/>
          </a:prstGeom>
          <a:noFill/>
        </p:spPr>
        <p:txBody>
          <a:bodyPr wrap="square">
            <a:spAutoFit/>
          </a:bodyPr>
          <a:lstStyle/>
          <a:p>
            <a:pPr algn="l"/>
            <a:r>
              <a:rPr sz="700" b="0" i="0">
                <a:solidFill>
                  <a:srgbClr val="2C3E50"/>
                </a:solidFill>
                <a:latin typeface="Calibri" panose="020F0502020204030204"/>
              </a:rPr>
              <a:t>720hr × 2</a:t>
            </a:r>
            <a:endParaRPr sz="700" b="0" i="0">
              <a:solidFill>
                <a:srgbClr val="2C3E50"/>
              </a:solidFill>
              <a:latin typeface="Calibri" panose="020F0502020204030204"/>
            </a:endParaRPr>
          </a:p>
        </p:txBody>
      </p:sp>
      <p:sp>
        <p:nvSpPr>
          <p:cNvPr id="155" name="Rectangle 154"/>
          <p:cNvSpPr/>
          <p:nvPr/>
        </p:nvSpPr>
        <p:spPr>
          <a:xfrm>
            <a:off x="9137599"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9174175" y="2962656"/>
            <a:ext cx="694029" cy="301752"/>
          </a:xfrm>
          <a:prstGeom prst="rect">
            <a:avLst/>
          </a:prstGeom>
          <a:noFill/>
        </p:spPr>
        <p:txBody>
          <a:bodyPr wrap="square">
            <a:spAutoFit/>
          </a:bodyPr>
          <a:lstStyle/>
          <a:p>
            <a:pPr algn="l"/>
            <a:r>
              <a:rPr sz="700" b="0" i="0">
                <a:solidFill>
                  <a:srgbClr val="2C3E50"/>
                </a:solidFill>
                <a:latin typeface="Calibri" panose="020F0502020204030204"/>
              </a:rPr>
              <a:t>$0.046/hr</a:t>
            </a:r>
            <a:endParaRPr sz="700" b="0" i="0">
              <a:solidFill>
                <a:srgbClr val="2C3E50"/>
              </a:solidFill>
              <a:latin typeface="Calibri" panose="020F0502020204030204"/>
            </a:endParaRPr>
          </a:p>
        </p:txBody>
      </p:sp>
      <p:sp>
        <p:nvSpPr>
          <p:cNvPr id="157" name="Rectangle 156"/>
          <p:cNvSpPr/>
          <p:nvPr/>
        </p:nvSpPr>
        <p:spPr>
          <a:xfrm>
            <a:off x="9886492"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923068" y="2962656"/>
            <a:ext cx="1327708" cy="301752"/>
          </a:xfrm>
          <a:prstGeom prst="rect">
            <a:avLst/>
          </a:prstGeom>
          <a:noFill/>
        </p:spPr>
        <p:txBody>
          <a:bodyPr wrap="square">
            <a:spAutoFit/>
          </a:bodyPr>
          <a:lstStyle/>
          <a:p>
            <a:pPr algn="l"/>
            <a:r>
              <a:rPr sz="700" b="0" i="0">
                <a:solidFill>
                  <a:srgbClr val="2C3E50"/>
                </a:solidFill>
                <a:latin typeface="Calibri" panose="020F0502020204030204"/>
              </a:rPr>
              <a:t>2×720×$0.046</a:t>
            </a:r>
            <a:endParaRPr sz="700" b="0" i="0">
              <a:solidFill>
                <a:srgbClr val="2C3E50"/>
              </a:solidFill>
              <a:latin typeface="Calibri" panose="020F0502020204030204"/>
            </a:endParaRPr>
          </a:p>
        </p:txBody>
      </p:sp>
      <p:sp>
        <p:nvSpPr>
          <p:cNvPr id="159" name="Rectangle 158"/>
          <p:cNvSpPr/>
          <p:nvPr/>
        </p:nvSpPr>
        <p:spPr>
          <a:xfrm>
            <a:off x="11269065"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305641" y="2962656"/>
            <a:ext cx="636422" cy="301752"/>
          </a:xfrm>
          <a:prstGeom prst="rect">
            <a:avLst/>
          </a:prstGeom>
          <a:noFill/>
        </p:spPr>
        <p:txBody>
          <a:bodyPr wrap="square">
            <a:spAutoFit/>
          </a:bodyPr>
          <a:lstStyle/>
          <a:p>
            <a:pPr algn="r"/>
            <a:r>
              <a:rPr sz="900" b="1" i="0">
                <a:solidFill>
                  <a:srgbClr val="2C3E50"/>
                </a:solidFill>
                <a:latin typeface="Calibri" panose="020F0502020204030204"/>
              </a:rPr>
              <a:t>$66</a:t>
            </a:r>
            <a:endParaRPr sz="900" b="1" i="0">
              <a:solidFill>
                <a:srgbClr val="2C3E50"/>
              </a:solidFill>
              <a:latin typeface="Calibri" panose="020F0502020204030204"/>
            </a:endParaRPr>
          </a:p>
        </p:txBody>
      </p:sp>
      <p:sp>
        <p:nvSpPr>
          <p:cNvPr id="161" name="Rectangle 160"/>
          <p:cNvSpPr/>
          <p:nvPr/>
        </p:nvSpPr>
        <p:spPr>
          <a:xfrm>
            <a:off x="6199632"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236208" y="3310127"/>
            <a:ext cx="866851" cy="301752"/>
          </a:xfrm>
          <a:prstGeom prst="rect">
            <a:avLst/>
          </a:prstGeom>
          <a:noFill/>
        </p:spPr>
        <p:txBody>
          <a:bodyPr wrap="square">
            <a:spAutoFit/>
          </a:bodyPr>
          <a:lstStyle/>
          <a:p>
            <a:pPr algn="l"/>
            <a:r>
              <a:rPr sz="700" b="0" i="0">
                <a:solidFill>
                  <a:srgbClr val="2C3E50"/>
                </a:solidFill>
                <a:latin typeface="Calibri" panose="020F0502020204030204"/>
              </a:rPr>
              <a:t>API Gateway</a:t>
            </a:r>
            <a:endParaRPr sz="700" b="0" i="0">
              <a:solidFill>
                <a:srgbClr val="2C3E50"/>
              </a:solidFill>
              <a:latin typeface="Calibri" panose="020F0502020204030204"/>
            </a:endParaRPr>
          </a:p>
        </p:txBody>
      </p:sp>
      <p:sp>
        <p:nvSpPr>
          <p:cNvPr id="163" name="Rectangle 162"/>
          <p:cNvSpPr/>
          <p:nvPr/>
        </p:nvSpPr>
        <p:spPr>
          <a:xfrm>
            <a:off x="7121347"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7157923" y="3310127"/>
            <a:ext cx="1212494" cy="301752"/>
          </a:xfrm>
          <a:prstGeom prst="rect">
            <a:avLst/>
          </a:prstGeom>
          <a:noFill/>
        </p:spPr>
        <p:txBody>
          <a:bodyPr wrap="square">
            <a:spAutoFit/>
          </a:bodyPr>
          <a:lstStyle/>
          <a:p>
            <a:pPr algn="l"/>
            <a:r>
              <a:rPr sz="700" b="0" i="0">
                <a:solidFill>
                  <a:srgbClr val="2C3E50"/>
                </a:solidFill>
                <a:latin typeface="Calibri" panose="020F0502020204030204"/>
              </a:rPr>
              <a:t>AWS API Gateway REST</a:t>
            </a:r>
            <a:endParaRPr sz="700" b="0" i="0">
              <a:solidFill>
                <a:srgbClr val="2C3E50"/>
              </a:solidFill>
              <a:latin typeface="Calibri" panose="020F0502020204030204"/>
            </a:endParaRPr>
          </a:p>
        </p:txBody>
      </p:sp>
      <p:sp>
        <p:nvSpPr>
          <p:cNvPr id="165" name="Rectangle 164"/>
          <p:cNvSpPr/>
          <p:nvPr/>
        </p:nvSpPr>
        <p:spPr>
          <a:xfrm>
            <a:off x="8388705"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425281" y="3310127"/>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167" name="Rectangle 166"/>
          <p:cNvSpPr/>
          <p:nvPr/>
        </p:nvSpPr>
        <p:spPr>
          <a:xfrm>
            <a:off x="9137599"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9174175" y="3310127"/>
            <a:ext cx="694029" cy="301752"/>
          </a:xfrm>
          <a:prstGeom prst="rect">
            <a:avLst/>
          </a:prstGeom>
          <a:noFill/>
        </p:spPr>
        <p:txBody>
          <a:bodyPr wrap="square">
            <a:spAutoFit/>
          </a:bodyPr>
          <a:lstStyle/>
          <a:p>
            <a:pPr algn="l"/>
            <a:r>
              <a:rPr sz="700" b="0" i="0">
                <a:solidFill>
                  <a:srgbClr val="2C3E50"/>
                </a:solidFill>
                <a:latin typeface="Calibri" panose="020F0502020204030204"/>
              </a:rPr>
              <a:t>$3.50/1M</a:t>
            </a:r>
            <a:endParaRPr sz="700" b="0" i="0">
              <a:solidFill>
                <a:srgbClr val="2C3E50"/>
              </a:solidFill>
              <a:latin typeface="Calibri" panose="020F0502020204030204"/>
            </a:endParaRPr>
          </a:p>
        </p:txBody>
      </p:sp>
      <p:sp>
        <p:nvSpPr>
          <p:cNvPr id="169" name="Rectangle 168"/>
          <p:cNvSpPr/>
          <p:nvPr/>
        </p:nvSpPr>
        <p:spPr>
          <a:xfrm>
            <a:off x="9886492"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923068" y="3310127"/>
            <a:ext cx="1327708" cy="301752"/>
          </a:xfrm>
          <a:prstGeom prst="rect">
            <a:avLst/>
          </a:prstGeom>
          <a:noFill/>
        </p:spPr>
        <p:txBody>
          <a:bodyPr wrap="square">
            <a:spAutoFit/>
          </a:bodyPr>
          <a:lstStyle/>
          <a:p>
            <a:pPr algn="l"/>
            <a:r>
              <a:rPr sz="700" b="0" i="0">
                <a:solidFill>
                  <a:srgbClr val="2C3E50"/>
                </a:solidFill>
                <a:latin typeface="Calibri" panose="020F0502020204030204"/>
              </a:rPr>
              <a:t>0.15×$3.50</a:t>
            </a:r>
            <a:endParaRPr sz="700" b="0" i="0">
              <a:solidFill>
                <a:srgbClr val="2C3E50"/>
              </a:solidFill>
              <a:latin typeface="Calibri" panose="020F0502020204030204"/>
            </a:endParaRPr>
          </a:p>
        </p:txBody>
      </p:sp>
      <p:sp>
        <p:nvSpPr>
          <p:cNvPr id="171" name="Rectangle 170"/>
          <p:cNvSpPr/>
          <p:nvPr/>
        </p:nvSpPr>
        <p:spPr>
          <a:xfrm>
            <a:off x="11269065"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1305641" y="3310127"/>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173" name="Rectangle 172"/>
          <p:cNvSpPr/>
          <p:nvPr/>
        </p:nvSpPr>
        <p:spPr>
          <a:xfrm>
            <a:off x="6199632" y="3630168"/>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236208" y="3657599"/>
            <a:ext cx="866851" cy="301752"/>
          </a:xfrm>
          <a:prstGeom prst="rect">
            <a:avLst/>
          </a:prstGeom>
          <a:noFill/>
        </p:spPr>
        <p:txBody>
          <a:bodyPr wrap="square">
            <a:spAutoFit/>
          </a:bodyPr>
          <a:lstStyle/>
          <a:p>
            <a:pPr algn="l"/>
            <a:r>
              <a:rPr sz="700" b="0" i="0">
                <a:solidFill>
                  <a:srgbClr val="2C3E50"/>
                </a:solidFill>
                <a:latin typeface="Calibri" panose="020F0502020204030204"/>
              </a:rPr>
              <a:t>CDN</a:t>
            </a:r>
            <a:endParaRPr sz="700" b="0" i="0">
              <a:solidFill>
                <a:srgbClr val="2C3E50"/>
              </a:solidFill>
              <a:latin typeface="Calibri" panose="020F0502020204030204"/>
            </a:endParaRPr>
          </a:p>
        </p:txBody>
      </p:sp>
      <p:sp>
        <p:nvSpPr>
          <p:cNvPr id="175" name="Rectangle 174"/>
          <p:cNvSpPr/>
          <p:nvPr/>
        </p:nvSpPr>
        <p:spPr>
          <a:xfrm>
            <a:off x="7121347" y="3630168"/>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157923" y="3657599"/>
            <a:ext cx="1212494" cy="301752"/>
          </a:xfrm>
          <a:prstGeom prst="rect">
            <a:avLst/>
          </a:prstGeom>
          <a:noFill/>
        </p:spPr>
        <p:txBody>
          <a:bodyPr wrap="square">
            <a:spAutoFit/>
          </a:bodyPr>
          <a:lstStyle/>
          <a:p>
            <a:pPr algn="l"/>
            <a:r>
              <a:rPr sz="700" b="0" i="0">
                <a:solidFill>
                  <a:srgbClr val="2C3E50"/>
                </a:solidFill>
                <a:latin typeface="Calibri" panose="020F0502020204030204"/>
              </a:rPr>
              <a:t>CloudFront</a:t>
            </a:r>
            <a:endParaRPr sz="700" b="0" i="0">
              <a:solidFill>
                <a:srgbClr val="2C3E50"/>
              </a:solidFill>
              <a:latin typeface="Calibri" panose="020F0502020204030204"/>
            </a:endParaRPr>
          </a:p>
        </p:txBody>
      </p:sp>
      <p:sp>
        <p:nvSpPr>
          <p:cNvPr id="177" name="Rectangle 176"/>
          <p:cNvSpPr/>
          <p:nvPr/>
        </p:nvSpPr>
        <p:spPr>
          <a:xfrm>
            <a:off x="8388705"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425281" y="3657599"/>
            <a:ext cx="694029" cy="301752"/>
          </a:xfrm>
          <a:prstGeom prst="rect">
            <a:avLst/>
          </a:prstGeom>
          <a:noFill/>
        </p:spPr>
        <p:txBody>
          <a:bodyPr wrap="square">
            <a:spAutoFit/>
          </a:bodyPr>
          <a:lstStyle/>
          <a:p>
            <a:pPr algn="l"/>
            <a:r>
              <a:rPr sz="700" b="0" i="0">
                <a:solidFill>
                  <a:srgbClr val="2C3E50"/>
                </a:solidFill>
                <a:latin typeface="Calibri" panose="020F0502020204030204"/>
              </a:rPr>
              <a:t>~50GB transfer</a:t>
            </a:r>
            <a:endParaRPr sz="700" b="0" i="0">
              <a:solidFill>
                <a:srgbClr val="2C3E50"/>
              </a:solidFill>
              <a:latin typeface="Calibri" panose="020F0502020204030204"/>
            </a:endParaRPr>
          </a:p>
        </p:txBody>
      </p:sp>
      <p:sp>
        <p:nvSpPr>
          <p:cNvPr id="179" name="Rectangle 178"/>
          <p:cNvSpPr/>
          <p:nvPr/>
        </p:nvSpPr>
        <p:spPr>
          <a:xfrm>
            <a:off x="9137599"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9174175" y="3657599"/>
            <a:ext cx="694029" cy="301752"/>
          </a:xfrm>
          <a:prstGeom prst="rect">
            <a:avLst/>
          </a:prstGeom>
          <a:noFill/>
        </p:spPr>
        <p:txBody>
          <a:bodyPr wrap="square">
            <a:spAutoFit/>
          </a:bodyPr>
          <a:lstStyle/>
          <a:p>
            <a:pPr algn="l"/>
            <a:r>
              <a:rPr sz="700" b="0" i="0">
                <a:solidFill>
                  <a:srgbClr val="2C3E50"/>
                </a:solidFill>
                <a:latin typeface="Calibri" panose="020F0502020204030204"/>
              </a:rPr>
              <a:t>$0.12/GB</a:t>
            </a:r>
            <a:endParaRPr sz="700" b="0" i="0">
              <a:solidFill>
                <a:srgbClr val="2C3E50"/>
              </a:solidFill>
              <a:latin typeface="Calibri" panose="020F0502020204030204"/>
            </a:endParaRPr>
          </a:p>
        </p:txBody>
      </p:sp>
      <p:sp>
        <p:nvSpPr>
          <p:cNvPr id="181" name="Rectangle 180"/>
          <p:cNvSpPr/>
          <p:nvPr/>
        </p:nvSpPr>
        <p:spPr>
          <a:xfrm>
            <a:off x="9886492" y="3630168"/>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9923068" y="3657599"/>
            <a:ext cx="1327708" cy="301752"/>
          </a:xfrm>
          <a:prstGeom prst="rect">
            <a:avLst/>
          </a:prstGeom>
          <a:noFill/>
        </p:spPr>
        <p:txBody>
          <a:bodyPr wrap="square">
            <a:spAutoFit/>
          </a:bodyPr>
          <a:lstStyle/>
          <a:p>
            <a:pPr algn="l"/>
            <a:r>
              <a:rPr sz="700" b="0" i="0">
                <a:solidFill>
                  <a:srgbClr val="2C3E50"/>
                </a:solidFill>
                <a:latin typeface="Calibri" panose="020F0502020204030204"/>
              </a:rPr>
              <a:t>50×$0.12</a:t>
            </a:r>
            <a:endParaRPr sz="700" b="0" i="0">
              <a:solidFill>
                <a:srgbClr val="2C3E50"/>
              </a:solidFill>
              <a:latin typeface="Calibri" panose="020F0502020204030204"/>
            </a:endParaRPr>
          </a:p>
        </p:txBody>
      </p:sp>
      <p:sp>
        <p:nvSpPr>
          <p:cNvPr id="183" name="Rectangle 182"/>
          <p:cNvSpPr/>
          <p:nvPr/>
        </p:nvSpPr>
        <p:spPr>
          <a:xfrm>
            <a:off x="11269065" y="3630168"/>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11305641" y="3657599"/>
            <a:ext cx="636422" cy="301752"/>
          </a:xfrm>
          <a:prstGeom prst="rect">
            <a:avLst/>
          </a:prstGeom>
          <a:noFill/>
        </p:spPr>
        <p:txBody>
          <a:bodyPr wrap="square">
            <a:spAutoFit/>
          </a:bodyPr>
          <a:lstStyle/>
          <a:p>
            <a:pPr algn="r"/>
            <a:r>
              <a:rPr sz="900" b="1" i="0">
                <a:solidFill>
                  <a:srgbClr val="2C3E50"/>
                </a:solidFill>
                <a:latin typeface="Calibri" panose="020F0502020204030204"/>
              </a:rPr>
              <a:t>$6</a:t>
            </a:r>
            <a:endParaRPr sz="900" b="1" i="0">
              <a:solidFill>
                <a:srgbClr val="2C3E50"/>
              </a:solidFill>
              <a:latin typeface="Calibri" panose="020F0502020204030204"/>
            </a:endParaRPr>
          </a:p>
        </p:txBody>
      </p:sp>
      <p:sp>
        <p:nvSpPr>
          <p:cNvPr id="185" name="Rectangle 184"/>
          <p:cNvSpPr/>
          <p:nvPr/>
        </p:nvSpPr>
        <p:spPr>
          <a:xfrm>
            <a:off x="6199632" y="3977639"/>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36208" y="4005072"/>
            <a:ext cx="866851" cy="301752"/>
          </a:xfrm>
          <a:prstGeom prst="rect">
            <a:avLst/>
          </a:prstGeom>
          <a:noFill/>
        </p:spPr>
        <p:txBody>
          <a:bodyPr wrap="square">
            <a:spAutoFit/>
          </a:bodyPr>
          <a:lstStyle/>
          <a:p>
            <a:pPr algn="l"/>
            <a:r>
              <a:rPr sz="700" b="0" i="0">
                <a:solidFill>
                  <a:srgbClr val="2C3E50"/>
                </a:solidFill>
                <a:latin typeface="Calibri" panose="020F0502020204030204"/>
              </a:rPr>
              <a:t>Storage</a:t>
            </a:r>
            <a:endParaRPr sz="700" b="0" i="0">
              <a:solidFill>
                <a:srgbClr val="2C3E50"/>
              </a:solidFill>
              <a:latin typeface="Calibri" panose="020F0502020204030204"/>
            </a:endParaRPr>
          </a:p>
        </p:txBody>
      </p:sp>
      <p:sp>
        <p:nvSpPr>
          <p:cNvPr id="187" name="Rectangle 186"/>
          <p:cNvSpPr/>
          <p:nvPr/>
        </p:nvSpPr>
        <p:spPr>
          <a:xfrm>
            <a:off x="7121347" y="3977639"/>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7157923" y="4005072"/>
            <a:ext cx="1212494" cy="301752"/>
          </a:xfrm>
          <a:prstGeom prst="rect">
            <a:avLst/>
          </a:prstGeom>
          <a:noFill/>
        </p:spPr>
        <p:txBody>
          <a:bodyPr wrap="square">
            <a:spAutoFit/>
          </a:bodyPr>
          <a:lstStyle/>
          <a:p>
            <a:pPr algn="l"/>
            <a:r>
              <a:rPr sz="700" b="0" i="0">
                <a:solidFill>
                  <a:srgbClr val="2C3E50"/>
                </a:solidFill>
                <a:latin typeface="Calibri" panose="020F0502020204030204"/>
              </a:rPr>
              <a:t>S3 Standard (corpus + logs)</a:t>
            </a:r>
            <a:endParaRPr sz="700" b="0" i="0">
              <a:solidFill>
                <a:srgbClr val="2C3E50"/>
              </a:solidFill>
              <a:latin typeface="Calibri" panose="020F0502020204030204"/>
            </a:endParaRPr>
          </a:p>
        </p:txBody>
      </p:sp>
      <p:sp>
        <p:nvSpPr>
          <p:cNvPr id="189" name="Rectangle 188"/>
          <p:cNvSpPr/>
          <p:nvPr/>
        </p:nvSpPr>
        <p:spPr>
          <a:xfrm>
            <a:off x="8388705"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425281" y="4005072"/>
            <a:ext cx="694029" cy="301752"/>
          </a:xfrm>
          <a:prstGeom prst="rect">
            <a:avLst/>
          </a:prstGeom>
          <a:noFill/>
        </p:spPr>
        <p:txBody>
          <a:bodyPr wrap="square">
            <a:spAutoFit/>
          </a:bodyPr>
          <a:lstStyle/>
          <a:p>
            <a:pPr algn="l"/>
            <a:r>
              <a:rPr sz="700" b="0" i="0">
                <a:solidFill>
                  <a:srgbClr val="2C3E50"/>
                </a:solidFill>
                <a:latin typeface="Calibri" panose="020F0502020204030204"/>
              </a:rPr>
              <a:t>~100GB</a:t>
            </a:r>
            <a:endParaRPr sz="700" b="0" i="0">
              <a:solidFill>
                <a:srgbClr val="2C3E50"/>
              </a:solidFill>
              <a:latin typeface="Calibri" panose="020F0502020204030204"/>
            </a:endParaRPr>
          </a:p>
        </p:txBody>
      </p:sp>
      <p:sp>
        <p:nvSpPr>
          <p:cNvPr id="191" name="Rectangle 190"/>
          <p:cNvSpPr/>
          <p:nvPr/>
        </p:nvSpPr>
        <p:spPr>
          <a:xfrm>
            <a:off x="9137599"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9174175" y="4005072"/>
            <a:ext cx="694029" cy="301752"/>
          </a:xfrm>
          <a:prstGeom prst="rect">
            <a:avLst/>
          </a:prstGeom>
          <a:noFill/>
        </p:spPr>
        <p:txBody>
          <a:bodyPr wrap="square">
            <a:spAutoFit/>
          </a:bodyPr>
          <a:lstStyle/>
          <a:p>
            <a:pPr algn="l"/>
            <a:r>
              <a:rPr sz="700" b="0" i="0">
                <a:solidFill>
                  <a:srgbClr val="2C3E50"/>
                </a:solidFill>
                <a:latin typeface="Calibri" panose="020F0502020204030204"/>
              </a:rPr>
              <a:t>$0.023/GB-mo</a:t>
            </a:r>
            <a:endParaRPr sz="700" b="0" i="0">
              <a:solidFill>
                <a:srgbClr val="2C3E50"/>
              </a:solidFill>
              <a:latin typeface="Calibri" panose="020F0502020204030204"/>
            </a:endParaRPr>
          </a:p>
        </p:txBody>
      </p:sp>
      <p:sp>
        <p:nvSpPr>
          <p:cNvPr id="193" name="Rectangle 192"/>
          <p:cNvSpPr/>
          <p:nvPr/>
        </p:nvSpPr>
        <p:spPr>
          <a:xfrm>
            <a:off x="9886492" y="3977639"/>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9923068" y="4005072"/>
            <a:ext cx="1327708" cy="301752"/>
          </a:xfrm>
          <a:prstGeom prst="rect">
            <a:avLst/>
          </a:prstGeom>
          <a:noFill/>
        </p:spPr>
        <p:txBody>
          <a:bodyPr wrap="square">
            <a:spAutoFit/>
          </a:bodyPr>
          <a:lstStyle/>
          <a:p>
            <a:pPr algn="l"/>
            <a:r>
              <a:rPr sz="700" b="0" i="0">
                <a:solidFill>
                  <a:srgbClr val="2C3E50"/>
                </a:solidFill>
                <a:latin typeface="Calibri" panose="020F0502020204030204"/>
              </a:rPr>
              <a:t>100×$0.023</a:t>
            </a:r>
            <a:endParaRPr sz="700" b="0" i="0">
              <a:solidFill>
                <a:srgbClr val="2C3E50"/>
              </a:solidFill>
              <a:latin typeface="Calibri" panose="020F0502020204030204"/>
            </a:endParaRPr>
          </a:p>
        </p:txBody>
      </p:sp>
      <p:sp>
        <p:nvSpPr>
          <p:cNvPr id="195" name="Rectangle 194"/>
          <p:cNvSpPr/>
          <p:nvPr/>
        </p:nvSpPr>
        <p:spPr>
          <a:xfrm>
            <a:off x="11269065" y="3977639"/>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11305641" y="4005072"/>
            <a:ext cx="636422" cy="301752"/>
          </a:xfrm>
          <a:prstGeom prst="rect">
            <a:avLst/>
          </a:prstGeom>
          <a:noFill/>
        </p:spPr>
        <p:txBody>
          <a:bodyPr wrap="square">
            <a:spAutoFit/>
          </a:bodyPr>
          <a:lstStyle/>
          <a:p>
            <a:pPr algn="r"/>
            <a:r>
              <a:rPr sz="900" b="1" i="0">
                <a:solidFill>
                  <a:srgbClr val="2C3E50"/>
                </a:solidFill>
                <a:latin typeface="Calibri" panose="020F0502020204030204"/>
              </a:rPr>
              <a:t>$2</a:t>
            </a:r>
            <a:endParaRPr sz="900" b="1" i="0">
              <a:solidFill>
                <a:srgbClr val="2C3E50"/>
              </a:solidFill>
              <a:latin typeface="Calibri" panose="020F0502020204030204"/>
            </a:endParaRPr>
          </a:p>
        </p:txBody>
      </p:sp>
      <p:sp>
        <p:nvSpPr>
          <p:cNvPr id="197" name="Rectangle 196"/>
          <p:cNvSpPr/>
          <p:nvPr/>
        </p:nvSpPr>
        <p:spPr>
          <a:xfrm>
            <a:off x="6199632" y="4325112"/>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236208" y="4352544"/>
            <a:ext cx="866851" cy="301752"/>
          </a:xfrm>
          <a:prstGeom prst="rect">
            <a:avLst/>
          </a:prstGeom>
          <a:noFill/>
        </p:spPr>
        <p:txBody>
          <a:bodyPr wrap="square">
            <a:spAutoFit/>
          </a:bodyPr>
          <a:lstStyle/>
          <a:p>
            <a:pPr algn="l"/>
            <a:r>
              <a:rPr sz="700" b="0" i="0">
                <a:solidFill>
                  <a:srgbClr val="2C3E50"/>
                </a:solidFill>
                <a:latin typeface="Calibri" panose="020F0502020204030204"/>
              </a:rPr>
              <a:t>Audit / Logs</a:t>
            </a:r>
            <a:endParaRPr sz="700" b="0" i="0">
              <a:solidFill>
                <a:srgbClr val="2C3E50"/>
              </a:solidFill>
              <a:latin typeface="Calibri" panose="020F0502020204030204"/>
            </a:endParaRPr>
          </a:p>
        </p:txBody>
      </p:sp>
      <p:sp>
        <p:nvSpPr>
          <p:cNvPr id="199" name="Rectangle 198"/>
          <p:cNvSpPr/>
          <p:nvPr/>
        </p:nvSpPr>
        <p:spPr>
          <a:xfrm>
            <a:off x="7121347" y="4325112"/>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7157923" y="4352544"/>
            <a:ext cx="1212494" cy="301752"/>
          </a:xfrm>
          <a:prstGeom prst="rect">
            <a:avLst/>
          </a:prstGeom>
          <a:noFill/>
        </p:spPr>
        <p:txBody>
          <a:bodyPr wrap="square">
            <a:spAutoFit/>
          </a:bodyPr>
          <a:lstStyle/>
          <a:p>
            <a:pPr algn="l"/>
            <a:r>
              <a:rPr sz="700" b="0" i="0">
                <a:solidFill>
                  <a:srgbClr val="2C3E50"/>
                </a:solidFill>
                <a:latin typeface="Calibri" panose="020F0502020204030204"/>
              </a:rPr>
              <a:t>CloudWatch Logs + S3 archive</a:t>
            </a:r>
            <a:endParaRPr sz="700" b="0" i="0">
              <a:solidFill>
                <a:srgbClr val="2C3E50"/>
              </a:solidFill>
              <a:latin typeface="Calibri" panose="020F0502020204030204"/>
            </a:endParaRPr>
          </a:p>
        </p:txBody>
      </p:sp>
      <p:sp>
        <p:nvSpPr>
          <p:cNvPr id="201" name="Rectangle 200"/>
          <p:cNvSpPr/>
          <p:nvPr/>
        </p:nvSpPr>
        <p:spPr>
          <a:xfrm>
            <a:off x="8388705"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8425281" y="4352544"/>
            <a:ext cx="694029" cy="301752"/>
          </a:xfrm>
          <a:prstGeom prst="rect">
            <a:avLst/>
          </a:prstGeom>
          <a:noFill/>
        </p:spPr>
        <p:txBody>
          <a:bodyPr wrap="square">
            <a:spAutoFit/>
          </a:bodyPr>
          <a:lstStyle/>
          <a:p>
            <a:pPr algn="l"/>
            <a:r>
              <a:rPr sz="700" b="0" i="0">
                <a:solidFill>
                  <a:srgbClr val="2C3E50"/>
                </a:solidFill>
                <a:latin typeface="Calibri" panose="020F0502020204030204"/>
              </a:rPr>
              <a:t>~10GB/mo</a:t>
            </a:r>
            <a:endParaRPr sz="700" b="0" i="0">
              <a:solidFill>
                <a:srgbClr val="2C3E50"/>
              </a:solidFill>
              <a:latin typeface="Calibri" panose="020F0502020204030204"/>
            </a:endParaRPr>
          </a:p>
        </p:txBody>
      </p:sp>
      <p:sp>
        <p:nvSpPr>
          <p:cNvPr id="203" name="Rectangle 202"/>
          <p:cNvSpPr/>
          <p:nvPr/>
        </p:nvSpPr>
        <p:spPr>
          <a:xfrm>
            <a:off x="9137599"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9174175" y="4352544"/>
            <a:ext cx="694029" cy="301752"/>
          </a:xfrm>
          <a:prstGeom prst="rect">
            <a:avLst/>
          </a:prstGeom>
          <a:noFill/>
        </p:spPr>
        <p:txBody>
          <a:bodyPr wrap="square">
            <a:spAutoFit/>
          </a:bodyPr>
          <a:lstStyle/>
          <a:p>
            <a:pPr algn="l"/>
            <a:r>
              <a:rPr sz="700" b="0" i="0">
                <a:solidFill>
                  <a:srgbClr val="2C3E50"/>
                </a:solidFill>
                <a:latin typeface="Calibri" panose="020F0502020204030204"/>
              </a:rPr>
              <a:t>$0.50/GB</a:t>
            </a:r>
            <a:endParaRPr sz="700" b="0" i="0">
              <a:solidFill>
                <a:srgbClr val="2C3E50"/>
              </a:solidFill>
              <a:latin typeface="Calibri" panose="020F0502020204030204"/>
            </a:endParaRPr>
          </a:p>
        </p:txBody>
      </p:sp>
      <p:sp>
        <p:nvSpPr>
          <p:cNvPr id="205" name="Rectangle 204"/>
          <p:cNvSpPr/>
          <p:nvPr/>
        </p:nvSpPr>
        <p:spPr>
          <a:xfrm>
            <a:off x="9886492" y="4325112"/>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9923068" y="4352544"/>
            <a:ext cx="1327708" cy="301752"/>
          </a:xfrm>
          <a:prstGeom prst="rect">
            <a:avLst/>
          </a:prstGeom>
          <a:noFill/>
        </p:spPr>
        <p:txBody>
          <a:bodyPr wrap="square">
            <a:spAutoFit/>
          </a:bodyPr>
          <a:lstStyle/>
          <a:p>
            <a:pPr algn="l"/>
            <a:r>
              <a:rPr sz="700" b="0" i="0">
                <a:solidFill>
                  <a:srgbClr val="2C3E50"/>
                </a:solidFill>
                <a:latin typeface="Calibri" panose="020F0502020204030204"/>
              </a:rPr>
              <a:t>10×$0.50</a:t>
            </a:r>
            <a:endParaRPr sz="700" b="0" i="0">
              <a:solidFill>
                <a:srgbClr val="2C3E50"/>
              </a:solidFill>
              <a:latin typeface="Calibri" panose="020F0502020204030204"/>
            </a:endParaRPr>
          </a:p>
        </p:txBody>
      </p:sp>
      <p:sp>
        <p:nvSpPr>
          <p:cNvPr id="207" name="Rectangle 206"/>
          <p:cNvSpPr/>
          <p:nvPr/>
        </p:nvSpPr>
        <p:spPr>
          <a:xfrm>
            <a:off x="11269065" y="4325112"/>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1305641" y="4352544"/>
            <a:ext cx="636422" cy="301752"/>
          </a:xfrm>
          <a:prstGeom prst="rect">
            <a:avLst/>
          </a:prstGeom>
          <a:noFill/>
        </p:spPr>
        <p:txBody>
          <a:bodyPr wrap="square">
            <a:spAutoFit/>
          </a:bodyPr>
          <a:lstStyle/>
          <a:p>
            <a:pPr algn="r"/>
            <a:r>
              <a:rPr sz="900" b="1" i="0">
                <a:solidFill>
                  <a:srgbClr val="2C3E50"/>
                </a:solidFill>
                <a:latin typeface="Calibri" panose="020F0502020204030204"/>
              </a:rPr>
              <a:t>$5</a:t>
            </a:r>
            <a:endParaRPr sz="900" b="1" i="0">
              <a:solidFill>
                <a:srgbClr val="2C3E50"/>
              </a:solidFill>
              <a:latin typeface="Calibri" panose="020F0502020204030204"/>
            </a:endParaRPr>
          </a:p>
        </p:txBody>
      </p:sp>
      <p:sp>
        <p:nvSpPr>
          <p:cNvPr id="209" name="Rectangle 208"/>
          <p:cNvSpPr/>
          <p:nvPr/>
        </p:nvSpPr>
        <p:spPr>
          <a:xfrm>
            <a:off x="6199632" y="4672583"/>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6236208" y="4700016"/>
            <a:ext cx="866851" cy="301752"/>
          </a:xfrm>
          <a:prstGeom prst="rect">
            <a:avLst/>
          </a:prstGeom>
          <a:noFill/>
        </p:spPr>
        <p:txBody>
          <a:bodyPr wrap="square">
            <a:spAutoFit/>
          </a:bodyPr>
          <a:lstStyle/>
          <a:p>
            <a:pPr algn="l"/>
            <a:r>
              <a:rPr sz="700" b="0" i="0">
                <a:solidFill>
                  <a:srgbClr val="2C3E50"/>
                </a:solidFill>
                <a:latin typeface="Calibri" panose="020F0502020204030204"/>
              </a:rPr>
              <a:t>Security</a:t>
            </a:r>
            <a:endParaRPr sz="700" b="0" i="0">
              <a:solidFill>
                <a:srgbClr val="2C3E50"/>
              </a:solidFill>
              <a:latin typeface="Calibri" panose="020F0502020204030204"/>
            </a:endParaRPr>
          </a:p>
        </p:txBody>
      </p:sp>
      <p:sp>
        <p:nvSpPr>
          <p:cNvPr id="211" name="Rectangle 210"/>
          <p:cNvSpPr/>
          <p:nvPr/>
        </p:nvSpPr>
        <p:spPr>
          <a:xfrm>
            <a:off x="7121347" y="4672583"/>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157923" y="4700016"/>
            <a:ext cx="1212494" cy="301752"/>
          </a:xfrm>
          <a:prstGeom prst="rect">
            <a:avLst/>
          </a:prstGeom>
          <a:noFill/>
        </p:spPr>
        <p:txBody>
          <a:bodyPr wrap="square">
            <a:spAutoFit/>
          </a:bodyPr>
          <a:lstStyle/>
          <a:p>
            <a:pPr algn="l"/>
            <a:r>
              <a:rPr sz="700" b="0" i="0">
                <a:solidFill>
                  <a:srgbClr val="2C3E50"/>
                </a:solidFill>
                <a:latin typeface="Calibri" panose="020F0502020204030204"/>
              </a:rPr>
              <a:t>AWS WAF + Bedrock Guardrails</a:t>
            </a:r>
            <a:endParaRPr sz="700" b="0" i="0">
              <a:solidFill>
                <a:srgbClr val="2C3E50"/>
              </a:solidFill>
              <a:latin typeface="Calibri" panose="020F0502020204030204"/>
            </a:endParaRPr>
          </a:p>
        </p:txBody>
      </p:sp>
      <p:sp>
        <p:nvSpPr>
          <p:cNvPr id="213" name="Rectangle 212"/>
          <p:cNvSpPr/>
          <p:nvPr/>
        </p:nvSpPr>
        <p:spPr>
          <a:xfrm>
            <a:off x="8388705"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425281" y="4700016"/>
            <a:ext cx="694029" cy="301752"/>
          </a:xfrm>
          <a:prstGeom prst="rect">
            <a:avLst/>
          </a:prstGeom>
          <a:noFill/>
        </p:spPr>
        <p:txBody>
          <a:bodyPr wrap="square">
            <a:spAutoFit/>
          </a:bodyPr>
          <a:lstStyle/>
          <a:p>
            <a:pPr algn="l"/>
            <a:r>
              <a:rPr sz="700" b="0" i="0">
                <a:solidFill>
                  <a:srgbClr val="2C3E50"/>
                </a:solidFill>
                <a:latin typeface="Calibri" panose="020F0502020204030204"/>
              </a:rPr>
              <a:t>150k req</a:t>
            </a:r>
            <a:endParaRPr sz="700" b="0" i="0">
              <a:solidFill>
                <a:srgbClr val="2C3E50"/>
              </a:solidFill>
              <a:latin typeface="Calibri" panose="020F0502020204030204"/>
            </a:endParaRPr>
          </a:p>
        </p:txBody>
      </p:sp>
      <p:sp>
        <p:nvSpPr>
          <p:cNvPr id="215" name="Rectangle 214"/>
          <p:cNvSpPr/>
          <p:nvPr/>
        </p:nvSpPr>
        <p:spPr>
          <a:xfrm>
            <a:off x="9137599"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9174175" y="4700016"/>
            <a:ext cx="694029" cy="301752"/>
          </a:xfrm>
          <a:prstGeom prst="rect">
            <a:avLst/>
          </a:prstGeom>
          <a:noFill/>
        </p:spPr>
        <p:txBody>
          <a:bodyPr wrap="square">
            <a:spAutoFit/>
          </a:bodyPr>
          <a:lstStyle/>
          <a:p>
            <a:pPr algn="l"/>
            <a:r>
              <a:rPr sz="700" b="0" i="0">
                <a:solidFill>
                  <a:srgbClr val="2C3E50"/>
                </a:solidFill>
                <a:latin typeface="Calibri" panose="020F0502020204030204"/>
              </a:rPr>
              <a:t>$0.60/1M</a:t>
            </a:r>
            <a:endParaRPr sz="700" b="0" i="0">
              <a:solidFill>
                <a:srgbClr val="2C3E50"/>
              </a:solidFill>
              <a:latin typeface="Calibri" panose="020F0502020204030204"/>
            </a:endParaRPr>
          </a:p>
        </p:txBody>
      </p:sp>
      <p:sp>
        <p:nvSpPr>
          <p:cNvPr id="217" name="Rectangle 216"/>
          <p:cNvSpPr/>
          <p:nvPr/>
        </p:nvSpPr>
        <p:spPr>
          <a:xfrm>
            <a:off x="9886492" y="4672583"/>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9923068" y="4700016"/>
            <a:ext cx="1327708" cy="301752"/>
          </a:xfrm>
          <a:prstGeom prst="rect">
            <a:avLst/>
          </a:prstGeom>
          <a:noFill/>
        </p:spPr>
        <p:txBody>
          <a:bodyPr wrap="square">
            <a:spAutoFit/>
          </a:bodyPr>
          <a:lstStyle/>
          <a:p>
            <a:pPr algn="l"/>
            <a:r>
              <a:rPr sz="700" b="0" i="0">
                <a:solidFill>
                  <a:srgbClr val="2C3E50"/>
                </a:solidFill>
                <a:latin typeface="Calibri" panose="020F0502020204030204"/>
              </a:rPr>
              <a:t>0.15×$0.60</a:t>
            </a:r>
            <a:endParaRPr sz="700" b="0" i="0">
              <a:solidFill>
                <a:srgbClr val="2C3E50"/>
              </a:solidFill>
              <a:latin typeface="Calibri" panose="020F0502020204030204"/>
            </a:endParaRPr>
          </a:p>
        </p:txBody>
      </p:sp>
      <p:sp>
        <p:nvSpPr>
          <p:cNvPr id="219" name="Rectangle 218"/>
          <p:cNvSpPr/>
          <p:nvPr/>
        </p:nvSpPr>
        <p:spPr>
          <a:xfrm>
            <a:off x="11269065" y="4672583"/>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1305641" y="4700016"/>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221" name="Rectangle 220"/>
          <p:cNvSpPr/>
          <p:nvPr/>
        </p:nvSpPr>
        <p:spPr>
          <a:xfrm>
            <a:off x="6199632" y="5020055"/>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6236208" y="5047488"/>
            <a:ext cx="866851" cy="301752"/>
          </a:xfrm>
          <a:prstGeom prst="rect">
            <a:avLst/>
          </a:prstGeom>
          <a:noFill/>
        </p:spPr>
        <p:txBody>
          <a:bodyPr wrap="square">
            <a:spAutoFit/>
          </a:bodyPr>
          <a:lstStyle/>
          <a:p>
            <a:pPr algn="l"/>
            <a:r>
              <a:rPr sz="700" b="0" i="0">
                <a:solidFill>
                  <a:srgbClr val="2C3E50"/>
                </a:solidFill>
                <a:latin typeface="Calibri" panose="020F0502020204030204"/>
              </a:rPr>
              <a:t>VPN Gateway</a:t>
            </a:r>
            <a:endParaRPr sz="700" b="0" i="0">
              <a:solidFill>
                <a:srgbClr val="2C3E50"/>
              </a:solidFill>
              <a:latin typeface="Calibri" panose="020F0502020204030204"/>
            </a:endParaRPr>
          </a:p>
        </p:txBody>
      </p:sp>
      <p:sp>
        <p:nvSpPr>
          <p:cNvPr id="223" name="Rectangle 222"/>
          <p:cNvSpPr/>
          <p:nvPr/>
        </p:nvSpPr>
        <p:spPr>
          <a:xfrm>
            <a:off x="7121347" y="5020055"/>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157923" y="5047488"/>
            <a:ext cx="1212494" cy="301752"/>
          </a:xfrm>
          <a:prstGeom prst="rect">
            <a:avLst/>
          </a:prstGeom>
          <a:noFill/>
        </p:spPr>
        <p:txBody>
          <a:bodyPr wrap="square">
            <a:spAutoFit/>
          </a:bodyPr>
          <a:lstStyle/>
          <a:p>
            <a:pPr algn="l"/>
            <a:r>
              <a:rPr sz="700" b="0" i="0">
                <a:solidFill>
                  <a:srgbClr val="2C3E50"/>
                </a:solidFill>
                <a:latin typeface="Calibri" panose="020F0502020204030204"/>
              </a:rPr>
              <a:t>AWS VPN (1 IPsec tunnel)</a:t>
            </a:r>
            <a:endParaRPr sz="700" b="0" i="0">
              <a:solidFill>
                <a:srgbClr val="2C3E50"/>
              </a:solidFill>
              <a:latin typeface="Calibri" panose="020F0502020204030204"/>
            </a:endParaRPr>
          </a:p>
        </p:txBody>
      </p:sp>
      <p:sp>
        <p:nvSpPr>
          <p:cNvPr id="225" name="Rectangle 224"/>
          <p:cNvSpPr/>
          <p:nvPr/>
        </p:nvSpPr>
        <p:spPr>
          <a:xfrm>
            <a:off x="8388705"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8425281" y="5047488"/>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227" name="Rectangle 226"/>
          <p:cNvSpPr/>
          <p:nvPr/>
        </p:nvSpPr>
        <p:spPr>
          <a:xfrm>
            <a:off x="9137599"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9174175" y="5047488"/>
            <a:ext cx="694029" cy="301752"/>
          </a:xfrm>
          <a:prstGeom prst="rect">
            <a:avLst/>
          </a:prstGeom>
          <a:noFill/>
        </p:spPr>
        <p:txBody>
          <a:bodyPr wrap="square">
            <a:spAutoFit/>
          </a:bodyPr>
          <a:lstStyle/>
          <a:p>
            <a:pPr algn="l"/>
            <a:r>
              <a:rPr sz="700" b="0" i="0">
                <a:solidFill>
                  <a:srgbClr val="2C3E50"/>
                </a:solidFill>
                <a:latin typeface="Calibri" panose="020F0502020204030204"/>
              </a:rPr>
              <a:t>$0.05/hr</a:t>
            </a:r>
            <a:endParaRPr sz="700" b="0" i="0">
              <a:solidFill>
                <a:srgbClr val="2C3E50"/>
              </a:solidFill>
              <a:latin typeface="Calibri" panose="020F0502020204030204"/>
            </a:endParaRPr>
          </a:p>
        </p:txBody>
      </p:sp>
      <p:sp>
        <p:nvSpPr>
          <p:cNvPr id="229" name="Rectangle 228"/>
          <p:cNvSpPr/>
          <p:nvPr/>
        </p:nvSpPr>
        <p:spPr>
          <a:xfrm>
            <a:off x="9886492" y="5020055"/>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9923068" y="5047488"/>
            <a:ext cx="1327708" cy="301752"/>
          </a:xfrm>
          <a:prstGeom prst="rect">
            <a:avLst/>
          </a:prstGeom>
          <a:noFill/>
        </p:spPr>
        <p:txBody>
          <a:bodyPr wrap="square">
            <a:spAutoFit/>
          </a:bodyPr>
          <a:lstStyle/>
          <a:p>
            <a:pPr algn="l"/>
            <a:r>
              <a:rPr sz="700" b="0" i="0">
                <a:solidFill>
                  <a:srgbClr val="2C3E50"/>
                </a:solidFill>
                <a:latin typeface="Calibri" panose="020F0502020204030204"/>
              </a:rPr>
              <a:t>720×$0.05</a:t>
            </a:r>
            <a:endParaRPr sz="700" b="0" i="0">
              <a:solidFill>
                <a:srgbClr val="2C3E50"/>
              </a:solidFill>
              <a:latin typeface="Calibri" panose="020F0502020204030204"/>
            </a:endParaRPr>
          </a:p>
        </p:txBody>
      </p:sp>
      <p:sp>
        <p:nvSpPr>
          <p:cNvPr id="231" name="Rectangle 230"/>
          <p:cNvSpPr/>
          <p:nvPr/>
        </p:nvSpPr>
        <p:spPr>
          <a:xfrm>
            <a:off x="11269065" y="5020055"/>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11305641" y="5047488"/>
            <a:ext cx="636422" cy="301752"/>
          </a:xfrm>
          <a:prstGeom prst="rect">
            <a:avLst/>
          </a:prstGeom>
          <a:noFill/>
        </p:spPr>
        <p:txBody>
          <a:bodyPr wrap="square">
            <a:spAutoFit/>
          </a:bodyPr>
          <a:lstStyle/>
          <a:p>
            <a:pPr algn="r"/>
            <a:r>
              <a:rPr sz="900" b="1" i="0">
                <a:solidFill>
                  <a:srgbClr val="2C3E50"/>
                </a:solidFill>
                <a:latin typeface="Calibri" panose="020F0502020204030204"/>
              </a:rPr>
              <a:t>$36</a:t>
            </a:r>
            <a:endParaRPr sz="900" b="1" i="0">
              <a:solidFill>
                <a:srgbClr val="2C3E50"/>
              </a:solidFill>
              <a:latin typeface="Calibri" panose="020F0502020204030204"/>
            </a:endParaRPr>
          </a:p>
        </p:txBody>
      </p:sp>
      <p:sp>
        <p:nvSpPr>
          <p:cNvPr id="233" name="Rectangle 232"/>
          <p:cNvSpPr/>
          <p:nvPr/>
        </p:nvSpPr>
        <p:spPr>
          <a:xfrm>
            <a:off x="6199632" y="5404103"/>
            <a:ext cx="5760720" cy="310896"/>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6309360" y="5458967"/>
            <a:ext cx="3744468" cy="219456"/>
          </a:xfrm>
          <a:prstGeom prst="rect">
            <a:avLst/>
          </a:prstGeom>
          <a:noFill/>
        </p:spPr>
        <p:txBody>
          <a:bodyPr wrap="square">
            <a:spAutoFit/>
          </a:bodyPr>
          <a:lstStyle/>
          <a:p>
            <a:pPr algn="l"/>
            <a:r>
              <a:rPr sz="900" b="1" i="0">
                <a:solidFill>
                  <a:srgbClr val="FFFFFF"/>
                </a:solidFill>
                <a:latin typeface="Calibri" panose="020F0502020204030204"/>
              </a:rPr>
              <a:t>Infrastructure Subtotal</a:t>
            </a:r>
            <a:endParaRPr sz="900" b="1" i="0">
              <a:solidFill>
                <a:srgbClr val="FFFFFF"/>
              </a:solidFill>
              <a:latin typeface="Calibri" panose="020F0502020204030204"/>
            </a:endParaRPr>
          </a:p>
        </p:txBody>
      </p:sp>
      <p:sp>
        <p:nvSpPr>
          <p:cNvPr id="235" name="TextBox 234"/>
          <p:cNvSpPr txBox="1"/>
          <p:nvPr/>
        </p:nvSpPr>
        <p:spPr>
          <a:xfrm>
            <a:off x="9944100" y="5440679"/>
            <a:ext cx="1901037" cy="256032"/>
          </a:xfrm>
          <a:prstGeom prst="rect">
            <a:avLst/>
          </a:prstGeom>
          <a:noFill/>
        </p:spPr>
        <p:txBody>
          <a:bodyPr wrap="square">
            <a:spAutoFit/>
          </a:bodyPr>
          <a:lstStyle/>
          <a:p>
            <a:pPr algn="r"/>
            <a:r>
              <a:rPr sz="1200" b="1" i="0">
                <a:solidFill>
                  <a:srgbClr val="FFC107"/>
                </a:solidFill>
                <a:latin typeface="Calibri" panose="020F0502020204030204"/>
              </a:rPr>
              <a:t>~$696 / mo</a:t>
            </a:r>
            <a:endParaRPr sz="1200" b="1" i="0">
              <a:solidFill>
                <a:srgbClr val="FFC107"/>
              </a:solidFill>
              <a:latin typeface="Calibri" panose="020F0502020204030204"/>
            </a:endParaRPr>
          </a:p>
        </p:txBody>
      </p:sp>
      <p:sp>
        <p:nvSpPr>
          <p:cNvPr id="237" name="TextBox 236"/>
          <p:cNvSpPr txBox="1"/>
          <p:nvPr/>
        </p:nvSpPr>
        <p:spPr>
          <a:xfrm>
            <a:off x="8045450" y="5879591"/>
            <a:ext cx="2932938" cy="365760"/>
          </a:xfrm>
          <a:prstGeom prst="rect">
            <a:avLst/>
          </a:prstGeom>
          <a:noFill/>
        </p:spPr>
        <p:txBody>
          <a:bodyPr wrap="square">
            <a:spAutoFit/>
          </a:bodyPr>
          <a:lstStyle/>
          <a:p>
            <a:pPr algn="l"/>
            <a:r>
              <a:rPr sz="1300" b="1" i="0">
                <a:solidFill>
                  <a:srgbClr val="FF0000"/>
                </a:solidFill>
                <a:latin typeface="Calibri" panose="020F0502020204030204"/>
              </a:rPr>
              <a:t>VERSION A TOTAL</a:t>
            </a:r>
            <a:endParaRPr sz="1300" b="1" i="0">
              <a:solidFill>
                <a:srgbClr val="FF0000"/>
              </a:solidFill>
              <a:latin typeface="Calibri" panose="020F0502020204030204"/>
            </a:endParaRPr>
          </a:p>
        </p:txBody>
      </p:sp>
      <p:sp>
        <p:nvSpPr>
          <p:cNvPr id="239" name="TextBox 238"/>
          <p:cNvSpPr txBox="1"/>
          <p:nvPr/>
        </p:nvSpPr>
        <p:spPr>
          <a:xfrm>
            <a:off x="8792778" y="5879591"/>
            <a:ext cx="2932938" cy="365760"/>
          </a:xfrm>
          <a:prstGeom prst="rect">
            <a:avLst/>
          </a:prstGeom>
          <a:noFill/>
        </p:spPr>
        <p:txBody>
          <a:bodyPr wrap="square">
            <a:spAutoFit/>
          </a:bodyPr>
          <a:lstStyle/>
          <a:p>
            <a:pPr algn="r"/>
            <a:r>
              <a:rPr sz="1400" b="1" i="0">
                <a:solidFill>
                  <a:srgbClr val="FFC107"/>
                </a:solidFill>
                <a:latin typeface="Calibri" panose="020F0502020204030204"/>
              </a:rPr>
              <a:t>~$2,350 – $2,600 / month</a:t>
            </a:r>
            <a:endParaRPr sz="1400" b="1" i="0">
              <a:solidFill>
                <a:srgbClr val="FFC107"/>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1430000" cy="502920"/>
          </a:xfrm>
          <a:prstGeom prst="rect">
            <a:avLst/>
          </a:prstGeom>
          <a:noFill/>
        </p:spPr>
        <p:txBody>
          <a:bodyPr wrap="square">
            <a:spAutoFit/>
          </a:bodyPr>
          <a:lstStyle/>
          <a:p>
            <a:pPr algn="l"/>
            <a:r>
              <a:rPr sz="2400" b="1" i="0">
                <a:solidFill>
                  <a:srgbClr val="5D1DC7"/>
                </a:solidFill>
                <a:latin typeface="Calibri" panose="020F0502020204030204"/>
              </a:rPr>
              <a:t>Version B — AWS + Qwen  |  Cost Breakdown</a:t>
            </a:r>
            <a:endParaRPr sz="2400" b="1" i="0">
              <a:solidFill>
                <a:srgbClr val="5D1DC7"/>
              </a:solidFill>
              <a:latin typeface="Calibri" panose="020F0502020204030204"/>
            </a:endParaRPr>
          </a:p>
        </p:txBody>
      </p:sp>
      <p:sp>
        <p:nvSpPr>
          <p:cNvPr id="4" name="TextBox 3"/>
          <p:cNvSpPr txBox="1"/>
          <p:nvPr/>
        </p:nvSpPr>
        <p:spPr>
          <a:xfrm>
            <a:off x="274320" y="594360"/>
            <a:ext cx="11430000" cy="260350"/>
          </a:xfrm>
          <a:prstGeom prst="rect">
            <a:avLst/>
          </a:prstGeom>
          <a:noFill/>
        </p:spPr>
        <p:txBody>
          <a:bodyPr wrap="square">
            <a:spAutoFit/>
          </a:bodyPr>
          <a:lstStyle/>
          <a:p>
            <a:pPr algn="l"/>
            <a:r>
              <a:rPr sz="1100" b="0" i="1">
                <a:solidFill>
                  <a:srgbClr val="7F8C8D"/>
                </a:solidFill>
                <a:latin typeface="Calibri" panose="020F0502020204030204"/>
              </a:rPr>
              <a:t>Amazon Bedrock Nova</a:t>
            </a:r>
            <a:r>
              <a:rPr lang="en-US" sz="1100" b="0" i="1">
                <a:solidFill>
                  <a:srgbClr val="7F8C8D"/>
                </a:solidFill>
                <a:latin typeface="Calibri" panose="020F0502020204030204"/>
              </a:rPr>
              <a:t> (Teacher)</a:t>
            </a:r>
            <a:r>
              <a:rPr sz="1100" b="0" i="1">
                <a:solidFill>
                  <a:srgbClr val="7F8C8D"/>
                </a:solidFill>
                <a:latin typeface="Calibri" panose="020F0502020204030204"/>
              </a:rPr>
              <a:t> + Qwen3-4B SFT student · ap-southeast-1 Singapore · Monthly fine-tuning included</a:t>
            </a:r>
            <a:endParaRPr sz="1100" b="0" i="1">
              <a:solidFill>
                <a:srgbClr val="7F8C8D"/>
              </a:solidFill>
              <a:latin typeface="Calibri" panose="020F0502020204030204"/>
            </a:endParaRPr>
          </a:p>
        </p:txBody>
      </p:sp>
      <p:sp>
        <p:nvSpPr>
          <p:cNvPr id="5" name="Rectangle 4"/>
          <p:cNvSpPr/>
          <p:nvPr/>
        </p:nvSpPr>
        <p:spPr>
          <a:xfrm>
            <a:off x="0" y="868680"/>
            <a:ext cx="12188952"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88952" cy="347472"/>
          </a:xfrm>
          <a:prstGeom prst="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932688"/>
            <a:ext cx="11704320" cy="292608"/>
          </a:xfrm>
          <a:prstGeom prst="rect">
            <a:avLst/>
          </a:prstGeom>
          <a:noFill/>
        </p:spPr>
        <p:txBody>
          <a:bodyPr wrap="square">
            <a:spAutoFit/>
          </a:bodyPr>
          <a:lstStyle/>
          <a:p>
            <a:pPr algn="l"/>
            <a:r>
              <a:rPr sz="850" b="0" i="1">
                <a:solidFill>
                  <a:srgbClr val="5D1DC7"/>
                </a:solidFill>
                <a:latin typeface="Calibri" panose="020F0502020204030204"/>
              </a:rPr>
              <a:t>Assumptions: 500 clinicians  |  10 queries/day  |  150,000 queries/month  (30k emergency + 120k complex)  |  Avg 3,000 in / 600 out tokens (complex)  |  1,500 in / 300 out (emergency)  |  1 fine-tuning run/month  |  Singapore region</a:t>
            </a:r>
            <a:endParaRPr sz="850" b="0" i="1">
              <a:solidFill>
                <a:srgbClr val="5D1DC7"/>
              </a:solidFill>
              <a:latin typeface="Calibri" panose="020F0502020204030204"/>
            </a:endParaRPr>
          </a:p>
        </p:txBody>
      </p:sp>
      <p:sp>
        <p:nvSpPr>
          <p:cNvPr id="8" name="Rectangle 7"/>
          <p:cNvSpPr/>
          <p:nvPr/>
        </p:nvSpPr>
        <p:spPr>
          <a:xfrm>
            <a:off x="228600" y="1325880"/>
            <a:ext cx="5760720" cy="329184"/>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371600"/>
            <a:ext cx="5577840" cy="237744"/>
          </a:xfrm>
          <a:prstGeom prst="rect">
            <a:avLst/>
          </a:prstGeom>
          <a:noFill/>
        </p:spPr>
        <p:txBody>
          <a:bodyPr wrap="square">
            <a:spAutoFit/>
          </a:bodyPr>
          <a:lstStyle/>
          <a:p>
            <a:pPr algn="l"/>
            <a:r>
              <a:rPr sz="1000" b="1" i="0">
                <a:solidFill>
                  <a:srgbClr val="FFFFFF"/>
                </a:solidFill>
                <a:latin typeface="Calibri" panose="020F0502020204030204"/>
              </a:rPr>
              <a:t>LLM + STUDENT ENDPOINT  (all Singapore)</a:t>
            </a:r>
            <a:endParaRPr sz="1000" b="1" i="0">
              <a:solidFill>
                <a:srgbClr val="FFFFFF"/>
              </a:solidFill>
              <a:latin typeface="Calibri" panose="020F0502020204030204"/>
            </a:endParaRPr>
          </a:p>
        </p:txBody>
      </p:sp>
      <p:sp>
        <p:nvSpPr>
          <p:cNvPr id="10" name="Rectangle 9"/>
          <p:cNvSpPr/>
          <p:nvPr/>
        </p:nvSpPr>
        <p:spPr>
          <a:xfrm>
            <a:off x="228600"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2" name="Rectangle 11"/>
          <p:cNvSpPr/>
          <p:nvPr/>
        </p:nvSpPr>
        <p:spPr>
          <a:xfrm>
            <a:off x="1150315"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6891"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4" name="Rectangle 13"/>
          <p:cNvSpPr/>
          <p:nvPr/>
        </p:nvSpPr>
        <p:spPr>
          <a:xfrm>
            <a:off x="2417673"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54249"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6" name="Rectangle 15"/>
          <p:cNvSpPr/>
          <p:nvPr/>
        </p:nvSpPr>
        <p:spPr>
          <a:xfrm>
            <a:off x="3166567"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3143"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8" name="Rectangle 17"/>
          <p:cNvSpPr/>
          <p:nvPr/>
        </p:nvSpPr>
        <p:spPr>
          <a:xfrm>
            <a:off x="3915460"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52036"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20" name="Rectangle 19"/>
          <p:cNvSpPr/>
          <p:nvPr/>
        </p:nvSpPr>
        <p:spPr>
          <a:xfrm>
            <a:off x="5298033"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4609"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22" name="Rectangle 21"/>
          <p:cNvSpPr/>
          <p:nvPr/>
        </p:nvSpPr>
        <p:spPr>
          <a:xfrm>
            <a:off x="228600"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 y="1920240"/>
            <a:ext cx="866851" cy="301752"/>
          </a:xfrm>
          <a:prstGeom prst="rect">
            <a:avLst/>
          </a:prstGeom>
          <a:noFill/>
        </p:spPr>
        <p:txBody>
          <a:bodyPr wrap="square">
            <a:spAutoFit/>
          </a:bodyPr>
          <a:lstStyle/>
          <a:p>
            <a:pPr algn="l"/>
            <a:r>
              <a:rPr sz="700" b="0" i="0">
                <a:solidFill>
                  <a:srgbClr val="2C3E50"/>
                </a:solidFill>
                <a:latin typeface="Calibri" panose="020F0502020204030204"/>
              </a:rPr>
              <a:t>Emergency lane</a:t>
            </a:r>
            <a:endParaRPr sz="700" b="0" i="0">
              <a:solidFill>
                <a:srgbClr val="2C3E50"/>
              </a:solidFill>
              <a:latin typeface="Calibri" panose="020F0502020204030204"/>
            </a:endParaRPr>
          </a:p>
        </p:txBody>
      </p:sp>
      <p:sp>
        <p:nvSpPr>
          <p:cNvPr id="24" name="Rectangle 23"/>
          <p:cNvSpPr/>
          <p:nvPr/>
        </p:nvSpPr>
        <p:spPr>
          <a:xfrm>
            <a:off x="1150315"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6891" y="1920240"/>
            <a:ext cx="1212494" cy="301752"/>
          </a:xfrm>
          <a:prstGeom prst="rect">
            <a:avLst/>
          </a:prstGeom>
          <a:noFill/>
        </p:spPr>
        <p:txBody>
          <a:bodyPr wrap="square">
            <a:spAutoFit/>
          </a:bodyPr>
          <a:lstStyle/>
          <a:p>
            <a:pPr algn="l"/>
            <a:r>
              <a:rPr sz="700" b="0" i="0">
                <a:solidFill>
                  <a:srgbClr val="2C3E50"/>
                </a:solidFill>
                <a:latin typeface="Calibri" panose="020F0502020204030204"/>
              </a:rPr>
              <a:t>Nova Lite (Bedrock SG)</a:t>
            </a:r>
            <a:endParaRPr sz="700" b="0" i="0">
              <a:solidFill>
                <a:srgbClr val="2C3E50"/>
              </a:solidFill>
              <a:latin typeface="Calibri" panose="020F0502020204030204"/>
            </a:endParaRPr>
          </a:p>
        </p:txBody>
      </p:sp>
      <p:sp>
        <p:nvSpPr>
          <p:cNvPr id="26" name="Rectangle 25"/>
          <p:cNvSpPr/>
          <p:nvPr/>
        </p:nvSpPr>
        <p:spPr>
          <a:xfrm>
            <a:off x="2417673"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54249" y="1920240"/>
            <a:ext cx="694029" cy="301752"/>
          </a:xfrm>
          <a:prstGeom prst="rect">
            <a:avLst/>
          </a:prstGeom>
          <a:noFill/>
        </p:spPr>
        <p:txBody>
          <a:bodyPr wrap="square">
            <a:spAutoFit/>
          </a:bodyPr>
          <a:lstStyle/>
          <a:p>
            <a:pPr algn="l"/>
            <a:r>
              <a:rPr sz="700" b="0" i="0">
                <a:solidFill>
                  <a:srgbClr val="2C3E50"/>
                </a:solidFill>
                <a:latin typeface="Calibri" panose="020F0502020204030204"/>
              </a:rPr>
              <a:t>30k calls</a:t>
            </a:r>
            <a:endParaRPr sz="700" b="0" i="0">
              <a:solidFill>
                <a:srgbClr val="2C3E50"/>
              </a:solidFill>
              <a:latin typeface="Calibri" panose="020F0502020204030204"/>
            </a:endParaRPr>
          </a:p>
        </p:txBody>
      </p:sp>
      <p:sp>
        <p:nvSpPr>
          <p:cNvPr id="28" name="Rectangle 27"/>
          <p:cNvSpPr/>
          <p:nvPr/>
        </p:nvSpPr>
        <p:spPr>
          <a:xfrm>
            <a:off x="3166567"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3143" y="1920240"/>
            <a:ext cx="694029" cy="301752"/>
          </a:xfrm>
          <a:prstGeom prst="rect">
            <a:avLst/>
          </a:prstGeom>
          <a:noFill/>
        </p:spPr>
        <p:txBody>
          <a:bodyPr wrap="square">
            <a:spAutoFit/>
          </a:bodyPr>
          <a:lstStyle/>
          <a:p>
            <a:pPr algn="l"/>
            <a:r>
              <a:rPr sz="700" b="0" i="0">
                <a:solidFill>
                  <a:srgbClr val="2C3E50"/>
                </a:solidFill>
                <a:latin typeface="Calibri" panose="020F0502020204030204"/>
              </a:rPr>
              <a:t>$0.06/$0.24/1M</a:t>
            </a:r>
            <a:endParaRPr sz="700" b="0" i="0">
              <a:solidFill>
                <a:srgbClr val="2C3E50"/>
              </a:solidFill>
              <a:latin typeface="Calibri" panose="020F0502020204030204"/>
            </a:endParaRPr>
          </a:p>
        </p:txBody>
      </p:sp>
      <p:sp>
        <p:nvSpPr>
          <p:cNvPr id="30" name="Rectangle 29"/>
          <p:cNvSpPr/>
          <p:nvPr/>
        </p:nvSpPr>
        <p:spPr>
          <a:xfrm>
            <a:off x="3915460"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2036" y="1920240"/>
            <a:ext cx="1327708" cy="301752"/>
          </a:xfrm>
          <a:prstGeom prst="rect">
            <a:avLst/>
          </a:prstGeom>
          <a:noFill/>
        </p:spPr>
        <p:txBody>
          <a:bodyPr wrap="square">
            <a:spAutoFit/>
          </a:bodyPr>
          <a:lstStyle/>
          <a:p>
            <a:pPr algn="l"/>
            <a:r>
              <a:rPr sz="700" b="0" i="0">
                <a:solidFill>
                  <a:srgbClr val="2C3E50"/>
                </a:solidFill>
                <a:latin typeface="Calibri" panose="020F0502020204030204"/>
              </a:rPr>
              <a:t>30k×1.5k×$0.06 + 30k×0.3k×$0.24</a:t>
            </a:r>
            <a:endParaRPr sz="700" b="0" i="0">
              <a:solidFill>
                <a:srgbClr val="2C3E50"/>
              </a:solidFill>
              <a:latin typeface="Calibri" panose="020F0502020204030204"/>
            </a:endParaRPr>
          </a:p>
        </p:txBody>
      </p:sp>
      <p:sp>
        <p:nvSpPr>
          <p:cNvPr id="32" name="Rectangle 31"/>
          <p:cNvSpPr/>
          <p:nvPr/>
        </p:nvSpPr>
        <p:spPr>
          <a:xfrm>
            <a:off x="5298033"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34609" y="1920240"/>
            <a:ext cx="636422" cy="301752"/>
          </a:xfrm>
          <a:prstGeom prst="rect">
            <a:avLst/>
          </a:prstGeom>
          <a:noFill/>
        </p:spPr>
        <p:txBody>
          <a:bodyPr wrap="square">
            <a:spAutoFit/>
          </a:bodyPr>
          <a:lstStyle/>
          <a:p>
            <a:pPr algn="r"/>
            <a:r>
              <a:rPr sz="900" b="1" i="0">
                <a:solidFill>
                  <a:srgbClr val="2C3E50"/>
                </a:solidFill>
                <a:latin typeface="Calibri" panose="020F0502020204030204"/>
              </a:rPr>
              <a:t>$5</a:t>
            </a:r>
            <a:endParaRPr sz="900" b="1" i="0">
              <a:solidFill>
                <a:srgbClr val="2C3E50"/>
              </a:solidFill>
              <a:latin typeface="Calibri" panose="020F0502020204030204"/>
            </a:endParaRPr>
          </a:p>
        </p:txBody>
      </p:sp>
      <p:sp>
        <p:nvSpPr>
          <p:cNvPr id="34" name="Rectangle 33"/>
          <p:cNvSpPr/>
          <p:nvPr/>
        </p:nvSpPr>
        <p:spPr>
          <a:xfrm>
            <a:off x="228600"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5176" y="2267712"/>
            <a:ext cx="866851" cy="301752"/>
          </a:xfrm>
          <a:prstGeom prst="rect">
            <a:avLst/>
          </a:prstGeom>
          <a:noFill/>
        </p:spPr>
        <p:txBody>
          <a:bodyPr wrap="square">
            <a:spAutoFit/>
          </a:bodyPr>
          <a:lstStyle/>
          <a:p>
            <a:pPr algn="l"/>
            <a:r>
              <a:rPr sz="700" b="0" i="0">
                <a:solidFill>
                  <a:srgbClr val="2C3E50"/>
                </a:solidFill>
                <a:latin typeface="Calibri" panose="020F0502020204030204"/>
              </a:rPr>
              <a:t>Router</a:t>
            </a:r>
            <a:endParaRPr sz="700" b="0" i="0">
              <a:solidFill>
                <a:srgbClr val="2C3E50"/>
              </a:solidFill>
              <a:latin typeface="Calibri" panose="020F0502020204030204"/>
            </a:endParaRPr>
          </a:p>
        </p:txBody>
      </p:sp>
      <p:sp>
        <p:nvSpPr>
          <p:cNvPr id="36" name="Rectangle 35"/>
          <p:cNvSpPr/>
          <p:nvPr/>
        </p:nvSpPr>
        <p:spPr>
          <a:xfrm>
            <a:off x="1150315"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6891" y="2267712"/>
            <a:ext cx="1212494" cy="301752"/>
          </a:xfrm>
          <a:prstGeom prst="rect">
            <a:avLst/>
          </a:prstGeom>
          <a:noFill/>
        </p:spPr>
        <p:txBody>
          <a:bodyPr wrap="square">
            <a:spAutoFit/>
          </a:bodyPr>
          <a:lstStyle/>
          <a:p>
            <a:pPr algn="l"/>
            <a:r>
              <a:rPr sz="700" b="0" i="0">
                <a:solidFill>
                  <a:srgbClr val="2C3E50"/>
                </a:solidFill>
                <a:latin typeface="Calibri" panose="020F0502020204030204"/>
              </a:rPr>
              <a:t>Nova Micro (Bedrock SG)</a:t>
            </a:r>
            <a:endParaRPr sz="700" b="0" i="0">
              <a:solidFill>
                <a:srgbClr val="2C3E50"/>
              </a:solidFill>
              <a:latin typeface="Calibri" panose="020F0502020204030204"/>
            </a:endParaRPr>
          </a:p>
        </p:txBody>
      </p:sp>
      <p:sp>
        <p:nvSpPr>
          <p:cNvPr id="38" name="Rectangle 37"/>
          <p:cNvSpPr/>
          <p:nvPr/>
        </p:nvSpPr>
        <p:spPr>
          <a:xfrm>
            <a:off x="2417673"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54249" y="2267712"/>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40" name="Rectangle 39"/>
          <p:cNvSpPr/>
          <p:nvPr/>
        </p:nvSpPr>
        <p:spPr>
          <a:xfrm>
            <a:off x="3166567"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3143" y="2267712"/>
            <a:ext cx="694029" cy="301752"/>
          </a:xfrm>
          <a:prstGeom prst="rect">
            <a:avLst/>
          </a:prstGeom>
          <a:noFill/>
        </p:spPr>
        <p:txBody>
          <a:bodyPr wrap="square">
            <a:spAutoFit/>
          </a:bodyPr>
          <a:lstStyle/>
          <a:p>
            <a:pPr algn="l"/>
            <a:r>
              <a:rPr sz="700" b="0" i="0">
                <a:solidFill>
                  <a:srgbClr val="2C3E50"/>
                </a:solidFill>
                <a:latin typeface="Calibri" panose="020F0502020204030204"/>
              </a:rPr>
              <a:t>$0.035/$0.14/1M</a:t>
            </a:r>
            <a:endParaRPr sz="700" b="0" i="0">
              <a:solidFill>
                <a:srgbClr val="2C3E50"/>
              </a:solidFill>
              <a:latin typeface="Calibri" panose="020F0502020204030204"/>
            </a:endParaRPr>
          </a:p>
        </p:txBody>
      </p:sp>
      <p:sp>
        <p:nvSpPr>
          <p:cNvPr id="42" name="Rectangle 41"/>
          <p:cNvSpPr/>
          <p:nvPr/>
        </p:nvSpPr>
        <p:spPr>
          <a:xfrm>
            <a:off x="3915460"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52036" y="2267712"/>
            <a:ext cx="1327708" cy="301752"/>
          </a:xfrm>
          <a:prstGeom prst="rect">
            <a:avLst/>
          </a:prstGeom>
          <a:noFill/>
        </p:spPr>
        <p:txBody>
          <a:bodyPr wrap="square">
            <a:spAutoFit/>
          </a:bodyPr>
          <a:lstStyle/>
          <a:p>
            <a:pPr algn="l"/>
            <a:r>
              <a:rPr sz="700" b="0" i="0">
                <a:solidFill>
                  <a:srgbClr val="2C3E50"/>
                </a:solidFill>
                <a:latin typeface="Calibri" panose="020F0502020204030204"/>
              </a:rPr>
              <a:t>120k×0.5k×$0.035 + 120k×0.04k×$0.14</a:t>
            </a:r>
            <a:endParaRPr sz="700" b="0" i="0">
              <a:solidFill>
                <a:srgbClr val="2C3E50"/>
              </a:solidFill>
              <a:latin typeface="Calibri" panose="020F0502020204030204"/>
            </a:endParaRPr>
          </a:p>
        </p:txBody>
      </p:sp>
      <p:sp>
        <p:nvSpPr>
          <p:cNvPr id="44" name="Rectangle 43"/>
          <p:cNvSpPr/>
          <p:nvPr/>
        </p:nvSpPr>
        <p:spPr>
          <a:xfrm>
            <a:off x="5298033"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34609" y="2267712"/>
            <a:ext cx="636422" cy="301752"/>
          </a:xfrm>
          <a:prstGeom prst="rect">
            <a:avLst/>
          </a:prstGeom>
          <a:noFill/>
        </p:spPr>
        <p:txBody>
          <a:bodyPr wrap="square">
            <a:spAutoFit/>
          </a:bodyPr>
          <a:lstStyle/>
          <a:p>
            <a:pPr algn="r"/>
            <a:r>
              <a:rPr sz="900" b="1" i="0">
                <a:solidFill>
                  <a:srgbClr val="2C3E50"/>
                </a:solidFill>
                <a:latin typeface="Calibri" panose="020F0502020204030204"/>
              </a:rPr>
              <a:t>$3</a:t>
            </a:r>
            <a:endParaRPr sz="900" b="1" i="0">
              <a:solidFill>
                <a:srgbClr val="2C3E50"/>
              </a:solidFill>
              <a:latin typeface="Calibri" panose="020F0502020204030204"/>
            </a:endParaRPr>
          </a:p>
        </p:txBody>
      </p:sp>
      <p:sp>
        <p:nvSpPr>
          <p:cNvPr id="46" name="Rectangle 45"/>
          <p:cNvSpPr/>
          <p:nvPr/>
        </p:nvSpPr>
        <p:spPr>
          <a:xfrm>
            <a:off x="228600"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5176" y="2615184"/>
            <a:ext cx="866851" cy="301752"/>
          </a:xfrm>
          <a:prstGeom prst="rect">
            <a:avLst/>
          </a:prstGeom>
          <a:noFill/>
        </p:spPr>
        <p:txBody>
          <a:bodyPr wrap="square">
            <a:spAutoFit/>
          </a:bodyPr>
          <a:lstStyle/>
          <a:p>
            <a:pPr algn="l"/>
            <a:r>
              <a:rPr sz="700" b="0" i="0">
                <a:solidFill>
                  <a:srgbClr val="2C3E50"/>
                </a:solidFill>
                <a:latin typeface="Calibri" panose="020F0502020204030204"/>
              </a:rPr>
              <a:t>Specialist agents</a:t>
            </a:r>
            <a:endParaRPr sz="700" b="0" i="0">
              <a:solidFill>
                <a:srgbClr val="2C3E50"/>
              </a:solidFill>
              <a:latin typeface="Calibri" panose="020F0502020204030204"/>
            </a:endParaRPr>
          </a:p>
        </p:txBody>
      </p:sp>
      <p:sp>
        <p:nvSpPr>
          <p:cNvPr id="48" name="Rectangle 47"/>
          <p:cNvSpPr/>
          <p:nvPr/>
        </p:nvSpPr>
        <p:spPr>
          <a:xfrm>
            <a:off x="1150315"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86891" y="2615184"/>
            <a:ext cx="1212494" cy="301752"/>
          </a:xfrm>
          <a:prstGeom prst="rect">
            <a:avLst/>
          </a:prstGeom>
          <a:noFill/>
        </p:spPr>
        <p:txBody>
          <a:bodyPr wrap="square">
            <a:spAutoFit/>
          </a:bodyPr>
          <a:lstStyle/>
          <a:p>
            <a:pPr algn="l"/>
            <a:r>
              <a:rPr sz="700" b="0" i="0">
                <a:solidFill>
                  <a:srgbClr val="2C3E50"/>
                </a:solidFill>
                <a:latin typeface="Calibri" panose="020F0502020204030204"/>
              </a:rPr>
              <a:t>Nova Pro (Bedrock SG)</a:t>
            </a:r>
            <a:endParaRPr sz="700" b="0" i="0">
              <a:solidFill>
                <a:srgbClr val="2C3E50"/>
              </a:solidFill>
              <a:latin typeface="Calibri" panose="020F0502020204030204"/>
            </a:endParaRPr>
          </a:p>
        </p:txBody>
      </p:sp>
      <p:sp>
        <p:nvSpPr>
          <p:cNvPr id="50" name="Rectangle 49"/>
          <p:cNvSpPr/>
          <p:nvPr/>
        </p:nvSpPr>
        <p:spPr>
          <a:xfrm>
            <a:off x="2417673"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54249" y="2615184"/>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52" name="Rectangle 51"/>
          <p:cNvSpPr/>
          <p:nvPr/>
        </p:nvSpPr>
        <p:spPr>
          <a:xfrm>
            <a:off x="3166567"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3143" y="2615184"/>
            <a:ext cx="694029" cy="301752"/>
          </a:xfrm>
          <a:prstGeom prst="rect">
            <a:avLst/>
          </a:prstGeom>
          <a:noFill/>
        </p:spPr>
        <p:txBody>
          <a:bodyPr wrap="square">
            <a:spAutoFit/>
          </a:bodyPr>
          <a:lstStyle/>
          <a:p>
            <a:pPr algn="l"/>
            <a:r>
              <a:rPr sz="700" b="0" i="0">
                <a:solidFill>
                  <a:srgbClr val="2C3E50"/>
                </a:solidFill>
                <a:latin typeface="Calibri" panose="020F0502020204030204"/>
              </a:rPr>
              <a:t>$0.80/$3.20/1M</a:t>
            </a:r>
            <a:endParaRPr sz="700" b="0" i="0">
              <a:solidFill>
                <a:srgbClr val="2C3E50"/>
              </a:solidFill>
              <a:latin typeface="Calibri" panose="020F0502020204030204"/>
            </a:endParaRPr>
          </a:p>
        </p:txBody>
      </p:sp>
      <p:sp>
        <p:nvSpPr>
          <p:cNvPr id="54" name="Rectangle 53"/>
          <p:cNvSpPr/>
          <p:nvPr/>
        </p:nvSpPr>
        <p:spPr>
          <a:xfrm>
            <a:off x="3915460"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52036" y="2615184"/>
            <a:ext cx="1327708" cy="301752"/>
          </a:xfrm>
          <a:prstGeom prst="rect">
            <a:avLst/>
          </a:prstGeom>
          <a:noFill/>
        </p:spPr>
        <p:txBody>
          <a:bodyPr wrap="square">
            <a:spAutoFit/>
          </a:bodyPr>
          <a:lstStyle/>
          <a:p>
            <a:pPr algn="l"/>
            <a:r>
              <a:rPr sz="700" b="0" i="0">
                <a:solidFill>
                  <a:srgbClr val="2C3E50"/>
                </a:solidFill>
                <a:latin typeface="Calibri" panose="020F0502020204030204"/>
              </a:rPr>
              <a:t>120k×3k×$0.80 + 120k×0.6k×$3.20</a:t>
            </a:r>
            <a:endParaRPr sz="700" b="0" i="0">
              <a:solidFill>
                <a:srgbClr val="2C3E50"/>
              </a:solidFill>
              <a:latin typeface="Calibri" panose="020F0502020204030204"/>
            </a:endParaRPr>
          </a:p>
        </p:txBody>
      </p:sp>
      <p:sp>
        <p:nvSpPr>
          <p:cNvPr id="56" name="Rectangle 55"/>
          <p:cNvSpPr/>
          <p:nvPr/>
        </p:nvSpPr>
        <p:spPr>
          <a:xfrm>
            <a:off x="5298033"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34609" y="2615184"/>
            <a:ext cx="636422" cy="301752"/>
          </a:xfrm>
          <a:prstGeom prst="rect">
            <a:avLst/>
          </a:prstGeom>
          <a:noFill/>
        </p:spPr>
        <p:txBody>
          <a:bodyPr wrap="square">
            <a:spAutoFit/>
          </a:bodyPr>
          <a:lstStyle/>
          <a:p>
            <a:pPr algn="r"/>
            <a:r>
              <a:rPr sz="900" b="1" i="0">
                <a:solidFill>
                  <a:srgbClr val="2C3E50"/>
                </a:solidFill>
                <a:latin typeface="Calibri" panose="020F0502020204030204"/>
              </a:rPr>
              <a:t>$518</a:t>
            </a:r>
            <a:endParaRPr sz="900" b="1" i="0">
              <a:solidFill>
                <a:srgbClr val="2C3E50"/>
              </a:solidFill>
              <a:latin typeface="Calibri" panose="020F0502020204030204"/>
            </a:endParaRPr>
          </a:p>
        </p:txBody>
      </p:sp>
      <p:sp>
        <p:nvSpPr>
          <p:cNvPr id="58" name="Rectangle 57"/>
          <p:cNvSpPr/>
          <p:nvPr/>
        </p:nvSpPr>
        <p:spPr>
          <a:xfrm>
            <a:off x="228600"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5176" y="2962656"/>
            <a:ext cx="866851" cy="301752"/>
          </a:xfrm>
          <a:prstGeom prst="rect">
            <a:avLst/>
          </a:prstGeom>
          <a:noFill/>
        </p:spPr>
        <p:txBody>
          <a:bodyPr wrap="square">
            <a:spAutoFit/>
          </a:bodyPr>
          <a:lstStyle/>
          <a:p>
            <a:pPr algn="l"/>
            <a:r>
              <a:rPr sz="700" b="0" i="0">
                <a:solidFill>
                  <a:srgbClr val="2C3E50"/>
                </a:solidFill>
                <a:latin typeface="Calibri" panose="020F0502020204030204"/>
              </a:rPr>
              <a:t>Student model</a:t>
            </a:r>
            <a:endParaRPr sz="700" b="0" i="0">
              <a:solidFill>
                <a:srgbClr val="2C3E50"/>
              </a:solidFill>
              <a:latin typeface="Calibri" panose="020F0502020204030204"/>
            </a:endParaRPr>
          </a:p>
        </p:txBody>
      </p:sp>
      <p:sp>
        <p:nvSpPr>
          <p:cNvPr id="60" name="Rectangle 59"/>
          <p:cNvSpPr/>
          <p:nvPr/>
        </p:nvSpPr>
        <p:spPr>
          <a:xfrm>
            <a:off x="1150315"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86891" y="2962656"/>
            <a:ext cx="1212494" cy="301752"/>
          </a:xfrm>
          <a:prstGeom prst="rect">
            <a:avLst/>
          </a:prstGeom>
          <a:noFill/>
        </p:spPr>
        <p:txBody>
          <a:bodyPr wrap="square">
            <a:spAutoFit/>
          </a:bodyPr>
          <a:lstStyle/>
          <a:p>
            <a:pPr algn="l"/>
            <a:r>
              <a:rPr sz="700" b="0" i="0">
                <a:solidFill>
                  <a:srgbClr val="2C3E50"/>
                </a:solidFill>
                <a:latin typeface="Calibri" panose="020F0502020204030204"/>
              </a:rPr>
              <a:t>Qwen3-4B SFT+LoRA
SageMaker g5.xlarge
scale-to-0 (re:Invent 2024)</a:t>
            </a:r>
            <a:endParaRPr sz="700" b="0" i="0">
              <a:solidFill>
                <a:srgbClr val="2C3E50"/>
              </a:solidFill>
              <a:latin typeface="Calibri" panose="020F0502020204030204"/>
            </a:endParaRPr>
          </a:p>
        </p:txBody>
      </p:sp>
      <p:sp>
        <p:nvSpPr>
          <p:cNvPr id="62" name="Rectangle 61"/>
          <p:cNvSpPr/>
          <p:nvPr/>
        </p:nvSpPr>
        <p:spPr>
          <a:xfrm>
            <a:off x="2417673"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454249" y="2962656"/>
            <a:ext cx="694029" cy="301752"/>
          </a:xfrm>
          <a:prstGeom prst="rect">
            <a:avLst/>
          </a:prstGeom>
          <a:noFill/>
        </p:spPr>
        <p:txBody>
          <a:bodyPr wrap="square">
            <a:spAutoFit/>
          </a:bodyPr>
          <a:lstStyle/>
          <a:p>
            <a:pPr algn="l"/>
            <a:r>
              <a:rPr sz="700" b="0" i="0">
                <a:solidFill>
                  <a:srgbClr val="2C3E50"/>
                </a:solidFill>
                <a:latin typeface="Calibri" panose="020F0502020204030204"/>
              </a:rPr>
              <a:t>360hr/mo
(12hr/day active)</a:t>
            </a:r>
            <a:endParaRPr sz="700" b="0" i="0">
              <a:solidFill>
                <a:srgbClr val="2C3E50"/>
              </a:solidFill>
              <a:latin typeface="Calibri" panose="020F0502020204030204"/>
            </a:endParaRPr>
          </a:p>
        </p:txBody>
      </p:sp>
      <p:sp>
        <p:nvSpPr>
          <p:cNvPr id="64" name="Rectangle 63"/>
          <p:cNvSpPr/>
          <p:nvPr/>
        </p:nvSpPr>
        <p:spPr>
          <a:xfrm>
            <a:off x="3166567"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3143" y="2962656"/>
            <a:ext cx="694029" cy="301752"/>
          </a:xfrm>
          <a:prstGeom prst="rect">
            <a:avLst/>
          </a:prstGeom>
          <a:noFill/>
        </p:spPr>
        <p:txBody>
          <a:bodyPr wrap="square">
            <a:spAutoFit/>
          </a:bodyPr>
          <a:lstStyle/>
          <a:p>
            <a:pPr algn="l"/>
            <a:r>
              <a:rPr sz="700" b="0" i="0">
                <a:solidFill>
                  <a:srgbClr val="2C3E50"/>
                </a:solidFill>
                <a:latin typeface="Calibri" panose="020F0502020204030204"/>
              </a:rPr>
              <a:t>$1.97/hr</a:t>
            </a:r>
            <a:endParaRPr sz="700" b="0" i="0">
              <a:solidFill>
                <a:srgbClr val="2C3E50"/>
              </a:solidFill>
              <a:latin typeface="Calibri" panose="020F0502020204030204"/>
            </a:endParaRPr>
          </a:p>
        </p:txBody>
      </p:sp>
      <p:sp>
        <p:nvSpPr>
          <p:cNvPr id="66" name="Rectangle 65"/>
          <p:cNvSpPr/>
          <p:nvPr/>
        </p:nvSpPr>
        <p:spPr>
          <a:xfrm>
            <a:off x="3915460"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52036" y="2962656"/>
            <a:ext cx="1327708" cy="301752"/>
          </a:xfrm>
          <a:prstGeom prst="rect">
            <a:avLst/>
          </a:prstGeom>
          <a:noFill/>
        </p:spPr>
        <p:txBody>
          <a:bodyPr wrap="square">
            <a:spAutoFit/>
          </a:bodyPr>
          <a:lstStyle/>
          <a:p>
            <a:pPr algn="l"/>
            <a:r>
              <a:rPr sz="700" b="0" i="0">
                <a:solidFill>
                  <a:srgbClr val="2C3E50"/>
                </a:solidFill>
                <a:latin typeface="Calibri" panose="020F0502020204030204"/>
              </a:rPr>
              <a:t>360hr × $1.97
(50% vs always-on $1,419)</a:t>
            </a:r>
            <a:endParaRPr sz="700" b="0" i="0">
              <a:solidFill>
                <a:srgbClr val="2C3E50"/>
              </a:solidFill>
              <a:latin typeface="Calibri" panose="020F0502020204030204"/>
            </a:endParaRPr>
          </a:p>
        </p:txBody>
      </p:sp>
      <p:sp>
        <p:nvSpPr>
          <p:cNvPr id="68" name="Rectangle 67"/>
          <p:cNvSpPr/>
          <p:nvPr/>
        </p:nvSpPr>
        <p:spPr>
          <a:xfrm>
            <a:off x="5298033"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334609" y="2962656"/>
            <a:ext cx="636422" cy="301752"/>
          </a:xfrm>
          <a:prstGeom prst="rect">
            <a:avLst/>
          </a:prstGeom>
          <a:noFill/>
        </p:spPr>
        <p:txBody>
          <a:bodyPr wrap="square">
            <a:spAutoFit/>
          </a:bodyPr>
          <a:lstStyle/>
          <a:p>
            <a:pPr algn="r"/>
            <a:r>
              <a:rPr sz="900" b="1" i="0">
                <a:solidFill>
                  <a:srgbClr val="2C3E50"/>
                </a:solidFill>
                <a:latin typeface="Calibri" panose="020F0502020204030204"/>
              </a:rPr>
              <a:t>$710</a:t>
            </a:r>
            <a:endParaRPr sz="900" b="1" i="0">
              <a:solidFill>
                <a:srgbClr val="2C3E50"/>
              </a:solidFill>
              <a:latin typeface="Calibri" panose="020F0502020204030204"/>
            </a:endParaRPr>
          </a:p>
        </p:txBody>
      </p:sp>
      <p:sp>
        <p:nvSpPr>
          <p:cNvPr id="70" name="Rectangle 69"/>
          <p:cNvSpPr/>
          <p:nvPr/>
        </p:nvSpPr>
        <p:spPr>
          <a:xfrm>
            <a:off x="228600"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5176" y="3310127"/>
            <a:ext cx="866851" cy="301752"/>
          </a:xfrm>
          <a:prstGeom prst="rect">
            <a:avLst/>
          </a:prstGeom>
          <a:noFill/>
        </p:spPr>
        <p:txBody>
          <a:bodyPr wrap="square">
            <a:spAutoFit/>
          </a:bodyPr>
          <a:lstStyle/>
          <a:p>
            <a:pPr algn="l"/>
            <a:r>
              <a:rPr sz="700" b="0" i="0">
                <a:solidFill>
                  <a:srgbClr val="2C3E50"/>
                </a:solidFill>
                <a:latin typeface="Calibri" panose="020F0502020204030204"/>
              </a:rPr>
              <a:t>Embeddings</a:t>
            </a:r>
            <a:endParaRPr sz="700" b="0" i="0">
              <a:solidFill>
                <a:srgbClr val="2C3E50"/>
              </a:solidFill>
              <a:latin typeface="Calibri" panose="020F0502020204030204"/>
            </a:endParaRPr>
          </a:p>
        </p:txBody>
      </p:sp>
      <p:sp>
        <p:nvSpPr>
          <p:cNvPr id="72" name="Rectangle 71"/>
          <p:cNvSpPr/>
          <p:nvPr/>
        </p:nvSpPr>
        <p:spPr>
          <a:xfrm>
            <a:off x="1150315"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86891" y="3310127"/>
            <a:ext cx="1212494" cy="301752"/>
          </a:xfrm>
          <a:prstGeom prst="rect">
            <a:avLst/>
          </a:prstGeom>
          <a:noFill/>
        </p:spPr>
        <p:txBody>
          <a:bodyPr wrap="square">
            <a:spAutoFit/>
          </a:bodyPr>
          <a:lstStyle/>
          <a:p>
            <a:pPr algn="l"/>
            <a:r>
              <a:rPr sz="700" b="0" i="0">
                <a:solidFill>
                  <a:srgbClr val="2C3E50"/>
                </a:solidFill>
                <a:latin typeface="Calibri" panose="020F0502020204030204"/>
              </a:rPr>
              <a:t>Cohere Embed Multilingual v3</a:t>
            </a:r>
            <a:endParaRPr sz="700" b="0" i="0">
              <a:solidFill>
                <a:srgbClr val="2C3E50"/>
              </a:solidFill>
              <a:latin typeface="Calibri" panose="020F0502020204030204"/>
            </a:endParaRPr>
          </a:p>
        </p:txBody>
      </p:sp>
      <p:sp>
        <p:nvSpPr>
          <p:cNvPr id="74" name="Rectangle 73"/>
          <p:cNvSpPr/>
          <p:nvPr/>
        </p:nvSpPr>
        <p:spPr>
          <a:xfrm>
            <a:off x="2417673"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54249" y="3310127"/>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76" name="Rectangle 75"/>
          <p:cNvSpPr/>
          <p:nvPr/>
        </p:nvSpPr>
        <p:spPr>
          <a:xfrm>
            <a:off x="3166567"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03143" y="3310127"/>
            <a:ext cx="694029" cy="301752"/>
          </a:xfrm>
          <a:prstGeom prst="rect">
            <a:avLst/>
          </a:prstGeom>
          <a:noFill/>
        </p:spPr>
        <p:txBody>
          <a:bodyPr wrap="square">
            <a:spAutoFit/>
          </a:bodyPr>
          <a:lstStyle/>
          <a:p>
            <a:pPr algn="l"/>
            <a:r>
              <a:rPr sz="700" b="0" i="0">
                <a:solidFill>
                  <a:srgbClr val="2C3E50"/>
                </a:solidFill>
                <a:latin typeface="Calibri" panose="020F0502020204030204"/>
              </a:rPr>
              <a:t>$0.10 per 1M</a:t>
            </a:r>
            <a:endParaRPr sz="700" b="0" i="0">
              <a:solidFill>
                <a:srgbClr val="2C3E50"/>
              </a:solidFill>
              <a:latin typeface="Calibri" panose="020F0502020204030204"/>
            </a:endParaRPr>
          </a:p>
        </p:txBody>
      </p:sp>
      <p:sp>
        <p:nvSpPr>
          <p:cNvPr id="78" name="Rectangle 77"/>
          <p:cNvSpPr/>
          <p:nvPr/>
        </p:nvSpPr>
        <p:spPr>
          <a:xfrm>
            <a:off x="3915460"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952036" y="3310127"/>
            <a:ext cx="1327708" cy="301752"/>
          </a:xfrm>
          <a:prstGeom prst="rect">
            <a:avLst/>
          </a:prstGeom>
          <a:noFill/>
        </p:spPr>
        <p:txBody>
          <a:bodyPr wrap="square">
            <a:spAutoFit/>
          </a:bodyPr>
          <a:lstStyle/>
          <a:p>
            <a:pPr algn="l"/>
            <a:r>
              <a:rPr sz="700" b="0" i="0">
                <a:solidFill>
                  <a:srgbClr val="2C3E50"/>
                </a:solidFill>
                <a:latin typeface="Calibri" panose="020F0502020204030204"/>
              </a:rPr>
              <a:t>150k×0.08k×$0.10</a:t>
            </a:r>
            <a:endParaRPr sz="700" b="0" i="0">
              <a:solidFill>
                <a:srgbClr val="2C3E50"/>
              </a:solidFill>
              <a:latin typeface="Calibri" panose="020F0502020204030204"/>
            </a:endParaRPr>
          </a:p>
        </p:txBody>
      </p:sp>
      <p:sp>
        <p:nvSpPr>
          <p:cNvPr id="80" name="Rectangle 79"/>
          <p:cNvSpPr/>
          <p:nvPr/>
        </p:nvSpPr>
        <p:spPr>
          <a:xfrm>
            <a:off x="5298033"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34609" y="3310127"/>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82" name="Rectangle 81"/>
          <p:cNvSpPr/>
          <p:nvPr/>
        </p:nvSpPr>
        <p:spPr>
          <a:xfrm>
            <a:off x="228600" y="3630168"/>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5176" y="3657599"/>
            <a:ext cx="866851" cy="301752"/>
          </a:xfrm>
          <a:prstGeom prst="rect">
            <a:avLst/>
          </a:prstGeom>
          <a:noFill/>
        </p:spPr>
        <p:txBody>
          <a:bodyPr wrap="square">
            <a:spAutoFit/>
          </a:bodyPr>
          <a:lstStyle/>
          <a:p>
            <a:pPr algn="l"/>
            <a:r>
              <a:rPr sz="700" b="0" i="0">
                <a:solidFill>
                  <a:srgbClr val="2C3E50"/>
                </a:solidFill>
                <a:latin typeface="Calibri" panose="020F0502020204030204"/>
              </a:rPr>
              <a:t>Guardrails</a:t>
            </a:r>
            <a:endParaRPr sz="700" b="0" i="0">
              <a:solidFill>
                <a:srgbClr val="2C3E50"/>
              </a:solidFill>
              <a:latin typeface="Calibri" panose="020F0502020204030204"/>
            </a:endParaRPr>
          </a:p>
        </p:txBody>
      </p:sp>
      <p:sp>
        <p:nvSpPr>
          <p:cNvPr id="84" name="Rectangle 83"/>
          <p:cNvSpPr/>
          <p:nvPr/>
        </p:nvSpPr>
        <p:spPr>
          <a:xfrm>
            <a:off x="1150315" y="3630168"/>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86891" y="3657599"/>
            <a:ext cx="1212494" cy="301752"/>
          </a:xfrm>
          <a:prstGeom prst="rect">
            <a:avLst/>
          </a:prstGeom>
          <a:noFill/>
        </p:spPr>
        <p:txBody>
          <a:bodyPr wrap="square">
            <a:spAutoFit/>
          </a:bodyPr>
          <a:lstStyle/>
          <a:p>
            <a:pPr algn="l"/>
            <a:r>
              <a:rPr sz="700" b="0" i="0">
                <a:solidFill>
                  <a:srgbClr val="2C3E50"/>
                </a:solidFill>
                <a:latin typeface="Calibri" panose="020F0502020204030204"/>
              </a:rPr>
              <a:t>Bedrock Guardrails</a:t>
            </a:r>
            <a:endParaRPr sz="700" b="0" i="0">
              <a:solidFill>
                <a:srgbClr val="2C3E50"/>
              </a:solidFill>
              <a:latin typeface="Calibri" panose="020F0502020204030204"/>
            </a:endParaRPr>
          </a:p>
        </p:txBody>
      </p:sp>
      <p:sp>
        <p:nvSpPr>
          <p:cNvPr id="86" name="Rectangle 85"/>
          <p:cNvSpPr/>
          <p:nvPr/>
        </p:nvSpPr>
        <p:spPr>
          <a:xfrm>
            <a:off x="2417673"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454249" y="3657599"/>
            <a:ext cx="694029" cy="301752"/>
          </a:xfrm>
          <a:prstGeom prst="rect">
            <a:avLst/>
          </a:prstGeom>
          <a:noFill/>
        </p:spPr>
        <p:txBody>
          <a:bodyPr wrap="square">
            <a:spAutoFit/>
          </a:bodyPr>
          <a:lstStyle/>
          <a:p>
            <a:pPr algn="l"/>
            <a:r>
              <a:rPr sz="700" b="0" i="0">
                <a:solidFill>
                  <a:srgbClr val="2C3E50"/>
                </a:solidFill>
                <a:latin typeface="Calibri" panose="020F0502020204030204"/>
              </a:rPr>
              <a:t>48k calls</a:t>
            </a:r>
            <a:endParaRPr sz="700" b="0" i="0">
              <a:solidFill>
                <a:srgbClr val="2C3E50"/>
              </a:solidFill>
              <a:latin typeface="Calibri" panose="020F0502020204030204"/>
            </a:endParaRPr>
          </a:p>
        </p:txBody>
      </p:sp>
      <p:sp>
        <p:nvSpPr>
          <p:cNvPr id="88" name="Rectangle 87"/>
          <p:cNvSpPr/>
          <p:nvPr/>
        </p:nvSpPr>
        <p:spPr>
          <a:xfrm>
            <a:off x="3166567"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203143" y="3657599"/>
            <a:ext cx="694029" cy="301752"/>
          </a:xfrm>
          <a:prstGeom prst="rect">
            <a:avLst/>
          </a:prstGeom>
          <a:noFill/>
        </p:spPr>
        <p:txBody>
          <a:bodyPr wrap="square">
            <a:spAutoFit/>
          </a:bodyPr>
          <a:lstStyle/>
          <a:p>
            <a:pPr algn="l"/>
            <a:r>
              <a:rPr sz="700" b="0" i="0">
                <a:solidFill>
                  <a:srgbClr val="2C3E50"/>
                </a:solidFill>
                <a:latin typeface="Calibri" panose="020F0502020204030204"/>
              </a:rPr>
              <a:t>$0.15/1k units</a:t>
            </a:r>
            <a:endParaRPr sz="700" b="0" i="0">
              <a:solidFill>
                <a:srgbClr val="2C3E50"/>
              </a:solidFill>
              <a:latin typeface="Calibri" panose="020F0502020204030204"/>
            </a:endParaRPr>
          </a:p>
        </p:txBody>
      </p:sp>
      <p:sp>
        <p:nvSpPr>
          <p:cNvPr id="90" name="Rectangle 89"/>
          <p:cNvSpPr/>
          <p:nvPr/>
        </p:nvSpPr>
        <p:spPr>
          <a:xfrm>
            <a:off x="3915460" y="3630168"/>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52036" y="3657599"/>
            <a:ext cx="1327708" cy="301752"/>
          </a:xfrm>
          <a:prstGeom prst="rect">
            <a:avLst/>
          </a:prstGeom>
          <a:noFill/>
        </p:spPr>
        <p:txBody>
          <a:bodyPr wrap="square">
            <a:spAutoFit/>
          </a:bodyPr>
          <a:lstStyle/>
          <a:p>
            <a:pPr algn="l"/>
            <a:r>
              <a:rPr sz="700" b="0" i="0">
                <a:solidFill>
                  <a:srgbClr val="2C3E50"/>
                </a:solidFill>
                <a:latin typeface="Calibri" panose="020F0502020204030204"/>
              </a:rPr>
              <a:t>48k×3.6×$0.15/1k</a:t>
            </a:r>
            <a:endParaRPr sz="700" b="0" i="0">
              <a:solidFill>
                <a:srgbClr val="2C3E50"/>
              </a:solidFill>
              <a:latin typeface="Calibri" panose="020F0502020204030204"/>
            </a:endParaRPr>
          </a:p>
        </p:txBody>
      </p:sp>
      <p:sp>
        <p:nvSpPr>
          <p:cNvPr id="92" name="Rectangle 91"/>
          <p:cNvSpPr/>
          <p:nvPr/>
        </p:nvSpPr>
        <p:spPr>
          <a:xfrm>
            <a:off x="5298033" y="3630168"/>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34609" y="3657599"/>
            <a:ext cx="636422" cy="301752"/>
          </a:xfrm>
          <a:prstGeom prst="rect">
            <a:avLst/>
          </a:prstGeom>
          <a:noFill/>
        </p:spPr>
        <p:txBody>
          <a:bodyPr wrap="square">
            <a:spAutoFit/>
          </a:bodyPr>
          <a:lstStyle/>
          <a:p>
            <a:pPr algn="r"/>
            <a:r>
              <a:rPr sz="900" b="1" i="0">
                <a:solidFill>
                  <a:srgbClr val="2C3E50"/>
                </a:solidFill>
                <a:latin typeface="Calibri" panose="020F0502020204030204"/>
              </a:rPr>
              <a:t>$26</a:t>
            </a:r>
            <a:endParaRPr sz="900" b="1" i="0">
              <a:solidFill>
                <a:srgbClr val="2C3E50"/>
              </a:solidFill>
              <a:latin typeface="Calibri" panose="020F0502020204030204"/>
            </a:endParaRPr>
          </a:p>
        </p:txBody>
      </p:sp>
      <p:sp>
        <p:nvSpPr>
          <p:cNvPr id="94" name="Rectangle 93"/>
          <p:cNvSpPr/>
          <p:nvPr/>
        </p:nvSpPr>
        <p:spPr>
          <a:xfrm>
            <a:off x="228600" y="4014215"/>
            <a:ext cx="5760720" cy="310896"/>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38328" y="4069079"/>
            <a:ext cx="3744468" cy="219456"/>
          </a:xfrm>
          <a:prstGeom prst="rect">
            <a:avLst/>
          </a:prstGeom>
          <a:noFill/>
        </p:spPr>
        <p:txBody>
          <a:bodyPr wrap="square">
            <a:spAutoFit/>
          </a:bodyPr>
          <a:lstStyle/>
          <a:p>
            <a:pPr algn="l"/>
            <a:r>
              <a:rPr sz="900" b="1" i="0">
                <a:solidFill>
                  <a:srgbClr val="FFFFFF"/>
                </a:solidFill>
                <a:latin typeface="Calibri" panose="020F0502020204030204"/>
              </a:rPr>
              <a:t>LLM + Student Endpoint Subtotal</a:t>
            </a:r>
            <a:endParaRPr sz="900" b="1" i="0">
              <a:solidFill>
                <a:srgbClr val="FFFFFF"/>
              </a:solidFill>
              <a:latin typeface="Calibri" panose="020F0502020204030204"/>
            </a:endParaRPr>
          </a:p>
        </p:txBody>
      </p:sp>
      <p:sp>
        <p:nvSpPr>
          <p:cNvPr id="96" name="TextBox 95"/>
          <p:cNvSpPr txBox="1"/>
          <p:nvPr/>
        </p:nvSpPr>
        <p:spPr>
          <a:xfrm>
            <a:off x="3973068" y="4050791"/>
            <a:ext cx="1901037" cy="256032"/>
          </a:xfrm>
          <a:prstGeom prst="rect">
            <a:avLst/>
          </a:prstGeom>
          <a:noFill/>
        </p:spPr>
        <p:txBody>
          <a:bodyPr wrap="square">
            <a:spAutoFit/>
          </a:bodyPr>
          <a:lstStyle/>
          <a:p>
            <a:pPr algn="r"/>
            <a:r>
              <a:rPr sz="1200" b="1" i="0">
                <a:solidFill>
                  <a:srgbClr val="FFC107"/>
                </a:solidFill>
                <a:latin typeface="Calibri" panose="020F0502020204030204"/>
              </a:rPr>
              <a:t>~$1,263 / mo</a:t>
            </a:r>
            <a:endParaRPr sz="1200" b="1" i="0">
              <a:solidFill>
                <a:srgbClr val="FFC107"/>
              </a:solidFill>
              <a:latin typeface="Calibri" panose="020F0502020204030204"/>
            </a:endParaRPr>
          </a:p>
        </p:txBody>
      </p:sp>
      <p:sp>
        <p:nvSpPr>
          <p:cNvPr id="97" name="Rectangle 96"/>
          <p:cNvSpPr/>
          <p:nvPr/>
        </p:nvSpPr>
        <p:spPr>
          <a:xfrm>
            <a:off x="228600" y="4398264"/>
            <a:ext cx="5760720" cy="32918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38328" y="4443983"/>
            <a:ext cx="5577840" cy="237744"/>
          </a:xfrm>
          <a:prstGeom prst="rect">
            <a:avLst/>
          </a:prstGeom>
          <a:noFill/>
        </p:spPr>
        <p:txBody>
          <a:bodyPr wrap="square">
            <a:spAutoFit/>
          </a:bodyPr>
          <a:lstStyle/>
          <a:p>
            <a:pPr algn="l"/>
            <a:r>
              <a:rPr sz="1000" b="1" i="0">
                <a:solidFill>
                  <a:srgbClr val="FFFFFF"/>
                </a:solidFill>
                <a:latin typeface="Calibri" panose="020F0502020204030204"/>
              </a:rPr>
              <a:t>MONTHLY FINE-TUNING  (SageMaker + DeepInfra)</a:t>
            </a:r>
            <a:endParaRPr sz="1000" b="1" i="0">
              <a:solidFill>
                <a:srgbClr val="FFFFFF"/>
              </a:solidFill>
              <a:latin typeface="Calibri" panose="020F0502020204030204"/>
            </a:endParaRPr>
          </a:p>
        </p:txBody>
      </p:sp>
      <p:sp>
        <p:nvSpPr>
          <p:cNvPr id="99" name="Rectangle 98"/>
          <p:cNvSpPr/>
          <p:nvPr/>
        </p:nvSpPr>
        <p:spPr>
          <a:xfrm>
            <a:off x="228600" y="4727448"/>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65176" y="4754880"/>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01" name="Rectangle 100"/>
          <p:cNvSpPr/>
          <p:nvPr/>
        </p:nvSpPr>
        <p:spPr>
          <a:xfrm>
            <a:off x="1150315" y="4727448"/>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86891" y="4754880"/>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03" name="Rectangle 102"/>
          <p:cNvSpPr/>
          <p:nvPr/>
        </p:nvSpPr>
        <p:spPr>
          <a:xfrm>
            <a:off x="2417673" y="4727448"/>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454249" y="4754880"/>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05" name="Rectangle 104"/>
          <p:cNvSpPr/>
          <p:nvPr/>
        </p:nvSpPr>
        <p:spPr>
          <a:xfrm>
            <a:off x="3166567" y="4727448"/>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203143" y="4754880"/>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07" name="Rectangle 106"/>
          <p:cNvSpPr/>
          <p:nvPr/>
        </p:nvSpPr>
        <p:spPr>
          <a:xfrm>
            <a:off x="3915460" y="4727448"/>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52036" y="4754880"/>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109" name="Rectangle 108"/>
          <p:cNvSpPr/>
          <p:nvPr/>
        </p:nvSpPr>
        <p:spPr>
          <a:xfrm>
            <a:off x="5298033" y="4727448"/>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334609" y="4754880"/>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111" name="Rectangle 110"/>
          <p:cNvSpPr/>
          <p:nvPr/>
        </p:nvSpPr>
        <p:spPr>
          <a:xfrm>
            <a:off x="228600" y="4965192"/>
            <a:ext cx="921715"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65176" y="4992624"/>
            <a:ext cx="866851" cy="283464"/>
          </a:xfrm>
          <a:prstGeom prst="rect">
            <a:avLst/>
          </a:prstGeom>
          <a:noFill/>
        </p:spPr>
        <p:txBody>
          <a:bodyPr wrap="square">
            <a:spAutoFit/>
          </a:bodyPr>
          <a:lstStyle/>
          <a:p>
            <a:pPr algn="l"/>
            <a:r>
              <a:rPr sz="700" b="0" i="0">
                <a:solidFill>
                  <a:srgbClr val="2C3E50"/>
                </a:solidFill>
                <a:latin typeface="Calibri" panose="020F0502020204030204"/>
              </a:rPr>
              <a:t>Data generation</a:t>
            </a:r>
            <a:endParaRPr sz="700" b="0" i="0">
              <a:solidFill>
                <a:srgbClr val="2C3E50"/>
              </a:solidFill>
              <a:latin typeface="Calibri" panose="020F0502020204030204"/>
            </a:endParaRPr>
          </a:p>
        </p:txBody>
      </p:sp>
      <p:sp>
        <p:nvSpPr>
          <p:cNvPr id="113" name="Rectangle 112"/>
          <p:cNvSpPr/>
          <p:nvPr/>
        </p:nvSpPr>
        <p:spPr>
          <a:xfrm>
            <a:off x="1150315" y="4965192"/>
            <a:ext cx="1267358"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86891" y="4992624"/>
            <a:ext cx="1212494" cy="283464"/>
          </a:xfrm>
          <a:prstGeom prst="rect">
            <a:avLst/>
          </a:prstGeom>
          <a:noFill/>
        </p:spPr>
        <p:txBody>
          <a:bodyPr wrap="square">
            <a:spAutoFit/>
          </a:bodyPr>
          <a:lstStyle/>
          <a:p>
            <a:pPr algn="l"/>
            <a:r>
              <a:rPr sz="700" b="0" i="0">
                <a:solidFill>
                  <a:srgbClr val="2C3E50"/>
                </a:solidFill>
                <a:latin typeface="Calibri" panose="020F0502020204030204"/>
              </a:rPr>
              <a:t>Qwen3.5-397B via DeepInfra (HF)</a:t>
            </a:r>
            <a:endParaRPr sz="700" b="0" i="0">
              <a:solidFill>
                <a:srgbClr val="2C3E50"/>
              </a:solidFill>
              <a:latin typeface="Calibri" panose="020F0502020204030204"/>
            </a:endParaRPr>
          </a:p>
        </p:txBody>
      </p:sp>
      <p:sp>
        <p:nvSpPr>
          <p:cNvPr id="115" name="Rectangle 114"/>
          <p:cNvSpPr/>
          <p:nvPr/>
        </p:nvSpPr>
        <p:spPr>
          <a:xfrm>
            <a:off x="2417673" y="4965192"/>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454249" y="4992624"/>
            <a:ext cx="694029" cy="283464"/>
          </a:xfrm>
          <a:prstGeom prst="rect">
            <a:avLst/>
          </a:prstGeom>
          <a:noFill/>
        </p:spPr>
        <p:txBody>
          <a:bodyPr wrap="square">
            <a:spAutoFit/>
          </a:bodyPr>
          <a:lstStyle/>
          <a:p>
            <a:pPr algn="l"/>
            <a:r>
              <a:rPr sz="700" b="0" i="0">
                <a:solidFill>
                  <a:srgbClr val="2C3E50"/>
                </a:solidFill>
                <a:latin typeface="Calibri" panose="020F0502020204030204"/>
              </a:rPr>
              <a:t>10k Q&amp;A/mo</a:t>
            </a:r>
            <a:endParaRPr sz="700" b="0" i="0">
              <a:solidFill>
                <a:srgbClr val="2C3E50"/>
              </a:solidFill>
              <a:latin typeface="Calibri" panose="020F0502020204030204"/>
            </a:endParaRPr>
          </a:p>
        </p:txBody>
      </p:sp>
      <p:sp>
        <p:nvSpPr>
          <p:cNvPr id="117" name="Rectangle 116"/>
          <p:cNvSpPr/>
          <p:nvPr/>
        </p:nvSpPr>
        <p:spPr>
          <a:xfrm>
            <a:off x="3166567" y="4965192"/>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203143" y="4992624"/>
            <a:ext cx="694029" cy="283464"/>
          </a:xfrm>
          <a:prstGeom prst="rect">
            <a:avLst/>
          </a:prstGeom>
          <a:noFill/>
        </p:spPr>
        <p:txBody>
          <a:bodyPr wrap="square">
            <a:spAutoFit/>
          </a:bodyPr>
          <a:lstStyle/>
          <a:p>
            <a:pPr algn="l"/>
            <a:r>
              <a:rPr sz="700" b="0" i="0">
                <a:solidFill>
                  <a:srgbClr val="2C3E50"/>
                </a:solidFill>
                <a:latin typeface="Calibri" panose="020F0502020204030204"/>
              </a:rPr>
              <a:t>$0.54/$3.40/1M</a:t>
            </a:r>
            <a:endParaRPr sz="700" b="0" i="0">
              <a:solidFill>
                <a:srgbClr val="2C3E50"/>
              </a:solidFill>
              <a:latin typeface="Calibri" panose="020F0502020204030204"/>
            </a:endParaRPr>
          </a:p>
        </p:txBody>
      </p:sp>
      <p:sp>
        <p:nvSpPr>
          <p:cNvPr id="119" name="Rectangle 118"/>
          <p:cNvSpPr/>
          <p:nvPr/>
        </p:nvSpPr>
        <p:spPr>
          <a:xfrm>
            <a:off x="3915460" y="4965192"/>
            <a:ext cx="1382572"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952036" y="4992624"/>
            <a:ext cx="1327708" cy="283464"/>
          </a:xfrm>
          <a:prstGeom prst="rect">
            <a:avLst/>
          </a:prstGeom>
          <a:noFill/>
        </p:spPr>
        <p:txBody>
          <a:bodyPr wrap="square">
            <a:spAutoFit/>
          </a:bodyPr>
          <a:lstStyle/>
          <a:p>
            <a:pPr algn="l"/>
            <a:r>
              <a:rPr sz="700" b="0" i="0">
                <a:solidFill>
                  <a:srgbClr val="2C3E50"/>
                </a:solidFill>
                <a:latin typeface="Calibri" panose="020F0502020204030204"/>
              </a:rPr>
              <a:t>10k×0.5k×$0.54 + 10k×0.3k×$3.40</a:t>
            </a:r>
            <a:endParaRPr sz="700" b="0" i="0">
              <a:solidFill>
                <a:srgbClr val="2C3E50"/>
              </a:solidFill>
              <a:latin typeface="Calibri" panose="020F0502020204030204"/>
            </a:endParaRPr>
          </a:p>
        </p:txBody>
      </p:sp>
      <p:sp>
        <p:nvSpPr>
          <p:cNvPr id="121" name="Rectangle 120"/>
          <p:cNvSpPr/>
          <p:nvPr/>
        </p:nvSpPr>
        <p:spPr>
          <a:xfrm>
            <a:off x="5298033" y="4965192"/>
            <a:ext cx="691286"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334609" y="4992624"/>
            <a:ext cx="636422" cy="283464"/>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123" name="Rectangle 122"/>
          <p:cNvSpPr/>
          <p:nvPr/>
        </p:nvSpPr>
        <p:spPr>
          <a:xfrm>
            <a:off x="228600" y="5294376"/>
            <a:ext cx="921715"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65176" y="5321808"/>
            <a:ext cx="866851" cy="283464"/>
          </a:xfrm>
          <a:prstGeom prst="rect">
            <a:avLst/>
          </a:prstGeom>
          <a:noFill/>
        </p:spPr>
        <p:txBody>
          <a:bodyPr wrap="square">
            <a:spAutoFit/>
          </a:bodyPr>
          <a:lstStyle/>
          <a:p>
            <a:pPr algn="l"/>
            <a:r>
              <a:rPr sz="700" b="0" i="0">
                <a:solidFill>
                  <a:srgbClr val="2C3E50"/>
                </a:solidFill>
                <a:latin typeface="Calibri" panose="020F0502020204030204"/>
              </a:rPr>
              <a:t>Training job</a:t>
            </a:r>
            <a:endParaRPr sz="700" b="0" i="0">
              <a:solidFill>
                <a:srgbClr val="2C3E50"/>
              </a:solidFill>
              <a:latin typeface="Calibri" panose="020F0502020204030204"/>
            </a:endParaRPr>
          </a:p>
        </p:txBody>
      </p:sp>
      <p:sp>
        <p:nvSpPr>
          <p:cNvPr id="125" name="Rectangle 124"/>
          <p:cNvSpPr/>
          <p:nvPr/>
        </p:nvSpPr>
        <p:spPr>
          <a:xfrm>
            <a:off x="1150315" y="5294376"/>
            <a:ext cx="1267358"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86891" y="5321808"/>
            <a:ext cx="1212494" cy="283464"/>
          </a:xfrm>
          <a:prstGeom prst="rect">
            <a:avLst/>
          </a:prstGeom>
          <a:noFill/>
        </p:spPr>
        <p:txBody>
          <a:bodyPr wrap="square">
            <a:spAutoFit/>
          </a:bodyPr>
          <a:lstStyle/>
          <a:p>
            <a:pPr algn="l"/>
            <a:r>
              <a:rPr sz="700" b="0" i="0">
                <a:solidFill>
                  <a:srgbClr val="2C3E50"/>
                </a:solidFill>
                <a:latin typeface="Calibri" panose="020F0502020204030204"/>
              </a:rPr>
              <a:t>SageMaker ml.g4dn.2xlarge</a:t>
            </a:r>
            <a:endParaRPr sz="700" b="0" i="0">
              <a:solidFill>
                <a:srgbClr val="2C3E50"/>
              </a:solidFill>
              <a:latin typeface="Calibri" panose="020F0502020204030204"/>
            </a:endParaRPr>
          </a:p>
        </p:txBody>
      </p:sp>
      <p:sp>
        <p:nvSpPr>
          <p:cNvPr id="127" name="Rectangle 126"/>
          <p:cNvSpPr/>
          <p:nvPr/>
        </p:nvSpPr>
        <p:spPr>
          <a:xfrm>
            <a:off x="2417673" y="5294376"/>
            <a:ext cx="748893"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454249" y="5321808"/>
            <a:ext cx="694029" cy="283464"/>
          </a:xfrm>
          <a:prstGeom prst="rect">
            <a:avLst/>
          </a:prstGeom>
          <a:noFill/>
        </p:spPr>
        <p:txBody>
          <a:bodyPr wrap="square">
            <a:spAutoFit/>
          </a:bodyPr>
          <a:lstStyle/>
          <a:p>
            <a:pPr algn="l"/>
            <a:r>
              <a:rPr sz="700" b="0" i="0">
                <a:solidFill>
                  <a:srgbClr val="2C3E50"/>
                </a:solidFill>
                <a:latin typeface="Calibri" panose="020F0502020204030204"/>
              </a:rPr>
              <a:t>~3 hr/run</a:t>
            </a:r>
            <a:endParaRPr sz="700" b="0" i="0">
              <a:solidFill>
                <a:srgbClr val="2C3E50"/>
              </a:solidFill>
              <a:latin typeface="Calibri" panose="020F0502020204030204"/>
            </a:endParaRPr>
          </a:p>
        </p:txBody>
      </p:sp>
      <p:sp>
        <p:nvSpPr>
          <p:cNvPr id="129" name="Rectangle 128"/>
          <p:cNvSpPr/>
          <p:nvPr/>
        </p:nvSpPr>
        <p:spPr>
          <a:xfrm>
            <a:off x="3166567" y="5294376"/>
            <a:ext cx="748893"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203143" y="5321808"/>
            <a:ext cx="694029" cy="283464"/>
          </a:xfrm>
          <a:prstGeom prst="rect">
            <a:avLst/>
          </a:prstGeom>
          <a:noFill/>
        </p:spPr>
        <p:txBody>
          <a:bodyPr wrap="square">
            <a:spAutoFit/>
          </a:bodyPr>
          <a:lstStyle/>
          <a:p>
            <a:pPr algn="l"/>
            <a:r>
              <a:rPr sz="700" b="0" i="0">
                <a:solidFill>
                  <a:srgbClr val="2C3E50"/>
                </a:solidFill>
                <a:latin typeface="Calibri" panose="020F0502020204030204"/>
              </a:rPr>
              <a:t>$1.32/hr</a:t>
            </a:r>
            <a:endParaRPr sz="700" b="0" i="0">
              <a:solidFill>
                <a:srgbClr val="2C3E50"/>
              </a:solidFill>
              <a:latin typeface="Calibri" panose="020F0502020204030204"/>
            </a:endParaRPr>
          </a:p>
        </p:txBody>
      </p:sp>
      <p:sp>
        <p:nvSpPr>
          <p:cNvPr id="131" name="Rectangle 130"/>
          <p:cNvSpPr/>
          <p:nvPr/>
        </p:nvSpPr>
        <p:spPr>
          <a:xfrm>
            <a:off x="3915460" y="5294376"/>
            <a:ext cx="1382572"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952036" y="5321808"/>
            <a:ext cx="1327708" cy="283464"/>
          </a:xfrm>
          <a:prstGeom prst="rect">
            <a:avLst/>
          </a:prstGeom>
          <a:noFill/>
        </p:spPr>
        <p:txBody>
          <a:bodyPr wrap="square">
            <a:spAutoFit/>
          </a:bodyPr>
          <a:lstStyle/>
          <a:p>
            <a:pPr algn="l"/>
            <a:r>
              <a:rPr sz="700" b="0" i="0">
                <a:solidFill>
                  <a:srgbClr val="2C3E50"/>
                </a:solidFill>
                <a:latin typeface="Calibri" panose="020F0502020204030204"/>
              </a:rPr>
              <a:t>3×$1.32</a:t>
            </a:r>
            <a:endParaRPr sz="700" b="0" i="0">
              <a:solidFill>
                <a:srgbClr val="2C3E50"/>
              </a:solidFill>
              <a:latin typeface="Calibri" panose="020F0502020204030204"/>
            </a:endParaRPr>
          </a:p>
        </p:txBody>
      </p:sp>
      <p:sp>
        <p:nvSpPr>
          <p:cNvPr id="133" name="Rectangle 132"/>
          <p:cNvSpPr/>
          <p:nvPr/>
        </p:nvSpPr>
        <p:spPr>
          <a:xfrm>
            <a:off x="5298033" y="5294376"/>
            <a:ext cx="691286"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334609" y="5321808"/>
            <a:ext cx="636422" cy="283464"/>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135" name="Rectangle 134"/>
          <p:cNvSpPr/>
          <p:nvPr/>
        </p:nvSpPr>
        <p:spPr>
          <a:xfrm>
            <a:off x="228600" y="5623560"/>
            <a:ext cx="921715"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65176" y="5650992"/>
            <a:ext cx="866851" cy="283464"/>
          </a:xfrm>
          <a:prstGeom prst="rect">
            <a:avLst/>
          </a:prstGeom>
          <a:noFill/>
        </p:spPr>
        <p:txBody>
          <a:bodyPr wrap="square">
            <a:spAutoFit/>
          </a:bodyPr>
          <a:lstStyle/>
          <a:p>
            <a:pPr algn="l"/>
            <a:r>
              <a:rPr sz="700" b="0" i="0">
                <a:solidFill>
                  <a:srgbClr val="2C3E50"/>
                </a:solidFill>
                <a:latin typeface="Calibri" panose="020F0502020204030204"/>
              </a:rPr>
              <a:t>Model storage</a:t>
            </a:r>
            <a:endParaRPr sz="700" b="0" i="0">
              <a:solidFill>
                <a:srgbClr val="2C3E50"/>
              </a:solidFill>
              <a:latin typeface="Calibri" panose="020F0502020204030204"/>
            </a:endParaRPr>
          </a:p>
        </p:txBody>
      </p:sp>
      <p:sp>
        <p:nvSpPr>
          <p:cNvPr id="137" name="Rectangle 136"/>
          <p:cNvSpPr/>
          <p:nvPr/>
        </p:nvSpPr>
        <p:spPr>
          <a:xfrm>
            <a:off x="1150315" y="5623560"/>
            <a:ext cx="1267358"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6891" y="5650992"/>
            <a:ext cx="1212494" cy="283464"/>
          </a:xfrm>
          <a:prstGeom prst="rect">
            <a:avLst/>
          </a:prstGeom>
          <a:noFill/>
        </p:spPr>
        <p:txBody>
          <a:bodyPr wrap="square">
            <a:spAutoFit/>
          </a:bodyPr>
          <a:lstStyle/>
          <a:p>
            <a:pPr algn="l"/>
            <a:r>
              <a:rPr sz="700" b="0" i="0">
                <a:solidFill>
                  <a:srgbClr val="2C3E50"/>
                </a:solidFill>
                <a:latin typeface="Calibri" panose="020F0502020204030204"/>
              </a:rPr>
              <a:t>S3 checkpoint (~8GB)</a:t>
            </a:r>
            <a:endParaRPr sz="700" b="0" i="0">
              <a:solidFill>
                <a:srgbClr val="2C3E50"/>
              </a:solidFill>
              <a:latin typeface="Calibri" panose="020F0502020204030204"/>
            </a:endParaRPr>
          </a:p>
        </p:txBody>
      </p:sp>
      <p:sp>
        <p:nvSpPr>
          <p:cNvPr id="139" name="Rectangle 138"/>
          <p:cNvSpPr/>
          <p:nvPr/>
        </p:nvSpPr>
        <p:spPr>
          <a:xfrm>
            <a:off x="2417673" y="5623560"/>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454249" y="5650992"/>
            <a:ext cx="694029" cy="283464"/>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141" name="Rectangle 140"/>
          <p:cNvSpPr/>
          <p:nvPr/>
        </p:nvSpPr>
        <p:spPr>
          <a:xfrm>
            <a:off x="3166567" y="5623560"/>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203143" y="5650992"/>
            <a:ext cx="694029" cy="283464"/>
          </a:xfrm>
          <a:prstGeom prst="rect">
            <a:avLst/>
          </a:prstGeom>
          <a:noFill/>
        </p:spPr>
        <p:txBody>
          <a:bodyPr wrap="square">
            <a:spAutoFit/>
          </a:bodyPr>
          <a:lstStyle/>
          <a:p>
            <a:pPr algn="l"/>
            <a:r>
              <a:rPr sz="700" b="0" i="0">
                <a:solidFill>
                  <a:srgbClr val="2C3E50"/>
                </a:solidFill>
                <a:latin typeface="Calibri" panose="020F0502020204030204"/>
              </a:rPr>
              <a:t>$0.023/GB-mo</a:t>
            </a:r>
            <a:endParaRPr sz="700" b="0" i="0">
              <a:solidFill>
                <a:srgbClr val="2C3E50"/>
              </a:solidFill>
              <a:latin typeface="Calibri" panose="020F0502020204030204"/>
            </a:endParaRPr>
          </a:p>
        </p:txBody>
      </p:sp>
      <p:sp>
        <p:nvSpPr>
          <p:cNvPr id="143" name="Rectangle 142"/>
          <p:cNvSpPr/>
          <p:nvPr/>
        </p:nvSpPr>
        <p:spPr>
          <a:xfrm>
            <a:off x="3915460" y="5623560"/>
            <a:ext cx="1382572"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952036" y="5650992"/>
            <a:ext cx="1327708" cy="283464"/>
          </a:xfrm>
          <a:prstGeom prst="rect">
            <a:avLst/>
          </a:prstGeom>
          <a:noFill/>
        </p:spPr>
        <p:txBody>
          <a:bodyPr wrap="square">
            <a:spAutoFit/>
          </a:bodyPr>
          <a:lstStyle/>
          <a:p>
            <a:pPr algn="l"/>
            <a:r>
              <a:rPr sz="700" b="0" i="0">
                <a:solidFill>
                  <a:srgbClr val="2C3E50"/>
                </a:solidFill>
                <a:latin typeface="Calibri" panose="020F0502020204030204"/>
              </a:rPr>
              <a:t>8×$0.023</a:t>
            </a:r>
            <a:endParaRPr sz="700" b="0" i="0">
              <a:solidFill>
                <a:srgbClr val="2C3E50"/>
              </a:solidFill>
              <a:latin typeface="Calibri" panose="020F0502020204030204"/>
            </a:endParaRPr>
          </a:p>
        </p:txBody>
      </p:sp>
      <p:sp>
        <p:nvSpPr>
          <p:cNvPr id="145" name="Rectangle 144"/>
          <p:cNvSpPr/>
          <p:nvPr/>
        </p:nvSpPr>
        <p:spPr>
          <a:xfrm>
            <a:off x="5298033" y="5623560"/>
            <a:ext cx="691286"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334609" y="5650992"/>
            <a:ext cx="636422" cy="283464"/>
          </a:xfrm>
          <a:prstGeom prst="rect">
            <a:avLst/>
          </a:prstGeom>
          <a:noFill/>
        </p:spPr>
        <p:txBody>
          <a:bodyPr wrap="square">
            <a:spAutoFit/>
          </a:bodyPr>
          <a:lstStyle/>
          <a:p>
            <a:pPr algn="r"/>
            <a:r>
              <a:rPr sz="900" b="1" i="0">
                <a:solidFill>
                  <a:srgbClr val="2C3E50"/>
                </a:solidFill>
                <a:latin typeface="Calibri" panose="020F0502020204030204"/>
              </a:rPr>
              <a:t>$0</a:t>
            </a:r>
            <a:endParaRPr sz="900" b="1" i="0">
              <a:solidFill>
                <a:srgbClr val="2C3E50"/>
              </a:solidFill>
              <a:latin typeface="Calibri" panose="020F0502020204030204"/>
            </a:endParaRPr>
          </a:p>
        </p:txBody>
      </p:sp>
      <p:sp>
        <p:nvSpPr>
          <p:cNvPr id="147" name="Rectangle 146"/>
          <p:cNvSpPr/>
          <p:nvPr/>
        </p:nvSpPr>
        <p:spPr>
          <a:xfrm>
            <a:off x="228600" y="5989320"/>
            <a:ext cx="5760720" cy="310896"/>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38328" y="6044184"/>
            <a:ext cx="3744468" cy="219456"/>
          </a:xfrm>
          <a:prstGeom prst="rect">
            <a:avLst/>
          </a:prstGeom>
          <a:noFill/>
        </p:spPr>
        <p:txBody>
          <a:bodyPr wrap="square">
            <a:spAutoFit/>
          </a:bodyPr>
          <a:lstStyle/>
          <a:p>
            <a:pPr algn="l"/>
            <a:r>
              <a:rPr sz="900" b="1" i="0">
                <a:solidFill>
                  <a:srgbClr val="FFFFFF"/>
                </a:solidFill>
                <a:latin typeface="Calibri" panose="020F0502020204030204"/>
              </a:rPr>
              <a:t>Fine-tuning Subtotal</a:t>
            </a:r>
            <a:endParaRPr sz="900" b="1" i="0">
              <a:solidFill>
                <a:srgbClr val="FFFFFF"/>
              </a:solidFill>
              <a:latin typeface="Calibri" panose="020F0502020204030204"/>
            </a:endParaRPr>
          </a:p>
        </p:txBody>
      </p:sp>
      <p:sp>
        <p:nvSpPr>
          <p:cNvPr id="149" name="TextBox 148"/>
          <p:cNvSpPr txBox="1"/>
          <p:nvPr/>
        </p:nvSpPr>
        <p:spPr>
          <a:xfrm>
            <a:off x="3973068" y="6025896"/>
            <a:ext cx="1901037" cy="256032"/>
          </a:xfrm>
          <a:prstGeom prst="rect">
            <a:avLst/>
          </a:prstGeom>
          <a:noFill/>
        </p:spPr>
        <p:txBody>
          <a:bodyPr wrap="square">
            <a:spAutoFit/>
          </a:bodyPr>
          <a:lstStyle/>
          <a:p>
            <a:pPr algn="r"/>
            <a:r>
              <a:rPr sz="1200" b="1" i="0">
                <a:solidFill>
                  <a:srgbClr val="FFC107"/>
                </a:solidFill>
                <a:latin typeface="Calibri" panose="020F0502020204030204"/>
              </a:rPr>
              <a:t>~$17 / mo</a:t>
            </a:r>
            <a:endParaRPr sz="1200" b="1" i="0">
              <a:solidFill>
                <a:srgbClr val="FFC107"/>
              </a:solidFill>
              <a:latin typeface="Calibri" panose="020F0502020204030204"/>
            </a:endParaRPr>
          </a:p>
        </p:txBody>
      </p:sp>
      <p:sp>
        <p:nvSpPr>
          <p:cNvPr id="150" name="Rectangle 149"/>
          <p:cNvSpPr/>
          <p:nvPr/>
        </p:nvSpPr>
        <p:spPr>
          <a:xfrm>
            <a:off x="6199632" y="1325880"/>
            <a:ext cx="5760720" cy="32918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309360" y="1371600"/>
            <a:ext cx="5577840" cy="237744"/>
          </a:xfrm>
          <a:prstGeom prst="rect">
            <a:avLst/>
          </a:prstGeom>
          <a:noFill/>
        </p:spPr>
        <p:txBody>
          <a:bodyPr wrap="square">
            <a:spAutoFit/>
          </a:bodyPr>
          <a:lstStyle/>
          <a:p>
            <a:pPr algn="l"/>
            <a:r>
              <a:rPr sz="1000" b="1" i="0">
                <a:solidFill>
                  <a:srgbClr val="FFFFFF"/>
                </a:solidFill>
                <a:latin typeface="Calibri" panose="020F0502020204030204"/>
              </a:rPr>
              <a:t>INFRASTRUCTURE &amp; SERVICES  (Singapore)</a:t>
            </a:r>
            <a:endParaRPr sz="1000" b="1" i="0">
              <a:solidFill>
                <a:srgbClr val="FFFFFF"/>
              </a:solidFill>
              <a:latin typeface="Calibri" panose="020F0502020204030204"/>
            </a:endParaRPr>
          </a:p>
        </p:txBody>
      </p:sp>
      <p:sp>
        <p:nvSpPr>
          <p:cNvPr id="152" name="Rectangle 151"/>
          <p:cNvSpPr/>
          <p:nvPr/>
        </p:nvSpPr>
        <p:spPr>
          <a:xfrm>
            <a:off x="6199632"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236208"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54" name="Rectangle 153"/>
          <p:cNvSpPr/>
          <p:nvPr/>
        </p:nvSpPr>
        <p:spPr>
          <a:xfrm>
            <a:off x="7121347"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7157923"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56" name="Rectangle 155"/>
          <p:cNvSpPr/>
          <p:nvPr/>
        </p:nvSpPr>
        <p:spPr>
          <a:xfrm>
            <a:off x="8388705"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425281"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58" name="Rectangle 157"/>
          <p:cNvSpPr/>
          <p:nvPr/>
        </p:nvSpPr>
        <p:spPr>
          <a:xfrm>
            <a:off x="9137599"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174175"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60" name="Rectangle 159"/>
          <p:cNvSpPr/>
          <p:nvPr/>
        </p:nvSpPr>
        <p:spPr>
          <a:xfrm>
            <a:off x="9886492"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923068"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162" name="Rectangle 161"/>
          <p:cNvSpPr/>
          <p:nvPr/>
        </p:nvSpPr>
        <p:spPr>
          <a:xfrm>
            <a:off x="11269065"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1305641"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164" name="Rectangle 163"/>
          <p:cNvSpPr/>
          <p:nvPr/>
        </p:nvSpPr>
        <p:spPr>
          <a:xfrm>
            <a:off x="6199632"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236208" y="1920240"/>
            <a:ext cx="866851" cy="301752"/>
          </a:xfrm>
          <a:prstGeom prst="rect">
            <a:avLst/>
          </a:prstGeom>
          <a:noFill/>
        </p:spPr>
        <p:txBody>
          <a:bodyPr wrap="square">
            <a:spAutoFit/>
          </a:bodyPr>
          <a:lstStyle/>
          <a:p>
            <a:pPr algn="l"/>
            <a:r>
              <a:rPr sz="700" b="0" i="0">
                <a:solidFill>
                  <a:srgbClr val="2C3E50"/>
                </a:solidFill>
                <a:latin typeface="Calibri" panose="020F0502020204030204"/>
              </a:rPr>
              <a:t>Vector KB</a:t>
            </a:r>
            <a:endParaRPr sz="700" b="0" i="0">
              <a:solidFill>
                <a:srgbClr val="2C3E50"/>
              </a:solidFill>
              <a:latin typeface="Calibri" panose="020F0502020204030204"/>
            </a:endParaRPr>
          </a:p>
        </p:txBody>
      </p:sp>
      <p:sp>
        <p:nvSpPr>
          <p:cNvPr id="166" name="Rectangle 165"/>
          <p:cNvSpPr/>
          <p:nvPr/>
        </p:nvSpPr>
        <p:spPr>
          <a:xfrm>
            <a:off x="7121347"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157923" y="1920240"/>
            <a:ext cx="1212494" cy="301752"/>
          </a:xfrm>
          <a:prstGeom prst="rect">
            <a:avLst/>
          </a:prstGeom>
          <a:noFill/>
        </p:spPr>
        <p:txBody>
          <a:bodyPr wrap="square">
            <a:spAutoFit/>
          </a:bodyPr>
          <a:lstStyle/>
          <a:p>
            <a:pPr algn="l"/>
            <a:r>
              <a:rPr sz="700" b="0" i="0">
                <a:solidFill>
                  <a:srgbClr val="2C3E50"/>
                </a:solidFill>
                <a:latin typeface="Calibri" panose="020F0502020204030204"/>
              </a:rPr>
              <a:t>Bedrock KB OpenSearch Serverless</a:t>
            </a:r>
            <a:endParaRPr sz="700" b="0" i="0">
              <a:solidFill>
                <a:srgbClr val="2C3E50"/>
              </a:solidFill>
              <a:latin typeface="Calibri" panose="020F0502020204030204"/>
            </a:endParaRPr>
          </a:p>
        </p:txBody>
      </p:sp>
      <p:sp>
        <p:nvSpPr>
          <p:cNvPr id="168" name="Rectangle 167"/>
          <p:cNvSpPr/>
          <p:nvPr/>
        </p:nvSpPr>
        <p:spPr>
          <a:xfrm>
            <a:off x="8388705"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425281" y="1920240"/>
            <a:ext cx="694029" cy="301752"/>
          </a:xfrm>
          <a:prstGeom prst="rect">
            <a:avLst/>
          </a:prstGeom>
          <a:noFill/>
        </p:spPr>
        <p:txBody>
          <a:bodyPr wrap="square">
            <a:spAutoFit/>
          </a:bodyPr>
          <a:lstStyle/>
          <a:p>
            <a:pPr algn="l"/>
            <a:r>
              <a:rPr sz="700" b="0" i="0">
                <a:solidFill>
                  <a:srgbClr val="2C3E50"/>
                </a:solidFill>
                <a:latin typeface="Calibri" panose="020F0502020204030204"/>
              </a:rPr>
              <a:t>2 OCU × 720hr</a:t>
            </a:r>
            <a:endParaRPr sz="700" b="0" i="0">
              <a:solidFill>
                <a:srgbClr val="2C3E50"/>
              </a:solidFill>
              <a:latin typeface="Calibri" panose="020F0502020204030204"/>
            </a:endParaRPr>
          </a:p>
        </p:txBody>
      </p:sp>
      <p:sp>
        <p:nvSpPr>
          <p:cNvPr id="170" name="Rectangle 169"/>
          <p:cNvSpPr/>
          <p:nvPr/>
        </p:nvSpPr>
        <p:spPr>
          <a:xfrm>
            <a:off x="9137599"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174175" y="1920240"/>
            <a:ext cx="694029" cy="301752"/>
          </a:xfrm>
          <a:prstGeom prst="rect">
            <a:avLst/>
          </a:prstGeom>
          <a:noFill/>
        </p:spPr>
        <p:txBody>
          <a:bodyPr wrap="square">
            <a:spAutoFit/>
          </a:bodyPr>
          <a:lstStyle/>
          <a:p>
            <a:pPr algn="l"/>
            <a:r>
              <a:rPr sz="700" b="0" i="0">
                <a:solidFill>
                  <a:srgbClr val="2C3E50"/>
                </a:solidFill>
                <a:latin typeface="Calibri" panose="020F0502020204030204"/>
              </a:rPr>
              <a:t>$0.24/OCU-hr</a:t>
            </a:r>
            <a:endParaRPr sz="700" b="0" i="0">
              <a:solidFill>
                <a:srgbClr val="2C3E50"/>
              </a:solidFill>
              <a:latin typeface="Calibri" panose="020F0502020204030204"/>
            </a:endParaRPr>
          </a:p>
        </p:txBody>
      </p:sp>
      <p:sp>
        <p:nvSpPr>
          <p:cNvPr id="172" name="Rectangle 171"/>
          <p:cNvSpPr/>
          <p:nvPr/>
        </p:nvSpPr>
        <p:spPr>
          <a:xfrm>
            <a:off x="9886492"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923068" y="1920240"/>
            <a:ext cx="1327708" cy="301752"/>
          </a:xfrm>
          <a:prstGeom prst="rect">
            <a:avLst/>
          </a:prstGeom>
          <a:noFill/>
        </p:spPr>
        <p:txBody>
          <a:bodyPr wrap="square">
            <a:spAutoFit/>
          </a:bodyPr>
          <a:lstStyle/>
          <a:p>
            <a:pPr algn="l"/>
            <a:r>
              <a:rPr sz="700" b="0" i="0">
                <a:solidFill>
                  <a:srgbClr val="2C3E50"/>
                </a:solidFill>
                <a:latin typeface="Calibri" panose="020F0502020204030204"/>
              </a:rPr>
              <a:t>2×720×$0.24</a:t>
            </a:r>
            <a:endParaRPr sz="700" b="0" i="0">
              <a:solidFill>
                <a:srgbClr val="2C3E50"/>
              </a:solidFill>
              <a:latin typeface="Calibri" panose="020F0502020204030204"/>
            </a:endParaRPr>
          </a:p>
        </p:txBody>
      </p:sp>
      <p:sp>
        <p:nvSpPr>
          <p:cNvPr id="174" name="Rectangle 173"/>
          <p:cNvSpPr/>
          <p:nvPr/>
        </p:nvSpPr>
        <p:spPr>
          <a:xfrm>
            <a:off x="11269065"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305641" y="1920240"/>
            <a:ext cx="636422" cy="301752"/>
          </a:xfrm>
          <a:prstGeom prst="rect">
            <a:avLst/>
          </a:prstGeom>
          <a:noFill/>
        </p:spPr>
        <p:txBody>
          <a:bodyPr wrap="square">
            <a:spAutoFit/>
          </a:bodyPr>
          <a:lstStyle/>
          <a:p>
            <a:pPr algn="r"/>
            <a:r>
              <a:rPr sz="900" b="1" i="0">
                <a:solidFill>
                  <a:srgbClr val="2C3E50"/>
                </a:solidFill>
                <a:latin typeface="Calibri" panose="020F0502020204030204"/>
              </a:rPr>
              <a:t>$346</a:t>
            </a:r>
            <a:endParaRPr sz="900" b="1" i="0">
              <a:solidFill>
                <a:srgbClr val="2C3E50"/>
              </a:solidFill>
              <a:latin typeface="Calibri" panose="020F0502020204030204"/>
            </a:endParaRPr>
          </a:p>
        </p:txBody>
      </p:sp>
      <p:sp>
        <p:nvSpPr>
          <p:cNvPr id="176" name="Rectangle 175"/>
          <p:cNvSpPr/>
          <p:nvPr/>
        </p:nvSpPr>
        <p:spPr>
          <a:xfrm>
            <a:off x="6199632"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36208" y="2267712"/>
            <a:ext cx="866851" cy="301752"/>
          </a:xfrm>
          <a:prstGeom prst="rect">
            <a:avLst/>
          </a:prstGeom>
          <a:noFill/>
        </p:spPr>
        <p:txBody>
          <a:bodyPr wrap="square">
            <a:spAutoFit/>
          </a:bodyPr>
          <a:lstStyle/>
          <a:p>
            <a:pPr algn="l"/>
            <a:r>
              <a:rPr sz="700" b="0" i="0">
                <a:solidFill>
                  <a:srgbClr val="2C3E50"/>
                </a:solidFill>
                <a:latin typeface="Calibri" panose="020F0502020204030204"/>
              </a:rPr>
              <a:t>GraphRAG KB</a:t>
            </a:r>
            <a:endParaRPr sz="700" b="0" i="0">
              <a:solidFill>
                <a:srgbClr val="2C3E50"/>
              </a:solidFill>
              <a:latin typeface="Calibri" panose="020F0502020204030204"/>
            </a:endParaRPr>
          </a:p>
        </p:txBody>
      </p:sp>
      <p:sp>
        <p:nvSpPr>
          <p:cNvPr id="178" name="Rectangle 177"/>
          <p:cNvSpPr/>
          <p:nvPr/>
        </p:nvSpPr>
        <p:spPr>
          <a:xfrm>
            <a:off x="7121347"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157923" y="2267712"/>
            <a:ext cx="1212494" cy="301752"/>
          </a:xfrm>
          <a:prstGeom prst="rect">
            <a:avLst/>
          </a:prstGeom>
          <a:noFill/>
        </p:spPr>
        <p:txBody>
          <a:bodyPr wrap="square">
            <a:spAutoFit/>
          </a:bodyPr>
          <a:lstStyle/>
          <a:p>
            <a:pPr algn="l"/>
            <a:r>
              <a:rPr sz="700" b="0" i="0">
                <a:solidFill>
                  <a:srgbClr val="2C3E50"/>
                </a:solidFill>
                <a:latin typeface="Calibri" panose="020F0502020204030204"/>
              </a:rPr>
              <a:t>Neptune Analytics</a:t>
            </a:r>
            <a:endParaRPr sz="700" b="0" i="0">
              <a:solidFill>
                <a:srgbClr val="2C3E50"/>
              </a:solidFill>
              <a:latin typeface="Calibri" panose="020F0502020204030204"/>
            </a:endParaRPr>
          </a:p>
        </p:txBody>
      </p:sp>
      <p:sp>
        <p:nvSpPr>
          <p:cNvPr id="180" name="Rectangle 179"/>
          <p:cNvSpPr/>
          <p:nvPr/>
        </p:nvSpPr>
        <p:spPr>
          <a:xfrm>
            <a:off x="8388705"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425281" y="2267712"/>
            <a:ext cx="694029" cy="301752"/>
          </a:xfrm>
          <a:prstGeom prst="rect">
            <a:avLst/>
          </a:prstGeom>
          <a:noFill/>
        </p:spPr>
        <p:txBody>
          <a:bodyPr wrap="square">
            <a:spAutoFit/>
          </a:bodyPr>
          <a:lstStyle/>
          <a:p>
            <a:pPr algn="l"/>
            <a:r>
              <a:rPr sz="700" b="0" i="0">
                <a:solidFill>
                  <a:srgbClr val="2C3E50"/>
                </a:solidFill>
                <a:latin typeface="Calibri" panose="020F0502020204030204"/>
              </a:rPr>
              <a:t>1 m-NCU × 720hr</a:t>
            </a:r>
            <a:endParaRPr sz="700" b="0" i="0">
              <a:solidFill>
                <a:srgbClr val="2C3E50"/>
              </a:solidFill>
              <a:latin typeface="Calibri" panose="020F0502020204030204"/>
            </a:endParaRPr>
          </a:p>
        </p:txBody>
      </p:sp>
      <p:sp>
        <p:nvSpPr>
          <p:cNvPr id="182" name="Rectangle 181"/>
          <p:cNvSpPr/>
          <p:nvPr/>
        </p:nvSpPr>
        <p:spPr>
          <a:xfrm>
            <a:off x="9137599"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174175" y="2267712"/>
            <a:ext cx="694029" cy="301752"/>
          </a:xfrm>
          <a:prstGeom prst="rect">
            <a:avLst/>
          </a:prstGeom>
          <a:noFill/>
        </p:spPr>
        <p:txBody>
          <a:bodyPr wrap="square">
            <a:spAutoFit/>
          </a:bodyPr>
          <a:lstStyle/>
          <a:p>
            <a:pPr algn="l"/>
            <a:r>
              <a:rPr sz="700" b="0" i="0">
                <a:solidFill>
                  <a:srgbClr val="2C3E50"/>
                </a:solidFill>
                <a:latin typeface="Calibri" panose="020F0502020204030204"/>
              </a:rPr>
              <a:t>$0.16/m-NCU-hr</a:t>
            </a:r>
            <a:endParaRPr sz="700" b="0" i="0">
              <a:solidFill>
                <a:srgbClr val="2C3E50"/>
              </a:solidFill>
              <a:latin typeface="Calibri" panose="020F0502020204030204"/>
            </a:endParaRPr>
          </a:p>
        </p:txBody>
      </p:sp>
      <p:sp>
        <p:nvSpPr>
          <p:cNvPr id="184" name="Rectangle 183"/>
          <p:cNvSpPr/>
          <p:nvPr/>
        </p:nvSpPr>
        <p:spPr>
          <a:xfrm>
            <a:off x="9886492"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923068" y="2267712"/>
            <a:ext cx="1327708" cy="301752"/>
          </a:xfrm>
          <a:prstGeom prst="rect">
            <a:avLst/>
          </a:prstGeom>
          <a:noFill/>
        </p:spPr>
        <p:txBody>
          <a:bodyPr wrap="square">
            <a:spAutoFit/>
          </a:bodyPr>
          <a:lstStyle/>
          <a:p>
            <a:pPr algn="l"/>
            <a:r>
              <a:rPr sz="700" b="0" i="0">
                <a:solidFill>
                  <a:srgbClr val="2C3E50"/>
                </a:solidFill>
                <a:latin typeface="Calibri" panose="020F0502020204030204"/>
              </a:rPr>
              <a:t>1×720×$0.16</a:t>
            </a:r>
            <a:endParaRPr sz="700" b="0" i="0">
              <a:solidFill>
                <a:srgbClr val="2C3E50"/>
              </a:solidFill>
              <a:latin typeface="Calibri" panose="020F0502020204030204"/>
            </a:endParaRPr>
          </a:p>
        </p:txBody>
      </p:sp>
      <p:sp>
        <p:nvSpPr>
          <p:cNvPr id="186" name="Rectangle 185"/>
          <p:cNvSpPr/>
          <p:nvPr/>
        </p:nvSpPr>
        <p:spPr>
          <a:xfrm>
            <a:off x="11269065"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305641" y="2267712"/>
            <a:ext cx="636422" cy="301752"/>
          </a:xfrm>
          <a:prstGeom prst="rect">
            <a:avLst/>
          </a:prstGeom>
          <a:noFill/>
        </p:spPr>
        <p:txBody>
          <a:bodyPr wrap="square">
            <a:spAutoFit/>
          </a:bodyPr>
          <a:lstStyle/>
          <a:p>
            <a:pPr algn="r"/>
            <a:r>
              <a:rPr sz="900" b="1" i="0">
                <a:solidFill>
                  <a:srgbClr val="2C3E50"/>
                </a:solidFill>
                <a:latin typeface="Calibri" panose="020F0502020204030204"/>
              </a:rPr>
              <a:t>$115</a:t>
            </a:r>
            <a:endParaRPr sz="900" b="1" i="0">
              <a:solidFill>
                <a:srgbClr val="2C3E50"/>
              </a:solidFill>
              <a:latin typeface="Calibri" panose="020F0502020204030204"/>
            </a:endParaRPr>
          </a:p>
        </p:txBody>
      </p:sp>
      <p:sp>
        <p:nvSpPr>
          <p:cNvPr id="188" name="Rectangle 187"/>
          <p:cNvSpPr/>
          <p:nvPr/>
        </p:nvSpPr>
        <p:spPr>
          <a:xfrm>
            <a:off x="6199632"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36208" y="2615184"/>
            <a:ext cx="866851" cy="301752"/>
          </a:xfrm>
          <a:prstGeom prst="rect">
            <a:avLst/>
          </a:prstGeom>
          <a:noFill/>
        </p:spPr>
        <p:txBody>
          <a:bodyPr wrap="square">
            <a:spAutoFit/>
          </a:bodyPr>
          <a:lstStyle/>
          <a:p>
            <a:pPr algn="l"/>
            <a:r>
              <a:rPr sz="700" b="0" i="0">
                <a:solidFill>
                  <a:srgbClr val="2C3E50"/>
                </a:solidFill>
                <a:latin typeface="Calibri" panose="020F0502020204030204"/>
              </a:rPr>
              <a:t>Semantic cache</a:t>
            </a:r>
            <a:endParaRPr sz="700" b="0" i="0">
              <a:solidFill>
                <a:srgbClr val="2C3E50"/>
              </a:solidFill>
              <a:latin typeface="Calibri" panose="020F0502020204030204"/>
            </a:endParaRPr>
          </a:p>
        </p:txBody>
      </p:sp>
      <p:sp>
        <p:nvSpPr>
          <p:cNvPr id="190" name="Rectangle 189"/>
          <p:cNvSpPr/>
          <p:nvPr/>
        </p:nvSpPr>
        <p:spPr>
          <a:xfrm>
            <a:off x="7121347"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157923" y="2615184"/>
            <a:ext cx="1212494" cy="301752"/>
          </a:xfrm>
          <a:prstGeom prst="rect">
            <a:avLst/>
          </a:prstGeom>
          <a:noFill/>
        </p:spPr>
        <p:txBody>
          <a:bodyPr wrap="square">
            <a:spAutoFit/>
          </a:bodyPr>
          <a:lstStyle/>
          <a:p>
            <a:pPr algn="l"/>
            <a:r>
              <a:rPr sz="700" b="0" i="0">
                <a:solidFill>
                  <a:srgbClr val="2C3E50"/>
                </a:solidFill>
                <a:latin typeface="Calibri" panose="020F0502020204030204"/>
              </a:rPr>
              <a:t>ElastiCache Redis OSS r7g.large</a:t>
            </a:r>
            <a:endParaRPr sz="700" b="0" i="0">
              <a:solidFill>
                <a:srgbClr val="2C3E50"/>
              </a:solidFill>
              <a:latin typeface="Calibri" panose="020F0502020204030204"/>
            </a:endParaRPr>
          </a:p>
        </p:txBody>
      </p:sp>
      <p:sp>
        <p:nvSpPr>
          <p:cNvPr id="192" name="Rectangle 191"/>
          <p:cNvSpPr/>
          <p:nvPr/>
        </p:nvSpPr>
        <p:spPr>
          <a:xfrm>
            <a:off x="8388705"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425281" y="2615184"/>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194" name="Rectangle 193"/>
          <p:cNvSpPr/>
          <p:nvPr/>
        </p:nvSpPr>
        <p:spPr>
          <a:xfrm>
            <a:off x="9137599"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174175" y="2615184"/>
            <a:ext cx="694029" cy="301752"/>
          </a:xfrm>
          <a:prstGeom prst="rect">
            <a:avLst/>
          </a:prstGeom>
          <a:noFill/>
        </p:spPr>
        <p:txBody>
          <a:bodyPr wrap="square">
            <a:spAutoFit/>
          </a:bodyPr>
          <a:lstStyle/>
          <a:p>
            <a:pPr algn="l"/>
            <a:r>
              <a:rPr sz="700" b="0" i="0">
                <a:solidFill>
                  <a:srgbClr val="2C3E50"/>
                </a:solidFill>
                <a:latin typeface="Calibri" panose="020F0502020204030204"/>
              </a:rPr>
              <a:t>$0.166/hr</a:t>
            </a:r>
            <a:endParaRPr sz="700" b="0" i="0">
              <a:solidFill>
                <a:srgbClr val="2C3E50"/>
              </a:solidFill>
              <a:latin typeface="Calibri" panose="020F0502020204030204"/>
            </a:endParaRPr>
          </a:p>
        </p:txBody>
      </p:sp>
      <p:sp>
        <p:nvSpPr>
          <p:cNvPr id="196" name="Rectangle 195"/>
          <p:cNvSpPr/>
          <p:nvPr/>
        </p:nvSpPr>
        <p:spPr>
          <a:xfrm>
            <a:off x="9886492"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923068" y="2615184"/>
            <a:ext cx="1327708" cy="301752"/>
          </a:xfrm>
          <a:prstGeom prst="rect">
            <a:avLst/>
          </a:prstGeom>
          <a:noFill/>
        </p:spPr>
        <p:txBody>
          <a:bodyPr wrap="square">
            <a:spAutoFit/>
          </a:bodyPr>
          <a:lstStyle/>
          <a:p>
            <a:pPr algn="l"/>
            <a:r>
              <a:rPr sz="700" b="0" i="0">
                <a:solidFill>
                  <a:srgbClr val="2C3E50"/>
                </a:solidFill>
                <a:latin typeface="Calibri" panose="020F0502020204030204"/>
              </a:rPr>
              <a:t>720×$0.166</a:t>
            </a:r>
            <a:endParaRPr sz="700" b="0" i="0">
              <a:solidFill>
                <a:srgbClr val="2C3E50"/>
              </a:solidFill>
              <a:latin typeface="Calibri" panose="020F0502020204030204"/>
            </a:endParaRPr>
          </a:p>
        </p:txBody>
      </p:sp>
      <p:sp>
        <p:nvSpPr>
          <p:cNvPr id="198" name="Rectangle 197"/>
          <p:cNvSpPr/>
          <p:nvPr/>
        </p:nvSpPr>
        <p:spPr>
          <a:xfrm>
            <a:off x="11269065"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305641" y="2615184"/>
            <a:ext cx="636422" cy="301752"/>
          </a:xfrm>
          <a:prstGeom prst="rect">
            <a:avLst/>
          </a:prstGeom>
          <a:noFill/>
        </p:spPr>
        <p:txBody>
          <a:bodyPr wrap="square">
            <a:spAutoFit/>
          </a:bodyPr>
          <a:lstStyle/>
          <a:p>
            <a:pPr algn="r"/>
            <a:r>
              <a:rPr sz="900" b="1" i="0">
                <a:solidFill>
                  <a:srgbClr val="2C3E50"/>
                </a:solidFill>
                <a:latin typeface="Calibri" panose="020F0502020204030204"/>
              </a:rPr>
              <a:t>$120</a:t>
            </a:r>
            <a:endParaRPr sz="900" b="1" i="0">
              <a:solidFill>
                <a:srgbClr val="2C3E50"/>
              </a:solidFill>
              <a:latin typeface="Calibri" panose="020F0502020204030204"/>
            </a:endParaRPr>
          </a:p>
        </p:txBody>
      </p:sp>
      <p:sp>
        <p:nvSpPr>
          <p:cNvPr id="200" name="Rectangle 199"/>
          <p:cNvSpPr/>
          <p:nvPr/>
        </p:nvSpPr>
        <p:spPr>
          <a:xfrm>
            <a:off x="6199632"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36208" y="2962656"/>
            <a:ext cx="866851" cy="301752"/>
          </a:xfrm>
          <a:prstGeom prst="rect">
            <a:avLst/>
          </a:prstGeom>
          <a:noFill/>
        </p:spPr>
        <p:txBody>
          <a:bodyPr wrap="square">
            <a:spAutoFit/>
          </a:bodyPr>
          <a:lstStyle/>
          <a:p>
            <a:pPr algn="l"/>
            <a:r>
              <a:rPr sz="700" b="0" i="0">
                <a:solidFill>
                  <a:srgbClr val="2C3E50"/>
                </a:solidFill>
                <a:latin typeface="Calibri" panose="020F0502020204030204"/>
              </a:rPr>
              <a:t>API server</a:t>
            </a:r>
            <a:endParaRPr sz="700" b="0" i="0">
              <a:solidFill>
                <a:srgbClr val="2C3E50"/>
              </a:solidFill>
              <a:latin typeface="Calibri" panose="020F0502020204030204"/>
            </a:endParaRPr>
          </a:p>
        </p:txBody>
      </p:sp>
      <p:sp>
        <p:nvSpPr>
          <p:cNvPr id="202" name="Rectangle 201"/>
          <p:cNvSpPr/>
          <p:nvPr/>
        </p:nvSpPr>
        <p:spPr>
          <a:xfrm>
            <a:off x="7121347"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157923" y="2962656"/>
            <a:ext cx="1212494" cy="301752"/>
          </a:xfrm>
          <a:prstGeom prst="rect">
            <a:avLst/>
          </a:prstGeom>
          <a:noFill/>
        </p:spPr>
        <p:txBody>
          <a:bodyPr wrap="square">
            <a:spAutoFit/>
          </a:bodyPr>
          <a:lstStyle/>
          <a:p>
            <a:pPr algn="l"/>
            <a:r>
              <a:rPr sz="700" b="0" i="0">
                <a:solidFill>
                  <a:srgbClr val="2C3E50"/>
                </a:solidFill>
                <a:latin typeface="Calibri" panose="020F0502020204030204"/>
              </a:rPr>
              <a:t>EC2 t4g.medium × 2 (HA)</a:t>
            </a:r>
            <a:endParaRPr sz="700" b="0" i="0">
              <a:solidFill>
                <a:srgbClr val="2C3E50"/>
              </a:solidFill>
              <a:latin typeface="Calibri" panose="020F0502020204030204"/>
            </a:endParaRPr>
          </a:p>
        </p:txBody>
      </p:sp>
      <p:sp>
        <p:nvSpPr>
          <p:cNvPr id="204" name="Rectangle 203"/>
          <p:cNvSpPr/>
          <p:nvPr/>
        </p:nvSpPr>
        <p:spPr>
          <a:xfrm>
            <a:off x="8388705"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425281" y="2962656"/>
            <a:ext cx="694029" cy="301752"/>
          </a:xfrm>
          <a:prstGeom prst="rect">
            <a:avLst/>
          </a:prstGeom>
          <a:noFill/>
        </p:spPr>
        <p:txBody>
          <a:bodyPr wrap="square">
            <a:spAutoFit/>
          </a:bodyPr>
          <a:lstStyle/>
          <a:p>
            <a:pPr algn="l"/>
            <a:r>
              <a:rPr sz="700" b="0" i="0">
                <a:solidFill>
                  <a:srgbClr val="2C3E50"/>
                </a:solidFill>
                <a:latin typeface="Calibri" panose="020F0502020204030204"/>
              </a:rPr>
              <a:t>720hr × 2</a:t>
            </a:r>
            <a:endParaRPr sz="700" b="0" i="0">
              <a:solidFill>
                <a:srgbClr val="2C3E50"/>
              </a:solidFill>
              <a:latin typeface="Calibri" panose="020F0502020204030204"/>
            </a:endParaRPr>
          </a:p>
        </p:txBody>
      </p:sp>
      <p:sp>
        <p:nvSpPr>
          <p:cNvPr id="206" name="Rectangle 205"/>
          <p:cNvSpPr/>
          <p:nvPr/>
        </p:nvSpPr>
        <p:spPr>
          <a:xfrm>
            <a:off x="9137599"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174175" y="2962656"/>
            <a:ext cx="694029" cy="301752"/>
          </a:xfrm>
          <a:prstGeom prst="rect">
            <a:avLst/>
          </a:prstGeom>
          <a:noFill/>
        </p:spPr>
        <p:txBody>
          <a:bodyPr wrap="square">
            <a:spAutoFit/>
          </a:bodyPr>
          <a:lstStyle/>
          <a:p>
            <a:pPr algn="l"/>
            <a:r>
              <a:rPr sz="700" b="0" i="0">
                <a:solidFill>
                  <a:srgbClr val="2C3E50"/>
                </a:solidFill>
                <a:latin typeface="Calibri" panose="020F0502020204030204"/>
              </a:rPr>
              <a:t>$0.046/hr</a:t>
            </a:r>
            <a:endParaRPr sz="700" b="0" i="0">
              <a:solidFill>
                <a:srgbClr val="2C3E50"/>
              </a:solidFill>
              <a:latin typeface="Calibri" panose="020F0502020204030204"/>
            </a:endParaRPr>
          </a:p>
        </p:txBody>
      </p:sp>
      <p:sp>
        <p:nvSpPr>
          <p:cNvPr id="208" name="Rectangle 207"/>
          <p:cNvSpPr/>
          <p:nvPr/>
        </p:nvSpPr>
        <p:spPr>
          <a:xfrm>
            <a:off x="9886492"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9923068" y="2962656"/>
            <a:ext cx="1327708" cy="301752"/>
          </a:xfrm>
          <a:prstGeom prst="rect">
            <a:avLst/>
          </a:prstGeom>
          <a:noFill/>
        </p:spPr>
        <p:txBody>
          <a:bodyPr wrap="square">
            <a:spAutoFit/>
          </a:bodyPr>
          <a:lstStyle/>
          <a:p>
            <a:pPr algn="l"/>
            <a:r>
              <a:rPr sz="700" b="0" i="0">
                <a:solidFill>
                  <a:srgbClr val="2C3E50"/>
                </a:solidFill>
                <a:latin typeface="Calibri" panose="020F0502020204030204"/>
              </a:rPr>
              <a:t>2×720×$0.046</a:t>
            </a:r>
            <a:endParaRPr sz="700" b="0" i="0">
              <a:solidFill>
                <a:srgbClr val="2C3E50"/>
              </a:solidFill>
              <a:latin typeface="Calibri" panose="020F0502020204030204"/>
            </a:endParaRPr>
          </a:p>
        </p:txBody>
      </p:sp>
      <p:sp>
        <p:nvSpPr>
          <p:cNvPr id="210" name="Rectangle 209"/>
          <p:cNvSpPr/>
          <p:nvPr/>
        </p:nvSpPr>
        <p:spPr>
          <a:xfrm>
            <a:off x="11269065"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305641" y="2962656"/>
            <a:ext cx="636422" cy="301752"/>
          </a:xfrm>
          <a:prstGeom prst="rect">
            <a:avLst/>
          </a:prstGeom>
          <a:noFill/>
        </p:spPr>
        <p:txBody>
          <a:bodyPr wrap="square">
            <a:spAutoFit/>
          </a:bodyPr>
          <a:lstStyle/>
          <a:p>
            <a:pPr algn="r"/>
            <a:r>
              <a:rPr sz="900" b="1" i="0">
                <a:solidFill>
                  <a:srgbClr val="2C3E50"/>
                </a:solidFill>
                <a:latin typeface="Calibri" panose="020F0502020204030204"/>
              </a:rPr>
              <a:t>$66</a:t>
            </a:r>
            <a:endParaRPr sz="900" b="1" i="0">
              <a:solidFill>
                <a:srgbClr val="2C3E50"/>
              </a:solidFill>
              <a:latin typeface="Calibri" panose="020F0502020204030204"/>
            </a:endParaRPr>
          </a:p>
        </p:txBody>
      </p:sp>
      <p:sp>
        <p:nvSpPr>
          <p:cNvPr id="212" name="Rectangle 211"/>
          <p:cNvSpPr/>
          <p:nvPr/>
        </p:nvSpPr>
        <p:spPr>
          <a:xfrm>
            <a:off x="6199632"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36208" y="3310127"/>
            <a:ext cx="866851" cy="301752"/>
          </a:xfrm>
          <a:prstGeom prst="rect">
            <a:avLst/>
          </a:prstGeom>
          <a:noFill/>
        </p:spPr>
        <p:txBody>
          <a:bodyPr wrap="square">
            <a:spAutoFit/>
          </a:bodyPr>
          <a:lstStyle/>
          <a:p>
            <a:pPr algn="l"/>
            <a:r>
              <a:rPr sz="700" b="0" i="0">
                <a:solidFill>
                  <a:srgbClr val="2C3E50"/>
                </a:solidFill>
                <a:latin typeface="Calibri" panose="020F0502020204030204"/>
              </a:rPr>
              <a:t>API Gateway</a:t>
            </a:r>
            <a:endParaRPr sz="700" b="0" i="0">
              <a:solidFill>
                <a:srgbClr val="2C3E50"/>
              </a:solidFill>
              <a:latin typeface="Calibri" panose="020F0502020204030204"/>
            </a:endParaRPr>
          </a:p>
        </p:txBody>
      </p:sp>
      <p:sp>
        <p:nvSpPr>
          <p:cNvPr id="214" name="Rectangle 213"/>
          <p:cNvSpPr/>
          <p:nvPr/>
        </p:nvSpPr>
        <p:spPr>
          <a:xfrm>
            <a:off x="7121347"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157923" y="3310127"/>
            <a:ext cx="1212494" cy="301752"/>
          </a:xfrm>
          <a:prstGeom prst="rect">
            <a:avLst/>
          </a:prstGeom>
          <a:noFill/>
        </p:spPr>
        <p:txBody>
          <a:bodyPr wrap="square">
            <a:spAutoFit/>
          </a:bodyPr>
          <a:lstStyle/>
          <a:p>
            <a:pPr algn="l"/>
            <a:r>
              <a:rPr sz="700" b="0" i="0">
                <a:solidFill>
                  <a:srgbClr val="2C3E50"/>
                </a:solidFill>
                <a:latin typeface="Calibri" panose="020F0502020204030204"/>
              </a:rPr>
              <a:t>AWS API Gateway REST</a:t>
            </a:r>
            <a:endParaRPr sz="700" b="0" i="0">
              <a:solidFill>
                <a:srgbClr val="2C3E50"/>
              </a:solidFill>
              <a:latin typeface="Calibri" panose="020F0502020204030204"/>
            </a:endParaRPr>
          </a:p>
        </p:txBody>
      </p:sp>
      <p:sp>
        <p:nvSpPr>
          <p:cNvPr id="216" name="Rectangle 215"/>
          <p:cNvSpPr/>
          <p:nvPr/>
        </p:nvSpPr>
        <p:spPr>
          <a:xfrm>
            <a:off x="8388705"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425281" y="3310127"/>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218" name="Rectangle 217"/>
          <p:cNvSpPr/>
          <p:nvPr/>
        </p:nvSpPr>
        <p:spPr>
          <a:xfrm>
            <a:off x="9137599"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174175" y="3310127"/>
            <a:ext cx="694029" cy="301752"/>
          </a:xfrm>
          <a:prstGeom prst="rect">
            <a:avLst/>
          </a:prstGeom>
          <a:noFill/>
        </p:spPr>
        <p:txBody>
          <a:bodyPr wrap="square">
            <a:spAutoFit/>
          </a:bodyPr>
          <a:lstStyle/>
          <a:p>
            <a:pPr algn="l"/>
            <a:r>
              <a:rPr sz="700" b="0" i="0">
                <a:solidFill>
                  <a:srgbClr val="2C3E50"/>
                </a:solidFill>
                <a:latin typeface="Calibri" panose="020F0502020204030204"/>
              </a:rPr>
              <a:t>$3.50/1M</a:t>
            </a:r>
            <a:endParaRPr sz="700" b="0" i="0">
              <a:solidFill>
                <a:srgbClr val="2C3E50"/>
              </a:solidFill>
              <a:latin typeface="Calibri" panose="020F0502020204030204"/>
            </a:endParaRPr>
          </a:p>
        </p:txBody>
      </p:sp>
      <p:sp>
        <p:nvSpPr>
          <p:cNvPr id="220" name="Rectangle 219"/>
          <p:cNvSpPr/>
          <p:nvPr/>
        </p:nvSpPr>
        <p:spPr>
          <a:xfrm>
            <a:off x="9886492"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9923068" y="3310127"/>
            <a:ext cx="1327708" cy="301752"/>
          </a:xfrm>
          <a:prstGeom prst="rect">
            <a:avLst/>
          </a:prstGeom>
          <a:noFill/>
        </p:spPr>
        <p:txBody>
          <a:bodyPr wrap="square">
            <a:spAutoFit/>
          </a:bodyPr>
          <a:lstStyle/>
          <a:p>
            <a:pPr algn="l"/>
            <a:r>
              <a:rPr sz="700" b="0" i="0">
                <a:solidFill>
                  <a:srgbClr val="2C3E50"/>
                </a:solidFill>
                <a:latin typeface="Calibri" panose="020F0502020204030204"/>
              </a:rPr>
              <a:t>0.15×$3.50</a:t>
            </a:r>
            <a:endParaRPr sz="700" b="0" i="0">
              <a:solidFill>
                <a:srgbClr val="2C3E50"/>
              </a:solidFill>
              <a:latin typeface="Calibri" panose="020F0502020204030204"/>
            </a:endParaRPr>
          </a:p>
        </p:txBody>
      </p:sp>
      <p:sp>
        <p:nvSpPr>
          <p:cNvPr id="222" name="Rectangle 221"/>
          <p:cNvSpPr/>
          <p:nvPr/>
        </p:nvSpPr>
        <p:spPr>
          <a:xfrm>
            <a:off x="11269065"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305641" y="3310127"/>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224" name="Rectangle 223"/>
          <p:cNvSpPr/>
          <p:nvPr/>
        </p:nvSpPr>
        <p:spPr>
          <a:xfrm>
            <a:off x="6199632" y="3630168"/>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236208" y="3657599"/>
            <a:ext cx="866851" cy="301752"/>
          </a:xfrm>
          <a:prstGeom prst="rect">
            <a:avLst/>
          </a:prstGeom>
          <a:noFill/>
        </p:spPr>
        <p:txBody>
          <a:bodyPr wrap="square">
            <a:spAutoFit/>
          </a:bodyPr>
          <a:lstStyle/>
          <a:p>
            <a:pPr algn="l"/>
            <a:r>
              <a:rPr sz="700" b="0" i="0">
                <a:solidFill>
                  <a:srgbClr val="2C3E50"/>
                </a:solidFill>
                <a:latin typeface="Calibri" panose="020F0502020204030204"/>
              </a:rPr>
              <a:t>CDN</a:t>
            </a:r>
            <a:endParaRPr sz="700" b="0" i="0">
              <a:solidFill>
                <a:srgbClr val="2C3E50"/>
              </a:solidFill>
              <a:latin typeface="Calibri" panose="020F0502020204030204"/>
            </a:endParaRPr>
          </a:p>
        </p:txBody>
      </p:sp>
      <p:sp>
        <p:nvSpPr>
          <p:cNvPr id="226" name="Rectangle 225"/>
          <p:cNvSpPr/>
          <p:nvPr/>
        </p:nvSpPr>
        <p:spPr>
          <a:xfrm>
            <a:off x="7121347" y="3630168"/>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7157923" y="3657599"/>
            <a:ext cx="1212494" cy="301752"/>
          </a:xfrm>
          <a:prstGeom prst="rect">
            <a:avLst/>
          </a:prstGeom>
          <a:noFill/>
        </p:spPr>
        <p:txBody>
          <a:bodyPr wrap="square">
            <a:spAutoFit/>
          </a:bodyPr>
          <a:lstStyle/>
          <a:p>
            <a:pPr algn="l"/>
            <a:r>
              <a:rPr sz="700" b="0" i="0">
                <a:solidFill>
                  <a:srgbClr val="2C3E50"/>
                </a:solidFill>
                <a:latin typeface="Calibri" panose="020F0502020204030204"/>
              </a:rPr>
              <a:t>CloudFront</a:t>
            </a:r>
            <a:endParaRPr sz="700" b="0" i="0">
              <a:solidFill>
                <a:srgbClr val="2C3E50"/>
              </a:solidFill>
              <a:latin typeface="Calibri" panose="020F0502020204030204"/>
            </a:endParaRPr>
          </a:p>
        </p:txBody>
      </p:sp>
      <p:sp>
        <p:nvSpPr>
          <p:cNvPr id="228" name="Rectangle 227"/>
          <p:cNvSpPr/>
          <p:nvPr/>
        </p:nvSpPr>
        <p:spPr>
          <a:xfrm>
            <a:off x="8388705"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425281" y="3657599"/>
            <a:ext cx="694029" cy="301752"/>
          </a:xfrm>
          <a:prstGeom prst="rect">
            <a:avLst/>
          </a:prstGeom>
          <a:noFill/>
        </p:spPr>
        <p:txBody>
          <a:bodyPr wrap="square">
            <a:spAutoFit/>
          </a:bodyPr>
          <a:lstStyle/>
          <a:p>
            <a:pPr algn="l"/>
            <a:r>
              <a:rPr sz="700" b="0" i="0">
                <a:solidFill>
                  <a:srgbClr val="2C3E50"/>
                </a:solidFill>
                <a:latin typeface="Calibri" panose="020F0502020204030204"/>
              </a:rPr>
              <a:t>~50GB</a:t>
            </a:r>
            <a:endParaRPr sz="700" b="0" i="0">
              <a:solidFill>
                <a:srgbClr val="2C3E50"/>
              </a:solidFill>
              <a:latin typeface="Calibri" panose="020F0502020204030204"/>
            </a:endParaRPr>
          </a:p>
        </p:txBody>
      </p:sp>
      <p:sp>
        <p:nvSpPr>
          <p:cNvPr id="230" name="Rectangle 229"/>
          <p:cNvSpPr/>
          <p:nvPr/>
        </p:nvSpPr>
        <p:spPr>
          <a:xfrm>
            <a:off x="9137599"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174175" y="3657599"/>
            <a:ext cx="694029" cy="301752"/>
          </a:xfrm>
          <a:prstGeom prst="rect">
            <a:avLst/>
          </a:prstGeom>
          <a:noFill/>
        </p:spPr>
        <p:txBody>
          <a:bodyPr wrap="square">
            <a:spAutoFit/>
          </a:bodyPr>
          <a:lstStyle/>
          <a:p>
            <a:pPr algn="l"/>
            <a:r>
              <a:rPr sz="700" b="0" i="0">
                <a:solidFill>
                  <a:srgbClr val="2C3E50"/>
                </a:solidFill>
                <a:latin typeface="Calibri" panose="020F0502020204030204"/>
              </a:rPr>
              <a:t>$0.12/GB</a:t>
            </a:r>
            <a:endParaRPr sz="700" b="0" i="0">
              <a:solidFill>
                <a:srgbClr val="2C3E50"/>
              </a:solidFill>
              <a:latin typeface="Calibri" panose="020F0502020204030204"/>
            </a:endParaRPr>
          </a:p>
        </p:txBody>
      </p:sp>
      <p:sp>
        <p:nvSpPr>
          <p:cNvPr id="232" name="Rectangle 231"/>
          <p:cNvSpPr/>
          <p:nvPr/>
        </p:nvSpPr>
        <p:spPr>
          <a:xfrm>
            <a:off x="9886492" y="3630168"/>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923068" y="3657599"/>
            <a:ext cx="1327708" cy="301752"/>
          </a:xfrm>
          <a:prstGeom prst="rect">
            <a:avLst/>
          </a:prstGeom>
          <a:noFill/>
        </p:spPr>
        <p:txBody>
          <a:bodyPr wrap="square">
            <a:spAutoFit/>
          </a:bodyPr>
          <a:lstStyle/>
          <a:p>
            <a:pPr algn="l"/>
            <a:r>
              <a:rPr sz="700" b="0" i="0">
                <a:solidFill>
                  <a:srgbClr val="2C3E50"/>
                </a:solidFill>
                <a:latin typeface="Calibri" panose="020F0502020204030204"/>
              </a:rPr>
              <a:t>50×$0.12</a:t>
            </a:r>
            <a:endParaRPr sz="700" b="0" i="0">
              <a:solidFill>
                <a:srgbClr val="2C3E50"/>
              </a:solidFill>
              <a:latin typeface="Calibri" panose="020F0502020204030204"/>
            </a:endParaRPr>
          </a:p>
        </p:txBody>
      </p:sp>
      <p:sp>
        <p:nvSpPr>
          <p:cNvPr id="234" name="Rectangle 233"/>
          <p:cNvSpPr/>
          <p:nvPr/>
        </p:nvSpPr>
        <p:spPr>
          <a:xfrm>
            <a:off x="11269065" y="3630168"/>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11305641" y="3657599"/>
            <a:ext cx="636422" cy="301752"/>
          </a:xfrm>
          <a:prstGeom prst="rect">
            <a:avLst/>
          </a:prstGeom>
          <a:noFill/>
        </p:spPr>
        <p:txBody>
          <a:bodyPr wrap="square">
            <a:spAutoFit/>
          </a:bodyPr>
          <a:lstStyle/>
          <a:p>
            <a:pPr algn="r"/>
            <a:r>
              <a:rPr sz="900" b="1" i="0">
                <a:solidFill>
                  <a:srgbClr val="2C3E50"/>
                </a:solidFill>
                <a:latin typeface="Calibri" panose="020F0502020204030204"/>
              </a:rPr>
              <a:t>$6</a:t>
            </a:r>
            <a:endParaRPr sz="900" b="1" i="0">
              <a:solidFill>
                <a:srgbClr val="2C3E50"/>
              </a:solidFill>
              <a:latin typeface="Calibri" panose="020F0502020204030204"/>
            </a:endParaRPr>
          </a:p>
        </p:txBody>
      </p:sp>
      <p:sp>
        <p:nvSpPr>
          <p:cNvPr id="236" name="Rectangle 235"/>
          <p:cNvSpPr/>
          <p:nvPr/>
        </p:nvSpPr>
        <p:spPr>
          <a:xfrm>
            <a:off x="6199632" y="3977639"/>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6236208" y="4005072"/>
            <a:ext cx="866851" cy="301752"/>
          </a:xfrm>
          <a:prstGeom prst="rect">
            <a:avLst/>
          </a:prstGeom>
          <a:noFill/>
        </p:spPr>
        <p:txBody>
          <a:bodyPr wrap="square">
            <a:spAutoFit/>
          </a:bodyPr>
          <a:lstStyle/>
          <a:p>
            <a:pPr algn="l"/>
            <a:r>
              <a:rPr sz="700" b="0" i="0">
                <a:solidFill>
                  <a:srgbClr val="2C3E50"/>
                </a:solidFill>
                <a:latin typeface="Calibri" panose="020F0502020204030204"/>
              </a:rPr>
              <a:t>Storage</a:t>
            </a:r>
            <a:endParaRPr sz="700" b="0" i="0">
              <a:solidFill>
                <a:srgbClr val="2C3E50"/>
              </a:solidFill>
              <a:latin typeface="Calibri" panose="020F0502020204030204"/>
            </a:endParaRPr>
          </a:p>
        </p:txBody>
      </p:sp>
      <p:sp>
        <p:nvSpPr>
          <p:cNvPr id="238" name="Rectangle 237"/>
          <p:cNvSpPr/>
          <p:nvPr/>
        </p:nvSpPr>
        <p:spPr>
          <a:xfrm>
            <a:off x="7121347" y="3977639"/>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7157923" y="4005072"/>
            <a:ext cx="1212494" cy="301752"/>
          </a:xfrm>
          <a:prstGeom prst="rect">
            <a:avLst/>
          </a:prstGeom>
          <a:noFill/>
        </p:spPr>
        <p:txBody>
          <a:bodyPr wrap="square">
            <a:spAutoFit/>
          </a:bodyPr>
          <a:lstStyle/>
          <a:p>
            <a:pPr algn="l"/>
            <a:r>
              <a:rPr sz="700" b="0" i="0">
                <a:solidFill>
                  <a:srgbClr val="2C3E50"/>
                </a:solidFill>
                <a:latin typeface="Calibri" panose="020F0502020204030204"/>
              </a:rPr>
              <a:t>S3 Standard</a:t>
            </a:r>
            <a:endParaRPr sz="700" b="0" i="0">
              <a:solidFill>
                <a:srgbClr val="2C3E50"/>
              </a:solidFill>
              <a:latin typeface="Calibri" panose="020F0502020204030204"/>
            </a:endParaRPr>
          </a:p>
        </p:txBody>
      </p:sp>
      <p:sp>
        <p:nvSpPr>
          <p:cNvPr id="240" name="Rectangle 239"/>
          <p:cNvSpPr/>
          <p:nvPr/>
        </p:nvSpPr>
        <p:spPr>
          <a:xfrm>
            <a:off x="8388705"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25281" y="4005072"/>
            <a:ext cx="694029" cy="301752"/>
          </a:xfrm>
          <a:prstGeom prst="rect">
            <a:avLst/>
          </a:prstGeom>
          <a:noFill/>
        </p:spPr>
        <p:txBody>
          <a:bodyPr wrap="square">
            <a:spAutoFit/>
          </a:bodyPr>
          <a:lstStyle/>
          <a:p>
            <a:pPr algn="l"/>
            <a:r>
              <a:rPr sz="700" b="0" i="0">
                <a:solidFill>
                  <a:srgbClr val="2C3E50"/>
                </a:solidFill>
                <a:latin typeface="Calibri" panose="020F0502020204030204"/>
              </a:rPr>
              <a:t>~100GB</a:t>
            </a:r>
            <a:endParaRPr sz="700" b="0" i="0">
              <a:solidFill>
                <a:srgbClr val="2C3E50"/>
              </a:solidFill>
              <a:latin typeface="Calibri" panose="020F0502020204030204"/>
            </a:endParaRPr>
          </a:p>
        </p:txBody>
      </p:sp>
      <p:sp>
        <p:nvSpPr>
          <p:cNvPr id="242" name="Rectangle 241"/>
          <p:cNvSpPr/>
          <p:nvPr/>
        </p:nvSpPr>
        <p:spPr>
          <a:xfrm>
            <a:off x="9137599"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174175" y="4005072"/>
            <a:ext cx="694029" cy="301752"/>
          </a:xfrm>
          <a:prstGeom prst="rect">
            <a:avLst/>
          </a:prstGeom>
          <a:noFill/>
        </p:spPr>
        <p:txBody>
          <a:bodyPr wrap="square">
            <a:spAutoFit/>
          </a:bodyPr>
          <a:lstStyle/>
          <a:p>
            <a:pPr algn="l"/>
            <a:r>
              <a:rPr sz="700" b="0" i="0">
                <a:solidFill>
                  <a:srgbClr val="2C3E50"/>
                </a:solidFill>
                <a:latin typeface="Calibri" panose="020F0502020204030204"/>
              </a:rPr>
              <a:t>$0.023/GB-mo</a:t>
            </a:r>
            <a:endParaRPr sz="700" b="0" i="0">
              <a:solidFill>
                <a:srgbClr val="2C3E50"/>
              </a:solidFill>
              <a:latin typeface="Calibri" panose="020F0502020204030204"/>
            </a:endParaRPr>
          </a:p>
        </p:txBody>
      </p:sp>
      <p:sp>
        <p:nvSpPr>
          <p:cNvPr id="244" name="Rectangle 243"/>
          <p:cNvSpPr/>
          <p:nvPr/>
        </p:nvSpPr>
        <p:spPr>
          <a:xfrm>
            <a:off x="9886492" y="3977639"/>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923068" y="4005072"/>
            <a:ext cx="1327708" cy="301752"/>
          </a:xfrm>
          <a:prstGeom prst="rect">
            <a:avLst/>
          </a:prstGeom>
          <a:noFill/>
        </p:spPr>
        <p:txBody>
          <a:bodyPr wrap="square">
            <a:spAutoFit/>
          </a:bodyPr>
          <a:lstStyle/>
          <a:p>
            <a:pPr algn="l"/>
            <a:r>
              <a:rPr sz="700" b="0" i="0">
                <a:solidFill>
                  <a:srgbClr val="2C3E50"/>
                </a:solidFill>
                <a:latin typeface="Calibri" panose="020F0502020204030204"/>
              </a:rPr>
              <a:t>100×$0.023</a:t>
            </a:r>
            <a:endParaRPr sz="700" b="0" i="0">
              <a:solidFill>
                <a:srgbClr val="2C3E50"/>
              </a:solidFill>
              <a:latin typeface="Calibri" panose="020F0502020204030204"/>
            </a:endParaRPr>
          </a:p>
        </p:txBody>
      </p:sp>
      <p:sp>
        <p:nvSpPr>
          <p:cNvPr id="246" name="Rectangle 245"/>
          <p:cNvSpPr/>
          <p:nvPr/>
        </p:nvSpPr>
        <p:spPr>
          <a:xfrm>
            <a:off x="11269065" y="3977639"/>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1305641" y="4005072"/>
            <a:ext cx="636422" cy="301752"/>
          </a:xfrm>
          <a:prstGeom prst="rect">
            <a:avLst/>
          </a:prstGeom>
          <a:noFill/>
        </p:spPr>
        <p:txBody>
          <a:bodyPr wrap="square">
            <a:spAutoFit/>
          </a:bodyPr>
          <a:lstStyle/>
          <a:p>
            <a:pPr algn="r"/>
            <a:r>
              <a:rPr sz="900" b="1" i="0">
                <a:solidFill>
                  <a:srgbClr val="2C3E50"/>
                </a:solidFill>
                <a:latin typeface="Calibri" panose="020F0502020204030204"/>
              </a:rPr>
              <a:t>$2</a:t>
            </a:r>
            <a:endParaRPr sz="900" b="1" i="0">
              <a:solidFill>
                <a:srgbClr val="2C3E50"/>
              </a:solidFill>
              <a:latin typeface="Calibri" panose="020F0502020204030204"/>
            </a:endParaRPr>
          </a:p>
        </p:txBody>
      </p:sp>
      <p:sp>
        <p:nvSpPr>
          <p:cNvPr id="248" name="Rectangle 247"/>
          <p:cNvSpPr/>
          <p:nvPr/>
        </p:nvSpPr>
        <p:spPr>
          <a:xfrm>
            <a:off x="6199632" y="4325112"/>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6236208" y="4352544"/>
            <a:ext cx="866851" cy="301752"/>
          </a:xfrm>
          <a:prstGeom prst="rect">
            <a:avLst/>
          </a:prstGeom>
          <a:noFill/>
        </p:spPr>
        <p:txBody>
          <a:bodyPr wrap="square">
            <a:spAutoFit/>
          </a:bodyPr>
          <a:lstStyle/>
          <a:p>
            <a:pPr algn="l"/>
            <a:r>
              <a:rPr sz="700" b="0" i="0">
                <a:solidFill>
                  <a:srgbClr val="2C3E50"/>
                </a:solidFill>
                <a:latin typeface="Calibri" panose="020F0502020204030204"/>
              </a:rPr>
              <a:t>Audit / Logs</a:t>
            </a:r>
            <a:endParaRPr sz="700" b="0" i="0">
              <a:solidFill>
                <a:srgbClr val="2C3E50"/>
              </a:solidFill>
              <a:latin typeface="Calibri" panose="020F0502020204030204"/>
            </a:endParaRPr>
          </a:p>
        </p:txBody>
      </p:sp>
      <p:sp>
        <p:nvSpPr>
          <p:cNvPr id="250" name="Rectangle 249"/>
          <p:cNvSpPr/>
          <p:nvPr/>
        </p:nvSpPr>
        <p:spPr>
          <a:xfrm>
            <a:off x="7121347" y="4325112"/>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7157923" y="4352544"/>
            <a:ext cx="1212494" cy="301752"/>
          </a:xfrm>
          <a:prstGeom prst="rect">
            <a:avLst/>
          </a:prstGeom>
          <a:noFill/>
        </p:spPr>
        <p:txBody>
          <a:bodyPr wrap="square">
            <a:spAutoFit/>
          </a:bodyPr>
          <a:lstStyle/>
          <a:p>
            <a:pPr algn="l"/>
            <a:r>
              <a:rPr sz="700" b="0" i="0">
                <a:solidFill>
                  <a:srgbClr val="2C3E50"/>
                </a:solidFill>
                <a:latin typeface="Calibri" panose="020F0502020204030204"/>
              </a:rPr>
              <a:t>CloudWatch Logs + S3</a:t>
            </a:r>
            <a:endParaRPr sz="700" b="0" i="0">
              <a:solidFill>
                <a:srgbClr val="2C3E50"/>
              </a:solidFill>
              <a:latin typeface="Calibri" panose="020F0502020204030204"/>
            </a:endParaRPr>
          </a:p>
        </p:txBody>
      </p:sp>
      <p:sp>
        <p:nvSpPr>
          <p:cNvPr id="252" name="Rectangle 251"/>
          <p:cNvSpPr/>
          <p:nvPr/>
        </p:nvSpPr>
        <p:spPr>
          <a:xfrm>
            <a:off x="8388705"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425281" y="4352544"/>
            <a:ext cx="694029" cy="301752"/>
          </a:xfrm>
          <a:prstGeom prst="rect">
            <a:avLst/>
          </a:prstGeom>
          <a:noFill/>
        </p:spPr>
        <p:txBody>
          <a:bodyPr wrap="square">
            <a:spAutoFit/>
          </a:bodyPr>
          <a:lstStyle/>
          <a:p>
            <a:pPr algn="l"/>
            <a:r>
              <a:rPr sz="700" b="0" i="0">
                <a:solidFill>
                  <a:srgbClr val="2C3E50"/>
                </a:solidFill>
                <a:latin typeface="Calibri" panose="020F0502020204030204"/>
              </a:rPr>
              <a:t>~10GB/mo</a:t>
            </a:r>
            <a:endParaRPr sz="700" b="0" i="0">
              <a:solidFill>
                <a:srgbClr val="2C3E50"/>
              </a:solidFill>
              <a:latin typeface="Calibri" panose="020F0502020204030204"/>
            </a:endParaRPr>
          </a:p>
        </p:txBody>
      </p:sp>
      <p:sp>
        <p:nvSpPr>
          <p:cNvPr id="254" name="Rectangle 253"/>
          <p:cNvSpPr/>
          <p:nvPr/>
        </p:nvSpPr>
        <p:spPr>
          <a:xfrm>
            <a:off x="9137599"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74175" y="4352544"/>
            <a:ext cx="694029" cy="301752"/>
          </a:xfrm>
          <a:prstGeom prst="rect">
            <a:avLst/>
          </a:prstGeom>
          <a:noFill/>
        </p:spPr>
        <p:txBody>
          <a:bodyPr wrap="square">
            <a:spAutoFit/>
          </a:bodyPr>
          <a:lstStyle/>
          <a:p>
            <a:pPr algn="l"/>
            <a:r>
              <a:rPr sz="700" b="0" i="0">
                <a:solidFill>
                  <a:srgbClr val="2C3E50"/>
                </a:solidFill>
                <a:latin typeface="Calibri" panose="020F0502020204030204"/>
              </a:rPr>
              <a:t>$0.50/GB</a:t>
            </a:r>
            <a:endParaRPr sz="700" b="0" i="0">
              <a:solidFill>
                <a:srgbClr val="2C3E50"/>
              </a:solidFill>
              <a:latin typeface="Calibri" panose="020F0502020204030204"/>
            </a:endParaRPr>
          </a:p>
        </p:txBody>
      </p:sp>
      <p:sp>
        <p:nvSpPr>
          <p:cNvPr id="256" name="Rectangle 255"/>
          <p:cNvSpPr/>
          <p:nvPr/>
        </p:nvSpPr>
        <p:spPr>
          <a:xfrm>
            <a:off x="9886492" y="4325112"/>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9923068" y="4352544"/>
            <a:ext cx="1327708" cy="301752"/>
          </a:xfrm>
          <a:prstGeom prst="rect">
            <a:avLst/>
          </a:prstGeom>
          <a:noFill/>
        </p:spPr>
        <p:txBody>
          <a:bodyPr wrap="square">
            <a:spAutoFit/>
          </a:bodyPr>
          <a:lstStyle/>
          <a:p>
            <a:pPr algn="l"/>
            <a:r>
              <a:rPr sz="700" b="0" i="0">
                <a:solidFill>
                  <a:srgbClr val="2C3E50"/>
                </a:solidFill>
                <a:latin typeface="Calibri" panose="020F0502020204030204"/>
              </a:rPr>
              <a:t>10×$0.50</a:t>
            </a:r>
            <a:endParaRPr sz="700" b="0" i="0">
              <a:solidFill>
                <a:srgbClr val="2C3E50"/>
              </a:solidFill>
              <a:latin typeface="Calibri" panose="020F0502020204030204"/>
            </a:endParaRPr>
          </a:p>
        </p:txBody>
      </p:sp>
      <p:sp>
        <p:nvSpPr>
          <p:cNvPr id="258" name="Rectangle 257"/>
          <p:cNvSpPr/>
          <p:nvPr/>
        </p:nvSpPr>
        <p:spPr>
          <a:xfrm>
            <a:off x="11269065" y="4325112"/>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305641" y="4352544"/>
            <a:ext cx="636422" cy="301752"/>
          </a:xfrm>
          <a:prstGeom prst="rect">
            <a:avLst/>
          </a:prstGeom>
          <a:noFill/>
        </p:spPr>
        <p:txBody>
          <a:bodyPr wrap="square">
            <a:spAutoFit/>
          </a:bodyPr>
          <a:lstStyle/>
          <a:p>
            <a:pPr algn="r"/>
            <a:r>
              <a:rPr sz="900" b="1" i="0">
                <a:solidFill>
                  <a:srgbClr val="2C3E50"/>
                </a:solidFill>
                <a:latin typeface="Calibri" panose="020F0502020204030204"/>
              </a:rPr>
              <a:t>$5</a:t>
            </a:r>
            <a:endParaRPr sz="900" b="1" i="0">
              <a:solidFill>
                <a:srgbClr val="2C3E50"/>
              </a:solidFill>
              <a:latin typeface="Calibri" panose="020F0502020204030204"/>
            </a:endParaRPr>
          </a:p>
        </p:txBody>
      </p:sp>
      <p:sp>
        <p:nvSpPr>
          <p:cNvPr id="260" name="Rectangle 259"/>
          <p:cNvSpPr/>
          <p:nvPr/>
        </p:nvSpPr>
        <p:spPr>
          <a:xfrm>
            <a:off x="6199632" y="4672583"/>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6236208" y="4700016"/>
            <a:ext cx="866851" cy="301752"/>
          </a:xfrm>
          <a:prstGeom prst="rect">
            <a:avLst/>
          </a:prstGeom>
          <a:noFill/>
        </p:spPr>
        <p:txBody>
          <a:bodyPr wrap="square">
            <a:spAutoFit/>
          </a:bodyPr>
          <a:lstStyle/>
          <a:p>
            <a:pPr algn="l"/>
            <a:r>
              <a:rPr sz="700" b="0" i="0">
                <a:solidFill>
                  <a:srgbClr val="2C3E50"/>
                </a:solidFill>
                <a:latin typeface="Calibri" panose="020F0502020204030204"/>
              </a:rPr>
              <a:t>Security</a:t>
            </a:r>
            <a:endParaRPr sz="700" b="0" i="0">
              <a:solidFill>
                <a:srgbClr val="2C3E50"/>
              </a:solidFill>
              <a:latin typeface="Calibri" panose="020F0502020204030204"/>
            </a:endParaRPr>
          </a:p>
        </p:txBody>
      </p:sp>
      <p:sp>
        <p:nvSpPr>
          <p:cNvPr id="262" name="Rectangle 261"/>
          <p:cNvSpPr/>
          <p:nvPr/>
        </p:nvSpPr>
        <p:spPr>
          <a:xfrm>
            <a:off x="7121347" y="4672583"/>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157923" y="4700016"/>
            <a:ext cx="1212494" cy="301752"/>
          </a:xfrm>
          <a:prstGeom prst="rect">
            <a:avLst/>
          </a:prstGeom>
          <a:noFill/>
        </p:spPr>
        <p:txBody>
          <a:bodyPr wrap="square">
            <a:spAutoFit/>
          </a:bodyPr>
          <a:lstStyle/>
          <a:p>
            <a:pPr algn="l"/>
            <a:r>
              <a:rPr sz="700" b="0" i="0">
                <a:solidFill>
                  <a:srgbClr val="2C3E50"/>
                </a:solidFill>
                <a:latin typeface="Calibri" panose="020F0502020204030204"/>
              </a:rPr>
              <a:t>AWS WAF + Guardrails</a:t>
            </a:r>
            <a:endParaRPr sz="700" b="0" i="0">
              <a:solidFill>
                <a:srgbClr val="2C3E50"/>
              </a:solidFill>
              <a:latin typeface="Calibri" panose="020F0502020204030204"/>
            </a:endParaRPr>
          </a:p>
        </p:txBody>
      </p:sp>
      <p:sp>
        <p:nvSpPr>
          <p:cNvPr id="264" name="Rectangle 263"/>
          <p:cNvSpPr/>
          <p:nvPr/>
        </p:nvSpPr>
        <p:spPr>
          <a:xfrm>
            <a:off x="8388705"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8425281" y="4700016"/>
            <a:ext cx="694029" cy="301752"/>
          </a:xfrm>
          <a:prstGeom prst="rect">
            <a:avLst/>
          </a:prstGeom>
          <a:noFill/>
        </p:spPr>
        <p:txBody>
          <a:bodyPr wrap="square">
            <a:spAutoFit/>
          </a:bodyPr>
          <a:lstStyle/>
          <a:p>
            <a:pPr algn="l"/>
            <a:r>
              <a:rPr sz="700" b="0" i="0">
                <a:solidFill>
                  <a:srgbClr val="2C3E50"/>
                </a:solidFill>
                <a:latin typeface="Calibri" panose="020F0502020204030204"/>
              </a:rPr>
              <a:t>150k req</a:t>
            </a:r>
            <a:endParaRPr sz="700" b="0" i="0">
              <a:solidFill>
                <a:srgbClr val="2C3E50"/>
              </a:solidFill>
              <a:latin typeface="Calibri" panose="020F0502020204030204"/>
            </a:endParaRPr>
          </a:p>
        </p:txBody>
      </p:sp>
      <p:sp>
        <p:nvSpPr>
          <p:cNvPr id="266" name="Rectangle 265"/>
          <p:cNvSpPr/>
          <p:nvPr/>
        </p:nvSpPr>
        <p:spPr>
          <a:xfrm>
            <a:off x="9137599"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174175" y="4700016"/>
            <a:ext cx="694029" cy="301752"/>
          </a:xfrm>
          <a:prstGeom prst="rect">
            <a:avLst/>
          </a:prstGeom>
          <a:noFill/>
        </p:spPr>
        <p:txBody>
          <a:bodyPr wrap="square">
            <a:spAutoFit/>
          </a:bodyPr>
          <a:lstStyle/>
          <a:p>
            <a:pPr algn="l"/>
            <a:r>
              <a:rPr sz="700" b="0" i="0">
                <a:solidFill>
                  <a:srgbClr val="2C3E50"/>
                </a:solidFill>
                <a:latin typeface="Calibri" panose="020F0502020204030204"/>
              </a:rPr>
              <a:t>$0.60/1M</a:t>
            </a:r>
            <a:endParaRPr sz="700" b="0" i="0">
              <a:solidFill>
                <a:srgbClr val="2C3E50"/>
              </a:solidFill>
              <a:latin typeface="Calibri" panose="020F0502020204030204"/>
            </a:endParaRPr>
          </a:p>
        </p:txBody>
      </p:sp>
      <p:sp>
        <p:nvSpPr>
          <p:cNvPr id="268" name="Rectangle 267"/>
          <p:cNvSpPr/>
          <p:nvPr/>
        </p:nvSpPr>
        <p:spPr>
          <a:xfrm>
            <a:off x="9886492" y="4672583"/>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923068" y="4700016"/>
            <a:ext cx="1327708" cy="301752"/>
          </a:xfrm>
          <a:prstGeom prst="rect">
            <a:avLst/>
          </a:prstGeom>
          <a:noFill/>
        </p:spPr>
        <p:txBody>
          <a:bodyPr wrap="square">
            <a:spAutoFit/>
          </a:bodyPr>
          <a:lstStyle/>
          <a:p>
            <a:pPr algn="l"/>
            <a:r>
              <a:rPr sz="700" b="0" i="0">
                <a:solidFill>
                  <a:srgbClr val="2C3E50"/>
                </a:solidFill>
                <a:latin typeface="Calibri" panose="020F0502020204030204"/>
              </a:rPr>
              <a:t>0.15×$0.60</a:t>
            </a:r>
            <a:endParaRPr sz="700" b="0" i="0">
              <a:solidFill>
                <a:srgbClr val="2C3E50"/>
              </a:solidFill>
              <a:latin typeface="Calibri" panose="020F0502020204030204"/>
            </a:endParaRPr>
          </a:p>
        </p:txBody>
      </p:sp>
      <p:sp>
        <p:nvSpPr>
          <p:cNvPr id="270" name="Rectangle 269"/>
          <p:cNvSpPr/>
          <p:nvPr/>
        </p:nvSpPr>
        <p:spPr>
          <a:xfrm>
            <a:off x="11269065" y="4672583"/>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1305641" y="4700016"/>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272" name="Rectangle 271"/>
          <p:cNvSpPr/>
          <p:nvPr/>
        </p:nvSpPr>
        <p:spPr>
          <a:xfrm>
            <a:off x="6199632" y="5020055"/>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6236208" y="5047488"/>
            <a:ext cx="866851" cy="301752"/>
          </a:xfrm>
          <a:prstGeom prst="rect">
            <a:avLst/>
          </a:prstGeom>
          <a:noFill/>
        </p:spPr>
        <p:txBody>
          <a:bodyPr wrap="square">
            <a:spAutoFit/>
          </a:bodyPr>
          <a:lstStyle/>
          <a:p>
            <a:pPr algn="l"/>
            <a:r>
              <a:rPr sz="700" b="0" i="0">
                <a:solidFill>
                  <a:srgbClr val="2C3E50"/>
                </a:solidFill>
                <a:latin typeface="Calibri" panose="020F0502020204030204"/>
              </a:rPr>
              <a:t>VPN Gateway</a:t>
            </a:r>
            <a:endParaRPr sz="700" b="0" i="0">
              <a:solidFill>
                <a:srgbClr val="2C3E50"/>
              </a:solidFill>
              <a:latin typeface="Calibri" panose="020F0502020204030204"/>
            </a:endParaRPr>
          </a:p>
        </p:txBody>
      </p:sp>
      <p:sp>
        <p:nvSpPr>
          <p:cNvPr id="274" name="Rectangle 273"/>
          <p:cNvSpPr/>
          <p:nvPr/>
        </p:nvSpPr>
        <p:spPr>
          <a:xfrm>
            <a:off x="7121347" y="5020055"/>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7157923" y="5047488"/>
            <a:ext cx="1212494" cy="301752"/>
          </a:xfrm>
          <a:prstGeom prst="rect">
            <a:avLst/>
          </a:prstGeom>
          <a:noFill/>
        </p:spPr>
        <p:txBody>
          <a:bodyPr wrap="square">
            <a:spAutoFit/>
          </a:bodyPr>
          <a:lstStyle/>
          <a:p>
            <a:pPr algn="l"/>
            <a:r>
              <a:rPr sz="700" b="0" i="0">
                <a:solidFill>
                  <a:srgbClr val="2C3E50"/>
                </a:solidFill>
                <a:latin typeface="Calibri" panose="020F0502020204030204"/>
              </a:rPr>
              <a:t>AWS VPN (1 tunnel)</a:t>
            </a:r>
            <a:endParaRPr sz="700" b="0" i="0">
              <a:solidFill>
                <a:srgbClr val="2C3E50"/>
              </a:solidFill>
              <a:latin typeface="Calibri" panose="020F0502020204030204"/>
            </a:endParaRPr>
          </a:p>
        </p:txBody>
      </p:sp>
      <p:sp>
        <p:nvSpPr>
          <p:cNvPr id="276" name="Rectangle 275"/>
          <p:cNvSpPr/>
          <p:nvPr/>
        </p:nvSpPr>
        <p:spPr>
          <a:xfrm>
            <a:off x="8388705"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425281" y="5047488"/>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278" name="Rectangle 277"/>
          <p:cNvSpPr/>
          <p:nvPr/>
        </p:nvSpPr>
        <p:spPr>
          <a:xfrm>
            <a:off x="9137599"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174175" y="5047488"/>
            <a:ext cx="694029" cy="301752"/>
          </a:xfrm>
          <a:prstGeom prst="rect">
            <a:avLst/>
          </a:prstGeom>
          <a:noFill/>
        </p:spPr>
        <p:txBody>
          <a:bodyPr wrap="square">
            <a:spAutoFit/>
          </a:bodyPr>
          <a:lstStyle/>
          <a:p>
            <a:pPr algn="l"/>
            <a:r>
              <a:rPr sz="700" b="0" i="0">
                <a:solidFill>
                  <a:srgbClr val="2C3E50"/>
                </a:solidFill>
                <a:latin typeface="Calibri" panose="020F0502020204030204"/>
              </a:rPr>
              <a:t>$0.05/hr</a:t>
            </a:r>
            <a:endParaRPr sz="700" b="0" i="0">
              <a:solidFill>
                <a:srgbClr val="2C3E50"/>
              </a:solidFill>
              <a:latin typeface="Calibri" panose="020F0502020204030204"/>
            </a:endParaRPr>
          </a:p>
        </p:txBody>
      </p:sp>
      <p:sp>
        <p:nvSpPr>
          <p:cNvPr id="280" name="Rectangle 279"/>
          <p:cNvSpPr/>
          <p:nvPr/>
        </p:nvSpPr>
        <p:spPr>
          <a:xfrm>
            <a:off x="9886492" y="5020055"/>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923068" y="5047488"/>
            <a:ext cx="1327708" cy="301752"/>
          </a:xfrm>
          <a:prstGeom prst="rect">
            <a:avLst/>
          </a:prstGeom>
          <a:noFill/>
        </p:spPr>
        <p:txBody>
          <a:bodyPr wrap="square">
            <a:spAutoFit/>
          </a:bodyPr>
          <a:lstStyle/>
          <a:p>
            <a:pPr algn="l"/>
            <a:r>
              <a:rPr sz="700" b="0" i="0">
                <a:solidFill>
                  <a:srgbClr val="2C3E50"/>
                </a:solidFill>
                <a:latin typeface="Calibri" panose="020F0502020204030204"/>
              </a:rPr>
              <a:t>720×$0.05</a:t>
            </a:r>
            <a:endParaRPr sz="700" b="0" i="0">
              <a:solidFill>
                <a:srgbClr val="2C3E50"/>
              </a:solidFill>
              <a:latin typeface="Calibri" panose="020F0502020204030204"/>
            </a:endParaRPr>
          </a:p>
        </p:txBody>
      </p:sp>
      <p:sp>
        <p:nvSpPr>
          <p:cNvPr id="282" name="Rectangle 281"/>
          <p:cNvSpPr/>
          <p:nvPr/>
        </p:nvSpPr>
        <p:spPr>
          <a:xfrm>
            <a:off x="11269065" y="5020055"/>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11305641" y="5047488"/>
            <a:ext cx="636422" cy="301752"/>
          </a:xfrm>
          <a:prstGeom prst="rect">
            <a:avLst/>
          </a:prstGeom>
          <a:noFill/>
        </p:spPr>
        <p:txBody>
          <a:bodyPr wrap="square">
            <a:spAutoFit/>
          </a:bodyPr>
          <a:lstStyle/>
          <a:p>
            <a:pPr algn="r"/>
            <a:r>
              <a:rPr sz="900" b="1" i="0">
                <a:solidFill>
                  <a:srgbClr val="2C3E50"/>
                </a:solidFill>
                <a:latin typeface="Calibri" panose="020F0502020204030204"/>
              </a:rPr>
              <a:t>$36</a:t>
            </a:r>
            <a:endParaRPr sz="900" b="1" i="0">
              <a:solidFill>
                <a:srgbClr val="2C3E50"/>
              </a:solidFill>
              <a:latin typeface="Calibri" panose="020F0502020204030204"/>
            </a:endParaRPr>
          </a:p>
        </p:txBody>
      </p:sp>
      <p:sp>
        <p:nvSpPr>
          <p:cNvPr id="284" name="Rectangle 283"/>
          <p:cNvSpPr/>
          <p:nvPr/>
        </p:nvSpPr>
        <p:spPr>
          <a:xfrm>
            <a:off x="6199632" y="5367527"/>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6236208" y="5394959"/>
            <a:ext cx="866851" cy="301752"/>
          </a:xfrm>
          <a:prstGeom prst="rect">
            <a:avLst/>
          </a:prstGeom>
          <a:noFill/>
        </p:spPr>
        <p:txBody>
          <a:bodyPr wrap="square">
            <a:spAutoFit/>
          </a:bodyPr>
          <a:lstStyle/>
          <a:p>
            <a:pPr algn="l"/>
            <a:r>
              <a:rPr sz="700" b="0" i="0">
                <a:solidFill>
                  <a:srgbClr val="2C3E50"/>
                </a:solidFill>
                <a:latin typeface="Calibri" panose="020F0502020204030204"/>
              </a:rPr>
              <a:t>Scale-to-zero</a:t>
            </a:r>
            <a:endParaRPr sz="700" b="0" i="0">
              <a:solidFill>
                <a:srgbClr val="2C3E50"/>
              </a:solidFill>
              <a:latin typeface="Calibri" panose="020F0502020204030204"/>
            </a:endParaRPr>
          </a:p>
        </p:txBody>
      </p:sp>
      <p:sp>
        <p:nvSpPr>
          <p:cNvPr id="286" name="Rectangle 285"/>
          <p:cNvSpPr/>
          <p:nvPr/>
        </p:nvSpPr>
        <p:spPr>
          <a:xfrm>
            <a:off x="7121347" y="5367527"/>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7157923" y="5394959"/>
            <a:ext cx="1212494" cy="301752"/>
          </a:xfrm>
          <a:prstGeom prst="rect">
            <a:avLst/>
          </a:prstGeom>
          <a:noFill/>
        </p:spPr>
        <p:txBody>
          <a:bodyPr wrap="square">
            <a:spAutoFit/>
          </a:bodyPr>
          <a:lstStyle/>
          <a:p>
            <a:pPr algn="l"/>
            <a:r>
              <a:rPr sz="700" b="0" i="0">
                <a:solidFill>
                  <a:srgbClr val="2C3E50"/>
                </a:solidFill>
                <a:latin typeface="Calibri" panose="020F0502020204030204"/>
              </a:rPr>
              <a:t>SageMaker Serverless (alt.)</a:t>
            </a:r>
            <a:endParaRPr sz="700" b="0" i="0">
              <a:solidFill>
                <a:srgbClr val="2C3E50"/>
              </a:solidFill>
              <a:latin typeface="Calibri" panose="020F0502020204030204"/>
            </a:endParaRPr>
          </a:p>
        </p:txBody>
      </p:sp>
      <p:sp>
        <p:nvSpPr>
          <p:cNvPr id="288" name="Rectangle 287"/>
          <p:cNvSpPr/>
          <p:nvPr/>
        </p:nvSpPr>
        <p:spPr>
          <a:xfrm>
            <a:off x="8388705" y="5367527"/>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8425281" y="5394959"/>
            <a:ext cx="694029" cy="301752"/>
          </a:xfrm>
          <a:prstGeom prst="rect">
            <a:avLst/>
          </a:prstGeom>
          <a:noFill/>
        </p:spPr>
        <p:txBody>
          <a:bodyPr wrap="square">
            <a:spAutoFit/>
          </a:bodyPr>
          <a:lstStyle/>
          <a:p>
            <a:pPr algn="l"/>
            <a:r>
              <a:rPr sz="700" b="0" i="0">
                <a:solidFill>
                  <a:srgbClr val="2C3E50"/>
                </a:solidFill>
                <a:latin typeface="Calibri" panose="020F0502020204030204"/>
              </a:rPr>
              <a:t>72k × 3s × 6GB</a:t>
            </a:r>
            <a:endParaRPr sz="700" b="0" i="0">
              <a:solidFill>
                <a:srgbClr val="2C3E50"/>
              </a:solidFill>
              <a:latin typeface="Calibri" panose="020F0502020204030204"/>
            </a:endParaRPr>
          </a:p>
        </p:txBody>
      </p:sp>
      <p:sp>
        <p:nvSpPr>
          <p:cNvPr id="290" name="Rectangle 289"/>
          <p:cNvSpPr/>
          <p:nvPr/>
        </p:nvSpPr>
        <p:spPr>
          <a:xfrm>
            <a:off x="9137599" y="5367527"/>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174175" y="5394959"/>
            <a:ext cx="694029" cy="301752"/>
          </a:xfrm>
          <a:prstGeom prst="rect">
            <a:avLst/>
          </a:prstGeom>
          <a:noFill/>
        </p:spPr>
        <p:txBody>
          <a:bodyPr wrap="square">
            <a:spAutoFit/>
          </a:bodyPr>
          <a:lstStyle/>
          <a:p>
            <a:pPr algn="l"/>
            <a:r>
              <a:rPr sz="700" b="0" i="0">
                <a:solidFill>
                  <a:srgbClr val="2C3E50"/>
                </a:solidFill>
                <a:latin typeface="Calibri" panose="020F0502020204030204"/>
              </a:rPr>
              <a:t>$0.00002/GB-s</a:t>
            </a:r>
            <a:endParaRPr sz="700" b="0" i="0">
              <a:solidFill>
                <a:srgbClr val="2C3E50"/>
              </a:solidFill>
              <a:latin typeface="Calibri" panose="020F0502020204030204"/>
            </a:endParaRPr>
          </a:p>
        </p:txBody>
      </p:sp>
      <p:sp>
        <p:nvSpPr>
          <p:cNvPr id="292" name="Rectangle 291"/>
          <p:cNvSpPr/>
          <p:nvPr/>
        </p:nvSpPr>
        <p:spPr>
          <a:xfrm>
            <a:off x="9886492" y="5367527"/>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9923068" y="5394959"/>
            <a:ext cx="1327708" cy="301752"/>
          </a:xfrm>
          <a:prstGeom prst="rect">
            <a:avLst/>
          </a:prstGeom>
          <a:noFill/>
        </p:spPr>
        <p:txBody>
          <a:bodyPr wrap="square">
            <a:spAutoFit/>
          </a:bodyPr>
          <a:lstStyle/>
          <a:p>
            <a:pPr algn="l"/>
            <a:r>
              <a:rPr sz="700" b="0" i="0">
                <a:solidFill>
                  <a:srgbClr val="2C3E50"/>
                </a:solidFill>
                <a:latin typeface="Calibri" panose="020F0502020204030204"/>
              </a:rPr>
              <a:t>72k×3×6×$0.00002</a:t>
            </a:r>
            <a:endParaRPr sz="700" b="0" i="0">
              <a:solidFill>
                <a:srgbClr val="2C3E50"/>
              </a:solidFill>
              <a:latin typeface="Calibri" panose="020F0502020204030204"/>
            </a:endParaRPr>
          </a:p>
        </p:txBody>
      </p:sp>
      <p:sp>
        <p:nvSpPr>
          <p:cNvPr id="294" name="Rectangle 293"/>
          <p:cNvSpPr/>
          <p:nvPr/>
        </p:nvSpPr>
        <p:spPr>
          <a:xfrm>
            <a:off x="11269065" y="5367527"/>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1305641" y="5394959"/>
            <a:ext cx="636422" cy="301752"/>
          </a:xfrm>
          <a:prstGeom prst="rect">
            <a:avLst/>
          </a:prstGeom>
          <a:noFill/>
        </p:spPr>
        <p:txBody>
          <a:bodyPr wrap="square">
            <a:spAutoFit/>
          </a:bodyPr>
          <a:lstStyle/>
          <a:p>
            <a:pPr algn="r"/>
            <a:r>
              <a:rPr sz="900" b="1" i="0">
                <a:solidFill>
                  <a:srgbClr val="2C3E50"/>
                </a:solidFill>
                <a:latin typeface="Calibri" panose="020F0502020204030204"/>
              </a:rPr>
              <a:t>$26</a:t>
            </a:r>
            <a:endParaRPr sz="900" b="1" i="0">
              <a:solidFill>
                <a:srgbClr val="2C3E50"/>
              </a:solidFill>
              <a:latin typeface="Calibri" panose="020F0502020204030204"/>
            </a:endParaRPr>
          </a:p>
        </p:txBody>
      </p:sp>
      <p:sp>
        <p:nvSpPr>
          <p:cNvPr id="296" name="Rectangle 295"/>
          <p:cNvSpPr/>
          <p:nvPr/>
        </p:nvSpPr>
        <p:spPr>
          <a:xfrm>
            <a:off x="6199632" y="5751575"/>
            <a:ext cx="5760720" cy="31089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6309360" y="5806439"/>
            <a:ext cx="3744468" cy="219456"/>
          </a:xfrm>
          <a:prstGeom prst="rect">
            <a:avLst/>
          </a:prstGeom>
          <a:noFill/>
        </p:spPr>
        <p:txBody>
          <a:bodyPr wrap="square">
            <a:spAutoFit/>
          </a:bodyPr>
          <a:lstStyle/>
          <a:p>
            <a:pPr algn="l"/>
            <a:r>
              <a:rPr sz="900" b="1" i="0">
                <a:solidFill>
                  <a:srgbClr val="FFFFFF"/>
                </a:solidFill>
                <a:latin typeface="Calibri" panose="020F0502020204030204"/>
              </a:rPr>
              <a:t>Infrastructure Subtotal</a:t>
            </a:r>
            <a:endParaRPr sz="900" b="1" i="0">
              <a:solidFill>
                <a:srgbClr val="FFFFFF"/>
              </a:solidFill>
              <a:latin typeface="Calibri" panose="020F0502020204030204"/>
            </a:endParaRPr>
          </a:p>
        </p:txBody>
      </p:sp>
      <p:sp>
        <p:nvSpPr>
          <p:cNvPr id="298" name="TextBox 297"/>
          <p:cNvSpPr txBox="1"/>
          <p:nvPr/>
        </p:nvSpPr>
        <p:spPr>
          <a:xfrm>
            <a:off x="9944100" y="5788151"/>
            <a:ext cx="1901037" cy="256032"/>
          </a:xfrm>
          <a:prstGeom prst="rect">
            <a:avLst/>
          </a:prstGeom>
          <a:noFill/>
        </p:spPr>
        <p:txBody>
          <a:bodyPr wrap="square">
            <a:spAutoFit/>
          </a:bodyPr>
          <a:lstStyle/>
          <a:p>
            <a:pPr algn="r"/>
            <a:r>
              <a:rPr sz="1200" b="1" i="0">
                <a:solidFill>
                  <a:srgbClr val="FFC107"/>
                </a:solidFill>
                <a:latin typeface="Calibri" panose="020F0502020204030204"/>
              </a:rPr>
              <a:t>~$696 / mo</a:t>
            </a:r>
            <a:endParaRPr sz="1200" b="1" i="0">
              <a:solidFill>
                <a:srgbClr val="FFC107"/>
              </a:solidFill>
              <a:latin typeface="Calibri" panose="020F0502020204030204"/>
            </a:endParaRPr>
          </a:p>
        </p:txBody>
      </p:sp>
      <p:sp>
        <p:nvSpPr>
          <p:cNvPr id="300" name="TextBox 299"/>
          <p:cNvSpPr txBox="1"/>
          <p:nvPr/>
        </p:nvSpPr>
        <p:spPr>
          <a:xfrm>
            <a:off x="8070215" y="6464808"/>
            <a:ext cx="2932938" cy="365760"/>
          </a:xfrm>
          <a:prstGeom prst="rect">
            <a:avLst/>
          </a:prstGeom>
          <a:noFill/>
        </p:spPr>
        <p:txBody>
          <a:bodyPr wrap="square">
            <a:spAutoFit/>
          </a:bodyPr>
          <a:lstStyle/>
          <a:p>
            <a:pPr algn="l"/>
            <a:r>
              <a:rPr sz="1300" b="1" i="0">
                <a:solidFill>
                  <a:srgbClr val="FF0000"/>
                </a:solidFill>
                <a:latin typeface="Calibri" panose="020F0502020204030204"/>
              </a:rPr>
              <a:t>VERSION B TOTAL</a:t>
            </a:r>
            <a:endParaRPr sz="1300" b="1" i="0">
              <a:solidFill>
                <a:srgbClr val="FF0000"/>
              </a:solidFill>
              <a:latin typeface="Calibri" panose="020F0502020204030204"/>
            </a:endParaRPr>
          </a:p>
        </p:txBody>
      </p:sp>
      <p:sp>
        <p:nvSpPr>
          <p:cNvPr id="302" name="TextBox 301"/>
          <p:cNvSpPr txBox="1"/>
          <p:nvPr/>
        </p:nvSpPr>
        <p:spPr>
          <a:xfrm>
            <a:off x="8792778" y="6464808"/>
            <a:ext cx="2932938" cy="365760"/>
          </a:xfrm>
          <a:prstGeom prst="rect">
            <a:avLst/>
          </a:prstGeom>
          <a:noFill/>
        </p:spPr>
        <p:txBody>
          <a:bodyPr wrap="square">
            <a:spAutoFit/>
          </a:bodyPr>
          <a:lstStyle/>
          <a:p>
            <a:pPr algn="r"/>
            <a:r>
              <a:rPr sz="1400" b="1" i="0">
                <a:solidFill>
                  <a:srgbClr val="FFC107"/>
                </a:solidFill>
                <a:latin typeface="Calibri" panose="020F0502020204030204"/>
              </a:rPr>
              <a:t>~$2,150 – $2,350 / month</a:t>
            </a:r>
            <a:endParaRPr sz="1400" b="1" i="0">
              <a:solidFill>
                <a:srgbClr val="FFC107"/>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274320" y="109728"/>
            <a:ext cx="11430000" cy="502920"/>
          </a:xfrm>
          <a:prstGeom prst="rect">
            <a:avLst/>
          </a:prstGeom>
          <a:noFill/>
        </p:spPr>
        <p:txBody>
          <a:bodyPr wrap="square">
            <a:spAutoFit/>
          </a:bodyPr>
          <a:lstStyle/>
          <a:p>
            <a:pPr algn="l"/>
            <a:r>
              <a:rPr sz="2400" b="1" i="0">
                <a:solidFill>
                  <a:srgbClr val="5D1DC7"/>
                </a:solidFill>
                <a:latin typeface="Calibri" panose="020F0502020204030204"/>
              </a:rPr>
              <a:t>Version C — Alibaba Cloud  |  Cost Breakdown</a:t>
            </a:r>
            <a:endParaRPr sz="2400" b="1" i="0">
              <a:solidFill>
                <a:srgbClr val="5D1DC7"/>
              </a:solidFill>
              <a:latin typeface="Calibri" panose="020F0502020204030204"/>
            </a:endParaRPr>
          </a:p>
        </p:txBody>
      </p:sp>
      <p:sp>
        <p:nvSpPr>
          <p:cNvPr id="4" name="TextBox 3"/>
          <p:cNvSpPr txBox="1"/>
          <p:nvPr/>
        </p:nvSpPr>
        <p:spPr>
          <a:xfrm>
            <a:off x="274320" y="594360"/>
            <a:ext cx="11430000" cy="292608"/>
          </a:xfrm>
          <a:prstGeom prst="rect">
            <a:avLst/>
          </a:prstGeom>
          <a:noFill/>
        </p:spPr>
        <p:txBody>
          <a:bodyPr wrap="square">
            <a:spAutoFit/>
          </a:bodyPr>
          <a:lstStyle/>
          <a:p>
            <a:pPr algn="l"/>
            <a:r>
              <a:rPr sz="1100" b="0" i="1">
                <a:solidFill>
                  <a:srgbClr val="7F8C8D"/>
                </a:solidFill>
                <a:latin typeface="Calibri" panose="020F0502020204030204"/>
              </a:rPr>
              <a:t>Model Studio (DashScope Intl) + PAI-EAS · ap-southeast-1 Singapore International · Monthly fine-tuning included</a:t>
            </a:r>
            <a:endParaRPr sz="1100" b="0" i="1">
              <a:solidFill>
                <a:srgbClr val="7F8C8D"/>
              </a:solidFill>
              <a:latin typeface="Calibri" panose="020F0502020204030204"/>
            </a:endParaRPr>
          </a:p>
        </p:txBody>
      </p:sp>
      <p:sp>
        <p:nvSpPr>
          <p:cNvPr id="5" name="Rectangle 4"/>
          <p:cNvSpPr/>
          <p:nvPr/>
        </p:nvSpPr>
        <p:spPr>
          <a:xfrm>
            <a:off x="0" y="868680"/>
            <a:ext cx="12188952"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88952" cy="347472"/>
          </a:xfrm>
          <a:prstGeom prst="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932688"/>
            <a:ext cx="11704320" cy="292608"/>
          </a:xfrm>
          <a:prstGeom prst="rect">
            <a:avLst/>
          </a:prstGeom>
          <a:noFill/>
        </p:spPr>
        <p:txBody>
          <a:bodyPr wrap="square">
            <a:spAutoFit/>
          </a:bodyPr>
          <a:lstStyle/>
          <a:p>
            <a:pPr algn="l"/>
            <a:r>
              <a:rPr sz="850" b="0" i="1">
                <a:solidFill>
                  <a:srgbClr val="5D1DC7"/>
                </a:solidFill>
                <a:latin typeface="Calibri" panose="020F0502020204030204"/>
              </a:rPr>
              <a:t>Assumptions: 500 clinicians  |  10 queries/day  |  150,000 queries/month  (30k emergency + 120k complex)  |  Avg 3,000 in / 600 out tokens (complex)  |  1,500 in / 300 out (emergency)  |  1 fine-tuning run/month  |  Singapore region</a:t>
            </a:r>
            <a:endParaRPr sz="850" b="0" i="1">
              <a:solidFill>
                <a:srgbClr val="5D1DC7"/>
              </a:solidFill>
              <a:latin typeface="Calibri" panose="020F0502020204030204"/>
            </a:endParaRPr>
          </a:p>
        </p:txBody>
      </p:sp>
      <p:sp>
        <p:nvSpPr>
          <p:cNvPr id="8" name="Rectangle 7"/>
          <p:cNvSpPr/>
          <p:nvPr/>
        </p:nvSpPr>
        <p:spPr>
          <a:xfrm>
            <a:off x="228600" y="1325880"/>
            <a:ext cx="5760720" cy="329184"/>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 y="1371600"/>
            <a:ext cx="5577840" cy="237744"/>
          </a:xfrm>
          <a:prstGeom prst="rect">
            <a:avLst/>
          </a:prstGeom>
          <a:noFill/>
        </p:spPr>
        <p:txBody>
          <a:bodyPr wrap="square">
            <a:spAutoFit/>
          </a:bodyPr>
          <a:lstStyle/>
          <a:p>
            <a:pPr algn="l"/>
            <a:r>
              <a:rPr sz="1000" b="1" i="0">
                <a:solidFill>
                  <a:srgbClr val="FFFFFF"/>
                </a:solidFill>
                <a:latin typeface="Calibri" panose="020F0502020204030204"/>
              </a:rPr>
              <a:t>LLM + PAI-EAS STUDENT  (Model Studio DashScope Intl)</a:t>
            </a:r>
            <a:endParaRPr sz="1000" b="1" i="0">
              <a:solidFill>
                <a:srgbClr val="FFFFFF"/>
              </a:solidFill>
              <a:latin typeface="Calibri" panose="020F0502020204030204"/>
            </a:endParaRPr>
          </a:p>
        </p:txBody>
      </p:sp>
      <p:sp>
        <p:nvSpPr>
          <p:cNvPr id="10" name="Rectangle 9"/>
          <p:cNvSpPr/>
          <p:nvPr/>
        </p:nvSpPr>
        <p:spPr>
          <a:xfrm>
            <a:off x="228600"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2" name="Rectangle 11"/>
          <p:cNvSpPr/>
          <p:nvPr/>
        </p:nvSpPr>
        <p:spPr>
          <a:xfrm>
            <a:off x="1150315"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6891"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4" name="Rectangle 13"/>
          <p:cNvSpPr/>
          <p:nvPr/>
        </p:nvSpPr>
        <p:spPr>
          <a:xfrm>
            <a:off x="2417673"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54249"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6" name="Rectangle 15"/>
          <p:cNvSpPr/>
          <p:nvPr/>
        </p:nvSpPr>
        <p:spPr>
          <a:xfrm>
            <a:off x="3166567"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3143"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8" name="Rectangle 17"/>
          <p:cNvSpPr/>
          <p:nvPr/>
        </p:nvSpPr>
        <p:spPr>
          <a:xfrm>
            <a:off x="3915460"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52036"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20" name="Rectangle 19"/>
          <p:cNvSpPr/>
          <p:nvPr/>
        </p:nvSpPr>
        <p:spPr>
          <a:xfrm>
            <a:off x="5298033"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34609"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22" name="Rectangle 21"/>
          <p:cNvSpPr/>
          <p:nvPr/>
        </p:nvSpPr>
        <p:spPr>
          <a:xfrm>
            <a:off x="228600"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 y="1920240"/>
            <a:ext cx="866851" cy="301752"/>
          </a:xfrm>
          <a:prstGeom prst="rect">
            <a:avLst/>
          </a:prstGeom>
          <a:noFill/>
        </p:spPr>
        <p:txBody>
          <a:bodyPr wrap="square">
            <a:spAutoFit/>
          </a:bodyPr>
          <a:lstStyle/>
          <a:p>
            <a:pPr algn="l"/>
            <a:r>
              <a:rPr sz="700" b="0" i="0">
                <a:solidFill>
                  <a:srgbClr val="2C3E50"/>
                </a:solidFill>
                <a:latin typeface="Calibri" panose="020F0502020204030204"/>
              </a:rPr>
              <a:t>Emergency lane</a:t>
            </a:r>
            <a:endParaRPr sz="700" b="0" i="0">
              <a:solidFill>
                <a:srgbClr val="2C3E50"/>
              </a:solidFill>
              <a:latin typeface="Calibri" panose="020F0502020204030204"/>
            </a:endParaRPr>
          </a:p>
        </p:txBody>
      </p:sp>
      <p:sp>
        <p:nvSpPr>
          <p:cNvPr id="24" name="Rectangle 23"/>
          <p:cNvSpPr/>
          <p:nvPr/>
        </p:nvSpPr>
        <p:spPr>
          <a:xfrm>
            <a:off x="1150315"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6891" y="1920240"/>
            <a:ext cx="1212494" cy="301752"/>
          </a:xfrm>
          <a:prstGeom prst="rect">
            <a:avLst/>
          </a:prstGeom>
          <a:noFill/>
        </p:spPr>
        <p:txBody>
          <a:bodyPr wrap="square">
            <a:spAutoFit/>
          </a:bodyPr>
          <a:lstStyle/>
          <a:p>
            <a:pPr algn="l"/>
            <a:r>
              <a:rPr sz="700" b="0" i="0">
                <a:solidFill>
                  <a:srgbClr val="2C3E50"/>
                </a:solidFill>
                <a:latin typeface="Calibri" panose="020F0502020204030204"/>
              </a:rPr>
              <a:t>Qwen3.5-Flash (Model Studio)</a:t>
            </a:r>
            <a:endParaRPr sz="700" b="0" i="0">
              <a:solidFill>
                <a:srgbClr val="2C3E50"/>
              </a:solidFill>
              <a:latin typeface="Calibri" panose="020F0502020204030204"/>
            </a:endParaRPr>
          </a:p>
        </p:txBody>
      </p:sp>
      <p:sp>
        <p:nvSpPr>
          <p:cNvPr id="26" name="Rectangle 25"/>
          <p:cNvSpPr/>
          <p:nvPr/>
        </p:nvSpPr>
        <p:spPr>
          <a:xfrm>
            <a:off x="2417673"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54249" y="1920240"/>
            <a:ext cx="694029" cy="301752"/>
          </a:xfrm>
          <a:prstGeom prst="rect">
            <a:avLst/>
          </a:prstGeom>
          <a:noFill/>
        </p:spPr>
        <p:txBody>
          <a:bodyPr wrap="square">
            <a:spAutoFit/>
          </a:bodyPr>
          <a:lstStyle/>
          <a:p>
            <a:pPr algn="l"/>
            <a:r>
              <a:rPr sz="700" b="0" i="0">
                <a:solidFill>
                  <a:srgbClr val="2C3E50"/>
                </a:solidFill>
                <a:latin typeface="Calibri" panose="020F0502020204030204"/>
              </a:rPr>
              <a:t>30k calls</a:t>
            </a:r>
            <a:endParaRPr sz="700" b="0" i="0">
              <a:solidFill>
                <a:srgbClr val="2C3E50"/>
              </a:solidFill>
              <a:latin typeface="Calibri" panose="020F0502020204030204"/>
            </a:endParaRPr>
          </a:p>
        </p:txBody>
      </p:sp>
      <p:sp>
        <p:nvSpPr>
          <p:cNvPr id="28" name="Rectangle 27"/>
          <p:cNvSpPr/>
          <p:nvPr/>
        </p:nvSpPr>
        <p:spPr>
          <a:xfrm>
            <a:off x="3166567"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3143" y="1920240"/>
            <a:ext cx="694029" cy="301752"/>
          </a:xfrm>
          <a:prstGeom prst="rect">
            <a:avLst/>
          </a:prstGeom>
          <a:noFill/>
        </p:spPr>
        <p:txBody>
          <a:bodyPr wrap="square">
            <a:spAutoFit/>
          </a:bodyPr>
          <a:lstStyle/>
          <a:p>
            <a:pPr algn="l"/>
            <a:r>
              <a:rPr sz="700" b="0" i="0">
                <a:solidFill>
                  <a:srgbClr val="2C3E50"/>
                </a:solidFill>
                <a:latin typeface="Calibri" panose="020F0502020204030204"/>
              </a:rPr>
              <a:t>$0.05/$0.20/1M</a:t>
            </a:r>
            <a:endParaRPr sz="700" b="0" i="0">
              <a:solidFill>
                <a:srgbClr val="2C3E50"/>
              </a:solidFill>
              <a:latin typeface="Calibri" panose="020F0502020204030204"/>
            </a:endParaRPr>
          </a:p>
        </p:txBody>
      </p:sp>
      <p:sp>
        <p:nvSpPr>
          <p:cNvPr id="30" name="Rectangle 29"/>
          <p:cNvSpPr/>
          <p:nvPr/>
        </p:nvSpPr>
        <p:spPr>
          <a:xfrm>
            <a:off x="3915460"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2036" y="1920240"/>
            <a:ext cx="1327708" cy="301752"/>
          </a:xfrm>
          <a:prstGeom prst="rect">
            <a:avLst/>
          </a:prstGeom>
          <a:noFill/>
        </p:spPr>
        <p:txBody>
          <a:bodyPr wrap="square">
            <a:spAutoFit/>
          </a:bodyPr>
          <a:lstStyle/>
          <a:p>
            <a:pPr algn="l"/>
            <a:r>
              <a:rPr sz="700" b="0" i="0">
                <a:solidFill>
                  <a:srgbClr val="2C3E50"/>
                </a:solidFill>
                <a:latin typeface="Calibri" panose="020F0502020204030204"/>
              </a:rPr>
              <a:t>30k×1.5k×$0.05 + 30k×0.3k×$0.20</a:t>
            </a:r>
            <a:endParaRPr sz="700" b="0" i="0">
              <a:solidFill>
                <a:srgbClr val="2C3E50"/>
              </a:solidFill>
              <a:latin typeface="Calibri" panose="020F0502020204030204"/>
            </a:endParaRPr>
          </a:p>
        </p:txBody>
      </p:sp>
      <p:sp>
        <p:nvSpPr>
          <p:cNvPr id="32" name="Rectangle 31"/>
          <p:cNvSpPr/>
          <p:nvPr/>
        </p:nvSpPr>
        <p:spPr>
          <a:xfrm>
            <a:off x="5298033"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34609" y="1920240"/>
            <a:ext cx="636422" cy="301752"/>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34" name="Rectangle 33"/>
          <p:cNvSpPr/>
          <p:nvPr/>
        </p:nvSpPr>
        <p:spPr>
          <a:xfrm>
            <a:off x="228600"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5176" y="2267712"/>
            <a:ext cx="866851" cy="301752"/>
          </a:xfrm>
          <a:prstGeom prst="rect">
            <a:avLst/>
          </a:prstGeom>
          <a:noFill/>
        </p:spPr>
        <p:txBody>
          <a:bodyPr wrap="square">
            <a:spAutoFit/>
          </a:bodyPr>
          <a:lstStyle/>
          <a:p>
            <a:pPr algn="l"/>
            <a:r>
              <a:rPr sz="700" b="0" i="0">
                <a:solidFill>
                  <a:srgbClr val="2C3E50"/>
                </a:solidFill>
                <a:latin typeface="Calibri" panose="020F0502020204030204"/>
              </a:rPr>
              <a:t>Router</a:t>
            </a:r>
            <a:endParaRPr sz="700" b="0" i="0">
              <a:solidFill>
                <a:srgbClr val="2C3E50"/>
              </a:solidFill>
              <a:latin typeface="Calibri" panose="020F0502020204030204"/>
            </a:endParaRPr>
          </a:p>
        </p:txBody>
      </p:sp>
      <p:sp>
        <p:nvSpPr>
          <p:cNvPr id="36" name="Rectangle 35"/>
          <p:cNvSpPr/>
          <p:nvPr/>
        </p:nvSpPr>
        <p:spPr>
          <a:xfrm>
            <a:off x="1150315"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6891" y="2267712"/>
            <a:ext cx="1212494" cy="301752"/>
          </a:xfrm>
          <a:prstGeom prst="rect">
            <a:avLst/>
          </a:prstGeom>
          <a:noFill/>
        </p:spPr>
        <p:txBody>
          <a:bodyPr wrap="square">
            <a:spAutoFit/>
          </a:bodyPr>
          <a:lstStyle/>
          <a:p>
            <a:pPr algn="l"/>
            <a:r>
              <a:rPr sz="700" b="0" i="0">
                <a:solidFill>
                  <a:srgbClr val="2C3E50"/>
                </a:solidFill>
                <a:latin typeface="Calibri" panose="020F0502020204030204"/>
              </a:rPr>
              <a:t>Qwen3.5-Flash JSON mode</a:t>
            </a:r>
            <a:endParaRPr sz="700" b="0" i="0">
              <a:solidFill>
                <a:srgbClr val="2C3E50"/>
              </a:solidFill>
              <a:latin typeface="Calibri" panose="020F0502020204030204"/>
            </a:endParaRPr>
          </a:p>
        </p:txBody>
      </p:sp>
      <p:sp>
        <p:nvSpPr>
          <p:cNvPr id="38" name="Rectangle 37"/>
          <p:cNvSpPr/>
          <p:nvPr/>
        </p:nvSpPr>
        <p:spPr>
          <a:xfrm>
            <a:off x="2417673"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54249" y="2267712"/>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40" name="Rectangle 39"/>
          <p:cNvSpPr/>
          <p:nvPr/>
        </p:nvSpPr>
        <p:spPr>
          <a:xfrm>
            <a:off x="3166567"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3143" y="2267712"/>
            <a:ext cx="694029" cy="301752"/>
          </a:xfrm>
          <a:prstGeom prst="rect">
            <a:avLst/>
          </a:prstGeom>
          <a:noFill/>
        </p:spPr>
        <p:txBody>
          <a:bodyPr wrap="square">
            <a:spAutoFit/>
          </a:bodyPr>
          <a:lstStyle/>
          <a:p>
            <a:pPr algn="l"/>
            <a:r>
              <a:rPr sz="700" b="0" i="0">
                <a:solidFill>
                  <a:srgbClr val="2C3E50"/>
                </a:solidFill>
                <a:latin typeface="Calibri" panose="020F0502020204030204"/>
              </a:rPr>
              <a:t>$0.05/$0.20/1M</a:t>
            </a:r>
            <a:endParaRPr sz="700" b="0" i="0">
              <a:solidFill>
                <a:srgbClr val="2C3E50"/>
              </a:solidFill>
              <a:latin typeface="Calibri" panose="020F0502020204030204"/>
            </a:endParaRPr>
          </a:p>
        </p:txBody>
      </p:sp>
      <p:sp>
        <p:nvSpPr>
          <p:cNvPr id="42" name="Rectangle 41"/>
          <p:cNvSpPr/>
          <p:nvPr/>
        </p:nvSpPr>
        <p:spPr>
          <a:xfrm>
            <a:off x="3915460"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52036" y="2267712"/>
            <a:ext cx="1327708" cy="301752"/>
          </a:xfrm>
          <a:prstGeom prst="rect">
            <a:avLst/>
          </a:prstGeom>
          <a:noFill/>
        </p:spPr>
        <p:txBody>
          <a:bodyPr wrap="square">
            <a:spAutoFit/>
          </a:bodyPr>
          <a:lstStyle/>
          <a:p>
            <a:pPr algn="l"/>
            <a:r>
              <a:rPr sz="700" b="0" i="0">
                <a:solidFill>
                  <a:srgbClr val="2C3E50"/>
                </a:solidFill>
                <a:latin typeface="Calibri" panose="020F0502020204030204"/>
              </a:rPr>
              <a:t>120k×0.5k×$0.05 + 120k×0.04k×$0.20</a:t>
            </a:r>
            <a:endParaRPr sz="700" b="0" i="0">
              <a:solidFill>
                <a:srgbClr val="2C3E50"/>
              </a:solidFill>
              <a:latin typeface="Calibri" panose="020F0502020204030204"/>
            </a:endParaRPr>
          </a:p>
        </p:txBody>
      </p:sp>
      <p:sp>
        <p:nvSpPr>
          <p:cNvPr id="44" name="Rectangle 43"/>
          <p:cNvSpPr/>
          <p:nvPr/>
        </p:nvSpPr>
        <p:spPr>
          <a:xfrm>
            <a:off x="5298033"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34609" y="2267712"/>
            <a:ext cx="636422" cy="301752"/>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46" name="Rectangle 45"/>
          <p:cNvSpPr/>
          <p:nvPr/>
        </p:nvSpPr>
        <p:spPr>
          <a:xfrm>
            <a:off x="228600"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5176" y="2615184"/>
            <a:ext cx="866851" cy="301752"/>
          </a:xfrm>
          <a:prstGeom prst="rect">
            <a:avLst/>
          </a:prstGeom>
          <a:noFill/>
        </p:spPr>
        <p:txBody>
          <a:bodyPr wrap="square">
            <a:spAutoFit/>
          </a:bodyPr>
          <a:lstStyle/>
          <a:p>
            <a:pPr algn="l"/>
            <a:r>
              <a:rPr sz="700" b="0" i="0">
                <a:solidFill>
                  <a:srgbClr val="2C3E50"/>
                </a:solidFill>
                <a:latin typeface="Calibri" panose="020F0502020204030204"/>
              </a:rPr>
              <a:t>Specialist agents</a:t>
            </a:r>
            <a:endParaRPr sz="700" b="0" i="0">
              <a:solidFill>
                <a:srgbClr val="2C3E50"/>
              </a:solidFill>
              <a:latin typeface="Calibri" panose="020F0502020204030204"/>
            </a:endParaRPr>
          </a:p>
        </p:txBody>
      </p:sp>
      <p:sp>
        <p:nvSpPr>
          <p:cNvPr id="48" name="Rectangle 47"/>
          <p:cNvSpPr/>
          <p:nvPr/>
        </p:nvSpPr>
        <p:spPr>
          <a:xfrm>
            <a:off x="1150315"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86891" y="2615184"/>
            <a:ext cx="1212494" cy="301752"/>
          </a:xfrm>
          <a:prstGeom prst="rect">
            <a:avLst/>
          </a:prstGeom>
          <a:noFill/>
        </p:spPr>
        <p:txBody>
          <a:bodyPr wrap="square">
            <a:spAutoFit/>
          </a:bodyPr>
          <a:lstStyle/>
          <a:p>
            <a:pPr algn="l"/>
            <a:r>
              <a:rPr sz="700" b="0" i="0">
                <a:solidFill>
                  <a:srgbClr val="2C3E50"/>
                </a:solidFill>
                <a:latin typeface="Calibri" panose="020F0502020204030204"/>
              </a:rPr>
              <a:t>Qwen3.5-Plus (Model Studio)</a:t>
            </a:r>
            <a:endParaRPr sz="700" b="0" i="0">
              <a:solidFill>
                <a:srgbClr val="2C3E50"/>
              </a:solidFill>
              <a:latin typeface="Calibri" panose="020F0502020204030204"/>
            </a:endParaRPr>
          </a:p>
        </p:txBody>
      </p:sp>
      <p:sp>
        <p:nvSpPr>
          <p:cNvPr id="50" name="Rectangle 49"/>
          <p:cNvSpPr/>
          <p:nvPr/>
        </p:nvSpPr>
        <p:spPr>
          <a:xfrm>
            <a:off x="2417673"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54249" y="2615184"/>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52" name="Rectangle 51"/>
          <p:cNvSpPr/>
          <p:nvPr/>
        </p:nvSpPr>
        <p:spPr>
          <a:xfrm>
            <a:off x="3166567"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3143" y="2615184"/>
            <a:ext cx="694029" cy="301752"/>
          </a:xfrm>
          <a:prstGeom prst="rect">
            <a:avLst/>
          </a:prstGeom>
          <a:noFill/>
        </p:spPr>
        <p:txBody>
          <a:bodyPr wrap="square">
            <a:spAutoFit/>
          </a:bodyPr>
          <a:lstStyle/>
          <a:p>
            <a:pPr algn="l"/>
            <a:r>
              <a:rPr sz="700" b="0" i="0">
                <a:solidFill>
                  <a:srgbClr val="2C3E50"/>
                </a:solidFill>
                <a:latin typeface="Calibri" panose="020F0502020204030204"/>
              </a:rPr>
              <a:t>$0.115/$0.688/1M</a:t>
            </a:r>
            <a:endParaRPr sz="700" b="0" i="0">
              <a:solidFill>
                <a:srgbClr val="2C3E50"/>
              </a:solidFill>
              <a:latin typeface="Calibri" panose="020F0502020204030204"/>
            </a:endParaRPr>
          </a:p>
        </p:txBody>
      </p:sp>
      <p:sp>
        <p:nvSpPr>
          <p:cNvPr id="54" name="Rectangle 53"/>
          <p:cNvSpPr/>
          <p:nvPr/>
        </p:nvSpPr>
        <p:spPr>
          <a:xfrm>
            <a:off x="3915460"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52036" y="2615184"/>
            <a:ext cx="1327708" cy="301752"/>
          </a:xfrm>
          <a:prstGeom prst="rect">
            <a:avLst/>
          </a:prstGeom>
          <a:noFill/>
        </p:spPr>
        <p:txBody>
          <a:bodyPr wrap="square">
            <a:spAutoFit/>
          </a:bodyPr>
          <a:lstStyle/>
          <a:p>
            <a:pPr algn="l"/>
            <a:r>
              <a:rPr sz="700" b="0" i="0">
                <a:solidFill>
                  <a:srgbClr val="2C3E50"/>
                </a:solidFill>
                <a:latin typeface="Calibri" panose="020F0502020204030204"/>
              </a:rPr>
              <a:t>120k×3k×$0.115 + 120k×0.6k×$0.688</a:t>
            </a:r>
            <a:endParaRPr sz="700" b="0" i="0">
              <a:solidFill>
                <a:srgbClr val="2C3E50"/>
              </a:solidFill>
              <a:latin typeface="Calibri" panose="020F0502020204030204"/>
            </a:endParaRPr>
          </a:p>
        </p:txBody>
      </p:sp>
      <p:sp>
        <p:nvSpPr>
          <p:cNvPr id="56" name="Rectangle 55"/>
          <p:cNvSpPr/>
          <p:nvPr/>
        </p:nvSpPr>
        <p:spPr>
          <a:xfrm>
            <a:off x="5298033"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34609" y="2615184"/>
            <a:ext cx="636422" cy="301752"/>
          </a:xfrm>
          <a:prstGeom prst="rect">
            <a:avLst/>
          </a:prstGeom>
          <a:noFill/>
        </p:spPr>
        <p:txBody>
          <a:bodyPr wrap="square">
            <a:spAutoFit/>
          </a:bodyPr>
          <a:lstStyle/>
          <a:p>
            <a:pPr algn="r"/>
            <a:r>
              <a:rPr sz="900" b="1" i="0">
                <a:solidFill>
                  <a:srgbClr val="2C3E50"/>
                </a:solidFill>
                <a:latin typeface="Calibri" panose="020F0502020204030204"/>
              </a:rPr>
              <a:t>$91</a:t>
            </a:r>
            <a:endParaRPr sz="900" b="1" i="0">
              <a:solidFill>
                <a:srgbClr val="2C3E50"/>
              </a:solidFill>
              <a:latin typeface="Calibri" panose="020F0502020204030204"/>
            </a:endParaRPr>
          </a:p>
        </p:txBody>
      </p:sp>
      <p:sp>
        <p:nvSpPr>
          <p:cNvPr id="58" name="Rectangle 57"/>
          <p:cNvSpPr/>
          <p:nvPr/>
        </p:nvSpPr>
        <p:spPr>
          <a:xfrm>
            <a:off x="228600"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5176" y="2962656"/>
            <a:ext cx="866851" cy="301752"/>
          </a:xfrm>
          <a:prstGeom prst="rect">
            <a:avLst/>
          </a:prstGeom>
          <a:noFill/>
        </p:spPr>
        <p:txBody>
          <a:bodyPr wrap="square">
            <a:spAutoFit/>
          </a:bodyPr>
          <a:lstStyle/>
          <a:p>
            <a:pPr algn="l"/>
            <a:r>
              <a:rPr sz="700" b="0" i="0">
                <a:solidFill>
                  <a:srgbClr val="2C3E50"/>
                </a:solidFill>
                <a:latin typeface="Calibri" panose="020F0502020204030204"/>
              </a:rPr>
              <a:t>Student model</a:t>
            </a:r>
            <a:endParaRPr sz="700" b="0" i="0">
              <a:solidFill>
                <a:srgbClr val="2C3E50"/>
              </a:solidFill>
              <a:latin typeface="Calibri" panose="020F0502020204030204"/>
            </a:endParaRPr>
          </a:p>
        </p:txBody>
      </p:sp>
      <p:sp>
        <p:nvSpPr>
          <p:cNvPr id="60" name="Rectangle 59"/>
          <p:cNvSpPr/>
          <p:nvPr/>
        </p:nvSpPr>
        <p:spPr>
          <a:xfrm>
            <a:off x="1150315"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86891" y="2962656"/>
            <a:ext cx="1212494" cy="301752"/>
          </a:xfrm>
          <a:prstGeom prst="rect">
            <a:avLst/>
          </a:prstGeom>
          <a:noFill/>
        </p:spPr>
        <p:txBody>
          <a:bodyPr wrap="square">
            <a:spAutoFit/>
          </a:bodyPr>
          <a:lstStyle/>
          <a:p>
            <a:pPr algn="l"/>
            <a:r>
              <a:rPr sz="700" b="0" i="0">
                <a:solidFill>
                  <a:srgbClr val="2C3E50"/>
                </a:solidFill>
                <a:latin typeface="Calibri" panose="020F0502020204030204"/>
              </a:rPr>
              <a:t>Qwen3-8B SFT+LoRA
PAI-EAS A10 GPU
min=1 replica, auto-scale</a:t>
            </a:r>
            <a:endParaRPr sz="700" b="0" i="0">
              <a:solidFill>
                <a:srgbClr val="2C3E50"/>
              </a:solidFill>
              <a:latin typeface="Calibri" panose="020F0502020204030204"/>
            </a:endParaRPr>
          </a:p>
        </p:txBody>
      </p:sp>
      <p:sp>
        <p:nvSpPr>
          <p:cNvPr id="62" name="Rectangle 61"/>
          <p:cNvSpPr/>
          <p:nvPr/>
        </p:nvSpPr>
        <p:spPr>
          <a:xfrm>
            <a:off x="2417673"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454249" y="2962656"/>
            <a:ext cx="694029" cy="301752"/>
          </a:xfrm>
          <a:prstGeom prst="rect">
            <a:avLst/>
          </a:prstGeom>
          <a:noFill/>
        </p:spPr>
        <p:txBody>
          <a:bodyPr wrap="square">
            <a:spAutoFit/>
          </a:bodyPr>
          <a:lstStyle/>
          <a:p>
            <a:pPr algn="l"/>
            <a:r>
              <a:rPr sz="700" b="0" i="0">
                <a:solidFill>
                  <a:srgbClr val="2C3E50"/>
                </a:solidFill>
                <a:latin typeface="Calibri" panose="020F0502020204030204"/>
              </a:rPr>
              <a:t>720hr/mo
(min=1, 85% util)</a:t>
            </a:r>
            <a:endParaRPr sz="700" b="0" i="0">
              <a:solidFill>
                <a:srgbClr val="2C3E50"/>
              </a:solidFill>
              <a:latin typeface="Calibri" panose="020F0502020204030204"/>
            </a:endParaRPr>
          </a:p>
        </p:txBody>
      </p:sp>
      <p:sp>
        <p:nvSpPr>
          <p:cNvPr id="64" name="Rectangle 63"/>
          <p:cNvSpPr/>
          <p:nvPr/>
        </p:nvSpPr>
        <p:spPr>
          <a:xfrm>
            <a:off x="3166567"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3143" y="2962656"/>
            <a:ext cx="694029" cy="301752"/>
          </a:xfrm>
          <a:prstGeom prst="rect">
            <a:avLst/>
          </a:prstGeom>
          <a:noFill/>
        </p:spPr>
        <p:txBody>
          <a:bodyPr wrap="square">
            <a:spAutoFit/>
          </a:bodyPr>
          <a:lstStyle/>
          <a:p>
            <a:pPr algn="l"/>
            <a:r>
              <a:rPr sz="700" b="0" i="0">
                <a:solidFill>
                  <a:srgbClr val="2C3E50"/>
                </a:solidFill>
                <a:latin typeface="Calibri" panose="020F0502020204030204"/>
              </a:rPr>
              <a:t>$1.50/hr avg</a:t>
            </a:r>
            <a:endParaRPr sz="700" b="0" i="0">
              <a:solidFill>
                <a:srgbClr val="2C3E50"/>
              </a:solidFill>
              <a:latin typeface="Calibri" panose="020F0502020204030204"/>
            </a:endParaRPr>
          </a:p>
        </p:txBody>
      </p:sp>
      <p:sp>
        <p:nvSpPr>
          <p:cNvPr id="66" name="Rectangle 65"/>
          <p:cNvSpPr/>
          <p:nvPr/>
        </p:nvSpPr>
        <p:spPr>
          <a:xfrm>
            <a:off x="3915460"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52036" y="2962656"/>
            <a:ext cx="1327708" cy="301752"/>
          </a:xfrm>
          <a:prstGeom prst="rect">
            <a:avLst/>
          </a:prstGeom>
          <a:noFill/>
        </p:spPr>
        <p:txBody>
          <a:bodyPr wrap="square">
            <a:spAutoFit/>
          </a:bodyPr>
          <a:lstStyle/>
          <a:p>
            <a:pPr algn="l"/>
            <a:r>
              <a:rPr sz="700" b="0" i="0">
                <a:solidFill>
                  <a:srgbClr val="2C3E50"/>
                </a:solidFill>
                <a:latin typeface="Calibri" panose="020F0502020204030204"/>
              </a:rPr>
              <a:t>720hr × $1.50 × 0.85
(15% saving vs always-on $1,080)</a:t>
            </a:r>
            <a:endParaRPr sz="700" b="0" i="0">
              <a:solidFill>
                <a:srgbClr val="2C3E50"/>
              </a:solidFill>
              <a:latin typeface="Calibri" panose="020F0502020204030204"/>
            </a:endParaRPr>
          </a:p>
        </p:txBody>
      </p:sp>
      <p:sp>
        <p:nvSpPr>
          <p:cNvPr id="68" name="Rectangle 67"/>
          <p:cNvSpPr/>
          <p:nvPr/>
        </p:nvSpPr>
        <p:spPr>
          <a:xfrm>
            <a:off x="5298033"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334609" y="2962656"/>
            <a:ext cx="636422" cy="301752"/>
          </a:xfrm>
          <a:prstGeom prst="rect">
            <a:avLst/>
          </a:prstGeom>
          <a:noFill/>
        </p:spPr>
        <p:txBody>
          <a:bodyPr wrap="square">
            <a:spAutoFit/>
          </a:bodyPr>
          <a:lstStyle/>
          <a:p>
            <a:pPr algn="r"/>
            <a:r>
              <a:rPr sz="900" b="1" i="0">
                <a:solidFill>
                  <a:srgbClr val="2C3E50"/>
                </a:solidFill>
                <a:latin typeface="Calibri" panose="020F0502020204030204"/>
              </a:rPr>
              <a:t>$918</a:t>
            </a:r>
            <a:endParaRPr sz="900" b="1" i="0">
              <a:solidFill>
                <a:srgbClr val="2C3E50"/>
              </a:solidFill>
              <a:latin typeface="Calibri" panose="020F0502020204030204"/>
            </a:endParaRPr>
          </a:p>
        </p:txBody>
      </p:sp>
      <p:sp>
        <p:nvSpPr>
          <p:cNvPr id="70" name="Rectangle 69"/>
          <p:cNvSpPr/>
          <p:nvPr/>
        </p:nvSpPr>
        <p:spPr>
          <a:xfrm>
            <a:off x="228600"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5176" y="3310127"/>
            <a:ext cx="866851" cy="301752"/>
          </a:xfrm>
          <a:prstGeom prst="rect">
            <a:avLst/>
          </a:prstGeom>
          <a:noFill/>
        </p:spPr>
        <p:txBody>
          <a:bodyPr wrap="square">
            <a:spAutoFit/>
          </a:bodyPr>
          <a:lstStyle/>
          <a:p>
            <a:pPr algn="l"/>
            <a:r>
              <a:rPr sz="700" b="0" i="0">
                <a:solidFill>
                  <a:srgbClr val="2C3E50"/>
                </a:solidFill>
                <a:latin typeface="Calibri" panose="020F0502020204030204"/>
              </a:rPr>
              <a:t>Embeddings</a:t>
            </a:r>
            <a:endParaRPr sz="700" b="0" i="0">
              <a:solidFill>
                <a:srgbClr val="2C3E50"/>
              </a:solidFill>
              <a:latin typeface="Calibri" panose="020F0502020204030204"/>
            </a:endParaRPr>
          </a:p>
        </p:txBody>
      </p:sp>
      <p:sp>
        <p:nvSpPr>
          <p:cNvPr id="72" name="Rectangle 71"/>
          <p:cNvSpPr/>
          <p:nvPr/>
        </p:nvSpPr>
        <p:spPr>
          <a:xfrm>
            <a:off x="1150315"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86891" y="3310127"/>
            <a:ext cx="1212494" cy="301752"/>
          </a:xfrm>
          <a:prstGeom prst="rect">
            <a:avLst/>
          </a:prstGeom>
          <a:noFill/>
        </p:spPr>
        <p:txBody>
          <a:bodyPr wrap="square">
            <a:spAutoFit/>
          </a:bodyPr>
          <a:lstStyle/>
          <a:p>
            <a:pPr algn="l"/>
            <a:r>
              <a:rPr sz="700" b="0" i="0">
                <a:solidFill>
                  <a:srgbClr val="2C3E50"/>
                </a:solidFill>
                <a:latin typeface="Calibri" panose="020F0502020204030204"/>
              </a:rPr>
              <a:t>text-embedding-v4</a:t>
            </a:r>
            <a:endParaRPr sz="700" b="0" i="0">
              <a:solidFill>
                <a:srgbClr val="2C3E50"/>
              </a:solidFill>
              <a:latin typeface="Calibri" panose="020F0502020204030204"/>
            </a:endParaRPr>
          </a:p>
        </p:txBody>
      </p:sp>
      <p:sp>
        <p:nvSpPr>
          <p:cNvPr id="74" name="Rectangle 73"/>
          <p:cNvSpPr/>
          <p:nvPr/>
        </p:nvSpPr>
        <p:spPr>
          <a:xfrm>
            <a:off x="2417673"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54249" y="3310127"/>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76" name="Rectangle 75"/>
          <p:cNvSpPr/>
          <p:nvPr/>
        </p:nvSpPr>
        <p:spPr>
          <a:xfrm>
            <a:off x="3166567"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03143" y="3310127"/>
            <a:ext cx="694029" cy="301752"/>
          </a:xfrm>
          <a:prstGeom prst="rect">
            <a:avLst/>
          </a:prstGeom>
          <a:noFill/>
        </p:spPr>
        <p:txBody>
          <a:bodyPr wrap="square">
            <a:spAutoFit/>
          </a:bodyPr>
          <a:lstStyle/>
          <a:p>
            <a:pPr algn="l"/>
            <a:r>
              <a:rPr sz="700" b="0" i="0">
                <a:solidFill>
                  <a:srgbClr val="2C3E50"/>
                </a:solidFill>
                <a:latin typeface="Calibri" panose="020F0502020204030204"/>
              </a:rPr>
              <a:t>$0.07 per 1M</a:t>
            </a:r>
            <a:endParaRPr sz="700" b="0" i="0">
              <a:solidFill>
                <a:srgbClr val="2C3E50"/>
              </a:solidFill>
              <a:latin typeface="Calibri" panose="020F0502020204030204"/>
            </a:endParaRPr>
          </a:p>
        </p:txBody>
      </p:sp>
      <p:sp>
        <p:nvSpPr>
          <p:cNvPr id="78" name="Rectangle 77"/>
          <p:cNvSpPr/>
          <p:nvPr/>
        </p:nvSpPr>
        <p:spPr>
          <a:xfrm>
            <a:off x="3915460"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952036" y="3310127"/>
            <a:ext cx="1327708" cy="301752"/>
          </a:xfrm>
          <a:prstGeom prst="rect">
            <a:avLst/>
          </a:prstGeom>
          <a:noFill/>
        </p:spPr>
        <p:txBody>
          <a:bodyPr wrap="square">
            <a:spAutoFit/>
          </a:bodyPr>
          <a:lstStyle/>
          <a:p>
            <a:pPr algn="l"/>
            <a:r>
              <a:rPr sz="700" b="0" i="0">
                <a:solidFill>
                  <a:srgbClr val="2C3E50"/>
                </a:solidFill>
                <a:latin typeface="Calibri" panose="020F0502020204030204"/>
              </a:rPr>
              <a:t>150k×0.08k×$0.07</a:t>
            </a:r>
            <a:endParaRPr sz="700" b="0" i="0">
              <a:solidFill>
                <a:srgbClr val="2C3E50"/>
              </a:solidFill>
              <a:latin typeface="Calibri" panose="020F0502020204030204"/>
            </a:endParaRPr>
          </a:p>
        </p:txBody>
      </p:sp>
      <p:sp>
        <p:nvSpPr>
          <p:cNvPr id="80" name="Rectangle 79"/>
          <p:cNvSpPr/>
          <p:nvPr/>
        </p:nvSpPr>
        <p:spPr>
          <a:xfrm>
            <a:off x="5298033"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34609" y="3310127"/>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82" name="Rectangle 81"/>
          <p:cNvSpPr/>
          <p:nvPr/>
        </p:nvSpPr>
        <p:spPr>
          <a:xfrm>
            <a:off x="228600" y="3630168"/>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5176" y="3657599"/>
            <a:ext cx="866851" cy="301752"/>
          </a:xfrm>
          <a:prstGeom prst="rect">
            <a:avLst/>
          </a:prstGeom>
          <a:noFill/>
        </p:spPr>
        <p:txBody>
          <a:bodyPr wrap="square">
            <a:spAutoFit/>
          </a:bodyPr>
          <a:lstStyle/>
          <a:p>
            <a:pPr algn="l"/>
            <a:r>
              <a:rPr sz="700" b="0" i="0">
                <a:solidFill>
                  <a:srgbClr val="2C3E50"/>
                </a:solidFill>
                <a:latin typeface="Calibri" panose="020F0502020204030204"/>
              </a:rPr>
              <a:t>Re-rank</a:t>
            </a:r>
            <a:endParaRPr sz="700" b="0" i="0">
              <a:solidFill>
                <a:srgbClr val="2C3E50"/>
              </a:solidFill>
              <a:latin typeface="Calibri" panose="020F0502020204030204"/>
            </a:endParaRPr>
          </a:p>
        </p:txBody>
      </p:sp>
      <p:sp>
        <p:nvSpPr>
          <p:cNvPr id="84" name="Rectangle 83"/>
          <p:cNvSpPr/>
          <p:nvPr/>
        </p:nvSpPr>
        <p:spPr>
          <a:xfrm>
            <a:off x="1150315" y="3630168"/>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86891" y="3657599"/>
            <a:ext cx="1212494" cy="301752"/>
          </a:xfrm>
          <a:prstGeom prst="rect">
            <a:avLst/>
          </a:prstGeom>
          <a:noFill/>
        </p:spPr>
        <p:txBody>
          <a:bodyPr wrap="square">
            <a:spAutoFit/>
          </a:bodyPr>
          <a:lstStyle/>
          <a:p>
            <a:pPr algn="l"/>
            <a:r>
              <a:rPr sz="700" b="0" i="0">
                <a:solidFill>
                  <a:srgbClr val="2C3E50"/>
                </a:solidFill>
                <a:latin typeface="Calibri" panose="020F0502020204030204"/>
              </a:rPr>
              <a:t>qwen3-rerank</a:t>
            </a:r>
            <a:endParaRPr sz="700" b="0" i="0">
              <a:solidFill>
                <a:srgbClr val="2C3E50"/>
              </a:solidFill>
              <a:latin typeface="Calibri" panose="020F0502020204030204"/>
            </a:endParaRPr>
          </a:p>
        </p:txBody>
      </p:sp>
      <p:sp>
        <p:nvSpPr>
          <p:cNvPr id="86" name="Rectangle 85"/>
          <p:cNvSpPr/>
          <p:nvPr/>
        </p:nvSpPr>
        <p:spPr>
          <a:xfrm>
            <a:off x="2417673"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454249" y="3657599"/>
            <a:ext cx="694029" cy="301752"/>
          </a:xfrm>
          <a:prstGeom prst="rect">
            <a:avLst/>
          </a:prstGeom>
          <a:noFill/>
        </p:spPr>
        <p:txBody>
          <a:bodyPr wrap="square">
            <a:spAutoFit/>
          </a:bodyPr>
          <a:lstStyle/>
          <a:p>
            <a:pPr algn="l"/>
            <a:r>
              <a:rPr sz="700" b="0" i="0">
                <a:solidFill>
                  <a:srgbClr val="2C3E50"/>
                </a:solidFill>
                <a:latin typeface="Calibri" panose="020F0502020204030204"/>
              </a:rPr>
              <a:t>120k calls</a:t>
            </a:r>
            <a:endParaRPr sz="700" b="0" i="0">
              <a:solidFill>
                <a:srgbClr val="2C3E50"/>
              </a:solidFill>
              <a:latin typeface="Calibri" panose="020F0502020204030204"/>
            </a:endParaRPr>
          </a:p>
        </p:txBody>
      </p:sp>
      <p:sp>
        <p:nvSpPr>
          <p:cNvPr id="88" name="Rectangle 87"/>
          <p:cNvSpPr/>
          <p:nvPr/>
        </p:nvSpPr>
        <p:spPr>
          <a:xfrm>
            <a:off x="3166567"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203143" y="3657599"/>
            <a:ext cx="694029" cy="301752"/>
          </a:xfrm>
          <a:prstGeom prst="rect">
            <a:avLst/>
          </a:prstGeom>
          <a:noFill/>
        </p:spPr>
        <p:txBody>
          <a:bodyPr wrap="square">
            <a:spAutoFit/>
          </a:bodyPr>
          <a:lstStyle/>
          <a:p>
            <a:pPr algn="l"/>
            <a:r>
              <a:rPr sz="700" b="0" i="0">
                <a:solidFill>
                  <a:srgbClr val="2C3E50"/>
                </a:solidFill>
                <a:latin typeface="Calibri" panose="020F0502020204030204"/>
              </a:rPr>
              <a:t>$0.10 per 1M</a:t>
            </a:r>
            <a:endParaRPr sz="700" b="0" i="0">
              <a:solidFill>
                <a:srgbClr val="2C3E50"/>
              </a:solidFill>
              <a:latin typeface="Calibri" panose="020F0502020204030204"/>
            </a:endParaRPr>
          </a:p>
        </p:txBody>
      </p:sp>
      <p:sp>
        <p:nvSpPr>
          <p:cNvPr id="90" name="Rectangle 89"/>
          <p:cNvSpPr/>
          <p:nvPr/>
        </p:nvSpPr>
        <p:spPr>
          <a:xfrm>
            <a:off x="3915460" y="3630168"/>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52036" y="3657599"/>
            <a:ext cx="1327708" cy="301752"/>
          </a:xfrm>
          <a:prstGeom prst="rect">
            <a:avLst/>
          </a:prstGeom>
          <a:noFill/>
        </p:spPr>
        <p:txBody>
          <a:bodyPr wrap="square">
            <a:spAutoFit/>
          </a:bodyPr>
          <a:lstStyle/>
          <a:p>
            <a:pPr algn="l"/>
            <a:r>
              <a:rPr sz="700" b="0" i="0">
                <a:solidFill>
                  <a:srgbClr val="2C3E50"/>
                </a:solidFill>
                <a:latin typeface="Calibri" panose="020F0502020204030204"/>
              </a:rPr>
              <a:t>120k×3.6k×$0.10</a:t>
            </a:r>
            <a:endParaRPr sz="700" b="0" i="0">
              <a:solidFill>
                <a:srgbClr val="2C3E50"/>
              </a:solidFill>
              <a:latin typeface="Calibri" panose="020F0502020204030204"/>
            </a:endParaRPr>
          </a:p>
        </p:txBody>
      </p:sp>
      <p:sp>
        <p:nvSpPr>
          <p:cNvPr id="92" name="Rectangle 91"/>
          <p:cNvSpPr/>
          <p:nvPr/>
        </p:nvSpPr>
        <p:spPr>
          <a:xfrm>
            <a:off x="5298033" y="3630168"/>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334609" y="3657599"/>
            <a:ext cx="636422" cy="301752"/>
          </a:xfrm>
          <a:prstGeom prst="rect">
            <a:avLst/>
          </a:prstGeom>
          <a:noFill/>
        </p:spPr>
        <p:txBody>
          <a:bodyPr wrap="square">
            <a:spAutoFit/>
          </a:bodyPr>
          <a:lstStyle/>
          <a:p>
            <a:pPr algn="r"/>
            <a:r>
              <a:rPr sz="900" b="1" i="0">
                <a:solidFill>
                  <a:srgbClr val="2C3E50"/>
                </a:solidFill>
                <a:latin typeface="Calibri" panose="020F0502020204030204"/>
              </a:rPr>
              <a:t>$43</a:t>
            </a:r>
            <a:endParaRPr sz="900" b="1" i="0">
              <a:solidFill>
                <a:srgbClr val="2C3E50"/>
              </a:solidFill>
              <a:latin typeface="Calibri" panose="020F0502020204030204"/>
            </a:endParaRPr>
          </a:p>
        </p:txBody>
      </p:sp>
      <p:sp>
        <p:nvSpPr>
          <p:cNvPr id="94" name="Rectangle 93"/>
          <p:cNvSpPr/>
          <p:nvPr/>
        </p:nvSpPr>
        <p:spPr>
          <a:xfrm>
            <a:off x="228600" y="3977639"/>
            <a:ext cx="921715"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5176" y="4005072"/>
            <a:ext cx="866851" cy="301752"/>
          </a:xfrm>
          <a:prstGeom prst="rect">
            <a:avLst/>
          </a:prstGeom>
          <a:noFill/>
        </p:spPr>
        <p:txBody>
          <a:bodyPr wrap="square">
            <a:spAutoFit/>
          </a:bodyPr>
          <a:lstStyle/>
          <a:p>
            <a:pPr algn="l"/>
            <a:r>
              <a:rPr sz="700" b="0" i="0">
                <a:solidFill>
                  <a:srgbClr val="2C3E50"/>
                </a:solidFill>
                <a:latin typeface="Calibri" panose="020F0502020204030204"/>
              </a:rPr>
              <a:t>Context cache</a:t>
            </a:r>
            <a:endParaRPr sz="700" b="0" i="0">
              <a:solidFill>
                <a:srgbClr val="2C3E50"/>
              </a:solidFill>
              <a:latin typeface="Calibri" panose="020F0502020204030204"/>
            </a:endParaRPr>
          </a:p>
        </p:txBody>
      </p:sp>
      <p:sp>
        <p:nvSpPr>
          <p:cNvPr id="96" name="Rectangle 95"/>
          <p:cNvSpPr/>
          <p:nvPr/>
        </p:nvSpPr>
        <p:spPr>
          <a:xfrm>
            <a:off x="1150315" y="3977639"/>
            <a:ext cx="1267358"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86891" y="4005072"/>
            <a:ext cx="1212494" cy="301752"/>
          </a:xfrm>
          <a:prstGeom prst="rect">
            <a:avLst/>
          </a:prstGeom>
          <a:noFill/>
        </p:spPr>
        <p:txBody>
          <a:bodyPr wrap="square">
            <a:spAutoFit/>
          </a:bodyPr>
          <a:lstStyle/>
          <a:p>
            <a:pPr algn="l"/>
            <a:r>
              <a:rPr sz="700" b="0" i="0">
                <a:solidFill>
                  <a:srgbClr val="2C3E50"/>
                </a:solidFill>
                <a:latin typeface="Calibri" panose="020F0502020204030204"/>
              </a:rPr>
              <a:t>Qwen Context Cache (L2, ~60%)</a:t>
            </a:r>
            <a:endParaRPr sz="700" b="0" i="0">
              <a:solidFill>
                <a:srgbClr val="2C3E50"/>
              </a:solidFill>
              <a:latin typeface="Calibri" panose="020F0502020204030204"/>
            </a:endParaRPr>
          </a:p>
        </p:txBody>
      </p:sp>
      <p:sp>
        <p:nvSpPr>
          <p:cNvPr id="98" name="Rectangle 97"/>
          <p:cNvSpPr/>
          <p:nvPr/>
        </p:nvSpPr>
        <p:spPr>
          <a:xfrm>
            <a:off x="2417673" y="3977639"/>
            <a:ext cx="748893"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454249" y="4005072"/>
            <a:ext cx="694029" cy="301752"/>
          </a:xfrm>
          <a:prstGeom prst="rect">
            <a:avLst/>
          </a:prstGeom>
          <a:noFill/>
        </p:spPr>
        <p:txBody>
          <a:bodyPr wrap="square">
            <a:spAutoFit/>
          </a:bodyPr>
          <a:lstStyle/>
          <a:p>
            <a:pPr algn="l"/>
            <a:r>
              <a:rPr sz="700" b="0" i="0">
                <a:solidFill>
                  <a:srgbClr val="2C3E50"/>
                </a:solidFill>
                <a:latin typeface="Calibri" panose="020F0502020204030204"/>
              </a:rPr>
              <a:t>90k hits</a:t>
            </a:r>
            <a:endParaRPr sz="700" b="0" i="0">
              <a:solidFill>
                <a:srgbClr val="2C3E50"/>
              </a:solidFill>
              <a:latin typeface="Calibri" panose="020F0502020204030204"/>
            </a:endParaRPr>
          </a:p>
        </p:txBody>
      </p:sp>
      <p:sp>
        <p:nvSpPr>
          <p:cNvPr id="100" name="Rectangle 99"/>
          <p:cNvSpPr/>
          <p:nvPr/>
        </p:nvSpPr>
        <p:spPr>
          <a:xfrm>
            <a:off x="3166567" y="3977639"/>
            <a:ext cx="748893"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203143" y="4005072"/>
            <a:ext cx="694029" cy="301752"/>
          </a:xfrm>
          <a:prstGeom prst="rect">
            <a:avLst/>
          </a:prstGeom>
          <a:noFill/>
        </p:spPr>
        <p:txBody>
          <a:bodyPr wrap="square">
            <a:spAutoFit/>
          </a:bodyPr>
          <a:lstStyle/>
          <a:p>
            <a:pPr algn="l"/>
            <a:r>
              <a:rPr sz="700" b="0" i="0">
                <a:solidFill>
                  <a:srgbClr val="2C3E50"/>
                </a:solidFill>
                <a:latin typeface="Calibri" panose="020F0502020204030204"/>
              </a:rPr>
              <a:t>−90% cached tok</a:t>
            </a:r>
            <a:endParaRPr sz="700" b="0" i="0">
              <a:solidFill>
                <a:srgbClr val="2C3E50"/>
              </a:solidFill>
              <a:latin typeface="Calibri" panose="020F0502020204030204"/>
            </a:endParaRPr>
          </a:p>
        </p:txBody>
      </p:sp>
      <p:sp>
        <p:nvSpPr>
          <p:cNvPr id="102" name="Rectangle 101"/>
          <p:cNvSpPr/>
          <p:nvPr/>
        </p:nvSpPr>
        <p:spPr>
          <a:xfrm>
            <a:off x="3915460" y="3977639"/>
            <a:ext cx="1382572"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952036" y="4005072"/>
            <a:ext cx="1327708" cy="301752"/>
          </a:xfrm>
          <a:prstGeom prst="rect">
            <a:avLst/>
          </a:prstGeom>
          <a:noFill/>
        </p:spPr>
        <p:txBody>
          <a:bodyPr wrap="square">
            <a:spAutoFit/>
          </a:bodyPr>
          <a:lstStyle/>
          <a:p>
            <a:pPr algn="l"/>
            <a:r>
              <a:rPr sz="700" b="0" i="0">
                <a:solidFill>
                  <a:srgbClr val="2C3E50"/>
                </a:solidFill>
                <a:latin typeface="Calibri" panose="020F0502020204030204"/>
              </a:rPr>
              <a:t>~40% reduction on Plus cost</a:t>
            </a:r>
            <a:endParaRPr sz="700" b="0" i="0">
              <a:solidFill>
                <a:srgbClr val="2C3E50"/>
              </a:solidFill>
              <a:latin typeface="Calibri" panose="020F0502020204030204"/>
            </a:endParaRPr>
          </a:p>
        </p:txBody>
      </p:sp>
      <p:sp>
        <p:nvSpPr>
          <p:cNvPr id="104" name="Rectangle 103"/>
          <p:cNvSpPr/>
          <p:nvPr/>
        </p:nvSpPr>
        <p:spPr>
          <a:xfrm>
            <a:off x="5298033" y="3977639"/>
            <a:ext cx="691286" cy="347472"/>
          </a:xfrm>
          <a:prstGeom prst="rect">
            <a:avLst/>
          </a:prstGeom>
          <a:solidFill>
            <a:srgbClr val="E8F5E9"/>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334609" y="4005072"/>
            <a:ext cx="636422" cy="301752"/>
          </a:xfrm>
          <a:prstGeom prst="rect">
            <a:avLst/>
          </a:prstGeom>
          <a:noFill/>
        </p:spPr>
        <p:txBody>
          <a:bodyPr wrap="square">
            <a:spAutoFit/>
          </a:bodyPr>
          <a:lstStyle/>
          <a:p>
            <a:pPr algn="r"/>
            <a:r>
              <a:rPr sz="900" b="1" i="0">
                <a:solidFill>
                  <a:srgbClr val="27AE60"/>
                </a:solidFill>
                <a:latin typeface="Calibri" panose="020F0502020204030204"/>
              </a:rPr>
              <a:t>−$36</a:t>
            </a:r>
            <a:endParaRPr sz="900" b="1" i="0">
              <a:solidFill>
                <a:srgbClr val="27AE60"/>
              </a:solidFill>
              <a:latin typeface="Calibri" panose="020F0502020204030204"/>
            </a:endParaRPr>
          </a:p>
        </p:txBody>
      </p:sp>
      <p:sp>
        <p:nvSpPr>
          <p:cNvPr id="106" name="Rectangle 105"/>
          <p:cNvSpPr/>
          <p:nvPr/>
        </p:nvSpPr>
        <p:spPr>
          <a:xfrm>
            <a:off x="228600" y="4361688"/>
            <a:ext cx="5760720" cy="310896"/>
          </a:xfrm>
          <a:prstGeom prst="rect">
            <a:avLst/>
          </a:prstGeom>
          <a:solidFill>
            <a:srgbClr val="5D1D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38328" y="4416551"/>
            <a:ext cx="3744468" cy="219456"/>
          </a:xfrm>
          <a:prstGeom prst="rect">
            <a:avLst/>
          </a:prstGeom>
          <a:noFill/>
        </p:spPr>
        <p:txBody>
          <a:bodyPr wrap="square">
            <a:spAutoFit/>
          </a:bodyPr>
          <a:lstStyle/>
          <a:p>
            <a:pPr algn="l"/>
            <a:r>
              <a:rPr sz="900" b="1" i="0">
                <a:solidFill>
                  <a:srgbClr val="FFFFFF"/>
                </a:solidFill>
                <a:latin typeface="Calibri" panose="020F0502020204030204"/>
              </a:rPr>
              <a:t>LLM + PAI-EAS Subtotal</a:t>
            </a:r>
            <a:endParaRPr sz="900" b="1" i="0">
              <a:solidFill>
                <a:srgbClr val="FFFFFF"/>
              </a:solidFill>
              <a:latin typeface="Calibri" panose="020F0502020204030204"/>
            </a:endParaRPr>
          </a:p>
        </p:txBody>
      </p:sp>
      <p:sp>
        <p:nvSpPr>
          <p:cNvPr id="108" name="TextBox 107"/>
          <p:cNvSpPr txBox="1"/>
          <p:nvPr/>
        </p:nvSpPr>
        <p:spPr>
          <a:xfrm>
            <a:off x="3973068" y="4398264"/>
            <a:ext cx="1901037" cy="256032"/>
          </a:xfrm>
          <a:prstGeom prst="rect">
            <a:avLst/>
          </a:prstGeom>
          <a:noFill/>
        </p:spPr>
        <p:txBody>
          <a:bodyPr wrap="square">
            <a:spAutoFit/>
          </a:bodyPr>
          <a:lstStyle/>
          <a:p>
            <a:pPr algn="r"/>
            <a:r>
              <a:rPr sz="1200" b="1" i="0">
                <a:solidFill>
                  <a:srgbClr val="FFC107"/>
                </a:solidFill>
                <a:latin typeface="Calibri" panose="020F0502020204030204"/>
              </a:rPr>
              <a:t>~$1,025 / mo</a:t>
            </a:r>
            <a:endParaRPr sz="1200" b="1" i="0">
              <a:solidFill>
                <a:srgbClr val="FFC107"/>
              </a:solidFill>
              <a:latin typeface="Calibri" panose="020F0502020204030204"/>
            </a:endParaRPr>
          </a:p>
        </p:txBody>
      </p:sp>
      <p:sp>
        <p:nvSpPr>
          <p:cNvPr id="109" name="Rectangle 108"/>
          <p:cNvSpPr/>
          <p:nvPr/>
        </p:nvSpPr>
        <p:spPr>
          <a:xfrm>
            <a:off x="228600" y="4745736"/>
            <a:ext cx="5760720" cy="32918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38328" y="4791455"/>
            <a:ext cx="5577840" cy="237744"/>
          </a:xfrm>
          <a:prstGeom prst="rect">
            <a:avLst/>
          </a:prstGeom>
          <a:noFill/>
        </p:spPr>
        <p:txBody>
          <a:bodyPr wrap="square">
            <a:spAutoFit/>
          </a:bodyPr>
          <a:lstStyle/>
          <a:p>
            <a:pPr algn="l"/>
            <a:r>
              <a:rPr sz="1000" b="1" i="0">
                <a:solidFill>
                  <a:srgbClr val="FFFFFF"/>
                </a:solidFill>
                <a:latin typeface="Calibri" panose="020F0502020204030204"/>
              </a:rPr>
              <a:t>MONTHLY FINE-TUNING  (PAI-DLC + Model Studio)</a:t>
            </a:r>
            <a:endParaRPr sz="1000" b="1" i="0">
              <a:solidFill>
                <a:srgbClr val="FFFFFF"/>
              </a:solidFill>
              <a:latin typeface="Calibri" panose="020F0502020204030204"/>
            </a:endParaRPr>
          </a:p>
        </p:txBody>
      </p:sp>
      <p:sp>
        <p:nvSpPr>
          <p:cNvPr id="111" name="Rectangle 110"/>
          <p:cNvSpPr/>
          <p:nvPr/>
        </p:nvSpPr>
        <p:spPr>
          <a:xfrm>
            <a:off x="228600" y="5074920"/>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65176" y="5102352"/>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13" name="Rectangle 112"/>
          <p:cNvSpPr/>
          <p:nvPr/>
        </p:nvSpPr>
        <p:spPr>
          <a:xfrm>
            <a:off x="1150315" y="5074920"/>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86891" y="5102352"/>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15" name="Rectangle 114"/>
          <p:cNvSpPr/>
          <p:nvPr/>
        </p:nvSpPr>
        <p:spPr>
          <a:xfrm>
            <a:off x="2417673" y="5074920"/>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454249" y="5102352"/>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17" name="Rectangle 116"/>
          <p:cNvSpPr/>
          <p:nvPr/>
        </p:nvSpPr>
        <p:spPr>
          <a:xfrm>
            <a:off x="3166567" y="5074920"/>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203143" y="5102352"/>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19" name="Rectangle 118"/>
          <p:cNvSpPr/>
          <p:nvPr/>
        </p:nvSpPr>
        <p:spPr>
          <a:xfrm>
            <a:off x="3915460" y="5074920"/>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952036" y="5102352"/>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121" name="Rectangle 120"/>
          <p:cNvSpPr/>
          <p:nvPr/>
        </p:nvSpPr>
        <p:spPr>
          <a:xfrm>
            <a:off x="5298033" y="5074920"/>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334609" y="5102352"/>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123" name="Rectangle 122"/>
          <p:cNvSpPr/>
          <p:nvPr/>
        </p:nvSpPr>
        <p:spPr>
          <a:xfrm>
            <a:off x="228600" y="5312664"/>
            <a:ext cx="921715"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65176" y="5340096"/>
            <a:ext cx="866851" cy="283464"/>
          </a:xfrm>
          <a:prstGeom prst="rect">
            <a:avLst/>
          </a:prstGeom>
          <a:noFill/>
        </p:spPr>
        <p:txBody>
          <a:bodyPr wrap="square">
            <a:spAutoFit/>
          </a:bodyPr>
          <a:lstStyle/>
          <a:p>
            <a:pPr algn="l"/>
            <a:r>
              <a:rPr sz="700" b="0" i="0">
                <a:solidFill>
                  <a:srgbClr val="2C3E50"/>
                </a:solidFill>
                <a:latin typeface="Calibri" panose="020F0502020204030204"/>
              </a:rPr>
              <a:t>Data generation</a:t>
            </a:r>
            <a:endParaRPr sz="700" b="0" i="0">
              <a:solidFill>
                <a:srgbClr val="2C3E50"/>
              </a:solidFill>
              <a:latin typeface="Calibri" panose="020F0502020204030204"/>
            </a:endParaRPr>
          </a:p>
        </p:txBody>
      </p:sp>
      <p:sp>
        <p:nvSpPr>
          <p:cNvPr id="125" name="Rectangle 124"/>
          <p:cNvSpPr/>
          <p:nvPr/>
        </p:nvSpPr>
        <p:spPr>
          <a:xfrm>
            <a:off x="1150315" y="5312664"/>
            <a:ext cx="1267358"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86891" y="5340096"/>
            <a:ext cx="1212494" cy="283464"/>
          </a:xfrm>
          <a:prstGeom prst="rect">
            <a:avLst/>
          </a:prstGeom>
          <a:noFill/>
        </p:spPr>
        <p:txBody>
          <a:bodyPr wrap="square">
            <a:spAutoFit/>
          </a:bodyPr>
          <a:lstStyle/>
          <a:p>
            <a:pPr algn="l"/>
            <a:r>
              <a:rPr sz="700" b="0" i="0">
                <a:solidFill>
                  <a:srgbClr val="2C3E50"/>
                </a:solidFill>
                <a:latin typeface="Calibri" panose="020F0502020204030204"/>
              </a:rPr>
              <a:t>Qwen3.5-Plus as teacher (Model Studio)</a:t>
            </a:r>
            <a:endParaRPr sz="700" b="0" i="0">
              <a:solidFill>
                <a:srgbClr val="2C3E50"/>
              </a:solidFill>
              <a:latin typeface="Calibri" panose="020F0502020204030204"/>
            </a:endParaRPr>
          </a:p>
        </p:txBody>
      </p:sp>
      <p:sp>
        <p:nvSpPr>
          <p:cNvPr id="127" name="Rectangle 126"/>
          <p:cNvSpPr/>
          <p:nvPr/>
        </p:nvSpPr>
        <p:spPr>
          <a:xfrm>
            <a:off x="2417673" y="5312664"/>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454249" y="5340096"/>
            <a:ext cx="694029" cy="283464"/>
          </a:xfrm>
          <a:prstGeom prst="rect">
            <a:avLst/>
          </a:prstGeom>
          <a:noFill/>
        </p:spPr>
        <p:txBody>
          <a:bodyPr wrap="square">
            <a:spAutoFit/>
          </a:bodyPr>
          <a:lstStyle/>
          <a:p>
            <a:pPr algn="l"/>
            <a:r>
              <a:rPr sz="700" b="0" i="0">
                <a:solidFill>
                  <a:srgbClr val="2C3E50"/>
                </a:solidFill>
                <a:latin typeface="Calibri" panose="020F0502020204030204"/>
              </a:rPr>
              <a:t>10k Q&amp;A/mo</a:t>
            </a:r>
            <a:endParaRPr sz="700" b="0" i="0">
              <a:solidFill>
                <a:srgbClr val="2C3E50"/>
              </a:solidFill>
              <a:latin typeface="Calibri" panose="020F0502020204030204"/>
            </a:endParaRPr>
          </a:p>
        </p:txBody>
      </p:sp>
      <p:sp>
        <p:nvSpPr>
          <p:cNvPr id="129" name="Rectangle 128"/>
          <p:cNvSpPr/>
          <p:nvPr/>
        </p:nvSpPr>
        <p:spPr>
          <a:xfrm>
            <a:off x="3166567" y="5312664"/>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203143" y="5340096"/>
            <a:ext cx="694029" cy="283464"/>
          </a:xfrm>
          <a:prstGeom prst="rect">
            <a:avLst/>
          </a:prstGeom>
          <a:noFill/>
        </p:spPr>
        <p:txBody>
          <a:bodyPr wrap="square">
            <a:spAutoFit/>
          </a:bodyPr>
          <a:lstStyle/>
          <a:p>
            <a:pPr algn="l"/>
            <a:r>
              <a:rPr sz="700" b="0" i="0">
                <a:solidFill>
                  <a:srgbClr val="2C3E50"/>
                </a:solidFill>
                <a:latin typeface="Calibri" panose="020F0502020204030204"/>
              </a:rPr>
              <a:t>$0.115/$0.688/1M</a:t>
            </a:r>
            <a:endParaRPr sz="700" b="0" i="0">
              <a:solidFill>
                <a:srgbClr val="2C3E50"/>
              </a:solidFill>
              <a:latin typeface="Calibri" panose="020F0502020204030204"/>
            </a:endParaRPr>
          </a:p>
        </p:txBody>
      </p:sp>
      <p:sp>
        <p:nvSpPr>
          <p:cNvPr id="131" name="Rectangle 130"/>
          <p:cNvSpPr/>
          <p:nvPr/>
        </p:nvSpPr>
        <p:spPr>
          <a:xfrm>
            <a:off x="3915460" y="5312664"/>
            <a:ext cx="1382572"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952036" y="5340096"/>
            <a:ext cx="1327708" cy="283464"/>
          </a:xfrm>
          <a:prstGeom prst="rect">
            <a:avLst/>
          </a:prstGeom>
          <a:noFill/>
        </p:spPr>
        <p:txBody>
          <a:bodyPr wrap="square">
            <a:spAutoFit/>
          </a:bodyPr>
          <a:lstStyle/>
          <a:p>
            <a:pPr algn="l"/>
            <a:r>
              <a:rPr sz="700" b="0" i="0">
                <a:solidFill>
                  <a:srgbClr val="2C3E50"/>
                </a:solidFill>
                <a:latin typeface="Calibri" panose="020F0502020204030204"/>
              </a:rPr>
              <a:t>10k×0.5k×$0.115 + 10k×0.3k×$0.688</a:t>
            </a:r>
            <a:endParaRPr sz="700" b="0" i="0">
              <a:solidFill>
                <a:srgbClr val="2C3E50"/>
              </a:solidFill>
              <a:latin typeface="Calibri" panose="020F0502020204030204"/>
            </a:endParaRPr>
          </a:p>
        </p:txBody>
      </p:sp>
      <p:sp>
        <p:nvSpPr>
          <p:cNvPr id="133" name="Rectangle 132"/>
          <p:cNvSpPr/>
          <p:nvPr/>
        </p:nvSpPr>
        <p:spPr>
          <a:xfrm>
            <a:off x="5298033" y="5312664"/>
            <a:ext cx="691286"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334609" y="5340096"/>
            <a:ext cx="636422" cy="283464"/>
          </a:xfrm>
          <a:prstGeom prst="rect">
            <a:avLst/>
          </a:prstGeom>
          <a:noFill/>
        </p:spPr>
        <p:txBody>
          <a:bodyPr wrap="square">
            <a:spAutoFit/>
          </a:bodyPr>
          <a:lstStyle/>
          <a:p>
            <a:pPr algn="r"/>
            <a:r>
              <a:rPr sz="900" b="1" i="0">
                <a:solidFill>
                  <a:srgbClr val="2C3E50"/>
                </a:solidFill>
                <a:latin typeface="Calibri" panose="020F0502020204030204"/>
              </a:rPr>
              <a:t>$8</a:t>
            </a:r>
            <a:endParaRPr sz="900" b="1" i="0">
              <a:solidFill>
                <a:srgbClr val="2C3E50"/>
              </a:solidFill>
              <a:latin typeface="Calibri" panose="020F0502020204030204"/>
            </a:endParaRPr>
          </a:p>
        </p:txBody>
      </p:sp>
      <p:sp>
        <p:nvSpPr>
          <p:cNvPr id="135" name="Rectangle 134"/>
          <p:cNvSpPr/>
          <p:nvPr/>
        </p:nvSpPr>
        <p:spPr>
          <a:xfrm>
            <a:off x="228600" y="5641848"/>
            <a:ext cx="921715"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65176" y="5669280"/>
            <a:ext cx="866851" cy="283464"/>
          </a:xfrm>
          <a:prstGeom prst="rect">
            <a:avLst/>
          </a:prstGeom>
          <a:noFill/>
        </p:spPr>
        <p:txBody>
          <a:bodyPr wrap="square">
            <a:spAutoFit/>
          </a:bodyPr>
          <a:lstStyle/>
          <a:p>
            <a:pPr algn="l"/>
            <a:r>
              <a:rPr sz="700" b="0" i="0">
                <a:solidFill>
                  <a:srgbClr val="2C3E50"/>
                </a:solidFill>
                <a:latin typeface="Calibri" panose="020F0502020204030204"/>
              </a:rPr>
              <a:t>Training job</a:t>
            </a:r>
            <a:endParaRPr sz="700" b="0" i="0">
              <a:solidFill>
                <a:srgbClr val="2C3E50"/>
              </a:solidFill>
              <a:latin typeface="Calibri" panose="020F0502020204030204"/>
            </a:endParaRPr>
          </a:p>
        </p:txBody>
      </p:sp>
      <p:sp>
        <p:nvSpPr>
          <p:cNvPr id="137" name="Rectangle 136"/>
          <p:cNvSpPr/>
          <p:nvPr/>
        </p:nvSpPr>
        <p:spPr>
          <a:xfrm>
            <a:off x="1150315" y="5641848"/>
            <a:ext cx="1267358"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6891" y="5669280"/>
            <a:ext cx="1212494" cy="283464"/>
          </a:xfrm>
          <a:prstGeom prst="rect">
            <a:avLst/>
          </a:prstGeom>
          <a:noFill/>
        </p:spPr>
        <p:txBody>
          <a:bodyPr wrap="square">
            <a:spAutoFit/>
          </a:bodyPr>
          <a:lstStyle/>
          <a:p>
            <a:pPr algn="l"/>
            <a:r>
              <a:rPr sz="700" b="0" i="0">
                <a:solidFill>
                  <a:srgbClr val="2C3E50"/>
                </a:solidFill>
                <a:latin typeface="Calibri" panose="020F0502020204030204"/>
              </a:rPr>
              <a:t>PAI-DLC A10 GPU, Qwen3-8B SFT+LoRA</a:t>
            </a:r>
            <a:endParaRPr sz="700" b="0" i="0">
              <a:solidFill>
                <a:srgbClr val="2C3E50"/>
              </a:solidFill>
              <a:latin typeface="Calibri" panose="020F0502020204030204"/>
            </a:endParaRPr>
          </a:p>
        </p:txBody>
      </p:sp>
      <p:sp>
        <p:nvSpPr>
          <p:cNvPr id="139" name="Rectangle 138"/>
          <p:cNvSpPr/>
          <p:nvPr/>
        </p:nvSpPr>
        <p:spPr>
          <a:xfrm>
            <a:off x="2417673" y="5641848"/>
            <a:ext cx="748893"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454249" y="5669280"/>
            <a:ext cx="694029" cy="283464"/>
          </a:xfrm>
          <a:prstGeom prst="rect">
            <a:avLst/>
          </a:prstGeom>
          <a:noFill/>
        </p:spPr>
        <p:txBody>
          <a:bodyPr wrap="square">
            <a:spAutoFit/>
          </a:bodyPr>
          <a:lstStyle/>
          <a:p>
            <a:pPr algn="l"/>
            <a:r>
              <a:rPr sz="700" b="0" i="0">
                <a:solidFill>
                  <a:srgbClr val="2C3E50"/>
                </a:solidFill>
                <a:latin typeface="Calibri" panose="020F0502020204030204"/>
              </a:rPr>
              <a:t>~4 hr/run</a:t>
            </a:r>
            <a:endParaRPr sz="700" b="0" i="0">
              <a:solidFill>
                <a:srgbClr val="2C3E50"/>
              </a:solidFill>
              <a:latin typeface="Calibri" panose="020F0502020204030204"/>
            </a:endParaRPr>
          </a:p>
        </p:txBody>
      </p:sp>
      <p:sp>
        <p:nvSpPr>
          <p:cNvPr id="141" name="Rectangle 140"/>
          <p:cNvSpPr/>
          <p:nvPr/>
        </p:nvSpPr>
        <p:spPr>
          <a:xfrm>
            <a:off x="3166567" y="5641848"/>
            <a:ext cx="748893"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203143" y="5669280"/>
            <a:ext cx="694029" cy="283464"/>
          </a:xfrm>
          <a:prstGeom prst="rect">
            <a:avLst/>
          </a:prstGeom>
          <a:noFill/>
        </p:spPr>
        <p:txBody>
          <a:bodyPr wrap="square">
            <a:spAutoFit/>
          </a:bodyPr>
          <a:lstStyle/>
          <a:p>
            <a:pPr algn="l"/>
            <a:r>
              <a:rPr sz="700" b="0" i="0">
                <a:solidFill>
                  <a:srgbClr val="2C3E50"/>
                </a:solidFill>
                <a:latin typeface="Calibri" panose="020F0502020204030204"/>
              </a:rPr>
              <a:t>$1.50/hr</a:t>
            </a:r>
            <a:endParaRPr sz="700" b="0" i="0">
              <a:solidFill>
                <a:srgbClr val="2C3E50"/>
              </a:solidFill>
              <a:latin typeface="Calibri" panose="020F0502020204030204"/>
            </a:endParaRPr>
          </a:p>
        </p:txBody>
      </p:sp>
      <p:sp>
        <p:nvSpPr>
          <p:cNvPr id="143" name="Rectangle 142"/>
          <p:cNvSpPr/>
          <p:nvPr/>
        </p:nvSpPr>
        <p:spPr>
          <a:xfrm>
            <a:off x="3915460" y="5641848"/>
            <a:ext cx="1382572"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952036" y="5669280"/>
            <a:ext cx="1327708" cy="283464"/>
          </a:xfrm>
          <a:prstGeom prst="rect">
            <a:avLst/>
          </a:prstGeom>
          <a:noFill/>
        </p:spPr>
        <p:txBody>
          <a:bodyPr wrap="square">
            <a:spAutoFit/>
          </a:bodyPr>
          <a:lstStyle/>
          <a:p>
            <a:pPr algn="l"/>
            <a:r>
              <a:rPr sz="700" b="0" i="0">
                <a:solidFill>
                  <a:srgbClr val="2C3E50"/>
                </a:solidFill>
                <a:latin typeface="Calibri" panose="020F0502020204030204"/>
              </a:rPr>
              <a:t>4×$1.50</a:t>
            </a:r>
            <a:endParaRPr sz="700" b="0" i="0">
              <a:solidFill>
                <a:srgbClr val="2C3E50"/>
              </a:solidFill>
              <a:latin typeface="Calibri" panose="020F0502020204030204"/>
            </a:endParaRPr>
          </a:p>
        </p:txBody>
      </p:sp>
      <p:sp>
        <p:nvSpPr>
          <p:cNvPr id="145" name="Rectangle 144"/>
          <p:cNvSpPr/>
          <p:nvPr/>
        </p:nvSpPr>
        <p:spPr>
          <a:xfrm>
            <a:off x="5298033" y="5641848"/>
            <a:ext cx="691286" cy="329184"/>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334609" y="5669280"/>
            <a:ext cx="636422" cy="283464"/>
          </a:xfrm>
          <a:prstGeom prst="rect">
            <a:avLst/>
          </a:prstGeom>
          <a:noFill/>
        </p:spPr>
        <p:txBody>
          <a:bodyPr wrap="square">
            <a:spAutoFit/>
          </a:bodyPr>
          <a:lstStyle/>
          <a:p>
            <a:pPr algn="r"/>
            <a:r>
              <a:rPr sz="900" b="1" i="0">
                <a:solidFill>
                  <a:srgbClr val="2C3E50"/>
                </a:solidFill>
                <a:latin typeface="Calibri" panose="020F0502020204030204"/>
              </a:rPr>
              <a:t>$6</a:t>
            </a:r>
            <a:endParaRPr sz="900" b="1" i="0">
              <a:solidFill>
                <a:srgbClr val="2C3E50"/>
              </a:solidFill>
              <a:latin typeface="Calibri" panose="020F0502020204030204"/>
            </a:endParaRPr>
          </a:p>
        </p:txBody>
      </p:sp>
      <p:sp>
        <p:nvSpPr>
          <p:cNvPr id="147" name="Rectangle 146"/>
          <p:cNvSpPr/>
          <p:nvPr/>
        </p:nvSpPr>
        <p:spPr>
          <a:xfrm>
            <a:off x="228600" y="5971032"/>
            <a:ext cx="921715"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65176" y="5998464"/>
            <a:ext cx="866851" cy="283464"/>
          </a:xfrm>
          <a:prstGeom prst="rect">
            <a:avLst/>
          </a:prstGeom>
          <a:noFill/>
        </p:spPr>
        <p:txBody>
          <a:bodyPr wrap="square">
            <a:spAutoFit/>
          </a:bodyPr>
          <a:lstStyle/>
          <a:p>
            <a:pPr algn="l"/>
            <a:r>
              <a:rPr sz="700" b="0" i="0">
                <a:solidFill>
                  <a:srgbClr val="2C3E50"/>
                </a:solidFill>
                <a:latin typeface="Calibri" panose="020F0502020204030204"/>
              </a:rPr>
              <a:t>Model storage</a:t>
            </a:r>
            <a:endParaRPr sz="700" b="0" i="0">
              <a:solidFill>
                <a:srgbClr val="2C3E50"/>
              </a:solidFill>
              <a:latin typeface="Calibri" panose="020F0502020204030204"/>
            </a:endParaRPr>
          </a:p>
        </p:txBody>
      </p:sp>
      <p:sp>
        <p:nvSpPr>
          <p:cNvPr id="149" name="Rectangle 148"/>
          <p:cNvSpPr/>
          <p:nvPr/>
        </p:nvSpPr>
        <p:spPr>
          <a:xfrm>
            <a:off x="1150315" y="5971032"/>
            <a:ext cx="1267358"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86891" y="5998464"/>
            <a:ext cx="1212494" cy="283464"/>
          </a:xfrm>
          <a:prstGeom prst="rect">
            <a:avLst/>
          </a:prstGeom>
          <a:noFill/>
        </p:spPr>
        <p:txBody>
          <a:bodyPr wrap="square">
            <a:spAutoFit/>
          </a:bodyPr>
          <a:lstStyle/>
          <a:p>
            <a:pPr algn="l"/>
            <a:r>
              <a:rPr sz="700" b="0" i="0">
                <a:solidFill>
                  <a:srgbClr val="2C3E50"/>
                </a:solidFill>
                <a:latin typeface="Calibri" panose="020F0502020204030204"/>
              </a:rPr>
              <a:t>OSS checkpoint (~16GB)</a:t>
            </a:r>
            <a:endParaRPr sz="700" b="0" i="0">
              <a:solidFill>
                <a:srgbClr val="2C3E50"/>
              </a:solidFill>
              <a:latin typeface="Calibri" panose="020F0502020204030204"/>
            </a:endParaRPr>
          </a:p>
        </p:txBody>
      </p:sp>
      <p:sp>
        <p:nvSpPr>
          <p:cNvPr id="151" name="Rectangle 150"/>
          <p:cNvSpPr/>
          <p:nvPr/>
        </p:nvSpPr>
        <p:spPr>
          <a:xfrm>
            <a:off x="2417673" y="5971032"/>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2454249" y="5998464"/>
            <a:ext cx="694029" cy="283464"/>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153" name="Rectangle 152"/>
          <p:cNvSpPr/>
          <p:nvPr/>
        </p:nvSpPr>
        <p:spPr>
          <a:xfrm>
            <a:off x="3166567" y="5971032"/>
            <a:ext cx="748893"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203143" y="5998464"/>
            <a:ext cx="694029" cy="283464"/>
          </a:xfrm>
          <a:prstGeom prst="rect">
            <a:avLst/>
          </a:prstGeom>
          <a:noFill/>
        </p:spPr>
        <p:txBody>
          <a:bodyPr wrap="square">
            <a:spAutoFit/>
          </a:bodyPr>
          <a:lstStyle/>
          <a:p>
            <a:pPr algn="l"/>
            <a:r>
              <a:rPr sz="700" b="0" i="0">
                <a:solidFill>
                  <a:srgbClr val="2C3E50"/>
                </a:solidFill>
                <a:latin typeface="Calibri" panose="020F0502020204030204"/>
              </a:rPr>
              <a:t>$0.02/GB-mo</a:t>
            </a:r>
            <a:endParaRPr sz="700" b="0" i="0">
              <a:solidFill>
                <a:srgbClr val="2C3E50"/>
              </a:solidFill>
              <a:latin typeface="Calibri" panose="020F0502020204030204"/>
            </a:endParaRPr>
          </a:p>
        </p:txBody>
      </p:sp>
      <p:sp>
        <p:nvSpPr>
          <p:cNvPr id="155" name="Rectangle 154"/>
          <p:cNvSpPr/>
          <p:nvPr/>
        </p:nvSpPr>
        <p:spPr>
          <a:xfrm>
            <a:off x="3915460" y="5971032"/>
            <a:ext cx="1382572"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952036" y="5998464"/>
            <a:ext cx="1327708" cy="283464"/>
          </a:xfrm>
          <a:prstGeom prst="rect">
            <a:avLst/>
          </a:prstGeom>
          <a:noFill/>
        </p:spPr>
        <p:txBody>
          <a:bodyPr wrap="square">
            <a:spAutoFit/>
          </a:bodyPr>
          <a:lstStyle/>
          <a:p>
            <a:pPr algn="l"/>
            <a:r>
              <a:rPr sz="700" b="0" i="0">
                <a:solidFill>
                  <a:srgbClr val="2C3E50"/>
                </a:solidFill>
                <a:latin typeface="Calibri" panose="020F0502020204030204"/>
              </a:rPr>
              <a:t>16×$0.02</a:t>
            </a:r>
            <a:endParaRPr sz="700" b="0" i="0">
              <a:solidFill>
                <a:srgbClr val="2C3E50"/>
              </a:solidFill>
              <a:latin typeface="Calibri" panose="020F0502020204030204"/>
            </a:endParaRPr>
          </a:p>
        </p:txBody>
      </p:sp>
      <p:sp>
        <p:nvSpPr>
          <p:cNvPr id="157" name="Rectangle 156"/>
          <p:cNvSpPr/>
          <p:nvPr/>
        </p:nvSpPr>
        <p:spPr>
          <a:xfrm>
            <a:off x="5298033" y="5971032"/>
            <a:ext cx="691286" cy="329184"/>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334609" y="5998464"/>
            <a:ext cx="636422" cy="283464"/>
          </a:xfrm>
          <a:prstGeom prst="rect">
            <a:avLst/>
          </a:prstGeom>
          <a:noFill/>
        </p:spPr>
        <p:txBody>
          <a:bodyPr wrap="square">
            <a:spAutoFit/>
          </a:bodyPr>
          <a:lstStyle/>
          <a:p>
            <a:pPr algn="r"/>
            <a:r>
              <a:rPr sz="900" b="1" i="0">
                <a:solidFill>
                  <a:srgbClr val="2C3E50"/>
                </a:solidFill>
                <a:latin typeface="Calibri" panose="020F0502020204030204"/>
              </a:rPr>
              <a:t>$0</a:t>
            </a:r>
            <a:endParaRPr sz="900" b="1" i="0">
              <a:solidFill>
                <a:srgbClr val="2C3E50"/>
              </a:solidFill>
              <a:latin typeface="Calibri" panose="020F0502020204030204"/>
            </a:endParaRPr>
          </a:p>
        </p:txBody>
      </p:sp>
      <p:sp>
        <p:nvSpPr>
          <p:cNvPr id="159" name="Rectangle 158"/>
          <p:cNvSpPr/>
          <p:nvPr/>
        </p:nvSpPr>
        <p:spPr>
          <a:xfrm>
            <a:off x="228600" y="6336792"/>
            <a:ext cx="5760720" cy="310896"/>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338328" y="6391656"/>
            <a:ext cx="3744468" cy="219456"/>
          </a:xfrm>
          <a:prstGeom prst="rect">
            <a:avLst/>
          </a:prstGeom>
          <a:noFill/>
        </p:spPr>
        <p:txBody>
          <a:bodyPr wrap="square">
            <a:spAutoFit/>
          </a:bodyPr>
          <a:lstStyle/>
          <a:p>
            <a:pPr algn="l"/>
            <a:r>
              <a:rPr sz="900" b="1" i="0">
                <a:solidFill>
                  <a:srgbClr val="FFFFFF"/>
                </a:solidFill>
                <a:latin typeface="Calibri" panose="020F0502020204030204"/>
              </a:rPr>
              <a:t>Fine-tuning Subtotal</a:t>
            </a:r>
            <a:endParaRPr sz="900" b="1" i="0">
              <a:solidFill>
                <a:srgbClr val="FFFFFF"/>
              </a:solidFill>
              <a:latin typeface="Calibri" panose="020F0502020204030204"/>
            </a:endParaRPr>
          </a:p>
        </p:txBody>
      </p:sp>
      <p:sp>
        <p:nvSpPr>
          <p:cNvPr id="161" name="TextBox 160"/>
          <p:cNvSpPr txBox="1"/>
          <p:nvPr/>
        </p:nvSpPr>
        <p:spPr>
          <a:xfrm>
            <a:off x="3973068" y="6373368"/>
            <a:ext cx="1901037" cy="256032"/>
          </a:xfrm>
          <a:prstGeom prst="rect">
            <a:avLst/>
          </a:prstGeom>
          <a:noFill/>
        </p:spPr>
        <p:txBody>
          <a:bodyPr wrap="square">
            <a:spAutoFit/>
          </a:bodyPr>
          <a:lstStyle/>
          <a:p>
            <a:pPr algn="r"/>
            <a:r>
              <a:rPr sz="1200" b="1" i="0">
                <a:solidFill>
                  <a:srgbClr val="FFC107"/>
                </a:solidFill>
                <a:latin typeface="Calibri" panose="020F0502020204030204"/>
              </a:rPr>
              <a:t>~$9 / mo</a:t>
            </a:r>
            <a:endParaRPr sz="1200" b="1" i="0">
              <a:solidFill>
                <a:srgbClr val="FFC107"/>
              </a:solidFill>
              <a:latin typeface="Calibri" panose="020F0502020204030204"/>
            </a:endParaRPr>
          </a:p>
        </p:txBody>
      </p:sp>
      <p:sp>
        <p:nvSpPr>
          <p:cNvPr id="162" name="Rectangle 161"/>
          <p:cNvSpPr/>
          <p:nvPr/>
        </p:nvSpPr>
        <p:spPr>
          <a:xfrm>
            <a:off x="6199632" y="1325880"/>
            <a:ext cx="5760720" cy="32918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309360" y="1371600"/>
            <a:ext cx="5577840" cy="237744"/>
          </a:xfrm>
          <a:prstGeom prst="rect">
            <a:avLst/>
          </a:prstGeom>
          <a:noFill/>
        </p:spPr>
        <p:txBody>
          <a:bodyPr wrap="square">
            <a:spAutoFit/>
          </a:bodyPr>
          <a:lstStyle/>
          <a:p>
            <a:pPr algn="l"/>
            <a:r>
              <a:rPr sz="1000" b="1" i="0">
                <a:solidFill>
                  <a:srgbClr val="FFFFFF"/>
                </a:solidFill>
                <a:latin typeface="Calibri" panose="020F0502020204030204"/>
              </a:rPr>
              <a:t>INFRASTRUCTURE &amp; SERVICES  (Singapore International)</a:t>
            </a:r>
            <a:endParaRPr sz="1000" b="1" i="0">
              <a:solidFill>
                <a:srgbClr val="FFFFFF"/>
              </a:solidFill>
              <a:latin typeface="Calibri" panose="020F0502020204030204"/>
            </a:endParaRPr>
          </a:p>
        </p:txBody>
      </p:sp>
      <p:sp>
        <p:nvSpPr>
          <p:cNvPr id="164" name="Rectangle 163"/>
          <p:cNvSpPr/>
          <p:nvPr/>
        </p:nvSpPr>
        <p:spPr>
          <a:xfrm>
            <a:off x="6199632" y="1655064"/>
            <a:ext cx="921715"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236208" y="1682496"/>
            <a:ext cx="866851" cy="182880"/>
          </a:xfrm>
          <a:prstGeom prst="rect">
            <a:avLst/>
          </a:prstGeom>
          <a:noFill/>
        </p:spPr>
        <p:txBody>
          <a:bodyPr wrap="square">
            <a:spAutoFit/>
          </a:bodyPr>
          <a:lstStyle/>
          <a:p>
            <a:pPr algn="l"/>
            <a:r>
              <a:rPr sz="700" b="1" i="0">
                <a:solidFill>
                  <a:srgbClr val="FFFFFF"/>
                </a:solidFill>
                <a:latin typeface="Calibri" panose="020F0502020204030204"/>
              </a:rPr>
              <a:t>Component</a:t>
            </a:r>
            <a:endParaRPr sz="700" b="1" i="0">
              <a:solidFill>
                <a:srgbClr val="FFFFFF"/>
              </a:solidFill>
              <a:latin typeface="Calibri" panose="020F0502020204030204"/>
            </a:endParaRPr>
          </a:p>
        </p:txBody>
      </p:sp>
      <p:sp>
        <p:nvSpPr>
          <p:cNvPr id="166" name="Rectangle 165"/>
          <p:cNvSpPr/>
          <p:nvPr/>
        </p:nvSpPr>
        <p:spPr>
          <a:xfrm>
            <a:off x="7121347" y="1655064"/>
            <a:ext cx="1267358"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157923" y="1682496"/>
            <a:ext cx="1212494" cy="182880"/>
          </a:xfrm>
          <a:prstGeom prst="rect">
            <a:avLst/>
          </a:prstGeom>
          <a:noFill/>
        </p:spPr>
        <p:txBody>
          <a:bodyPr wrap="square">
            <a:spAutoFit/>
          </a:bodyPr>
          <a:lstStyle/>
          <a:p>
            <a:pPr algn="l"/>
            <a:r>
              <a:rPr sz="700" b="1" i="0">
                <a:solidFill>
                  <a:srgbClr val="FFFFFF"/>
                </a:solidFill>
                <a:latin typeface="Calibri" panose="020F0502020204030204"/>
              </a:rPr>
              <a:t>Service / Model</a:t>
            </a:r>
            <a:endParaRPr sz="700" b="1" i="0">
              <a:solidFill>
                <a:srgbClr val="FFFFFF"/>
              </a:solidFill>
              <a:latin typeface="Calibri" panose="020F0502020204030204"/>
            </a:endParaRPr>
          </a:p>
        </p:txBody>
      </p:sp>
      <p:sp>
        <p:nvSpPr>
          <p:cNvPr id="168" name="Rectangle 167"/>
          <p:cNvSpPr/>
          <p:nvPr/>
        </p:nvSpPr>
        <p:spPr>
          <a:xfrm>
            <a:off x="8388705"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425281" y="1682496"/>
            <a:ext cx="694029" cy="182880"/>
          </a:xfrm>
          <a:prstGeom prst="rect">
            <a:avLst/>
          </a:prstGeom>
          <a:noFill/>
        </p:spPr>
        <p:txBody>
          <a:bodyPr wrap="square">
            <a:spAutoFit/>
          </a:bodyPr>
          <a:lstStyle/>
          <a:p>
            <a:pPr algn="l"/>
            <a:r>
              <a:rPr sz="700" b="1" i="0">
                <a:solidFill>
                  <a:srgbClr val="FFFFFF"/>
                </a:solidFill>
                <a:latin typeface="Calibri" panose="020F0502020204030204"/>
              </a:rPr>
              <a:t>Volume</a:t>
            </a:r>
            <a:endParaRPr sz="700" b="1" i="0">
              <a:solidFill>
                <a:srgbClr val="FFFFFF"/>
              </a:solidFill>
              <a:latin typeface="Calibri" panose="020F0502020204030204"/>
            </a:endParaRPr>
          </a:p>
        </p:txBody>
      </p:sp>
      <p:sp>
        <p:nvSpPr>
          <p:cNvPr id="170" name="Rectangle 169"/>
          <p:cNvSpPr/>
          <p:nvPr/>
        </p:nvSpPr>
        <p:spPr>
          <a:xfrm>
            <a:off x="9137599" y="1655064"/>
            <a:ext cx="748893"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174175" y="1682496"/>
            <a:ext cx="694029" cy="182880"/>
          </a:xfrm>
          <a:prstGeom prst="rect">
            <a:avLst/>
          </a:prstGeom>
          <a:noFill/>
        </p:spPr>
        <p:txBody>
          <a:bodyPr wrap="square">
            <a:spAutoFit/>
          </a:bodyPr>
          <a:lstStyle/>
          <a:p>
            <a:pPr algn="l"/>
            <a:r>
              <a:rPr sz="700" b="1" i="0">
                <a:solidFill>
                  <a:srgbClr val="FFFFFF"/>
                </a:solidFill>
                <a:latin typeface="Calibri" panose="020F0502020204030204"/>
              </a:rPr>
              <a:t>Unit Price</a:t>
            </a:r>
            <a:endParaRPr sz="700" b="1" i="0">
              <a:solidFill>
                <a:srgbClr val="FFFFFF"/>
              </a:solidFill>
              <a:latin typeface="Calibri" panose="020F0502020204030204"/>
            </a:endParaRPr>
          </a:p>
        </p:txBody>
      </p:sp>
      <p:sp>
        <p:nvSpPr>
          <p:cNvPr id="172" name="Rectangle 171"/>
          <p:cNvSpPr/>
          <p:nvPr/>
        </p:nvSpPr>
        <p:spPr>
          <a:xfrm>
            <a:off x="9886492" y="1655064"/>
            <a:ext cx="1382572"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923068" y="1682496"/>
            <a:ext cx="1327708" cy="182880"/>
          </a:xfrm>
          <a:prstGeom prst="rect">
            <a:avLst/>
          </a:prstGeom>
          <a:noFill/>
        </p:spPr>
        <p:txBody>
          <a:bodyPr wrap="square">
            <a:spAutoFit/>
          </a:bodyPr>
          <a:lstStyle/>
          <a:p>
            <a:pPr algn="l"/>
            <a:r>
              <a:rPr sz="700" b="1" i="0">
                <a:solidFill>
                  <a:srgbClr val="FFFFFF"/>
                </a:solidFill>
                <a:latin typeface="Calibri" panose="020F0502020204030204"/>
              </a:rPr>
              <a:t>Calculation</a:t>
            </a:r>
            <a:endParaRPr sz="700" b="1" i="0">
              <a:solidFill>
                <a:srgbClr val="FFFFFF"/>
              </a:solidFill>
              <a:latin typeface="Calibri" panose="020F0502020204030204"/>
            </a:endParaRPr>
          </a:p>
        </p:txBody>
      </p:sp>
      <p:sp>
        <p:nvSpPr>
          <p:cNvPr id="174" name="Rectangle 173"/>
          <p:cNvSpPr/>
          <p:nvPr/>
        </p:nvSpPr>
        <p:spPr>
          <a:xfrm>
            <a:off x="11269065" y="1655064"/>
            <a:ext cx="691286" cy="237744"/>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305641" y="1682496"/>
            <a:ext cx="636422" cy="182880"/>
          </a:xfrm>
          <a:prstGeom prst="rect">
            <a:avLst/>
          </a:prstGeom>
          <a:noFill/>
        </p:spPr>
        <p:txBody>
          <a:bodyPr wrap="square">
            <a:spAutoFit/>
          </a:bodyPr>
          <a:lstStyle/>
          <a:p>
            <a:pPr algn="r"/>
            <a:r>
              <a:rPr sz="700" b="1" i="0">
                <a:solidFill>
                  <a:srgbClr val="FFFFFF"/>
                </a:solidFill>
                <a:latin typeface="Calibri" panose="020F0502020204030204"/>
              </a:rPr>
              <a:t>$/mo</a:t>
            </a:r>
            <a:endParaRPr sz="700" b="1" i="0">
              <a:solidFill>
                <a:srgbClr val="FFFFFF"/>
              </a:solidFill>
              <a:latin typeface="Calibri" panose="020F0502020204030204"/>
            </a:endParaRPr>
          </a:p>
        </p:txBody>
      </p:sp>
      <p:sp>
        <p:nvSpPr>
          <p:cNvPr id="176" name="Rectangle 175"/>
          <p:cNvSpPr/>
          <p:nvPr/>
        </p:nvSpPr>
        <p:spPr>
          <a:xfrm>
            <a:off x="6199632" y="1892808"/>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36208" y="1920240"/>
            <a:ext cx="866851" cy="301752"/>
          </a:xfrm>
          <a:prstGeom prst="rect">
            <a:avLst/>
          </a:prstGeom>
          <a:noFill/>
        </p:spPr>
        <p:txBody>
          <a:bodyPr wrap="square">
            <a:spAutoFit/>
          </a:bodyPr>
          <a:lstStyle/>
          <a:p>
            <a:pPr algn="l"/>
            <a:r>
              <a:rPr sz="700" b="0" i="0">
                <a:solidFill>
                  <a:srgbClr val="2C3E50"/>
                </a:solidFill>
                <a:latin typeface="Calibri" panose="020F0502020204030204"/>
              </a:rPr>
              <a:t>Vector Store</a:t>
            </a:r>
            <a:endParaRPr sz="700" b="0" i="0">
              <a:solidFill>
                <a:srgbClr val="2C3E50"/>
              </a:solidFill>
              <a:latin typeface="Calibri" panose="020F0502020204030204"/>
            </a:endParaRPr>
          </a:p>
        </p:txBody>
      </p:sp>
      <p:sp>
        <p:nvSpPr>
          <p:cNvPr id="178" name="Rectangle 177"/>
          <p:cNvSpPr/>
          <p:nvPr/>
        </p:nvSpPr>
        <p:spPr>
          <a:xfrm>
            <a:off x="7121347" y="1892808"/>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157923" y="1920240"/>
            <a:ext cx="1212494" cy="301752"/>
          </a:xfrm>
          <a:prstGeom prst="rect">
            <a:avLst/>
          </a:prstGeom>
          <a:noFill/>
        </p:spPr>
        <p:txBody>
          <a:bodyPr wrap="square">
            <a:spAutoFit/>
          </a:bodyPr>
          <a:lstStyle/>
          <a:p>
            <a:pPr algn="l"/>
            <a:r>
              <a:rPr sz="700" b="0" i="0">
                <a:solidFill>
                  <a:srgbClr val="2C3E50"/>
                </a:solidFill>
                <a:latin typeface="Calibri" panose="020F0502020204030204"/>
              </a:rPr>
              <a:t>OpenSearch Vector Search HA (2 OCU)</a:t>
            </a:r>
            <a:endParaRPr sz="700" b="0" i="0">
              <a:solidFill>
                <a:srgbClr val="2C3E50"/>
              </a:solidFill>
              <a:latin typeface="Calibri" panose="020F0502020204030204"/>
            </a:endParaRPr>
          </a:p>
        </p:txBody>
      </p:sp>
      <p:sp>
        <p:nvSpPr>
          <p:cNvPr id="180" name="Rectangle 179"/>
          <p:cNvSpPr/>
          <p:nvPr/>
        </p:nvSpPr>
        <p:spPr>
          <a:xfrm>
            <a:off x="8388705"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425281" y="1920240"/>
            <a:ext cx="694029" cy="301752"/>
          </a:xfrm>
          <a:prstGeom prst="rect">
            <a:avLst/>
          </a:prstGeom>
          <a:noFill/>
        </p:spPr>
        <p:txBody>
          <a:bodyPr wrap="square">
            <a:spAutoFit/>
          </a:bodyPr>
          <a:lstStyle/>
          <a:p>
            <a:pPr algn="l"/>
            <a:r>
              <a:rPr sz="700" b="0" i="0">
                <a:solidFill>
                  <a:srgbClr val="2C3E50"/>
                </a:solidFill>
                <a:latin typeface="Calibri" panose="020F0502020204030204"/>
              </a:rPr>
              <a:t>2 OCU × 720hr</a:t>
            </a:r>
            <a:endParaRPr sz="700" b="0" i="0">
              <a:solidFill>
                <a:srgbClr val="2C3E50"/>
              </a:solidFill>
              <a:latin typeface="Calibri" panose="020F0502020204030204"/>
            </a:endParaRPr>
          </a:p>
        </p:txBody>
      </p:sp>
      <p:sp>
        <p:nvSpPr>
          <p:cNvPr id="182" name="Rectangle 181"/>
          <p:cNvSpPr/>
          <p:nvPr/>
        </p:nvSpPr>
        <p:spPr>
          <a:xfrm>
            <a:off x="9137599" y="1892808"/>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174175" y="1920240"/>
            <a:ext cx="694029" cy="301752"/>
          </a:xfrm>
          <a:prstGeom prst="rect">
            <a:avLst/>
          </a:prstGeom>
          <a:noFill/>
        </p:spPr>
        <p:txBody>
          <a:bodyPr wrap="square">
            <a:spAutoFit/>
          </a:bodyPr>
          <a:lstStyle/>
          <a:p>
            <a:pPr algn="l"/>
            <a:r>
              <a:rPr sz="700" b="0" i="0">
                <a:solidFill>
                  <a:srgbClr val="2C3E50"/>
                </a:solidFill>
                <a:latin typeface="Calibri" panose="020F0502020204030204"/>
              </a:rPr>
              <a:t>$0.24/OCU-hr</a:t>
            </a:r>
            <a:endParaRPr sz="700" b="0" i="0">
              <a:solidFill>
                <a:srgbClr val="2C3E50"/>
              </a:solidFill>
              <a:latin typeface="Calibri" panose="020F0502020204030204"/>
            </a:endParaRPr>
          </a:p>
        </p:txBody>
      </p:sp>
      <p:sp>
        <p:nvSpPr>
          <p:cNvPr id="184" name="Rectangle 183"/>
          <p:cNvSpPr/>
          <p:nvPr/>
        </p:nvSpPr>
        <p:spPr>
          <a:xfrm>
            <a:off x="9886492" y="1892808"/>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923068" y="1920240"/>
            <a:ext cx="1327708" cy="301752"/>
          </a:xfrm>
          <a:prstGeom prst="rect">
            <a:avLst/>
          </a:prstGeom>
          <a:noFill/>
        </p:spPr>
        <p:txBody>
          <a:bodyPr wrap="square">
            <a:spAutoFit/>
          </a:bodyPr>
          <a:lstStyle/>
          <a:p>
            <a:pPr algn="l"/>
            <a:r>
              <a:rPr sz="700" b="0" i="0">
                <a:solidFill>
                  <a:srgbClr val="2C3E50"/>
                </a:solidFill>
                <a:latin typeface="Calibri" panose="020F0502020204030204"/>
              </a:rPr>
              <a:t>2×720×$0.24</a:t>
            </a:r>
            <a:endParaRPr sz="700" b="0" i="0">
              <a:solidFill>
                <a:srgbClr val="2C3E50"/>
              </a:solidFill>
              <a:latin typeface="Calibri" panose="020F0502020204030204"/>
            </a:endParaRPr>
          </a:p>
        </p:txBody>
      </p:sp>
      <p:sp>
        <p:nvSpPr>
          <p:cNvPr id="186" name="Rectangle 185"/>
          <p:cNvSpPr/>
          <p:nvPr/>
        </p:nvSpPr>
        <p:spPr>
          <a:xfrm>
            <a:off x="11269065" y="1892808"/>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305641" y="1920240"/>
            <a:ext cx="636422" cy="301752"/>
          </a:xfrm>
          <a:prstGeom prst="rect">
            <a:avLst/>
          </a:prstGeom>
          <a:noFill/>
        </p:spPr>
        <p:txBody>
          <a:bodyPr wrap="square">
            <a:spAutoFit/>
          </a:bodyPr>
          <a:lstStyle/>
          <a:p>
            <a:pPr algn="r"/>
            <a:r>
              <a:rPr sz="900" b="1" i="0">
                <a:solidFill>
                  <a:srgbClr val="2C3E50"/>
                </a:solidFill>
                <a:latin typeface="Calibri" panose="020F0502020204030204"/>
              </a:rPr>
              <a:t>$346</a:t>
            </a:r>
            <a:endParaRPr sz="900" b="1" i="0">
              <a:solidFill>
                <a:srgbClr val="2C3E50"/>
              </a:solidFill>
              <a:latin typeface="Calibri" panose="020F0502020204030204"/>
            </a:endParaRPr>
          </a:p>
        </p:txBody>
      </p:sp>
      <p:sp>
        <p:nvSpPr>
          <p:cNvPr id="188" name="Rectangle 187"/>
          <p:cNvSpPr/>
          <p:nvPr/>
        </p:nvSpPr>
        <p:spPr>
          <a:xfrm>
            <a:off x="6199632" y="2240280"/>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36208" y="2267712"/>
            <a:ext cx="866851" cy="301752"/>
          </a:xfrm>
          <a:prstGeom prst="rect">
            <a:avLst/>
          </a:prstGeom>
          <a:noFill/>
        </p:spPr>
        <p:txBody>
          <a:bodyPr wrap="square">
            <a:spAutoFit/>
          </a:bodyPr>
          <a:lstStyle/>
          <a:p>
            <a:pPr algn="l"/>
            <a:r>
              <a:rPr sz="700" b="0" i="0">
                <a:solidFill>
                  <a:srgbClr val="2C3E50"/>
                </a:solidFill>
                <a:latin typeface="Calibri" panose="020F0502020204030204"/>
              </a:rPr>
              <a:t>GraphRAG</a:t>
            </a:r>
            <a:endParaRPr sz="700" b="0" i="0">
              <a:solidFill>
                <a:srgbClr val="2C3E50"/>
              </a:solidFill>
              <a:latin typeface="Calibri" panose="020F0502020204030204"/>
            </a:endParaRPr>
          </a:p>
        </p:txBody>
      </p:sp>
      <p:sp>
        <p:nvSpPr>
          <p:cNvPr id="190" name="Rectangle 189"/>
          <p:cNvSpPr/>
          <p:nvPr/>
        </p:nvSpPr>
        <p:spPr>
          <a:xfrm>
            <a:off x="7121347" y="2240280"/>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157923" y="2267712"/>
            <a:ext cx="1212494" cy="301752"/>
          </a:xfrm>
          <a:prstGeom prst="rect">
            <a:avLst/>
          </a:prstGeom>
          <a:noFill/>
        </p:spPr>
        <p:txBody>
          <a:bodyPr wrap="square">
            <a:spAutoFit/>
          </a:bodyPr>
          <a:lstStyle/>
          <a:p>
            <a:pPr algn="l"/>
            <a:r>
              <a:rPr sz="700" b="0" i="0">
                <a:solidFill>
                  <a:srgbClr val="2C3E50"/>
                </a:solidFill>
                <a:latin typeface="Calibri" panose="020F0502020204030204"/>
              </a:rPr>
              <a:t>AnalyticDB for PostgreSQL 4c/32GB</a:t>
            </a:r>
            <a:endParaRPr sz="700" b="0" i="0">
              <a:solidFill>
                <a:srgbClr val="2C3E50"/>
              </a:solidFill>
              <a:latin typeface="Calibri" panose="020F0502020204030204"/>
            </a:endParaRPr>
          </a:p>
        </p:txBody>
      </p:sp>
      <p:sp>
        <p:nvSpPr>
          <p:cNvPr id="192" name="Rectangle 191"/>
          <p:cNvSpPr/>
          <p:nvPr/>
        </p:nvSpPr>
        <p:spPr>
          <a:xfrm>
            <a:off x="8388705"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425281" y="2267712"/>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194" name="Rectangle 193"/>
          <p:cNvSpPr/>
          <p:nvPr/>
        </p:nvSpPr>
        <p:spPr>
          <a:xfrm>
            <a:off x="9137599" y="2240280"/>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174175" y="2267712"/>
            <a:ext cx="694029" cy="301752"/>
          </a:xfrm>
          <a:prstGeom prst="rect">
            <a:avLst/>
          </a:prstGeom>
          <a:noFill/>
        </p:spPr>
        <p:txBody>
          <a:bodyPr wrap="square">
            <a:spAutoFit/>
          </a:bodyPr>
          <a:lstStyle/>
          <a:p>
            <a:pPr algn="l"/>
            <a:r>
              <a:rPr sz="700" b="0" i="0">
                <a:solidFill>
                  <a:srgbClr val="2C3E50"/>
                </a:solidFill>
                <a:latin typeface="Calibri" panose="020F0502020204030204"/>
              </a:rPr>
              <a:t>$0.42/hr</a:t>
            </a:r>
            <a:endParaRPr sz="700" b="0" i="0">
              <a:solidFill>
                <a:srgbClr val="2C3E50"/>
              </a:solidFill>
              <a:latin typeface="Calibri" panose="020F0502020204030204"/>
            </a:endParaRPr>
          </a:p>
        </p:txBody>
      </p:sp>
      <p:sp>
        <p:nvSpPr>
          <p:cNvPr id="196" name="Rectangle 195"/>
          <p:cNvSpPr/>
          <p:nvPr/>
        </p:nvSpPr>
        <p:spPr>
          <a:xfrm>
            <a:off x="9886492" y="2240280"/>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9923068" y="2267712"/>
            <a:ext cx="1327708" cy="301752"/>
          </a:xfrm>
          <a:prstGeom prst="rect">
            <a:avLst/>
          </a:prstGeom>
          <a:noFill/>
        </p:spPr>
        <p:txBody>
          <a:bodyPr wrap="square">
            <a:spAutoFit/>
          </a:bodyPr>
          <a:lstStyle/>
          <a:p>
            <a:pPr algn="l"/>
            <a:r>
              <a:rPr sz="700" b="0" i="0">
                <a:solidFill>
                  <a:srgbClr val="2C3E50"/>
                </a:solidFill>
                <a:latin typeface="Calibri" panose="020F0502020204030204"/>
              </a:rPr>
              <a:t>720×$0.42</a:t>
            </a:r>
            <a:endParaRPr sz="700" b="0" i="0">
              <a:solidFill>
                <a:srgbClr val="2C3E50"/>
              </a:solidFill>
              <a:latin typeface="Calibri" panose="020F0502020204030204"/>
            </a:endParaRPr>
          </a:p>
        </p:txBody>
      </p:sp>
      <p:sp>
        <p:nvSpPr>
          <p:cNvPr id="198" name="Rectangle 197"/>
          <p:cNvSpPr/>
          <p:nvPr/>
        </p:nvSpPr>
        <p:spPr>
          <a:xfrm>
            <a:off x="11269065" y="2240280"/>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305641" y="2267712"/>
            <a:ext cx="636422" cy="301752"/>
          </a:xfrm>
          <a:prstGeom prst="rect">
            <a:avLst/>
          </a:prstGeom>
          <a:noFill/>
        </p:spPr>
        <p:txBody>
          <a:bodyPr wrap="square">
            <a:spAutoFit/>
          </a:bodyPr>
          <a:lstStyle/>
          <a:p>
            <a:pPr algn="r"/>
            <a:r>
              <a:rPr sz="900" b="1" i="0">
                <a:solidFill>
                  <a:srgbClr val="2C3E50"/>
                </a:solidFill>
                <a:latin typeface="Calibri" panose="020F0502020204030204"/>
              </a:rPr>
              <a:t>$302</a:t>
            </a:r>
            <a:endParaRPr sz="900" b="1" i="0">
              <a:solidFill>
                <a:srgbClr val="2C3E50"/>
              </a:solidFill>
              <a:latin typeface="Calibri" panose="020F0502020204030204"/>
            </a:endParaRPr>
          </a:p>
        </p:txBody>
      </p:sp>
      <p:sp>
        <p:nvSpPr>
          <p:cNvPr id="200" name="Rectangle 199"/>
          <p:cNvSpPr/>
          <p:nvPr/>
        </p:nvSpPr>
        <p:spPr>
          <a:xfrm>
            <a:off x="6199632" y="2587752"/>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36208" y="2615184"/>
            <a:ext cx="866851" cy="301752"/>
          </a:xfrm>
          <a:prstGeom prst="rect">
            <a:avLst/>
          </a:prstGeom>
          <a:noFill/>
        </p:spPr>
        <p:txBody>
          <a:bodyPr wrap="square">
            <a:spAutoFit/>
          </a:bodyPr>
          <a:lstStyle/>
          <a:p>
            <a:pPr algn="l"/>
            <a:r>
              <a:rPr sz="700" b="0" i="0">
                <a:solidFill>
                  <a:srgbClr val="2C3E50"/>
                </a:solidFill>
                <a:latin typeface="Calibri" panose="020F0502020204030204"/>
              </a:rPr>
              <a:t>Semantic cache</a:t>
            </a:r>
            <a:endParaRPr sz="700" b="0" i="0">
              <a:solidFill>
                <a:srgbClr val="2C3E50"/>
              </a:solidFill>
              <a:latin typeface="Calibri" panose="020F0502020204030204"/>
            </a:endParaRPr>
          </a:p>
        </p:txBody>
      </p:sp>
      <p:sp>
        <p:nvSpPr>
          <p:cNvPr id="202" name="Rectangle 201"/>
          <p:cNvSpPr/>
          <p:nvPr/>
        </p:nvSpPr>
        <p:spPr>
          <a:xfrm>
            <a:off x="7121347" y="2587752"/>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157923" y="2615184"/>
            <a:ext cx="1212494" cy="301752"/>
          </a:xfrm>
          <a:prstGeom prst="rect">
            <a:avLst/>
          </a:prstGeom>
          <a:noFill/>
        </p:spPr>
        <p:txBody>
          <a:bodyPr wrap="square">
            <a:spAutoFit/>
          </a:bodyPr>
          <a:lstStyle/>
          <a:p>
            <a:pPr algn="l"/>
            <a:r>
              <a:rPr sz="700" b="0" i="0">
                <a:solidFill>
                  <a:srgbClr val="2C3E50"/>
                </a:solidFill>
                <a:latin typeface="Calibri" panose="020F0502020204030204"/>
              </a:rPr>
              <a:t>Tair (Redis-compatible, Multi-AZ)</a:t>
            </a:r>
            <a:endParaRPr sz="700" b="0" i="0">
              <a:solidFill>
                <a:srgbClr val="2C3E50"/>
              </a:solidFill>
              <a:latin typeface="Calibri" panose="020F0502020204030204"/>
            </a:endParaRPr>
          </a:p>
        </p:txBody>
      </p:sp>
      <p:sp>
        <p:nvSpPr>
          <p:cNvPr id="204" name="Rectangle 203"/>
          <p:cNvSpPr/>
          <p:nvPr/>
        </p:nvSpPr>
        <p:spPr>
          <a:xfrm>
            <a:off x="8388705"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425281" y="2615184"/>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206" name="Rectangle 205"/>
          <p:cNvSpPr/>
          <p:nvPr/>
        </p:nvSpPr>
        <p:spPr>
          <a:xfrm>
            <a:off x="9137599" y="2587752"/>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174175" y="2615184"/>
            <a:ext cx="694029" cy="301752"/>
          </a:xfrm>
          <a:prstGeom prst="rect">
            <a:avLst/>
          </a:prstGeom>
          <a:noFill/>
        </p:spPr>
        <p:txBody>
          <a:bodyPr wrap="square">
            <a:spAutoFit/>
          </a:bodyPr>
          <a:lstStyle/>
          <a:p>
            <a:pPr algn="l"/>
            <a:r>
              <a:rPr sz="700" b="0" i="0">
                <a:solidFill>
                  <a:srgbClr val="2C3E50"/>
                </a:solidFill>
                <a:latin typeface="Calibri" panose="020F0502020204030204"/>
              </a:rPr>
              <a:t>$0.083/hr</a:t>
            </a:r>
            <a:endParaRPr sz="700" b="0" i="0">
              <a:solidFill>
                <a:srgbClr val="2C3E50"/>
              </a:solidFill>
              <a:latin typeface="Calibri" panose="020F0502020204030204"/>
            </a:endParaRPr>
          </a:p>
        </p:txBody>
      </p:sp>
      <p:sp>
        <p:nvSpPr>
          <p:cNvPr id="208" name="Rectangle 207"/>
          <p:cNvSpPr/>
          <p:nvPr/>
        </p:nvSpPr>
        <p:spPr>
          <a:xfrm>
            <a:off x="9886492" y="2587752"/>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9923068" y="2615184"/>
            <a:ext cx="1327708" cy="301752"/>
          </a:xfrm>
          <a:prstGeom prst="rect">
            <a:avLst/>
          </a:prstGeom>
          <a:noFill/>
        </p:spPr>
        <p:txBody>
          <a:bodyPr wrap="square">
            <a:spAutoFit/>
          </a:bodyPr>
          <a:lstStyle/>
          <a:p>
            <a:pPr algn="l"/>
            <a:r>
              <a:rPr sz="700" b="0" i="0">
                <a:solidFill>
                  <a:srgbClr val="2C3E50"/>
                </a:solidFill>
                <a:latin typeface="Calibri" panose="020F0502020204030204"/>
              </a:rPr>
              <a:t>720×$0.083</a:t>
            </a:r>
            <a:endParaRPr sz="700" b="0" i="0">
              <a:solidFill>
                <a:srgbClr val="2C3E50"/>
              </a:solidFill>
              <a:latin typeface="Calibri" panose="020F0502020204030204"/>
            </a:endParaRPr>
          </a:p>
        </p:txBody>
      </p:sp>
      <p:sp>
        <p:nvSpPr>
          <p:cNvPr id="210" name="Rectangle 209"/>
          <p:cNvSpPr/>
          <p:nvPr/>
        </p:nvSpPr>
        <p:spPr>
          <a:xfrm>
            <a:off x="11269065" y="2587752"/>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305641" y="2615184"/>
            <a:ext cx="636422" cy="301752"/>
          </a:xfrm>
          <a:prstGeom prst="rect">
            <a:avLst/>
          </a:prstGeom>
          <a:noFill/>
        </p:spPr>
        <p:txBody>
          <a:bodyPr wrap="square">
            <a:spAutoFit/>
          </a:bodyPr>
          <a:lstStyle/>
          <a:p>
            <a:pPr algn="r"/>
            <a:r>
              <a:rPr sz="900" b="1" i="0">
                <a:solidFill>
                  <a:srgbClr val="2C3E50"/>
                </a:solidFill>
                <a:latin typeface="Calibri" panose="020F0502020204030204"/>
              </a:rPr>
              <a:t>$60</a:t>
            </a:r>
            <a:endParaRPr sz="900" b="1" i="0">
              <a:solidFill>
                <a:srgbClr val="2C3E50"/>
              </a:solidFill>
              <a:latin typeface="Calibri" panose="020F0502020204030204"/>
            </a:endParaRPr>
          </a:p>
        </p:txBody>
      </p:sp>
      <p:sp>
        <p:nvSpPr>
          <p:cNvPr id="212" name="Rectangle 211"/>
          <p:cNvSpPr/>
          <p:nvPr/>
        </p:nvSpPr>
        <p:spPr>
          <a:xfrm>
            <a:off x="6199632" y="2935224"/>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36208" y="2962656"/>
            <a:ext cx="866851" cy="301752"/>
          </a:xfrm>
          <a:prstGeom prst="rect">
            <a:avLst/>
          </a:prstGeom>
          <a:noFill/>
        </p:spPr>
        <p:txBody>
          <a:bodyPr wrap="square">
            <a:spAutoFit/>
          </a:bodyPr>
          <a:lstStyle/>
          <a:p>
            <a:pPr algn="l"/>
            <a:r>
              <a:rPr sz="700" b="0" i="0">
                <a:solidFill>
                  <a:srgbClr val="2C3E50"/>
                </a:solidFill>
                <a:latin typeface="Calibri" panose="020F0502020204030204"/>
              </a:rPr>
              <a:t>Compute</a:t>
            </a:r>
            <a:endParaRPr sz="700" b="0" i="0">
              <a:solidFill>
                <a:srgbClr val="2C3E50"/>
              </a:solidFill>
              <a:latin typeface="Calibri" panose="020F0502020204030204"/>
            </a:endParaRPr>
          </a:p>
        </p:txBody>
      </p:sp>
      <p:sp>
        <p:nvSpPr>
          <p:cNvPr id="214" name="Rectangle 213"/>
          <p:cNvSpPr/>
          <p:nvPr/>
        </p:nvSpPr>
        <p:spPr>
          <a:xfrm>
            <a:off x="7121347" y="2935224"/>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157923" y="2962656"/>
            <a:ext cx="1212494" cy="301752"/>
          </a:xfrm>
          <a:prstGeom prst="rect">
            <a:avLst/>
          </a:prstGeom>
          <a:noFill/>
        </p:spPr>
        <p:txBody>
          <a:bodyPr wrap="square">
            <a:spAutoFit/>
          </a:bodyPr>
          <a:lstStyle/>
          <a:p>
            <a:pPr algn="l"/>
            <a:r>
              <a:rPr sz="700" b="0" i="0">
                <a:solidFill>
                  <a:srgbClr val="2C3E50"/>
                </a:solidFill>
                <a:latin typeface="Calibri" panose="020F0502020204030204"/>
              </a:rPr>
              <a:t>Function Compute 3.0 (serverless)</a:t>
            </a:r>
            <a:endParaRPr sz="700" b="0" i="0">
              <a:solidFill>
                <a:srgbClr val="2C3E50"/>
              </a:solidFill>
              <a:latin typeface="Calibri" panose="020F0502020204030204"/>
            </a:endParaRPr>
          </a:p>
        </p:txBody>
      </p:sp>
      <p:sp>
        <p:nvSpPr>
          <p:cNvPr id="216" name="Rectangle 215"/>
          <p:cNvSpPr/>
          <p:nvPr/>
        </p:nvSpPr>
        <p:spPr>
          <a:xfrm>
            <a:off x="8388705"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425281" y="2962656"/>
            <a:ext cx="694029" cy="301752"/>
          </a:xfrm>
          <a:prstGeom prst="rect">
            <a:avLst/>
          </a:prstGeom>
          <a:noFill/>
        </p:spPr>
        <p:txBody>
          <a:bodyPr wrap="square">
            <a:spAutoFit/>
          </a:bodyPr>
          <a:lstStyle/>
          <a:p>
            <a:pPr algn="l"/>
            <a:r>
              <a:rPr sz="700" b="0" i="0">
                <a:solidFill>
                  <a:srgbClr val="2C3E50"/>
                </a:solidFill>
                <a:latin typeface="Calibri" panose="020F0502020204030204"/>
              </a:rPr>
              <a:t>150k×2s×512MB</a:t>
            </a:r>
            <a:endParaRPr sz="700" b="0" i="0">
              <a:solidFill>
                <a:srgbClr val="2C3E50"/>
              </a:solidFill>
              <a:latin typeface="Calibri" panose="020F0502020204030204"/>
            </a:endParaRPr>
          </a:p>
        </p:txBody>
      </p:sp>
      <p:sp>
        <p:nvSpPr>
          <p:cNvPr id="218" name="Rectangle 217"/>
          <p:cNvSpPr/>
          <p:nvPr/>
        </p:nvSpPr>
        <p:spPr>
          <a:xfrm>
            <a:off x="9137599" y="2935224"/>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174175" y="2962656"/>
            <a:ext cx="694029" cy="301752"/>
          </a:xfrm>
          <a:prstGeom prst="rect">
            <a:avLst/>
          </a:prstGeom>
          <a:noFill/>
        </p:spPr>
        <p:txBody>
          <a:bodyPr wrap="square">
            <a:spAutoFit/>
          </a:bodyPr>
          <a:lstStyle/>
          <a:p>
            <a:pPr algn="l"/>
            <a:r>
              <a:rPr sz="700" b="0" i="0">
                <a:solidFill>
                  <a:srgbClr val="2C3E50"/>
                </a:solidFill>
                <a:latin typeface="Calibri" panose="020F0502020204030204"/>
              </a:rPr>
              <a:t>$0.0000167/GB-s</a:t>
            </a:r>
            <a:endParaRPr sz="700" b="0" i="0">
              <a:solidFill>
                <a:srgbClr val="2C3E50"/>
              </a:solidFill>
              <a:latin typeface="Calibri" panose="020F0502020204030204"/>
            </a:endParaRPr>
          </a:p>
        </p:txBody>
      </p:sp>
      <p:sp>
        <p:nvSpPr>
          <p:cNvPr id="220" name="Rectangle 219"/>
          <p:cNvSpPr/>
          <p:nvPr/>
        </p:nvSpPr>
        <p:spPr>
          <a:xfrm>
            <a:off x="9886492" y="2935224"/>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9923068" y="2962656"/>
            <a:ext cx="1327708" cy="301752"/>
          </a:xfrm>
          <a:prstGeom prst="rect">
            <a:avLst/>
          </a:prstGeom>
          <a:noFill/>
        </p:spPr>
        <p:txBody>
          <a:bodyPr wrap="square">
            <a:spAutoFit/>
          </a:bodyPr>
          <a:lstStyle/>
          <a:p>
            <a:pPr algn="l"/>
            <a:r>
              <a:rPr sz="700" b="0" i="0">
                <a:solidFill>
                  <a:srgbClr val="2C3E50"/>
                </a:solidFill>
                <a:latin typeface="Calibri" panose="020F0502020204030204"/>
              </a:rPr>
              <a:t>150k×2×0.5×$0.0000167</a:t>
            </a:r>
            <a:endParaRPr sz="700" b="0" i="0">
              <a:solidFill>
                <a:srgbClr val="2C3E50"/>
              </a:solidFill>
              <a:latin typeface="Calibri" panose="020F0502020204030204"/>
            </a:endParaRPr>
          </a:p>
        </p:txBody>
      </p:sp>
      <p:sp>
        <p:nvSpPr>
          <p:cNvPr id="222" name="Rectangle 221"/>
          <p:cNvSpPr/>
          <p:nvPr/>
        </p:nvSpPr>
        <p:spPr>
          <a:xfrm>
            <a:off x="11269065" y="2935224"/>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305641" y="2962656"/>
            <a:ext cx="636422" cy="301752"/>
          </a:xfrm>
          <a:prstGeom prst="rect">
            <a:avLst/>
          </a:prstGeom>
          <a:noFill/>
        </p:spPr>
        <p:txBody>
          <a:bodyPr wrap="square">
            <a:spAutoFit/>
          </a:bodyPr>
          <a:lstStyle/>
          <a:p>
            <a:pPr algn="r"/>
            <a:r>
              <a:rPr sz="900" b="1" i="0">
                <a:solidFill>
                  <a:srgbClr val="2C3E50"/>
                </a:solidFill>
                <a:latin typeface="Calibri" panose="020F0502020204030204"/>
              </a:rPr>
              <a:t>$26</a:t>
            </a:r>
            <a:endParaRPr sz="900" b="1" i="0">
              <a:solidFill>
                <a:srgbClr val="2C3E50"/>
              </a:solidFill>
              <a:latin typeface="Calibri" panose="020F0502020204030204"/>
            </a:endParaRPr>
          </a:p>
        </p:txBody>
      </p:sp>
      <p:sp>
        <p:nvSpPr>
          <p:cNvPr id="224" name="Rectangle 223"/>
          <p:cNvSpPr/>
          <p:nvPr/>
        </p:nvSpPr>
        <p:spPr>
          <a:xfrm>
            <a:off x="6199632" y="3282696"/>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236208" y="3310127"/>
            <a:ext cx="866851" cy="301752"/>
          </a:xfrm>
          <a:prstGeom prst="rect">
            <a:avLst/>
          </a:prstGeom>
          <a:noFill/>
        </p:spPr>
        <p:txBody>
          <a:bodyPr wrap="square">
            <a:spAutoFit/>
          </a:bodyPr>
          <a:lstStyle/>
          <a:p>
            <a:pPr algn="l"/>
            <a:r>
              <a:rPr sz="700" b="0" i="0">
                <a:solidFill>
                  <a:srgbClr val="2C3E50"/>
                </a:solidFill>
                <a:latin typeface="Calibri" panose="020F0502020204030204"/>
              </a:rPr>
              <a:t>API Gateway</a:t>
            </a:r>
            <a:endParaRPr sz="700" b="0" i="0">
              <a:solidFill>
                <a:srgbClr val="2C3E50"/>
              </a:solidFill>
              <a:latin typeface="Calibri" panose="020F0502020204030204"/>
            </a:endParaRPr>
          </a:p>
        </p:txBody>
      </p:sp>
      <p:sp>
        <p:nvSpPr>
          <p:cNvPr id="226" name="Rectangle 225"/>
          <p:cNvSpPr/>
          <p:nvPr/>
        </p:nvSpPr>
        <p:spPr>
          <a:xfrm>
            <a:off x="7121347" y="3282696"/>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7157923" y="3310127"/>
            <a:ext cx="1212494" cy="301752"/>
          </a:xfrm>
          <a:prstGeom prst="rect">
            <a:avLst/>
          </a:prstGeom>
          <a:noFill/>
        </p:spPr>
        <p:txBody>
          <a:bodyPr wrap="square">
            <a:spAutoFit/>
          </a:bodyPr>
          <a:lstStyle/>
          <a:p>
            <a:pPr algn="l"/>
            <a:r>
              <a:rPr sz="700" b="0" i="0">
                <a:solidFill>
                  <a:srgbClr val="2C3E50"/>
                </a:solidFill>
                <a:latin typeface="Calibri" panose="020F0502020204030204"/>
              </a:rPr>
              <a:t>Alibaba API Gateway</a:t>
            </a:r>
            <a:endParaRPr sz="700" b="0" i="0">
              <a:solidFill>
                <a:srgbClr val="2C3E50"/>
              </a:solidFill>
              <a:latin typeface="Calibri" panose="020F0502020204030204"/>
            </a:endParaRPr>
          </a:p>
        </p:txBody>
      </p:sp>
      <p:sp>
        <p:nvSpPr>
          <p:cNvPr id="228" name="Rectangle 227"/>
          <p:cNvSpPr/>
          <p:nvPr/>
        </p:nvSpPr>
        <p:spPr>
          <a:xfrm>
            <a:off x="8388705"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425281" y="3310127"/>
            <a:ext cx="694029" cy="301752"/>
          </a:xfrm>
          <a:prstGeom prst="rect">
            <a:avLst/>
          </a:prstGeom>
          <a:noFill/>
        </p:spPr>
        <p:txBody>
          <a:bodyPr wrap="square">
            <a:spAutoFit/>
          </a:bodyPr>
          <a:lstStyle/>
          <a:p>
            <a:pPr algn="l"/>
            <a:r>
              <a:rPr sz="700" b="0" i="0">
                <a:solidFill>
                  <a:srgbClr val="2C3E50"/>
                </a:solidFill>
                <a:latin typeface="Calibri" panose="020F0502020204030204"/>
              </a:rPr>
              <a:t>150k calls</a:t>
            </a:r>
            <a:endParaRPr sz="700" b="0" i="0">
              <a:solidFill>
                <a:srgbClr val="2C3E50"/>
              </a:solidFill>
              <a:latin typeface="Calibri" panose="020F0502020204030204"/>
            </a:endParaRPr>
          </a:p>
        </p:txBody>
      </p:sp>
      <p:sp>
        <p:nvSpPr>
          <p:cNvPr id="230" name="Rectangle 229"/>
          <p:cNvSpPr/>
          <p:nvPr/>
        </p:nvSpPr>
        <p:spPr>
          <a:xfrm>
            <a:off x="9137599" y="3282696"/>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174175" y="3310127"/>
            <a:ext cx="694029" cy="301752"/>
          </a:xfrm>
          <a:prstGeom prst="rect">
            <a:avLst/>
          </a:prstGeom>
          <a:noFill/>
        </p:spPr>
        <p:txBody>
          <a:bodyPr wrap="square">
            <a:spAutoFit/>
          </a:bodyPr>
          <a:lstStyle/>
          <a:p>
            <a:pPr algn="l"/>
            <a:r>
              <a:rPr sz="700" b="0" i="0">
                <a:solidFill>
                  <a:srgbClr val="2C3E50"/>
                </a:solidFill>
                <a:latin typeface="Calibri" panose="020F0502020204030204"/>
              </a:rPr>
              <a:t>$3.50/1M</a:t>
            </a:r>
            <a:endParaRPr sz="700" b="0" i="0">
              <a:solidFill>
                <a:srgbClr val="2C3E50"/>
              </a:solidFill>
              <a:latin typeface="Calibri" panose="020F0502020204030204"/>
            </a:endParaRPr>
          </a:p>
        </p:txBody>
      </p:sp>
      <p:sp>
        <p:nvSpPr>
          <p:cNvPr id="232" name="Rectangle 231"/>
          <p:cNvSpPr/>
          <p:nvPr/>
        </p:nvSpPr>
        <p:spPr>
          <a:xfrm>
            <a:off x="9886492" y="3282696"/>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923068" y="3310127"/>
            <a:ext cx="1327708" cy="301752"/>
          </a:xfrm>
          <a:prstGeom prst="rect">
            <a:avLst/>
          </a:prstGeom>
          <a:noFill/>
        </p:spPr>
        <p:txBody>
          <a:bodyPr wrap="square">
            <a:spAutoFit/>
          </a:bodyPr>
          <a:lstStyle/>
          <a:p>
            <a:pPr algn="l"/>
            <a:r>
              <a:rPr sz="700" b="0" i="0">
                <a:solidFill>
                  <a:srgbClr val="2C3E50"/>
                </a:solidFill>
                <a:latin typeface="Calibri" panose="020F0502020204030204"/>
              </a:rPr>
              <a:t>0.15×$3.50</a:t>
            </a:r>
            <a:endParaRPr sz="700" b="0" i="0">
              <a:solidFill>
                <a:srgbClr val="2C3E50"/>
              </a:solidFill>
              <a:latin typeface="Calibri" panose="020F0502020204030204"/>
            </a:endParaRPr>
          </a:p>
        </p:txBody>
      </p:sp>
      <p:sp>
        <p:nvSpPr>
          <p:cNvPr id="234" name="Rectangle 233"/>
          <p:cNvSpPr/>
          <p:nvPr/>
        </p:nvSpPr>
        <p:spPr>
          <a:xfrm>
            <a:off x="11269065" y="3282696"/>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11305641" y="3310127"/>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236" name="Rectangle 235"/>
          <p:cNvSpPr/>
          <p:nvPr/>
        </p:nvSpPr>
        <p:spPr>
          <a:xfrm>
            <a:off x="6199632" y="3630168"/>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6236208" y="3657599"/>
            <a:ext cx="866851" cy="301752"/>
          </a:xfrm>
          <a:prstGeom prst="rect">
            <a:avLst/>
          </a:prstGeom>
          <a:noFill/>
        </p:spPr>
        <p:txBody>
          <a:bodyPr wrap="square">
            <a:spAutoFit/>
          </a:bodyPr>
          <a:lstStyle/>
          <a:p>
            <a:pPr algn="l"/>
            <a:r>
              <a:rPr sz="700" b="0" i="0">
                <a:solidFill>
                  <a:srgbClr val="2C3E50"/>
                </a:solidFill>
                <a:latin typeface="Calibri" panose="020F0502020204030204"/>
              </a:rPr>
              <a:t>CDN / Edge</a:t>
            </a:r>
            <a:endParaRPr sz="700" b="0" i="0">
              <a:solidFill>
                <a:srgbClr val="2C3E50"/>
              </a:solidFill>
              <a:latin typeface="Calibri" panose="020F0502020204030204"/>
            </a:endParaRPr>
          </a:p>
        </p:txBody>
      </p:sp>
      <p:sp>
        <p:nvSpPr>
          <p:cNvPr id="238" name="Rectangle 237"/>
          <p:cNvSpPr/>
          <p:nvPr/>
        </p:nvSpPr>
        <p:spPr>
          <a:xfrm>
            <a:off x="7121347" y="3630168"/>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7157923" y="3657599"/>
            <a:ext cx="1212494" cy="301752"/>
          </a:xfrm>
          <a:prstGeom prst="rect">
            <a:avLst/>
          </a:prstGeom>
          <a:noFill/>
        </p:spPr>
        <p:txBody>
          <a:bodyPr wrap="square">
            <a:spAutoFit/>
          </a:bodyPr>
          <a:lstStyle/>
          <a:p>
            <a:pPr algn="l"/>
            <a:r>
              <a:rPr sz="700" b="0" i="0">
                <a:solidFill>
                  <a:srgbClr val="2C3E50"/>
                </a:solidFill>
                <a:latin typeface="Calibri" panose="020F0502020204030204"/>
              </a:rPr>
              <a:t>Alibaba CDN + Anti-DDoS</a:t>
            </a:r>
            <a:endParaRPr sz="700" b="0" i="0">
              <a:solidFill>
                <a:srgbClr val="2C3E50"/>
              </a:solidFill>
              <a:latin typeface="Calibri" panose="020F0502020204030204"/>
            </a:endParaRPr>
          </a:p>
        </p:txBody>
      </p:sp>
      <p:sp>
        <p:nvSpPr>
          <p:cNvPr id="240" name="Rectangle 239"/>
          <p:cNvSpPr/>
          <p:nvPr/>
        </p:nvSpPr>
        <p:spPr>
          <a:xfrm>
            <a:off x="8388705"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25281" y="3657599"/>
            <a:ext cx="694029" cy="301752"/>
          </a:xfrm>
          <a:prstGeom prst="rect">
            <a:avLst/>
          </a:prstGeom>
          <a:noFill/>
        </p:spPr>
        <p:txBody>
          <a:bodyPr wrap="square">
            <a:spAutoFit/>
          </a:bodyPr>
          <a:lstStyle/>
          <a:p>
            <a:pPr algn="l"/>
            <a:r>
              <a:rPr sz="700" b="0" i="0">
                <a:solidFill>
                  <a:srgbClr val="2C3E50"/>
                </a:solidFill>
                <a:latin typeface="Calibri" panose="020F0502020204030204"/>
              </a:rPr>
              <a:t>~50GB</a:t>
            </a:r>
            <a:endParaRPr sz="700" b="0" i="0">
              <a:solidFill>
                <a:srgbClr val="2C3E50"/>
              </a:solidFill>
              <a:latin typeface="Calibri" panose="020F0502020204030204"/>
            </a:endParaRPr>
          </a:p>
        </p:txBody>
      </p:sp>
      <p:sp>
        <p:nvSpPr>
          <p:cNvPr id="242" name="Rectangle 241"/>
          <p:cNvSpPr/>
          <p:nvPr/>
        </p:nvSpPr>
        <p:spPr>
          <a:xfrm>
            <a:off x="9137599" y="3630168"/>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174175" y="3657599"/>
            <a:ext cx="694029" cy="301752"/>
          </a:xfrm>
          <a:prstGeom prst="rect">
            <a:avLst/>
          </a:prstGeom>
          <a:noFill/>
        </p:spPr>
        <p:txBody>
          <a:bodyPr wrap="square">
            <a:spAutoFit/>
          </a:bodyPr>
          <a:lstStyle/>
          <a:p>
            <a:pPr algn="l"/>
            <a:r>
              <a:rPr sz="700" b="0" i="0">
                <a:solidFill>
                  <a:srgbClr val="2C3E50"/>
                </a:solidFill>
                <a:latin typeface="Calibri" panose="020F0502020204030204"/>
              </a:rPr>
              <a:t>$0.10/GB</a:t>
            </a:r>
            <a:endParaRPr sz="700" b="0" i="0">
              <a:solidFill>
                <a:srgbClr val="2C3E50"/>
              </a:solidFill>
              <a:latin typeface="Calibri" panose="020F0502020204030204"/>
            </a:endParaRPr>
          </a:p>
        </p:txBody>
      </p:sp>
      <p:sp>
        <p:nvSpPr>
          <p:cNvPr id="244" name="Rectangle 243"/>
          <p:cNvSpPr/>
          <p:nvPr/>
        </p:nvSpPr>
        <p:spPr>
          <a:xfrm>
            <a:off x="9886492" y="3630168"/>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923068" y="3657599"/>
            <a:ext cx="1327708" cy="301752"/>
          </a:xfrm>
          <a:prstGeom prst="rect">
            <a:avLst/>
          </a:prstGeom>
          <a:noFill/>
        </p:spPr>
        <p:txBody>
          <a:bodyPr wrap="square">
            <a:spAutoFit/>
          </a:bodyPr>
          <a:lstStyle/>
          <a:p>
            <a:pPr algn="l"/>
            <a:r>
              <a:rPr sz="700" b="0" i="0">
                <a:solidFill>
                  <a:srgbClr val="2C3E50"/>
                </a:solidFill>
                <a:latin typeface="Calibri" panose="020F0502020204030204"/>
              </a:rPr>
              <a:t>50×$0.10</a:t>
            </a:r>
            <a:endParaRPr sz="700" b="0" i="0">
              <a:solidFill>
                <a:srgbClr val="2C3E50"/>
              </a:solidFill>
              <a:latin typeface="Calibri" panose="020F0502020204030204"/>
            </a:endParaRPr>
          </a:p>
        </p:txBody>
      </p:sp>
      <p:sp>
        <p:nvSpPr>
          <p:cNvPr id="246" name="Rectangle 245"/>
          <p:cNvSpPr/>
          <p:nvPr/>
        </p:nvSpPr>
        <p:spPr>
          <a:xfrm>
            <a:off x="11269065" y="3630168"/>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1305641" y="3657599"/>
            <a:ext cx="636422" cy="301752"/>
          </a:xfrm>
          <a:prstGeom prst="rect">
            <a:avLst/>
          </a:prstGeom>
          <a:noFill/>
        </p:spPr>
        <p:txBody>
          <a:bodyPr wrap="square">
            <a:spAutoFit/>
          </a:bodyPr>
          <a:lstStyle/>
          <a:p>
            <a:pPr algn="r"/>
            <a:r>
              <a:rPr sz="900" b="1" i="0">
                <a:solidFill>
                  <a:srgbClr val="2C3E50"/>
                </a:solidFill>
                <a:latin typeface="Calibri" panose="020F0502020204030204"/>
              </a:rPr>
              <a:t>$5</a:t>
            </a:r>
            <a:endParaRPr sz="900" b="1" i="0">
              <a:solidFill>
                <a:srgbClr val="2C3E50"/>
              </a:solidFill>
              <a:latin typeface="Calibri" panose="020F0502020204030204"/>
            </a:endParaRPr>
          </a:p>
        </p:txBody>
      </p:sp>
      <p:sp>
        <p:nvSpPr>
          <p:cNvPr id="248" name="Rectangle 247"/>
          <p:cNvSpPr/>
          <p:nvPr/>
        </p:nvSpPr>
        <p:spPr>
          <a:xfrm>
            <a:off x="6199632" y="3977639"/>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6236208" y="4005072"/>
            <a:ext cx="866851" cy="301752"/>
          </a:xfrm>
          <a:prstGeom prst="rect">
            <a:avLst/>
          </a:prstGeom>
          <a:noFill/>
        </p:spPr>
        <p:txBody>
          <a:bodyPr wrap="square">
            <a:spAutoFit/>
          </a:bodyPr>
          <a:lstStyle/>
          <a:p>
            <a:pPr algn="l"/>
            <a:r>
              <a:rPr sz="700" b="0" i="0">
                <a:solidFill>
                  <a:srgbClr val="2C3E50"/>
                </a:solidFill>
                <a:latin typeface="Calibri" panose="020F0502020204030204"/>
              </a:rPr>
              <a:t>Storage</a:t>
            </a:r>
            <a:endParaRPr sz="700" b="0" i="0">
              <a:solidFill>
                <a:srgbClr val="2C3E50"/>
              </a:solidFill>
              <a:latin typeface="Calibri" panose="020F0502020204030204"/>
            </a:endParaRPr>
          </a:p>
        </p:txBody>
      </p:sp>
      <p:sp>
        <p:nvSpPr>
          <p:cNvPr id="250" name="Rectangle 249"/>
          <p:cNvSpPr/>
          <p:nvPr/>
        </p:nvSpPr>
        <p:spPr>
          <a:xfrm>
            <a:off x="7121347" y="3977639"/>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7157923" y="4005072"/>
            <a:ext cx="1212494" cy="301752"/>
          </a:xfrm>
          <a:prstGeom prst="rect">
            <a:avLst/>
          </a:prstGeom>
          <a:noFill/>
        </p:spPr>
        <p:txBody>
          <a:bodyPr wrap="square">
            <a:spAutoFit/>
          </a:bodyPr>
          <a:lstStyle/>
          <a:p>
            <a:pPr algn="l"/>
            <a:r>
              <a:rPr sz="700" b="0" i="0">
                <a:solidFill>
                  <a:srgbClr val="2C3E50"/>
                </a:solidFill>
                <a:latin typeface="Calibri" panose="020F0502020204030204"/>
              </a:rPr>
              <a:t>OSS Standard + WORM audit</a:t>
            </a:r>
            <a:endParaRPr sz="700" b="0" i="0">
              <a:solidFill>
                <a:srgbClr val="2C3E50"/>
              </a:solidFill>
              <a:latin typeface="Calibri" panose="020F0502020204030204"/>
            </a:endParaRPr>
          </a:p>
        </p:txBody>
      </p:sp>
      <p:sp>
        <p:nvSpPr>
          <p:cNvPr id="252" name="Rectangle 251"/>
          <p:cNvSpPr/>
          <p:nvPr/>
        </p:nvSpPr>
        <p:spPr>
          <a:xfrm>
            <a:off x="8388705"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425281" y="4005072"/>
            <a:ext cx="694029" cy="301752"/>
          </a:xfrm>
          <a:prstGeom prst="rect">
            <a:avLst/>
          </a:prstGeom>
          <a:noFill/>
        </p:spPr>
        <p:txBody>
          <a:bodyPr wrap="square">
            <a:spAutoFit/>
          </a:bodyPr>
          <a:lstStyle/>
          <a:p>
            <a:pPr algn="l"/>
            <a:r>
              <a:rPr sz="700" b="0" i="0">
                <a:solidFill>
                  <a:srgbClr val="2C3E50"/>
                </a:solidFill>
                <a:latin typeface="Calibri" panose="020F0502020204030204"/>
              </a:rPr>
              <a:t>~200GB</a:t>
            </a:r>
            <a:endParaRPr sz="700" b="0" i="0">
              <a:solidFill>
                <a:srgbClr val="2C3E50"/>
              </a:solidFill>
              <a:latin typeface="Calibri" panose="020F0502020204030204"/>
            </a:endParaRPr>
          </a:p>
        </p:txBody>
      </p:sp>
      <p:sp>
        <p:nvSpPr>
          <p:cNvPr id="254" name="Rectangle 253"/>
          <p:cNvSpPr/>
          <p:nvPr/>
        </p:nvSpPr>
        <p:spPr>
          <a:xfrm>
            <a:off x="9137599" y="3977639"/>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74175" y="4005072"/>
            <a:ext cx="694029" cy="301752"/>
          </a:xfrm>
          <a:prstGeom prst="rect">
            <a:avLst/>
          </a:prstGeom>
          <a:noFill/>
        </p:spPr>
        <p:txBody>
          <a:bodyPr wrap="square">
            <a:spAutoFit/>
          </a:bodyPr>
          <a:lstStyle/>
          <a:p>
            <a:pPr algn="l"/>
            <a:r>
              <a:rPr sz="700" b="0" i="0">
                <a:solidFill>
                  <a:srgbClr val="2C3E50"/>
                </a:solidFill>
                <a:latin typeface="Calibri" panose="020F0502020204030204"/>
              </a:rPr>
              <a:t>$0.02/GB-mo</a:t>
            </a:r>
            <a:endParaRPr sz="700" b="0" i="0">
              <a:solidFill>
                <a:srgbClr val="2C3E50"/>
              </a:solidFill>
              <a:latin typeface="Calibri" panose="020F0502020204030204"/>
            </a:endParaRPr>
          </a:p>
        </p:txBody>
      </p:sp>
      <p:sp>
        <p:nvSpPr>
          <p:cNvPr id="256" name="Rectangle 255"/>
          <p:cNvSpPr/>
          <p:nvPr/>
        </p:nvSpPr>
        <p:spPr>
          <a:xfrm>
            <a:off x="9886492" y="3977639"/>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9923068" y="4005072"/>
            <a:ext cx="1327708" cy="301752"/>
          </a:xfrm>
          <a:prstGeom prst="rect">
            <a:avLst/>
          </a:prstGeom>
          <a:noFill/>
        </p:spPr>
        <p:txBody>
          <a:bodyPr wrap="square">
            <a:spAutoFit/>
          </a:bodyPr>
          <a:lstStyle/>
          <a:p>
            <a:pPr algn="l"/>
            <a:r>
              <a:rPr sz="700" b="0" i="0">
                <a:solidFill>
                  <a:srgbClr val="2C3E50"/>
                </a:solidFill>
                <a:latin typeface="Calibri" panose="020F0502020204030204"/>
              </a:rPr>
              <a:t>200×$0.02</a:t>
            </a:r>
            <a:endParaRPr sz="700" b="0" i="0">
              <a:solidFill>
                <a:srgbClr val="2C3E50"/>
              </a:solidFill>
              <a:latin typeface="Calibri" panose="020F0502020204030204"/>
            </a:endParaRPr>
          </a:p>
        </p:txBody>
      </p:sp>
      <p:sp>
        <p:nvSpPr>
          <p:cNvPr id="258" name="Rectangle 257"/>
          <p:cNvSpPr/>
          <p:nvPr/>
        </p:nvSpPr>
        <p:spPr>
          <a:xfrm>
            <a:off x="11269065" y="3977639"/>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305641" y="4005072"/>
            <a:ext cx="636422" cy="301752"/>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260" name="Rectangle 259"/>
          <p:cNvSpPr/>
          <p:nvPr/>
        </p:nvSpPr>
        <p:spPr>
          <a:xfrm>
            <a:off x="6199632" y="4325112"/>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6236208" y="4352544"/>
            <a:ext cx="866851" cy="301752"/>
          </a:xfrm>
          <a:prstGeom prst="rect">
            <a:avLst/>
          </a:prstGeom>
          <a:noFill/>
        </p:spPr>
        <p:txBody>
          <a:bodyPr wrap="square">
            <a:spAutoFit/>
          </a:bodyPr>
          <a:lstStyle/>
          <a:p>
            <a:pPr algn="l"/>
            <a:r>
              <a:rPr sz="700" b="0" i="0">
                <a:solidFill>
                  <a:srgbClr val="2C3E50"/>
                </a:solidFill>
                <a:latin typeface="Calibri" panose="020F0502020204030204"/>
              </a:rPr>
              <a:t>Audit / Logs</a:t>
            </a:r>
            <a:endParaRPr sz="700" b="0" i="0">
              <a:solidFill>
                <a:srgbClr val="2C3E50"/>
              </a:solidFill>
              <a:latin typeface="Calibri" panose="020F0502020204030204"/>
            </a:endParaRPr>
          </a:p>
        </p:txBody>
      </p:sp>
      <p:sp>
        <p:nvSpPr>
          <p:cNvPr id="262" name="Rectangle 261"/>
          <p:cNvSpPr/>
          <p:nvPr/>
        </p:nvSpPr>
        <p:spPr>
          <a:xfrm>
            <a:off x="7121347" y="4325112"/>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157923" y="4352544"/>
            <a:ext cx="1212494" cy="301752"/>
          </a:xfrm>
          <a:prstGeom prst="rect">
            <a:avLst/>
          </a:prstGeom>
          <a:noFill/>
        </p:spPr>
        <p:txBody>
          <a:bodyPr wrap="square">
            <a:spAutoFit/>
          </a:bodyPr>
          <a:lstStyle/>
          <a:p>
            <a:pPr algn="l"/>
            <a:r>
              <a:rPr sz="700" b="0" i="0">
                <a:solidFill>
                  <a:srgbClr val="2C3E50"/>
                </a:solidFill>
                <a:latin typeface="Calibri" panose="020F0502020204030204"/>
              </a:rPr>
              <a:t>SLS + OSS WORM (6yr retention)</a:t>
            </a:r>
            <a:endParaRPr sz="700" b="0" i="0">
              <a:solidFill>
                <a:srgbClr val="2C3E50"/>
              </a:solidFill>
              <a:latin typeface="Calibri" panose="020F0502020204030204"/>
            </a:endParaRPr>
          </a:p>
        </p:txBody>
      </p:sp>
      <p:sp>
        <p:nvSpPr>
          <p:cNvPr id="264" name="Rectangle 263"/>
          <p:cNvSpPr/>
          <p:nvPr/>
        </p:nvSpPr>
        <p:spPr>
          <a:xfrm>
            <a:off x="8388705"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8425281" y="4352544"/>
            <a:ext cx="694029" cy="301752"/>
          </a:xfrm>
          <a:prstGeom prst="rect">
            <a:avLst/>
          </a:prstGeom>
          <a:noFill/>
        </p:spPr>
        <p:txBody>
          <a:bodyPr wrap="square">
            <a:spAutoFit/>
          </a:bodyPr>
          <a:lstStyle/>
          <a:p>
            <a:pPr algn="l"/>
            <a:r>
              <a:rPr sz="700" b="0" i="0">
                <a:solidFill>
                  <a:srgbClr val="2C3E50"/>
                </a:solidFill>
                <a:latin typeface="Calibri" panose="020F0502020204030204"/>
              </a:rPr>
              <a:t>~10GB/mo</a:t>
            </a:r>
            <a:endParaRPr sz="700" b="0" i="0">
              <a:solidFill>
                <a:srgbClr val="2C3E50"/>
              </a:solidFill>
              <a:latin typeface="Calibri" panose="020F0502020204030204"/>
            </a:endParaRPr>
          </a:p>
        </p:txBody>
      </p:sp>
      <p:sp>
        <p:nvSpPr>
          <p:cNvPr id="266" name="Rectangle 265"/>
          <p:cNvSpPr/>
          <p:nvPr/>
        </p:nvSpPr>
        <p:spPr>
          <a:xfrm>
            <a:off x="9137599" y="4325112"/>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174175" y="4352544"/>
            <a:ext cx="694029" cy="301752"/>
          </a:xfrm>
          <a:prstGeom prst="rect">
            <a:avLst/>
          </a:prstGeom>
          <a:noFill/>
        </p:spPr>
        <p:txBody>
          <a:bodyPr wrap="square">
            <a:spAutoFit/>
          </a:bodyPr>
          <a:lstStyle/>
          <a:p>
            <a:pPr algn="l"/>
            <a:r>
              <a:rPr sz="700" b="0" i="0">
                <a:solidFill>
                  <a:srgbClr val="2C3E50"/>
                </a:solidFill>
                <a:latin typeface="Calibri" panose="020F0502020204030204"/>
              </a:rPr>
              <a:t>$0.35/GB</a:t>
            </a:r>
            <a:endParaRPr sz="700" b="0" i="0">
              <a:solidFill>
                <a:srgbClr val="2C3E50"/>
              </a:solidFill>
              <a:latin typeface="Calibri" panose="020F0502020204030204"/>
            </a:endParaRPr>
          </a:p>
        </p:txBody>
      </p:sp>
      <p:sp>
        <p:nvSpPr>
          <p:cNvPr id="268" name="Rectangle 267"/>
          <p:cNvSpPr/>
          <p:nvPr/>
        </p:nvSpPr>
        <p:spPr>
          <a:xfrm>
            <a:off x="9886492" y="4325112"/>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923068" y="4352544"/>
            <a:ext cx="1327708" cy="301752"/>
          </a:xfrm>
          <a:prstGeom prst="rect">
            <a:avLst/>
          </a:prstGeom>
          <a:noFill/>
        </p:spPr>
        <p:txBody>
          <a:bodyPr wrap="square">
            <a:spAutoFit/>
          </a:bodyPr>
          <a:lstStyle/>
          <a:p>
            <a:pPr algn="l"/>
            <a:r>
              <a:rPr sz="700" b="0" i="0">
                <a:solidFill>
                  <a:srgbClr val="2C3E50"/>
                </a:solidFill>
                <a:latin typeface="Calibri" panose="020F0502020204030204"/>
              </a:rPr>
              <a:t>10×$0.35</a:t>
            </a:r>
            <a:endParaRPr sz="700" b="0" i="0">
              <a:solidFill>
                <a:srgbClr val="2C3E50"/>
              </a:solidFill>
              <a:latin typeface="Calibri" panose="020F0502020204030204"/>
            </a:endParaRPr>
          </a:p>
        </p:txBody>
      </p:sp>
      <p:sp>
        <p:nvSpPr>
          <p:cNvPr id="270" name="Rectangle 269"/>
          <p:cNvSpPr/>
          <p:nvPr/>
        </p:nvSpPr>
        <p:spPr>
          <a:xfrm>
            <a:off x="11269065" y="4325112"/>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1305641" y="4352544"/>
            <a:ext cx="636422" cy="301752"/>
          </a:xfrm>
          <a:prstGeom prst="rect">
            <a:avLst/>
          </a:prstGeom>
          <a:noFill/>
        </p:spPr>
        <p:txBody>
          <a:bodyPr wrap="square">
            <a:spAutoFit/>
          </a:bodyPr>
          <a:lstStyle/>
          <a:p>
            <a:pPr algn="r"/>
            <a:r>
              <a:rPr sz="900" b="1" i="0">
                <a:solidFill>
                  <a:srgbClr val="2C3E50"/>
                </a:solidFill>
                <a:latin typeface="Calibri" panose="020F0502020204030204"/>
              </a:rPr>
              <a:t>$4</a:t>
            </a:r>
            <a:endParaRPr sz="900" b="1" i="0">
              <a:solidFill>
                <a:srgbClr val="2C3E50"/>
              </a:solidFill>
              <a:latin typeface="Calibri" panose="020F0502020204030204"/>
            </a:endParaRPr>
          </a:p>
        </p:txBody>
      </p:sp>
      <p:sp>
        <p:nvSpPr>
          <p:cNvPr id="272" name="Rectangle 271"/>
          <p:cNvSpPr/>
          <p:nvPr/>
        </p:nvSpPr>
        <p:spPr>
          <a:xfrm>
            <a:off x="6199632" y="4672583"/>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6236208" y="4700016"/>
            <a:ext cx="866851" cy="301752"/>
          </a:xfrm>
          <a:prstGeom prst="rect">
            <a:avLst/>
          </a:prstGeom>
          <a:noFill/>
        </p:spPr>
        <p:txBody>
          <a:bodyPr wrap="square">
            <a:spAutoFit/>
          </a:bodyPr>
          <a:lstStyle/>
          <a:p>
            <a:pPr algn="l"/>
            <a:r>
              <a:rPr sz="700" b="0" i="0">
                <a:solidFill>
                  <a:srgbClr val="2C3E50"/>
                </a:solidFill>
                <a:latin typeface="Calibri" panose="020F0502020204030204"/>
              </a:rPr>
              <a:t>Security</a:t>
            </a:r>
            <a:endParaRPr sz="700" b="0" i="0">
              <a:solidFill>
                <a:srgbClr val="2C3E50"/>
              </a:solidFill>
              <a:latin typeface="Calibri" panose="020F0502020204030204"/>
            </a:endParaRPr>
          </a:p>
        </p:txBody>
      </p:sp>
      <p:sp>
        <p:nvSpPr>
          <p:cNvPr id="274" name="Rectangle 273"/>
          <p:cNvSpPr/>
          <p:nvPr/>
        </p:nvSpPr>
        <p:spPr>
          <a:xfrm>
            <a:off x="7121347" y="4672583"/>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7157923" y="4700016"/>
            <a:ext cx="1212494" cy="301752"/>
          </a:xfrm>
          <a:prstGeom prst="rect">
            <a:avLst/>
          </a:prstGeom>
          <a:noFill/>
        </p:spPr>
        <p:txBody>
          <a:bodyPr wrap="square">
            <a:spAutoFit/>
          </a:bodyPr>
          <a:lstStyle/>
          <a:p>
            <a:pPr algn="l"/>
            <a:r>
              <a:rPr sz="700" b="0" i="0">
                <a:solidFill>
                  <a:srgbClr val="2C3E50"/>
                </a:solidFill>
                <a:latin typeface="Calibri" panose="020F0502020204030204"/>
              </a:rPr>
              <a:t>WAF + Content Mod 2.0 + SDDP</a:t>
            </a:r>
            <a:endParaRPr sz="700" b="0" i="0">
              <a:solidFill>
                <a:srgbClr val="2C3E50"/>
              </a:solidFill>
              <a:latin typeface="Calibri" panose="020F0502020204030204"/>
            </a:endParaRPr>
          </a:p>
        </p:txBody>
      </p:sp>
      <p:sp>
        <p:nvSpPr>
          <p:cNvPr id="276" name="Rectangle 275"/>
          <p:cNvSpPr/>
          <p:nvPr/>
        </p:nvSpPr>
        <p:spPr>
          <a:xfrm>
            <a:off x="8388705"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425281" y="4700016"/>
            <a:ext cx="694029" cy="301752"/>
          </a:xfrm>
          <a:prstGeom prst="rect">
            <a:avLst/>
          </a:prstGeom>
          <a:noFill/>
        </p:spPr>
        <p:txBody>
          <a:bodyPr wrap="square">
            <a:spAutoFit/>
          </a:bodyPr>
          <a:lstStyle/>
          <a:p>
            <a:pPr algn="l"/>
            <a:r>
              <a:rPr sz="700" b="0" i="0">
                <a:solidFill>
                  <a:srgbClr val="2C3E50"/>
                </a:solidFill>
                <a:latin typeface="Calibri" panose="020F0502020204030204"/>
              </a:rPr>
              <a:t>150k req</a:t>
            </a:r>
            <a:endParaRPr sz="700" b="0" i="0">
              <a:solidFill>
                <a:srgbClr val="2C3E50"/>
              </a:solidFill>
              <a:latin typeface="Calibri" panose="020F0502020204030204"/>
            </a:endParaRPr>
          </a:p>
        </p:txBody>
      </p:sp>
      <p:sp>
        <p:nvSpPr>
          <p:cNvPr id="278" name="Rectangle 277"/>
          <p:cNvSpPr/>
          <p:nvPr/>
        </p:nvSpPr>
        <p:spPr>
          <a:xfrm>
            <a:off x="9137599" y="4672583"/>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174175" y="4700016"/>
            <a:ext cx="694029" cy="301752"/>
          </a:xfrm>
          <a:prstGeom prst="rect">
            <a:avLst/>
          </a:prstGeom>
          <a:noFill/>
        </p:spPr>
        <p:txBody>
          <a:bodyPr wrap="square">
            <a:spAutoFit/>
          </a:bodyPr>
          <a:lstStyle/>
          <a:p>
            <a:pPr algn="l"/>
            <a:r>
              <a:rPr sz="700" b="0" i="0">
                <a:solidFill>
                  <a:srgbClr val="2C3E50"/>
                </a:solidFill>
                <a:latin typeface="Calibri" panose="020F0502020204030204"/>
              </a:rPr>
              <a:t>~$0.50/1M</a:t>
            </a:r>
            <a:endParaRPr sz="700" b="0" i="0">
              <a:solidFill>
                <a:srgbClr val="2C3E50"/>
              </a:solidFill>
              <a:latin typeface="Calibri" panose="020F0502020204030204"/>
            </a:endParaRPr>
          </a:p>
        </p:txBody>
      </p:sp>
      <p:sp>
        <p:nvSpPr>
          <p:cNvPr id="280" name="Rectangle 279"/>
          <p:cNvSpPr/>
          <p:nvPr/>
        </p:nvSpPr>
        <p:spPr>
          <a:xfrm>
            <a:off x="9886492" y="4672583"/>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923068" y="4700016"/>
            <a:ext cx="1327708" cy="301752"/>
          </a:xfrm>
          <a:prstGeom prst="rect">
            <a:avLst/>
          </a:prstGeom>
          <a:noFill/>
        </p:spPr>
        <p:txBody>
          <a:bodyPr wrap="square">
            <a:spAutoFit/>
          </a:bodyPr>
          <a:lstStyle/>
          <a:p>
            <a:pPr algn="l"/>
            <a:r>
              <a:rPr sz="700" b="0" i="0">
                <a:solidFill>
                  <a:srgbClr val="2C3E50"/>
                </a:solidFill>
                <a:latin typeface="Calibri" panose="020F0502020204030204"/>
              </a:rPr>
              <a:t>0.15×$0.50</a:t>
            </a:r>
            <a:endParaRPr sz="700" b="0" i="0">
              <a:solidFill>
                <a:srgbClr val="2C3E50"/>
              </a:solidFill>
              <a:latin typeface="Calibri" panose="020F0502020204030204"/>
            </a:endParaRPr>
          </a:p>
        </p:txBody>
      </p:sp>
      <p:sp>
        <p:nvSpPr>
          <p:cNvPr id="282" name="Rectangle 281"/>
          <p:cNvSpPr/>
          <p:nvPr/>
        </p:nvSpPr>
        <p:spPr>
          <a:xfrm>
            <a:off x="11269065" y="4672583"/>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11305641" y="4700016"/>
            <a:ext cx="636422" cy="301752"/>
          </a:xfrm>
          <a:prstGeom prst="rect">
            <a:avLst/>
          </a:prstGeom>
          <a:noFill/>
        </p:spPr>
        <p:txBody>
          <a:bodyPr wrap="square">
            <a:spAutoFit/>
          </a:bodyPr>
          <a:lstStyle/>
          <a:p>
            <a:pPr algn="r"/>
            <a:r>
              <a:rPr sz="900" b="1" i="0">
                <a:solidFill>
                  <a:srgbClr val="2C3E50"/>
                </a:solidFill>
                <a:latin typeface="Calibri" panose="020F0502020204030204"/>
              </a:rPr>
              <a:t>$1</a:t>
            </a:r>
            <a:endParaRPr sz="900" b="1" i="0">
              <a:solidFill>
                <a:srgbClr val="2C3E50"/>
              </a:solidFill>
              <a:latin typeface="Calibri" panose="020F0502020204030204"/>
            </a:endParaRPr>
          </a:p>
        </p:txBody>
      </p:sp>
      <p:sp>
        <p:nvSpPr>
          <p:cNvPr id="284" name="Rectangle 283"/>
          <p:cNvSpPr/>
          <p:nvPr/>
        </p:nvSpPr>
        <p:spPr>
          <a:xfrm>
            <a:off x="6199632" y="5020055"/>
            <a:ext cx="921715"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6236208" y="5047488"/>
            <a:ext cx="866851" cy="301752"/>
          </a:xfrm>
          <a:prstGeom prst="rect">
            <a:avLst/>
          </a:prstGeom>
          <a:noFill/>
        </p:spPr>
        <p:txBody>
          <a:bodyPr wrap="square">
            <a:spAutoFit/>
          </a:bodyPr>
          <a:lstStyle/>
          <a:p>
            <a:pPr algn="l"/>
            <a:r>
              <a:rPr sz="700" b="0" i="0">
                <a:solidFill>
                  <a:srgbClr val="2C3E50"/>
                </a:solidFill>
                <a:latin typeface="Calibri" panose="020F0502020204030204"/>
              </a:rPr>
              <a:t>VPN Gateway</a:t>
            </a:r>
            <a:endParaRPr sz="700" b="0" i="0">
              <a:solidFill>
                <a:srgbClr val="2C3E50"/>
              </a:solidFill>
              <a:latin typeface="Calibri" panose="020F0502020204030204"/>
            </a:endParaRPr>
          </a:p>
        </p:txBody>
      </p:sp>
      <p:sp>
        <p:nvSpPr>
          <p:cNvPr id="286" name="Rectangle 285"/>
          <p:cNvSpPr/>
          <p:nvPr/>
        </p:nvSpPr>
        <p:spPr>
          <a:xfrm>
            <a:off x="7121347" y="5020055"/>
            <a:ext cx="1267358"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7157923" y="5047488"/>
            <a:ext cx="1212494" cy="301752"/>
          </a:xfrm>
          <a:prstGeom prst="rect">
            <a:avLst/>
          </a:prstGeom>
          <a:noFill/>
        </p:spPr>
        <p:txBody>
          <a:bodyPr wrap="square">
            <a:spAutoFit/>
          </a:bodyPr>
          <a:lstStyle/>
          <a:p>
            <a:pPr algn="l"/>
            <a:r>
              <a:rPr sz="700" b="0" i="0">
                <a:solidFill>
                  <a:srgbClr val="2C3E50"/>
                </a:solidFill>
                <a:latin typeface="Calibri" panose="020F0502020204030204"/>
              </a:rPr>
              <a:t>Alibaba VPN Gateway 100Mbps</a:t>
            </a:r>
            <a:endParaRPr sz="700" b="0" i="0">
              <a:solidFill>
                <a:srgbClr val="2C3E50"/>
              </a:solidFill>
              <a:latin typeface="Calibri" panose="020F0502020204030204"/>
            </a:endParaRPr>
          </a:p>
        </p:txBody>
      </p:sp>
      <p:sp>
        <p:nvSpPr>
          <p:cNvPr id="288" name="Rectangle 287"/>
          <p:cNvSpPr/>
          <p:nvPr/>
        </p:nvSpPr>
        <p:spPr>
          <a:xfrm>
            <a:off x="8388705"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8425281" y="5047488"/>
            <a:ext cx="694029" cy="301752"/>
          </a:xfrm>
          <a:prstGeom prst="rect">
            <a:avLst/>
          </a:prstGeom>
          <a:noFill/>
        </p:spPr>
        <p:txBody>
          <a:bodyPr wrap="square">
            <a:spAutoFit/>
          </a:bodyPr>
          <a:lstStyle/>
          <a:p>
            <a:pPr algn="l"/>
            <a:r>
              <a:rPr sz="700" b="0" i="0">
                <a:solidFill>
                  <a:srgbClr val="2C3E50"/>
                </a:solidFill>
                <a:latin typeface="Calibri" panose="020F0502020204030204"/>
              </a:rPr>
              <a:t>720 hr</a:t>
            </a:r>
            <a:endParaRPr sz="700" b="0" i="0">
              <a:solidFill>
                <a:srgbClr val="2C3E50"/>
              </a:solidFill>
              <a:latin typeface="Calibri" panose="020F0502020204030204"/>
            </a:endParaRPr>
          </a:p>
        </p:txBody>
      </p:sp>
      <p:sp>
        <p:nvSpPr>
          <p:cNvPr id="290" name="Rectangle 289"/>
          <p:cNvSpPr/>
          <p:nvPr/>
        </p:nvSpPr>
        <p:spPr>
          <a:xfrm>
            <a:off x="9137599" y="5020055"/>
            <a:ext cx="748893"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174175" y="5047488"/>
            <a:ext cx="694029" cy="301752"/>
          </a:xfrm>
          <a:prstGeom prst="rect">
            <a:avLst/>
          </a:prstGeom>
          <a:noFill/>
        </p:spPr>
        <p:txBody>
          <a:bodyPr wrap="square">
            <a:spAutoFit/>
          </a:bodyPr>
          <a:lstStyle/>
          <a:p>
            <a:pPr algn="l"/>
            <a:r>
              <a:rPr sz="700" b="0" i="0">
                <a:solidFill>
                  <a:srgbClr val="2C3E50"/>
                </a:solidFill>
                <a:latin typeface="Calibri" panose="020F0502020204030204"/>
              </a:rPr>
              <a:t>$0.15/hr</a:t>
            </a:r>
            <a:endParaRPr sz="700" b="0" i="0">
              <a:solidFill>
                <a:srgbClr val="2C3E50"/>
              </a:solidFill>
              <a:latin typeface="Calibri" panose="020F0502020204030204"/>
            </a:endParaRPr>
          </a:p>
        </p:txBody>
      </p:sp>
      <p:sp>
        <p:nvSpPr>
          <p:cNvPr id="292" name="Rectangle 291"/>
          <p:cNvSpPr/>
          <p:nvPr/>
        </p:nvSpPr>
        <p:spPr>
          <a:xfrm>
            <a:off x="9886492" y="5020055"/>
            <a:ext cx="1382572"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9923068" y="5047488"/>
            <a:ext cx="1327708" cy="301752"/>
          </a:xfrm>
          <a:prstGeom prst="rect">
            <a:avLst/>
          </a:prstGeom>
          <a:noFill/>
        </p:spPr>
        <p:txBody>
          <a:bodyPr wrap="square">
            <a:spAutoFit/>
          </a:bodyPr>
          <a:lstStyle/>
          <a:p>
            <a:pPr algn="l"/>
            <a:r>
              <a:rPr sz="700" b="0" i="0">
                <a:solidFill>
                  <a:srgbClr val="2C3E50"/>
                </a:solidFill>
                <a:latin typeface="Calibri" panose="020F0502020204030204"/>
              </a:rPr>
              <a:t>720×$0.15</a:t>
            </a:r>
            <a:endParaRPr sz="700" b="0" i="0">
              <a:solidFill>
                <a:srgbClr val="2C3E50"/>
              </a:solidFill>
              <a:latin typeface="Calibri" panose="020F0502020204030204"/>
            </a:endParaRPr>
          </a:p>
        </p:txBody>
      </p:sp>
      <p:sp>
        <p:nvSpPr>
          <p:cNvPr id="294" name="Rectangle 293"/>
          <p:cNvSpPr/>
          <p:nvPr/>
        </p:nvSpPr>
        <p:spPr>
          <a:xfrm>
            <a:off x="11269065" y="5020055"/>
            <a:ext cx="691286" cy="347472"/>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1305641" y="5047488"/>
            <a:ext cx="636422" cy="301752"/>
          </a:xfrm>
          <a:prstGeom prst="rect">
            <a:avLst/>
          </a:prstGeom>
          <a:noFill/>
        </p:spPr>
        <p:txBody>
          <a:bodyPr wrap="square">
            <a:spAutoFit/>
          </a:bodyPr>
          <a:lstStyle/>
          <a:p>
            <a:pPr algn="r"/>
            <a:r>
              <a:rPr sz="900" b="1" i="0">
                <a:solidFill>
                  <a:srgbClr val="2C3E50"/>
                </a:solidFill>
                <a:latin typeface="Calibri" panose="020F0502020204030204"/>
              </a:rPr>
              <a:t>$108</a:t>
            </a:r>
            <a:endParaRPr sz="900" b="1" i="0">
              <a:solidFill>
                <a:srgbClr val="2C3E50"/>
              </a:solidFill>
              <a:latin typeface="Calibri" panose="020F0502020204030204"/>
            </a:endParaRPr>
          </a:p>
        </p:txBody>
      </p:sp>
      <p:sp>
        <p:nvSpPr>
          <p:cNvPr id="296" name="Rectangle 295"/>
          <p:cNvSpPr/>
          <p:nvPr/>
        </p:nvSpPr>
        <p:spPr>
          <a:xfrm>
            <a:off x="6199632" y="5367527"/>
            <a:ext cx="921715"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6236208" y="5394959"/>
            <a:ext cx="866851" cy="301752"/>
          </a:xfrm>
          <a:prstGeom prst="rect">
            <a:avLst/>
          </a:prstGeom>
          <a:noFill/>
        </p:spPr>
        <p:txBody>
          <a:bodyPr wrap="square">
            <a:spAutoFit/>
          </a:bodyPr>
          <a:lstStyle/>
          <a:p>
            <a:pPr algn="l"/>
            <a:r>
              <a:rPr sz="700" b="0" i="0">
                <a:solidFill>
                  <a:srgbClr val="2C3E50"/>
                </a:solidFill>
                <a:latin typeface="Calibri" panose="020F0502020204030204"/>
              </a:rPr>
              <a:t>IdaaS / SSO</a:t>
            </a:r>
            <a:endParaRPr sz="700" b="0" i="0">
              <a:solidFill>
                <a:srgbClr val="2C3E50"/>
              </a:solidFill>
              <a:latin typeface="Calibri" panose="020F0502020204030204"/>
            </a:endParaRPr>
          </a:p>
        </p:txBody>
      </p:sp>
      <p:sp>
        <p:nvSpPr>
          <p:cNvPr id="298" name="Rectangle 297"/>
          <p:cNvSpPr/>
          <p:nvPr/>
        </p:nvSpPr>
        <p:spPr>
          <a:xfrm>
            <a:off x="7121347" y="5367527"/>
            <a:ext cx="1267358"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7157923" y="5394959"/>
            <a:ext cx="1212494" cy="301752"/>
          </a:xfrm>
          <a:prstGeom prst="rect">
            <a:avLst/>
          </a:prstGeom>
          <a:noFill/>
        </p:spPr>
        <p:txBody>
          <a:bodyPr wrap="square">
            <a:spAutoFit/>
          </a:bodyPr>
          <a:lstStyle/>
          <a:p>
            <a:pPr algn="l"/>
            <a:r>
              <a:rPr sz="700" b="0" i="0">
                <a:solidFill>
                  <a:srgbClr val="2C3E50"/>
                </a:solidFill>
                <a:latin typeface="Calibri" panose="020F0502020204030204"/>
              </a:rPr>
              <a:t>IDaaS EIAM 2.0 Premium+</a:t>
            </a:r>
            <a:endParaRPr sz="700" b="0" i="0">
              <a:solidFill>
                <a:srgbClr val="2C3E50"/>
              </a:solidFill>
              <a:latin typeface="Calibri" panose="020F0502020204030204"/>
            </a:endParaRPr>
          </a:p>
        </p:txBody>
      </p:sp>
      <p:sp>
        <p:nvSpPr>
          <p:cNvPr id="300" name="Rectangle 299"/>
          <p:cNvSpPr/>
          <p:nvPr/>
        </p:nvSpPr>
        <p:spPr>
          <a:xfrm>
            <a:off x="8388705" y="5367527"/>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8425281" y="5394959"/>
            <a:ext cx="694029" cy="301752"/>
          </a:xfrm>
          <a:prstGeom prst="rect">
            <a:avLst/>
          </a:prstGeom>
          <a:noFill/>
        </p:spPr>
        <p:txBody>
          <a:bodyPr wrap="square">
            <a:spAutoFit/>
          </a:bodyPr>
          <a:lstStyle/>
          <a:p>
            <a:pPr algn="l"/>
            <a:r>
              <a:rPr sz="700" b="0" i="0">
                <a:solidFill>
                  <a:srgbClr val="2C3E50"/>
                </a:solidFill>
                <a:latin typeface="Calibri" panose="020F0502020204030204"/>
              </a:rPr>
              <a:t>500 users</a:t>
            </a:r>
            <a:endParaRPr sz="700" b="0" i="0">
              <a:solidFill>
                <a:srgbClr val="2C3E50"/>
              </a:solidFill>
              <a:latin typeface="Calibri" panose="020F0502020204030204"/>
            </a:endParaRPr>
          </a:p>
        </p:txBody>
      </p:sp>
      <p:sp>
        <p:nvSpPr>
          <p:cNvPr id="302" name="Rectangle 301"/>
          <p:cNvSpPr/>
          <p:nvPr/>
        </p:nvSpPr>
        <p:spPr>
          <a:xfrm>
            <a:off x="9137599" y="5367527"/>
            <a:ext cx="748893"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74175" y="5394959"/>
            <a:ext cx="694029" cy="301752"/>
          </a:xfrm>
          <a:prstGeom prst="rect">
            <a:avLst/>
          </a:prstGeom>
          <a:noFill/>
        </p:spPr>
        <p:txBody>
          <a:bodyPr wrap="square">
            <a:spAutoFit/>
          </a:bodyPr>
          <a:lstStyle/>
          <a:p>
            <a:pPr algn="l"/>
            <a:r>
              <a:rPr sz="700" b="0" i="0">
                <a:solidFill>
                  <a:srgbClr val="2C3E50"/>
                </a:solidFill>
                <a:latin typeface="Calibri" panose="020F0502020204030204"/>
              </a:rPr>
              <a:t>$0.10/user/mo</a:t>
            </a:r>
            <a:endParaRPr sz="700" b="0" i="0">
              <a:solidFill>
                <a:srgbClr val="2C3E50"/>
              </a:solidFill>
              <a:latin typeface="Calibri" panose="020F0502020204030204"/>
            </a:endParaRPr>
          </a:p>
        </p:txBody>
      </p:sp>
      <p:sp>
        <p:nvSpPr>
          <p:cNvPr id="304" name="Rectangle 303"/>
          <p:cNvSpPr/>
          <p:nvPr/>
        </p:nvSpPr>
        <p:spPr>
          <a:xfrm>
            <a:off x="9886492" y="5367527"/>
            <a:ext cx="1382572"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9923068" y="5394959"/>
            <a:ext cx="1327708" cy="301752"/>
          </a:xfrm>
          <a:prstGeom prst="rect">
            <a:avLst/>
          </a:prstGeom>
          <a:noFill/>
        </p:spPr>
        <p:txBody>
          <a:bodyPr wrap="square">
            <a:spAutoFit/>
          </a:bodyPr>
          <a:lstStyle/>
          <a:p>
            <a:pPr algn="l"/>
            <a:r>
              <a:rPr sz="700" b="0" i="0">
                <a:solidFill>
                  <a:srgbClr val="2C3E50"/>
                </a:solidFill>
                <a:latin typeface="Calibri" panose="020F0502020204030204"/>
              </a:rPr>
              <a:t>500×$0.10</a:t>
            </a:r>
            <a:endParaRPr sz="700" b="0" i="0">
              <a:solidFill>
                <a:srgbClr val="2C3E50"/>
              </a:solidFill>
              <a:latin typeface="Calibri" panose="020F0502020204030204"/>
            </a:endParaRPr>
          </a:p>
        </p:txBody>
      </p:sp>
      <p:sp>
        <p:nvSpPr>
          <p:cNvPr id="306" name="Rectangle 305"/>
          <p:cNvSpPr/>
          <p:nvPr/>
        </p:nvSpPr>
        <p:spPr>
          <a:xfrm>
            <a:off x="11269065" y="5367527"/>
            <a:ext cx="691286" cy="347472"/>
          </a:xfrm>
          <a:prstGeom prst="rect">
            <a:avLst/>
          </a:prstGeom>
          <a:solidFill>
            <a:srgbClr val="F5F5F5"/>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1305641" y="5394959"/>
            <a:ext cx="636422" cy="301752"/>
          </a:xfrm>
          <a:prstGeom prst="rect">
            <a:avLst/>
          </a:prstGeom>
          <a:noFill/>
        </p:spPr>
        <p:txBody>
          <a:bodyPr wrap="square">
            <a:spAutoFit/>
          </a:bodyPr>
          <a:lstStyle/>
          <a:p>
            <a:pPr algn="r"/>
            <a:r>
              <a:rPr sz="900" b="1" i="0">
                <a:solidFill>
                  <a:srgbClr val="2C3E50"/>
                </a:solidFill>
                <a:latin typeface="Calibri" panose="020F0502020204030204"/>
              </a:rPr>
              <a:t>$50</a:t>
            </a:r>
            <a:endParaRPr sz="900" b="1" i="0">
              <a:solidFill>
                <a:srgbClr val="2C3E50"/>
              </a:solidFill>
              <a:latin typeface="Calibri" panose="020F0502020204030204"/>
            </a:endParaRPr>
          </a:p>
        </p:txBody>
      </p:sp>
      <p:sp>
        <p:nvSpPr>
          <p:cNvPr id="308" name="Rectangle 307"/>
          <p:cNvSpPr/>
          <p:nvPr/>
        </p:nvSpPr>
        <p:spPr>
          <a:xfrm>
            <a:off x="6199632" y="5751575"/>
            <a:ext cx="5760720" cy="31089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6309360" y="5806439"/>
            <a:ext cx="3744468" cy="219456"/>
          </a:xfrm>
          <a:prstGeom prst="rect">
            <a:avLst/>
          </a:prstGeom>
          <a:noFill/>
        </p:spPr>
        <p:txBody>
          <a:bodyPr wrap="square">
            <a:spAutoFit/>
          </a:bodyPr>
          <a:lstStyle/>
          <a:p>
            <a:pPr algn="l"/>
            <a:r>
              <a:rPr sz="900" b="1" i="0">
                <a:solidFill>
                  <a:srgbClr val="FFFFFF"/>
                </a:solidFill>
                <a:latin typeface="Calibri" panose="020F0502020204030204"/>
              </a:rPr>
              <a:t>Infrastructure Subtotal</a:t>
            </a:r>
            <a:endParaRPr sz="900" b="1" i="0">
              <a:solidFill>
                <a:srgbClr val="FFFFFF"/>
              </a:solidFill>
              <a:latin typeface="Calibri" panose="020F0502020204030204"/>
            </a:endParaRPr>
          </a:p>
        </p:txBody>
      </p:sp>
      <p:sp>
        <p:nvSpPr>
          <p:cNvPr id="310" name="TextBox 309"/>
          <p:cNvSpPr txBox="1"/>
          <p:nvPr/>
        </p:nvSpPr>
        <p:spPr>
          <a:xfrm>
            <a:off x="9944100" y="5788151"/>
            <a:ext cx="1901037" cy="256032"/>
          </a:xfrm>
          <a:prstGeom prst="rect">
            <a:avLst/>
          </a:prstGeom>
          <a:noFill/>
        </p:spPr>
        <p:txBody>
          <a:bodyPr wrap="square">
            <a:spAutoFit/>
          </a:bodyPr>
          <a:lstStyle/>
          <a:p>
            <a:pPr algn="r"/>
            <a:r>
              <a:rPr sz="1200" b="1" i="0">
                <a:solidFill>
                  <a:srgbClr val="FFC107"/>
                </a:solidFill>
                <a:latin typeface="Calibri" panose="020F0502020204030204"/>
              </a:rPr>
              <a:t>~$881 / mo</a:t>
            </a:r>
            <a:endParaRPr sz="1200" b="1" i="0">
              <a:solidFill>
                <a:srgbClr val="FFC107"/>
              </a:solidFill>
              <a:latin typeface="Calibri" panose="020F0502020204030204"/>
            </a:endParaRPr>
          </a:p>
        </p:txBody>
      </p:sp>
      <p:sp>
        <p:nvSpPr>
          <p:cNvPr id="312" name="TextBox 311"/>
          <p:cNvSpPr txBox="1"/>
          <p:nvPr/>
        </p:nvSpPr>
        <p:spPr>
          <a:xfrm>
            <a:off x="8370570" y="6323330"/>
            <a:ext cx="2932938" cy="365760"/>
          </a:xfrm>
          <a:prstGeom prst="rect">
            <a:avLst/>
          </a:prstGeom>
          <a:noFill/>
        </p:spPr>
        <p:txBody>
          <a:bodyPr wrap="square">
            <a:spAutoFit/>
          </a:bodyPr>
          <a:lstStyle/>
          <a:p>
            <a:pPr algn="l"/>
            <a:r>
              <a:rPr sz="1300" b="1" i="0">
                <a:solidFill>
                  <a:srgbClr val="FF0000"/>
                </a:solidFill>
                <a:latin typeface="Calibri" panose="020F0502020204030204"/>
              </a:rPr>
              <a:t>VERSION C TOTAL</a:t>
            </a:r>
            <a:endParaRPr sz="1300" b="1" i="0">
              <a:solidFill>
                <a:srgbClr val="FF0000"/>
              </a:solidFill>
              <a:latin typeface="Calibri" panose="020F0502020204030204"/>
            </a:endParaRPr>
          </a:p>
        </p:txBody>
      </p:sp>
      <p:sp>
        <p:nvSpPr>
          <p:cNvPr id="314" name="TextBox 313"/>
          <p:cNvSpPr txBox="1"/>
          <p:nvPr/>
        </p:nvSpPr>
        <p:spPr>
          <a:xfrm>
            <a:off x="8999788" y="6300470"/>
            <a:ext cx="2932938" cy="365760"/>
          </a:xfrm>
          <a:prstGeom prst="rect">
            <a:avLst/>
          </a:prstGeom>
          <a:noFill/>
        </p:spPr>
        <p:txBody>
          <a:bodyPr wrap="square">
            <a:spAutoFit/>
          </a:bodyPr>
          <a:lstStyle/>
          <a:p>
            <a:pPr algn="r"/>
            <a:r>
              <a:rPr sz="1400" b="1" i="0">
                <a:solidFill>
                  <a:srgbClr val="FFC107"/>
                </a:solidFill>
                <a:latin typeface="Calibri" panose="020F0502020204030204"/>
              </a:rPr>
              <a:t>~$2,100 – $2,300 / month</a:t>
            </a:r>
            <a:endParaRPr sz="1400" b="1" i="0">
              <a:solidFill>
                <a:srgbClr val="FFC107"/>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panose="020F0502020204030204"/>
              </a:rPr>
              <a:t>Ready to Deploy</a:t>
            </a:r>
            <a:endParaRPr sz="2800" b="1">
              <a:solidFill>
                <a:srgbClr val="CC4F1F"/>
              </a:solidFill>
              <a:latin typeface="Calibri" panose="020F0502020204030204"/>
            </a:endParaRP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11247120" cy="365760"/>
          </a:xfrm>
          <a:prstGeom prst="rect">
            <a:avLst/>
          </a:prstGeom>
          <a:noFill/>
        </p:spPr>
        <p:txBody>
          <a:bodyPr wrap="none">
            <a:spAutoFit/>
          </a:bodyPr>
          <a:lstStyle/>
          <a:p>
            <a:r>
              <a:rPr sz="1600" b="1">
                <a:solidFill>
                  <a:srgbClr val="CC4F1F"/>
                </a:solidFill>
                <a:latin typeface="Calibri" panose="020F0502020204030204"/>
              </a:rPr>
              <a:t>Implementation Roadmap (6 to 10 weeks)</a:t>
            </a:r>
            <a:endParaRPr sz="1600" b="1">
              <a:solidFill>
                <a:srgbClr val="CC4F1F"/>
              </a:solidFill>
              <a:latin typeface="Calibri" panose="020F0502020204030204"/>
            </a:endParaRPr>
          </a:p>
        </p:txBody>
      </p:sp>
      <p:sp>
        <p:nvSpPr>
          <p:cNvPr id="8" name="Rectangle 7"/>
          <p:cNvSpPr/>
          <p:nvPr/>
        </p:nvSpPr>
        <p:spPr>
          <a:xfrm>
            <a:off x="457200" y="1783080"/>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83080"/>
            <a:ext cx="1371600" cy="502920"/>
          </a:xfrm>
          <a:prstGeom prst="rect">
            <a:avLst/>
          </a:prstGeom>
          <a:noFill/>
        </p:spPr>
        <p:txBody>
          <a:bodyPr wrap="none" anchor="ctr">
            <a:spAutoFit/>
          </a:bodyPr>
          <a:lstStyle/>
          <a:p>
            <a:pPr algn="ctr"/>
            <a:r>
              <a:rPr sz="1300" b="1">
                <a:solidFill>
                  <a:srgbClr val="FFFFFF"/>
                </a:solidFill>
                <a:latin typeface="Calibri" panose="020F0502020204030204"/>
              </a:rPr>
              <a:t>Wk 1-2</a:t>
            </a:r>
            <a:endParaRPr sz="1300" b="1">
              <a:solidFill>
                <a:srgbClr val="FFFFFF"/>
              </a:solidFill>
              <a:latin typeface="Calibri" panose="020F0502020204030204"/>
            </a:endParaRPr>
          </a:p>
        </p:txBody>
      </p:sp>
      <p:sp>
        <p:nvSpPr>
          <p:cNvPr id="10" name="TextBox 9"/>
          <p:cNvSpPr txBox="1"/>
          <p:nvPr/>
        </p:nvSpPr>
        <p:spPr>
          <a:xfrm>
            <a:off x="2011680" y="1783080"/>
            <a:ext cx="2194560" cy="502920"/>
          </a:xfrm>
          <a:prstGeom prst="rect">
            <a:avLst/>
          </a:prstGeom>
          <a:noFill/>
        </p:spPr>
        <p:txBody>
          <a:bodyPr wrap="none" anchor="ctr">
            <a:spAutoFit/>
          </a:bodyPr>
          <a:lstStyle/>
          <a:p>
            <a:r>
              <a:rPr sz="1500" b="1">
                <a:solidFill>
                  <a:srgbClr val="CC4F1F"/>
                </a:solidFill>
                <a:latin typeface="Calibri" panose="020F0502020204030204"/>
              </a:rPr>
              <a:t>Foundation</a:t>
            </a:r>
            <a:endParaRPr sz="1500" b="1">
              <a:solidFill>
                <a:srgbClr val="CC4F1F"/>
              </a:solidFill>
              <a:latin typeface="Calibri" panose="020F0502020204030204"/>
            </a:endParaRPr>
          </a:p>
        </p:txBody>
      </p:sp>
      <p:sp>
        <p:nvSpPr>
          <p:cNvPr id="11" name="TextBox 10"/>
          <p:cNvSpPr txBox="1"/>
          <p:nvPr/>
        </p:nvSpPr>
        <p:spPr>
          <a:xfrm>
            <a:off x="4297680" y="1783080"/>
            <a:ext cx="7315200" cy="502920"/>
          </a:xfrm>
          <a:prstGeom prst="rect">
            <a:avLst/>
          </a:prstGeom>
          <a:noFill/>
        </p:spPr>
        <p:txBody>
          <a:bodyPr wrap="none" anchor="ctr">
            <a:spAutoFit/>
          </a:bodyPr>
          <a:lstStyle/>
          <a:p>
            <a:r>
              <a:rPr sz="1300">
                <a:solidFill>
                  <a:srgbClr val="2C3E50"/>
                </a:solidFill>
                <a:latin typeface="Calibri" panose="020F0502020204030204"/>
              </a:rPr>
              <a:t>SG provisioning, BAA, WHO+ICD-11 ingest</a:t>
            </a:r>
            <a:endParaRPr sz="1300">
              <a:solidFill>
                <a:srgbClr val="2C3E50"/>
              </a:solidFill>
              <a:latin typeface="Calibri" panose="020F0502020204030204"/>
            </a:endParaRPr>
          </a:p>
        </p:txBody>
      </p:sp>
      <p:sp>
        <p:nvSpPr>
          <p:cNvPr id="12" name="Rectangle 11"/>
          <p:cNvSpPr/>
          <p:nvPr/>
        </p:nvSpPr>
        <p:spPr>
          <a:xfrm>
            <a:off x="457200" y="2359152"/>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59152"/>
            <a:ext cx="1371600" cy="502920"/>
          </a:xfrm>
          <a:prstGeom prst="rect">
            <a:avLst/>
          </a:prstGeom>
          <a:noFill/>
        </p:spPr>
        <p:txBody>
          <a:bodyPr wrap="none" anchor="ctr">
            <a:spAutoFit/>
          </a:bodyPr>
          <a:lstStyle/>
          <a:p>
            <a:pPr algn="ctr"/>
            <a:r>
              <a:rPr sz="1300" b="1">
                <a:solidFill>
                  <a:srgbClr val="FFFFFF"/>
                </a:solidFill>
                <a:latin typeface="Calibri" panose="020F0502020204030204"/>
              </a:rPr>
              <a:t>Wk 3-4</a:t>
            </a:r>
            <a:endParaRPr sz="1300" b="1">
              <a:solidFill>
                <a:srgbClr val="FFFFFF"/>
              </a:solidFill>
              <a:latin typeface="Calibri" panose="020F0502020204030204"/>
            </a:endParaRPr>
          </a:p>
        </p:txBody>
      </p:sp>
      <p:sp>
        <p:nvSpPr>
          <p:cNvPr id="14" name="TextBox 13"/>
          <p:cNvSpPr txBox="1"/>
          <p:nvPr/>
        </p:nvSpPr>
        <p:spPr>
          <a:xfrm>
            <a:off x="2011680" y="2359152"/>
            <a:ext cx="2194560" cy="502920"/>
          </a:xfrm>
          <a:prstGeom prst="rect">
            <a:avLst/>
          </a:prstGeom>
          <a:noFill/>
        </p:spPr>
        <p:txBody>
          <a:bodyPr wrap="none" anchor="ctr">
            <a:spAutoFit/>
          </a:bodyPr>
          <a:lstStyle/>
          <a:p>
            <a:r>
              <a:rPr sz="1500" b="1">
                <a:solidFill>
                  <a:srgbClr val="CC4F1F"/>
                </a:solidFill>
                <a:latin typeface="Calibri" panose="020F0502020204030204"/>
              </a:rPr>
              <a:t>Customization</a:t>
            </a:r>
            <a:endParaRPr sz="1500" b="1">
              <a:solidFill>
                <a:srgbClr val="CC4F1F"/>
              </a:solidFill>
              <a:latin typeface="Calibri" panose="020F0502020204030204"/>
            </a:endParaRPr>
          </a:p>
        </p:txBody>
      </p:sp>
      <p:sp>
        <p:nvSpPr>
          <p:cNvPr id="15" name="TextBox 14"/>
          <p:cNvSpPr txBox="1"/>
          <p:nvPr/>
        </p:nvSpPr>
        <p:spPr>
          <a:xfrm>
            <a:off x="4297680" y="2359152"/>
            <a:ext cx="7315200" cy="502920"/>
          </a:xfrm>
          <a:prstGeom prst="rect">
            <a:avLst/>
          </a:prstGeom>
          <a:noFill/>
        </p:spPr>
        <p:txBody>
          <a:bodyPr wrap="none" anchor="ctr">
            <a:spAutoFit/>
          </a:bodyPr>
          <a:lstStyle/>
          <a:p>
            <a:r>
              <a:rPr sz="1300">
                <a:solidFill>
                  <a:srgbClr val="2C3E50"/>
                </a:solidFill>
                <a:latin typeface="Calibri" panose="020F0502020204030204"/>
              </a:rPr>
              <a:t>Bedrock Distillation: Nova Lite student</a:t>
            </a:r>
            <a:endParaRPr sz="1300">
              <a:solidFill>
                <a:srgbClr val="2C3E50"/>
              </a:solidFill>
              <a:latin typeface="Calibri" panose="020F0502020204030204"/>
            </a:endParaRPr>
          </a:p>
        </p:txBody>
      </p:sp>
      <p:sp>
        <p:nvSpPr>
          <p:cNvPr id="16" name="Rectangle 15"/>
          <p:cNvSpPr/>
          <p:nvPr/>
        </p:nvSpPr>
        <p:spPr>
          <a:xfrm>
            <a:off x="457200" y="2935224"/>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935224"/>
            <a:ext cx="1371600" cy="502920"/>
          </a:xfrm>
          <a:prstGeom prst="rect">
            <a:avLst/>
          </a:prstGeom>
          <a:noFill/>
        </p:spPr>
        <p:txBody>
          <a:bodyPr wrap="none" anchor="ctr">
            <a:spAutoFit/>
          </a:bodyPr>
          <a:lstStyle/>
          <a:p>
            <a:pPr algn="ctr"/>
            <a:r>
              <a:rPr sz="1300" b="1">
                <a:solidFill>
                  <a:srgbClr val="FFFFFF"/>
                </a:solidFill>
                <a:latin typeface="Calibri" panose="020F0502020204030204"/>
              </a:rPr>
              <a:t>Wk 5-6</a:t>
            </a:r>
            <a:endParaRPr sz="1300" b="1">
              <a:solidFill>
                <a:srgbClr val="FFFFFF"/>
              </a:solidFill>
              <a:latin typeface="Calibri" panose="020F0502020204030204"/>
            </a:endParaRPr>
          </a:p>
        </p:txBody>
      </p:sp>
      <p:sp>
        <p:nvSpPr>
          <p:cNvPr id="18" name="TextBox 17"/>
          <p:cNvSpPr txBox="1"/>
          <p:nvPr/>
        </p:nvSpPr>
        <p:spPr>
          <a:xfrm>
            <a:off x="2011680" y="2935224"/>
            <a:ext cx="2194560" cy="502920"/>
          </a:xfrm>
          <a:prstGeom prst="rect">
            <a:avLst/>
          </a:prstGeom>
          <a:noFill/>
        </p:spPr>
        <p:txBody>
          <a:bodyPr wrap="none" anchor="ctr">
            <a:spAutoFit/>
          </a:bodyPr>
          <a:lstStyle/>
          <a:p>
            <a:r>
              <a:rPr sz="1500" b="1">
                <a:solidFill>
                  <a:srgbClr val="CC4F1F"/>
                </a:solidFill>
                <a:latin typeface="Calibri" panose="020F0502020204030204"/>
              </a:rPr>
              <a:t>Integration</a:t>
            </a:r>
            <a:endParaRPr sz="1500" b="1">
              <a:solidFill>
                <a:srgbClr val="CC4F1F"/>
              </a:solidFill>
              <a:latin typeface="Calibri" panose="020F0502020204030204"/>
            </a:endParaRPr>
          </a:p>
        </p:txBody>
      </p:sp>
      <p:sp>
        <p:nvSpPr>
          <p:cNvPr id="19" name="TextBox 18"/>
          <p:cNvSpPr txBox="1"/>
          <p:nvPr/>
        </p:nvSpPr>
        <p:spPr>
          <a:xfrm>
            <a:off x="4297680" y="2935224"/>
            <a:ext cx="7315200" cy="502920"/>
          </a:xfrm>
          <a:prstGeom prst="rect">
            <a:avLst/>
          </a:prstGeom>
          <a:noFill/>
        </p:spPr>
        <p:txBody>
          <a:bodyPr wrap="none" anchor="ctr">
            <a:spAutoFit/>
          </a:bodyPr>
          <a:lstStyle/>
          <a:p>
            <a:r>
              <a:rPr sz="1300">
                <a:solidFill>
                  <a:srgbClr val="2C3E50"/>
                </a:solidFill>
                <a:latin typeface="Calibri" panose="020F0502020204030204"/>
              </a:rPr>
              <a:t>EHR FHIR, SharePoint, Cognito federation</a:t>
            </a:r>
            <a:endParaRPr sz="1300">
              <a:solidFill>
                <a:srgbClr val="2C3E50"/>
              </a:solidFill>
              <a:latin typeface="Calibri" panose="020F0502020204030204"/>
            </a:endParaRPr>
          </a:p>
        </p:txBody>
      </p:sp>
      <p:sp>
        <p:nvSpPr>
          <p:cNvPr id="20" name="Rectangle 19"/>
          <p:cNvSpPr/>
          <p:nvPr/>
        </p:nvSpPr>
        <p:spPr>
          <a:xfrm>
            <a:off x="457200" y="3511296"/>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511296"/>
            <a:ext cx="1371600" cy="502920"/>
          </a:xfrm>
          <a:prstGeom prst="rect">
            <a:avLst/>
          </a:prstGeom>
          <a:noFill/>
        </p:spPr>
        <p:txBody>
          <a:bodyPr wrap="none" anchor="ctr">
            <a:spAutoFit/>
          </a:bodyPr>
          <a:lstStyle/>
          <a:p>
            <a:pPr algn="ctr"/>
            <a:r>
              <a:rPr sz="1300" b="1">
                <a:solidFill>
                  <a:srgbClr val="FFFFFF"/>
                </a:solidFill>
                <a:latin typeface="Calibri" panose="020F0502020204030204"/>
              </a:rPr>
              <a:t>Wk 7-8</a:t>
            </a:r>
            <a:endParaRPr sz="1300" b="1">
              <a:solidFill>
                <a:srgbClr val="FFFFFF"/>
              </a:solidFill>
              <a:latin typeface="Calibri" panose="020F0502020204030204"/>
            </a:endParaRPr>
          </a:p>
        </p:txBody>
      </p:sp>
      <p:sp>
        <p:nvSpPr>
          <p:cNvPr id="22" name="TextBox 21"/>
          <p:cNvSpPr txBox="1"/>
          <p:nvPr/>
        </p:nvSpPr>
        <p:spPr>
          <a:xfrm>
            <a:off x="2011680" y="3511296"/>
            <a:ext cx="2194560" cy="502920"/>
          </a:xfrm>
          <a:prstGeom prst="rect">
            <a:avLst/>
          </a:prstGeom>
          <a:noFill/>
        </p:spPr>
        <p:txBody>
          <a:bodyPr wrap="none" anchor="ctr">
            <a:spAutoFit/>
          </a:bodyPr>
          <a:lstStyle/>
          <a:p>
            <a:r>
              <a:rPr sz="1500" b="1">
                <a:solidFill>
                  <a:srgbClr val="CC4F1F"/>
                </a:solidFill>
                <a:latin typeface="Calibri" panose="020F0502020204030204"/>
              </a:rPr>
              <a:t>Hardening</a:t>
            </a:r>
            <a:endParaRPr sz="1500" b="1">
              <a:solidFill>
                <a:srgbClr val="CC4F1F"/>
              </a:solidFill>
              <a:latin typeface="Calibri" panose="020F0502020204030204"/>
            </a:endParaRPr>
          </a:p>
        </p:txBody>
      </p:sp>
      <p:sp>
        <p:nvSpPr>
          <p:cNvPr id="23" name="TextBox 22"/>
          <p:cNvSpPr txBox="1"/>
          <p:nvPr/>
        </p:nvSpPr>
        <p:spPr>
          <a:xfrm>
            <a:off x="4297680" y="3511296"/>
            <a:ext cx="7315200" cy="502920"/>
          </a:xfrm>
          <a:prstGeom prst="rect">
            <a:avLst/>
          </a:prstGeom>
          <a:noFill/>
        </p:spPr>
        <p:txBody>
          <a:bodyPr wrap="none" anchor="ctr">
            <a:spAutoFit/>
          </a:bodyPr>
          <a:lstStyle/>
          <a:p>
            <a:r>
              <a:rPr sz="1300">
                <a:solidFill>
                  <a:srgbClr val="2C3E50"/>
                </a:solidFill>
                <a:latin typeface="Calibri" panose="020F0502020204030204"/>
              </a:rPr>
              <a:t>Red team, Guardrails tune, load test</a:t>
            </a:r>
            <a:endParaRPr sz="1300">
              <a:solidFill>
                <a:srgbClr val="2C3E50"/>
              </a:solidFill>
              <a:latin typeface="Calibri" panose="020F0502020204030204"/>
            </a:endParaRPr>
          </a:p>
        </p:txBody>
      </p:sp>
      <p:sp>
        <p:nvSpPr>
          <p:cNvPr id="24" name="Rectangle 23"/>
          <p:cNvSpPr/>
          <p:nvPr/>
        </p:nvSpPr>
        <p:spPr>
          <a:xfrm>
            <a:off x="457200" y="4087368"/>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87368"/>
            <a:ext cx="1371600" cy="502920"/>
          </a:xfrm>
          <a:prstGeom prst="rect">
            <a:avLst/>
          </a:prstGeom>
          <a:noFill/>
        </p:spPr>
        <p:txBody>
          <a:bodyPr wrap="none" anchor="ctr">
            <a:spAutoFit/>
          </a:bodyPr>
          <a:lstStyle/>
          <a:p>
            <a:pPr algn="ctr"/>
            <a:r>
              <a:rPr sz="1300" b="1">
                <a:solidFill>
                  <a:srgbClr val="FFFFFF"/>
                </a:solidFill>
                <a:latin typeface="Calibri" panose="020F0502020204030204"/>
              </a:rPr>
              <a:t>Launch</a:t>
            </a:r>
            <a:endParaRPr sz="1300" b="1">
              <a:solidFill>
                <a:srgbClr val="FFFFFF"/>
              </a:solidFill>
              <a:latin typeface="Calibri" panose="020F0502020204030204"/>
            </a:endParaRPr>
          </a:p>
        </p:txBody>
      </p:sp>
      <p:sp>
        <p:nvSpPr>
          <p:cNvPr id="26" name="TextBox 25"/>
          <p:cNvSpPr txBox="1"/>
          <p:nvPr/>
        </p:nvSpPr>
        <p:spPr>
          <a:xfrm>
            <a:off x="2011680" y="4087368"/>
            <a:ext cx="2194560" cy="502920"/>
          </a:xfrm>
          <a:prstGeom prst="rect">
            <a:avLst/>
          </a:prstGeom>
          <a:noFill/>
        </p:spPr>
        <p:txBody>
          <a:bodyPr wrap="none" anchor="ctr">
            <a:spAutoFit/>
          </a:bodyPr>
          <a:lstStyle/>
          <a:p>
            <a:r>
              <a:rPr sz="1500" b="1">
                <a:solidFill>
                  <a:srgbClr val="CC4F1F"/>
                </a:solidFill>
                <a:latin typeface="Calibri" panose="020F0502020204030204"/>
              </a:rPr>
              <a:t>Go-Live</a:t>
            </a:r>
            <a:endParaRPr sz="1500" b="1">
              <a:solidFill>
                <a:srgbClr val="CC4F1F"/>
              </a:solidFill>
              <a:latin typeface="Calibri" panose="020F0502020204030204"/>
            </a:endParaRPr>
          </a:p>
        </p:txBody>
      </p:sp>
      <p:sp>
        <p:nvSpPr>
          <p:cNvPr id="27" name="TextBox 26"/>
          <p:cNvSpPr txBox="1"/>
          <p:nvPr/>
        </p:nvSpPr>
        <p:spPr>
          <a:xfrm>
            <a:off x="4297680" y="4087368"/>
            <a:ext cx="7315200" cy="502920"/>
          </a:xfrm>
          <a:prstGeom prst="rect">
            <a:avLst/>
          </a:prstGeom>
          <a:noFill/>
        </p:spPr>
        <p:txBody>
          <a:bodyPr wrap="none" anchor="ctr">
            <a:spAutoFit/>
          </a:bodyPr>
          <a:lstStyle/>
          <a:p>
            <a:r>
              <a:rPr sz="1300">
                <a:solidFill>
                  <a:srgbClr val="2C3E50"/>
                </a:solidFill>
                <a:latin typeface="Calibri" panose="020F0502020204030204"/>
              </a:rPr>
              <a:t>All 12 departments, audit + cache live</a:t>
            </a:r>
            <a:endParaRPr sz="1300">
              <a:solidFill>
                <a:srgbClr val="2C3E50"/>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10419</Words>
  <Application>WPS Presentation</Application>
  <PresentationFormat>On-screen Show (4:3)</PresentationFormat>
  <Paragraphs>1148</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Calibri</vt:lpstr>
      <vt:lpstr>Segoe UI Emoji</vt:lpstr>
      <vt:lpstr>Consolas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Phạm Nguyễn Hải Anh</cp:lastModifiedBy>
  <cp:revision>42</cp:revision>
  <dcterms:created xsi:type="dcterms:W3CDTF">2013-01-27T09:14:00Z</dcterms:created>
  <dcterms:modified xsi:type="dcterms:W3CDTF">2026-05-19T10:19:25Z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772D4B43627C4BCD961DB43EE9C7F6FE_12</vt:lpwstr>
  </property>
  <property fmtid="{D5CDD505-2E9C-101B-9397-08002B2CF9AE}" pid="3" name="KSOProductBuildVer">
    <vt:lpwstr>1033-12.1.0.26372</vt:lpwstr>
  </property>
</Properties>
</file>
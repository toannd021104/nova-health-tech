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46464"/>
                </a:solidFill>
                <a:latin typeface="Calibri"/>
              </a:rPr>
              <a:t>Nova Health Tech  ·  Clinical GenAI Assistant  ·  AWS Singapore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800" b="1">
                <a:solidFill>
                  <a:srgbClr val="CC4F1F"/>
                </a:solidFill>
                <a:latin typeface="Calibri"/>
              </a:rPr>
              <a:t>Knowledge Base: Vector Store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4608576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05840"/>
            <a:ext cx="5303520" cy="5029200"/>
          </a:xfrm>
          <a:prstGeom prst="roundRect">
            <a:avLst>
              <a:gd name="adj" fmla="val 5000"/>
            </a:avLst>
          </a:prstGeom>
          <a:solidFill>
            <a:srgbClr val="E3F2FD"/>
          </a:solidFill>
          <a:ln w="1905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What is a Vector Store?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Text is converted into numbers (vectors) that capture meaning. Similar concepts end up close together in this mathematical space. When a doctor asks a question, the system finds the most similar chunks instantly.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743200"/>
            <a:ext cx="384048" cy="384048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743200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96F3"/>
                </a:solidFill>
                <a:latin typeface="Calibri"/>
              </a:rPr>
              <a:t>Ingest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7432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PDF/API source parsed into text chunks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310128"/>
            <a:ext cx="384048" cy="384048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310128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1012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96F3"/>
                </a:solidFill>
                <a:latin typeface="Calibri"/>
              </a:rPr>
              <a:t>Embed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310128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Cohere Embed v3 converts each chunk to 1024-dim vector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3877056"/>
            <a:ext cx="384048" cy="384048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77056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87705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96F3"/>
                </a:solidFill>
                <a:latin typeface="Calibri"/>
              </a:rPr>
              <a:t>Index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877056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OpenSearch Serverless stores vectors + metadata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" y="4443983"/>
            <a:ext cx="384048" cy="384048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443983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443983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96F3"/>
                </a:solidFill>
                <a:latin typeface="Calibri"/>
              </a:rPr>
              <a:t>Query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4443983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Doctor's question embedded, nearest chunks retrieved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5010912"/>
            <a:ext cx="384048" cy="384048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010912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01091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96F3"/>
                </a:solidFill>
                <a:latin typeface="Calibri"/>
              </a:rPr>
              <a:t>Rank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501091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Top-K chunks passed to LLM as grounding context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35040" y="1005840"/>
            <a:ext cx="5669280" cy="2286000"/>
          </a:xfrm>
          <a:prstGeom prst="roundRect">
            <a:avLst>
              <a:gd name="adj" fmla="val 5000"/>
            </a:avLst>
          </a:prstGeom>
          <a:solidFill>
            <a:srgbClr val="FFE8DA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AWS with Claude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157276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OpenSearch Serverless (Singapore-native)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186537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Cohere Embed Multilingual v3 (1024-dim)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215798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Multi-strategy chunking: hierarchical (WHO), semantic (trials)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245059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Hybrid kNN + BM25 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274320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No reranker in SG (production gap)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35040" y="3429000"/>
            <a:ext cx="5669280" cy="2606040"/>
          </a:xfrm>
          <a:prstGeom prst="roundRect">
            <a:avLst>
              <a:gd name="adj" fmla="val 5000"/>
            </a:avLst>
          </a:prstGeom>
          <a:solidFill>
            <a:srgbClr val="F3E5F5"/>
          </a:solidFill>
          <a:ln w="1905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35040" y="3429000"/>
            <a:ext cx="5669280" cy="45720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5040" y="3429000"/>
            <a:ext cx="56692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Alibaba Cloud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99592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OpenSearch Vector Search HA (dual-zone, Singapore)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28853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text-embedding-v4 (1024-dim) + tongyi-vision (1152-dim)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458114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Hierarchical chunking: parent 1500 / child 300, 15% overlap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487375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Hybrid BM25 + HNSW via Reciprocal Rank Fusion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516636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qwen3-rerank: top-20 → top-5 (available in SG)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46464"/>
                </a:solidFill>
                <a:latin typeface="Calibri"/>
              </a:rPr>
              <a:t>Nova Health Tech  ·  Clinical GenAI Assistant  ·  AWS Singapore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800" b="1">
                <a:solidFill>
                  <a:srgbClr val="CC4F1F"/>
                </a:solidFill>
                <a:latin typeface="Calibri"/>
              </a:rPr>
              <a:t>GraphRAG: Knowledge Graph-Augmented Retrieval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7406640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05840"/>
            <a:ext cx="5303520" cy="5029200"/>
          </a:xfrm>
          <a:prstGeom prst="roundRect">
            <a:avLst>
              <a:gd name="adj" fmla="val 5000"/>
            </a:avLst>
          </a:prstGeom>
          <a:solidFill>
            <a:srgbClr val="FFE8DA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Why GraphRAG?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72768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Vector search finds similar text. But clinical reasoning often requires multi-hop connections: Drug A → treats Condition B → contraindicated with Drug C. GraphRAG captures these entity relationships explicitly.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834640"/>
            <a:ext cx="1645920" cy="594360"/>
          </a:xfrm>
          <a:prstGeom prst="roundRect">
            <a:avLst>
              <a:gd name="adj" fmla="val 1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164592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Drug:
Corticosteroid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2468880"/>
            <a:ext cx="1645920" cy="594360"/>
          </a:xfrm>
          <a:prstGeom prst="roundRect">
            <a:avLst>
              <a:gd name="adj" fmla="val 1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0" y="2468880"/>
            <a:ext cx="164592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Condition:
Severe COVID-19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474720"/>
            <a:ext cx="1645920" cy="594360"/>
          </a:xfrm>
          <a:prstGeom prst="roundRect">
            <a:avLst>
              <a:gd name="adj" fmla="val 1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0" y="3474720"/>
            <a:ext cx="164592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Guideline:
WHO 2024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931920"/>
            <a:ext cx="1645920" cy="594360"/>
          </a:xfrm>
          <a:prstGeom prst="roundRect">
            <a:avLst>
              <a:gd name="adj" fmla="val 1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931920"/>
            <a:ext cx="164592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Drug:
Baricitinib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26974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C4F1F"/>
                </a:solidFill>
                <a:latin typeface="Calibri"/>
              </a:rPr>
              <a:t>treats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7947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C4F1F"/>
                </a:solidFill>
                <a:latin typeface="Calibri"/>
              </a:rPr>
              <a:t>treats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3063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C4F1F"/>
                </a:solidFill>
                <a:latin typeface="Calibri"/>
              </a:rPr>
              <a:t>cited 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6634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6464"/>
                </a:solidFill>
                <a:latin typeface="Calibri"/>
              </a:rPr>
              <a:t>Entity nodes + relation edges enable multi-hop reasoning across clinical knowledge.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1005840"/>
            <a:ext cx="5669280" cy="2286000"/>
          </a:xfrm>
          <a:prstGeom prst="roundRect">
            <a:avLst>
              <a:gd name="adj" fmla="val 5000"/>
            </a:avLst>
          </a:prstGeom>
          <a:solidFill>
            <a:srgbClr val="FFE8DA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AWS with Claude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157276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Neptune Analytics (managed graph DB, Singapore)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186537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Claude 3 Haiku extracts entities + relations at ingest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215798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1,863 Entity nodes + 826 Chunk nodes (PoC, 1 WHO PDF)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245059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Bedrock KB GraphRAG: SEMANTIC search (HYBRID not available)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274320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F6B35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Complex lane only: top-3 graph hits merged with top-15 vector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35040" y="3429000"/>
            <a:ext cx="5669280" cy="2606040"/>
          </a:xfrm>
          <a:prstGeom prst="roundRect">
            <a:avLst>
              <a:gd name="adj" fmla="val 5000"/>
            </a:avLst>
          </a:prstGeom>
          <a:solidFill>
            <a:srgbClr val="F3E5F5"/>
          </a:solidFill>
          <a:ln w="1905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35040" y="3429000"/>
            <a:ext cx="5669280" cy="45720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0" y="3429000"/>
            <a:ext cx="56692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Alibaba Cloud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99592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AnalyticDB for PostgreSQL 7.0 + adbpg_graphrag extension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428853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3-zone HA in Singapore, 4-core 32GB vector-optimized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458114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Drug → condition → intervention → guideline nodes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487375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treats, contraindicates, cites relations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516636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7B1FA2"/>
                </a:solidFill>
                <a:latin typeface="Calibri"/>
              </a:rPr>
              <a:t>▸ </a:t>
            </a:r>
            <a:r>
              <a:rPr sz="1050">
                <a:solidFill>
                  <a:srgbClr val="2C3E50"/>
                </a:solidFill>
                <a:latin typeface="Calibri"/>
              </a:rPr>
              <a:t>Complex lane: parallel vector + graph retrieval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46464"/>
                </a:solidFill>
                <a:latin typeface="Calibri"/>
              </a:rPr>
              <a:t>Nova Health Tech  ·  Clinical GenAI Assistant  ·  AWS Singapore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800" b="1">
                <a:solidFill>
                  <a:srgbClr val="CC4F1F"/>
                </a:solidFill>
                <a:latin typeface="Calibri"/>
              </a:rPr>
              <a:t>Multi-Agent Architecture: 12 Specialty Agents (PoC)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839419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05840"/>
            <a:ext cx="5303520" cy="5029200"/>
          </a:xfrm>
          <a:prstGeom prst="roundRect">
            <a:avLst>
              <a:gd name="adj" fmla="val 6000"/>
            </a:avLst>
          </a:prstGeom>
          <a:solidFill>
            <a:srgbClr val="FFE8DA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solidFill>
            <a:srgbClr val="CC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72768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Each department is a specialized agent: its own system prompt, clinical scope, and model. The router picks the right 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176272"/>
            <a:ext cx="4754880" cy="347472"/>
          </a:xfrm>
          <a:prstGeom prst="roundRect">
            <a:avLst>
              <a:gd name="adj" fmla="val 1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76272"/>
            <a:ext cx="475488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Doctors question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596896"/>
            <a:ext cx="4754880" cy="347472"/>
          </a:xfrm>
          <a:prstGeom prst="roundRect">
            <a:avLst>
              <a:gd name="adj" fmla="val 1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596896"/>
            <a:ext cx="475488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PHI mask + cache check</a:t>
            </a:r>
          </a:p>
        </p:txBody>
      </p:sp>
      <p:sp>
        <p:nvSpPr>
          <p:cNvPr id="15" name="Diamond 14"/>
          <p:cNvSpPr/>
          <p:nvPr/>
        </p:nvSpPr>
        <p:spPr>
          <a:xfrm>
            <a:off x="640080" y="3017520"/>
            <a:ext cx="4754880" cy="347472"/>
          </a:xfrm>
          <a:prstGeom prst="diamond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017520"/>
            <a:ext cx="475488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Emergency toggle ON?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438144"/>
            <a:ext cx="4754880" cy="347472"/>
          </a:xfrm>
          <a:prstGeom prst="roundRect">
            <a:avLst>
              <a:gd name="adj" fmla="val 15000"/>
            </a:avLst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438144"/>
            <a:ext cx="475488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YES: Emergency agent (Haiku 4.5)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858768"/>
            <a:ext cx="4754880" cy="347472"/>
          </a:xfrm>
          <a:prstGeom prst="roundRect">
            <a:avLst>
              <a:gd name="adj" fmla="val 15000"/>
            </a:avLst>
          </a:prstGeom>
          <a:solidFill>
            <a:srgbClr val="CC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58768"/>
            <a:ext cx="475488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NO: Router (Nova Micro, JSON mode)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279392"/>
            <a:ext cx="4754880" cy="347472"/>
          </a:xfrm>
          <a:prstGeom prst="roundRect">
            <a:avLst>
              <a:gd name="adj" fmla="val 15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279392"/>
            <a:ext cx="475488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Routes to 1 of 12 specialty agents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700016"/>
            <a:ext cx="4754880" cy="347472"/>
          </a:xfrm>
          <a:prstGeom prst="roundRect">
            <a:avLst>
              <a:gd name="adj" fmla="val 15000"/>
            </a:avLst>
          </a:prstGeom>
          <a:solidFill>
            <a:srgbClr val="CC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700016"/>
            <a:ext cx="475488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Specialty agent (Sonnet 4.5) generates answer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120640"/>
            <a:ext cx="4754880" cy="347472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120640"/>
            <a:ext cx="475488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Citations validated + streamed to browser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35040" y="1005840"/>
            <a:ext cx="5669280" cy="5029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12 Deployed Department Agents (PoC)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26480" y="1572768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E8DA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9632" y="1645920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alibri"/>
              </a:rPr>
              <a:t>Emergency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99632" y="1956816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Haiku 4.5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80" y="1572768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2" y="1645920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F1F"/>
                </a:solidFill>
                <a:latin typeface="Calibri"/>
              </a:rPr>
              <a:t>Cardiology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2" y="1956816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Sonnet 4.5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1572768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E8DA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57232" y="1645920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F1F"/>
                </a:solidFill>
                <a:latin typeface="Calibri"/>
              </a:rPr>
              <a:t>Pulmonology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57232" y="1956816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Sonnet 4.5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2322576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99632" y="2395728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F1F"/>
                </a:solidFill>
                <a:latin typeface="Calibri"/>
              </a:rPr>
              <a:t>Gastroenterology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9632" y="2706624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Sonnet 4.5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55280" y="2322576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E8DA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28432" y="2395728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F1F"/>
                </a:solidFill>
                <a:latin typeface="Calibri"/>
              </a:rPr>
              <a:t>Nephrology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28432" y="2706624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Sonnet 4.5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784080" y="2322576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57232" y="2395728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F1F"/>
                </a:solidFill>
                <a:latin typeface="Calibri"/>
              </a:rPr>
              <a:t>Endocrinology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57232" y="2706624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Sonnet 4.5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26480" y="3072384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E8DA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99632" y="3145536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F1F"/>
                </a:solidFill>
                <a:latin typeface="Calibri"/>
              </a:rPr>
              <a:t>Neurology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9632" y="3456432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Sonnet 4.5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55280" y="3072384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28432" y="3145536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F1F"/>
                </a:solidFill>
                <a:latin typeface="Calibri"/>
              </a:rPr>
              <a:t>Infectious Disease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28432" y="3456432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Sonnet 4.5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784080" y="3072384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E8DA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57232" y="3145536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F1F"/>
                </a:solidFill>
                <a:latin typeface="Calibri"/>
              </a:rPr>
              <a:t>Oncology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57232" y="3456432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Sonnet 4.5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26480" y="3822192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2" y="3895344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F1F"/>
                </a:solidFill>
                <a:latin typeface="Calibri"/>
              </a:rPr>
              <a:t>Obstetrics &amp; Gyn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99632" y="4206240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Sonnet 4.5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955280" y="3822192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E8DA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28432" y="3895344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4F1F"/>
                </a:solidFill>
                <a:latin typeface="Calibri"/>
              </a:rPr>
              <a:t>Pediatrics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28432" y="4206240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Sonnet 4.5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784080" y="3822192"/>
            <a:ext cx="17373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857232" y="3895344"/>
            <a:ext cx="15910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6B35"/>
                </a:solidFill>
                <a:latin typeface="Calibri"/>
              </a:rPr>
              <a:t>Radiology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857232" y="4206240"/>
            <a:ext cx="15910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646464"/>
                </a:solidFill>
                <a:latin typeface="Calibri"/>
              </a:rPr>
              <a:t>Sonnet 4.5 + Vision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57200" y="5989320"/>
            <a:ext cx="11247120" cy="384048"/>
          </a:xfrm>
          <a:prstGeom prst="roundRect">
            <a:avLst>
              <a:gd name="adj" fmla="val 20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" y="6044184"/>
            <a:ext cx="10881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PoC: 12 departments, system prompt per agent, bedrock.converse() directly.  Production: 40 sub-specialties, Bedrock Agents service with tool calling.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46464"/>
                </a:solidFill>
                <a:latin typeface="Calibri"/>
              </a:rPr>
              <a:t>Nova Health Tech  ·  Clinical GenAI Assistant  ·  AWS Singapore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800" b="1">
                <a:solidFill>
                  <a:srgbClr val="CC4F1F"/>
                </a:solidFill>
                <a:latin typeface="Calibri"/>
              </a:rPr>
              <a:t>Agentic RAG: PoC vs Production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7077455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05840"/>
            <a:ext cx="5303520" cy="502920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PoC (Deployed Today)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7276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Calibri"/>
              </a:rPr>
              <a:t>Fixed pipeline - NO Bedrock Agents, NO tool calling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057400"/>
            <a:ext cx="329184" cy="32918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329184" cy="32918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093976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PHI mask (regex)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2532888"/>
            <a:ext cx="329184" cy="32918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32888"/>
            <a:ext cx="329184" cy="32918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569464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Cache lookup (Redis)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3008376"/>
            <a:ext cx="329184" cy="32918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008376"/>
            <a:ext cx="329184" cy="32918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044952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Lane: emergency or complex (if/else)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3483864"/>
            <a:ext cx="329184" cy="32918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483864"/>
            <a:ext cx="329184" cy="32918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3520440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Router: Nova Micro via bedrock.converse()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" y="3959352"/>
            <a:ext cx="329184" cy="32918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959352"/>
            <a:ext cx="329184" cy="32918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3995928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Retrieve: Bedrock KB Retrieve API (direct call)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" y="4434840"/>
            <a:ext cx="329184" cy="32918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434840"/>
            <a:ext cx="329184" cy="32918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" y="4471416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GraphRAG: Bedrock KB Retrieve API (direct call)</a:t>
            </a:r>
          </a:p>
        </p:txBody>
      </p:sp>
      <p:sp>
        <p:nvSpPr>
          <p:cNvPr id="29" name="Oval 28"/>
          <p:cNvSpPr/>
          <p:nvPr/>
        </p:nvSpPr>
        <p:spPr>
          <a:xfrm>
            <a:off x="640080" y="4910328"/>
            <a:ext cx="329184" cy="32918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910328"/>
            <a:ext cx="329184" cy="32918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" y="4946904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Generate: bedrock.converse_stream() directly</a:t>
            </a:r>
          </a:p>
        </p:txBody>
      </p:sp>
      <p:sp>
        <p:nvSpPr>
          <p:cNvPr id="32" name="Oval 31"/>
          <p:cNvSpPr/>
          <p:nvPr/>
        </p:nvSpPr>
        <p:spPr>
          <a:xfrm>
            <a:off x="640080" y="5385816"/>
            <a:ext cx="329184" cy="329184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385816"/>
            <a:ext cx="329184" cy="32918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" y="5422392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  <a:latin typeface="Calibri"/>
              </a:rPr>
              <a:t>Cache write + SSE stream to browser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80644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46464"/>
                </a:solidFill>
                <a:latin typeface="Calibri"/>
              </a:rPr>
              <a:t>No icd11_lookup, no pubmed_search in PoC. PubMed = future feature.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35040" y="1005840"/>
            <a:ext cx="5669280" cy="5029200"/>
          </a:xfrm>
          <a:prstGeom prst="roundRect">
            <a:avLst>
              <a:gd name="adj" fmla="val 6000"/>
            </a:avLst>
          </a:prstGeom>
          <a:solidFill>
            <a:srgbClr val="FFF8E1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35040" y="10058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Production Target (Bedrock Agents)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1572768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8F00"/>
                </a:solidFill>
                <a:latin typeface="Calibri"/>
              </a:rPr>
              <a:t>Agentic loop - LLM decides which tools to call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0574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8F00"/>
                </a:solidFill>
                <a:latin typeface="Calibri"/>
              </a:rPr>
              <a:t>Agent tools (Bedrock action groups):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2423160"/>
            <a:ext cx="530352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7920" y="2423160"/>
            <a:ext cx="54864" cy="50292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2459736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F00"/>
                </a:solidFill>
                <a:latin typeface="Calibri"/>
              </a:rPr>
              <a:t>kb_retrieve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2697480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6464"/>
                </a:solidFill>
                <a:latin typeface="Calibri"/>
              </a:rPr>
              <a:t>Vector + GraphRAG KB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253288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Semantic search on WHO, trials, protocols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2990088"/>
            <a:ext cx="530352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0" y="2990088"/>
            <a:ext cx="54864" cy="50292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302666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F00"/>
                </a:solidFill>
                <a:latin typeface="Calibri"/>
              </a:rPr>
              <a:t>graph_retrieve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3264408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6464"/>
                </a:solidFill>
                <a:latin typeface="Calibri"/>
              </a:rPr>
              <a:t>Neptune Analytics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099816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Multi-hop entity traversal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3557015"/>
            <a:ext cx="530352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17920" y="3557015"/>
            <a:ext cx="54864" cy="50292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3593591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F00"/>
                </a:solidFill>
                <a:latin typeface="Calibri"/>
              </a:rPr>
              <a:t>icd11_lookup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3831335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6464"/>
                </a:solidFill>
                <a:latin typeface="Calibri"/>
              </a:rPr>
              <a:t>WHO ICD-11 API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55279" y="3666743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Live disease classification + synonyms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17920" y="4123944"/>
            <a:ext cx="530352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17920" y="4123944"/>
            <a:ext cx="54864" cy="50292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0800" y="416052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F00"/>
                </a:solidFill>
                <a:latin typeface="Calibri"/>
              </a:rPr>
              <a:t>pubmed_search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0" y="4398264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6464"/>
                </a:solidFill>
                <a:latin typeface="Calibri"/>
              </a:rPr>
              <a:t>NCBI E-utilities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55279" y="423367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  <a:latin typeface="Calibri"/>
              </a:rPr>
              <a:t>Real-time research literature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47548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8F00"/>
                </a:solidFill>
                <a:latin typeface="Calibri"/>
              </a:rPr>
              <a:t>Why not in PoC?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17920" y="519379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8F00"/>
                </a:solidFill>
                <a:latin typeface="Calibri"/>
              </a:rPr>
              <a:t>▸ </a:t>
            </a:r>
            <a:r>
              <a:rPr sz="1000">
                <a:solidFill>
                  <a:srgbClr val="2C3E50"/>
                </a:solidFill>
                <a:latin typeface="Calibri"/>
              </a:rPr>
              <a:t>Bedrock Agent InvokeAgent blocked by IAM trust chain issue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544982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8F00"/>
                </a:solidFill>
                <a:latin typeface="Calibri"/>
              </a:rPr>
              <a:t>▸ </a:t>
            </a:r>
            <a:r>
              <a:rPr sz="1000">
                <a:solidFill>
                  <a:srgbClr val="2C3E50"/>
                </a:solidFill>
                <a:latin typeface="Calibri"/>
              </a:rPr>
              <a:t>converse_stream() used directly instead (works, faster to build)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17920" y="5705856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FF8F00"/>
                </a:solidFill>
                <a:latin typeface="Calibri"/>
              </a:rPr>
              <a:t>▸ </a:t>
            </a:r>
            <a:r>
              <a:rPr sz="1000">
                <a:solidFill>
                  <a:srgbClr val="2C3E50"/>
                </a:solidFill>
                <a:latin typeface="Calibri"/>
              </a:rPr>
              <a:t>Production: resolve IAM + enable full agentic loop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7200" y="6080760"/>
            <a:ext cx="11247120" cy="347472"/>
          </a:xfrm>
          <a:prstGeom prst="roundRect">
            <a:avLst>
              <a:gd name="adj" fmla="val 20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" y="6117336"/>
            <a:ext cx="10881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PoC proves the retrieval + generation quality. Production adds Bedrock Agents for dynamic tool selection.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i="1">
                <a:solidFill>
                  <a:srgbClr val="646464"/>
                </a:solidFill>
                <a:latin typeface="Calibri"/>
              </a:rPr>
              <a:t>Nova Health Tech  ·  Clinical GenAI Assistant  ·  AWS Singapore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2800" b="1">
                <a:solidFill>
                  <a:srgbClr val="CC4F1F"/>
                </a:solidFill>
                <a:latin typeface="Calibri"/>
              </a:rPr>
              <a:t>RAG vs Fine-tuning: Knowledge Update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7406640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46464"/>
                </a:solidFill>
                <a:latin typeface="Calibri"/>
              </a:rPr>
              <a:t>How each version handles periodic updates: WHO guidelines, PubMed, clinical trial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716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4F1F"/>
                </a:solidFill>
                <a:latin typeface="Calibri"/>
              </a:rPr>
              <a:t>Dimension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2286000" cy="274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0" y="1325880"/>
            <a:ext cx="4114800" cy="502920"/>
          </a:xfrm>
          <a:prstGeom prst="roundRect">
            <a:avLst>
              <a:gd name="adj" fmla="val 10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325880"/>
            <a:ext cx="4114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AWS with Claude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325880"/>
            <a:ext cx="4389120" cy="502920"/>
          </a:xfrm>
          <a:prstGeom prst="roundRect">
            <a:avLst>
              <a:gd name="adj" fmla="val 10000"/>
            </a:avLst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325880"/>
            <a:ext cx="43891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Alibaba Cloud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20240"/>
            <a:ext cx="228600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011680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3E50"/>
                </a:solidFill>
                <a:latin typeface="Calibri"/>
              </a:rPr>
              <a:t>WHO Guidelines
(monthly update)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1920240"/>
            <a:ext cx="411480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1975104"/>
            <a:ext cx="3931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only
EventBridge cron → S3 → BDA parse → Cohere embed → OpenSearch upsert
Cache invalidated by source tag. No model retrain.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1920240"/>
            <a:ext cx="438912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1975104"/>
            <a:ext cx="42062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only
CloudOps Scheduler → OSS → DocMind parse → text-embedding-v4 → OpenSearch upsert
Tair cache flushed by source tag. No model retrain.</a:t>
            </a:r>
          </a:p>
        </p:txBody>
      </p:sp>
      <p:sp>
        <p:nvSpPr>
          <p:cNvPr id="20" name="Oval 19"/>
          <p:cNvSpPr/>
          <p:nvPr/>
        </p:nvSpPr>
        <p:spPr>
          <a:xfrm>
            <a:off x="2606040" y="2212848"/>
            <a:ext cx="201168" cy="201168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761488"/>
            <a:ext cx="22860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852928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3E50"/>
                </a:solidFill>
                <a:latin typeface="Calibri"/>
              </a:rPr>
              <a:t>PubMed
(real-time)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2761488"/>
            <a:ext cx="41148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2816352"/>
            <a:ext cx="3931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tool (query-time)
pubmed_search tool called by agent on demand
NCBI E-utilities, 24h result cache
Never ingested into KB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0" y="2761488"/>
            <a:ext cx="438912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0" y="2816352"/>
            <a:ext cx="42062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tool (query-time)
pubmed_search tool called by agent on demand
NCBI E-utilities, 3 req/s free tier
Never ingested into KB</a:t>
            </a:r>
          </a:p>
        </p:txBody>
      </p:sp>
      <p:sp>
        <p:nvSpPr>
          <p:cNvPr id="27" name="Oval 26"/>
          <p:cNvSpPr/>
          <p:nvPr/>
        </p:nvSpPr>
        <p:spPr>
          <a:xfrm>
            <a:off x="2606040" y="3054096"/>
            <a:ext cx="201168" cy="201168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602736"/>
            <a:ext cx="228600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694176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3E50"/>
                </a:solidFill>
                <a:latin typeface="Calibri"/>
              </a:rPr>
              <a:t>Clinical Trial
Reports (weekly)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3602736"/>
            <a:ext cx="411480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17520" y="3657600"/>
            <a:ext cx="3931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only
SharePoint Graph webhook → S3 → PHI mask → BDA parse
→ Cohere embed → OpenSearch upsert
Weekly reconciliation + real-time webhook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3602736"/>
            <a:ext cx="438912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06640" y="3657600"/>
            <a:ext cx="42062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only
SharePoint Graph webhook → OSS → SDDP PHI mask → DocMind parse
→ text-embedding-v4 → OpenSearch upsert
Weekly reconciliation + real-time webhook</a:t>
            </a:r>
          </a:p>
        </p:txBody>
      </p:sp>
      <p:sp>
        <p:nvSpPr>
          <p:cNvPr id="34" name="Oval 33"/>
          <p:cNvSpPr/>
          <p:nvPr/>
        </p:nvSpPr>
        <p:spPr>
          <a:xfrm>
            <a:off x="2606040" y="3895344"/>
            <a:ext cx="201168" cy="201168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443984"/>
            <a:ext cx="22860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535424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3E50"/>
                </a:solidFill>
                <a:latin typeface="Calibri"/>
              </a:rPr>
              <a:t>Clinical Tone
&amp; Phrasing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80" y="4443984"/>
            <a:ext cx="41148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17520" y="4498848"/>
            <a:ext cx="3931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Fine-tuning (quarterly)
Bedrock Model Distillation: Sonnet 4.5 → Nova Lite student
SFT on de-identified invocation logs
Student serves 40% of complex traffic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0" y="4443984"/>
            <a:ext cx="438912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06640" y="4498848"/>
            <a:ext cx="42062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Fine-tuning (quarterly)
PAI SFT + LoRA on Qwen3-8B
DPO monthly on clinician preference pairs
GRPO ad-hoc for tool-calling
Student serves 60% of complex traffic</a:t>
            </a:r>
          </a:p>
        </p:txBody>
      </p:sp>
      <p:sp>
        <p:nvSpPr>
          <p:cNvPr id="41" name="Oval 40"/>
          <p:cNvSpPr/>
          <p:nvPr/>
        </p:nvSpPr>
        <p:spPr>
          <a:xfrm>
            <a:off x="2606040" y="4736592"/>
            <a:ext cx="201168" cy="201168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285232"/>
            <a:ext cx="228600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21031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C3E50"/>
                </a:solidFill>
                <a:latin typeface="Calibri"/>
              </a:rPr>
              <a:t>ICD-11 Codes
(daily)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26080" y="5285232"/>
            <a:ext cx="411480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017520" y="5340096"/>
            <a:ext cx="3931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(daily delta)
EventBridge 02:00 SGT → WHO OAuth2 API → S3 → embed → upsert
icd11_lookup tool for query-time expansion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0" y="5285232"/>
            <a:ext cx="4389120" cy="804672"/>
          </a:xfrm>
          <a:prstGeom prst="rect">
            <a:avLst/>
          </a:prstGeom>
          <a:solidFill>
            <a:srgbClr val="FFE8DA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06640" y="5340096"/>
            <a:ext cx="42062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RAG (daily delta)
CloudOps Scheduler 02:00 SGT → WHO OAuth2 API → OSS → embed → upsert
icd11_lookup tool for query-time expansion</a:t>
            </a:r>
          </a:p>
        </p:txBody>
      </p:sp>
      <p:sp>
        <p:nvSpPr>
          <p:cNvPr id="48" name="Oval 47"/>
          <p:cNvSpPr/>
          <p:nvPr/>
        </p:nvSpPr>
        <p:spPr>
          <a:xfrm>
            <a:off x="2606040" y="5577840"/>
            <a:ext cx="201168" cy="201168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6464"/>
                </a:solidFill>
                <a:latin typeface="Calibri"/>
              </a:rPr>
              <a:t>● Green = RAG (no model retrain, updates in minutes-hours)   ● Orange = Fine-tuning (tone/format only, quarterly, ~$15-40/run)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6400800"/>
            <a:ext cx="11247120" cy="347472"/>
          </a:xfrm>
          <a:prstGeom prst="roundRect">
            <a:avLst>
              <a:gd name="adj" fmla="val 20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6437376"/>
            <a:ext cx="10881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Key insight: RAG handles all factual updates (WHO, PubMed, trials). Fine-tuning is ONLY for tone, phrasing, and clinical vocabulary. Never for facts.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
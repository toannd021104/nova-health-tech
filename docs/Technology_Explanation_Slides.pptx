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Knowledge Base: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4608576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is a Vector Store?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Text is converted into numbers (vectors) that capture meaning. Similar concepts end up close together in this mathematical space. When a doctor asks a question, the system finds the most similar chunks instantly.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432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PDF/API source parsed into text chunks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10128"/>
            <a:ext cx="384048" cy="38404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101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310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Cohere Embed v3 converts each chunk to 1024-dim vector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77056"/>
            <a:ext cx="384048" cy="38404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77056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7705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877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OpenSearch Serverless stores vectors + metadata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443983"/>
            <a:ext cx="384048" cy="38404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43983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43983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44398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Doctor's question embedded, nearest chunks retrieved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010912"/>
            <a:ext cx="384048" cy="38404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10912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0109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010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Top-K chunks passed to LLM as grounding context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100584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AWS with Claude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572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OpenSearch Serverless (Singapore-native)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8653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Cohere Embed Multilingual v3 (1024-dim)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1579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Multi-strategy chunking: hierarchical (WHO), semantic (trials)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450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Hybrid kNN + BM25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7432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No reranker in SG (production gap)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3429000"/>
            <a:ext cx="5669280" cy="260604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3429000"/>
            <a:ext cx="566928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42900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Alibaba Cloud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95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OpenSearch Vector Search HA (dual-zone, Singapore)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288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text-embedding-v4 (1024-dim) + tongyi-vision (1152-dim)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581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Hierarchical chunking: parent 1500 / child 300, 15% overlap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73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Hybrid BM25 + HNSW via Reciprocal Rank Fusion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66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qwen3-rerank: top-20 → top-5 (available in SG)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GraphRAG: Knowledge Graph-Augmented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7406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GraphRAG?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Vector search finds similar text. But clinical reasoning often requires multi-hop connections: Drug A → treats Condition B → contraindicated with Drug C. GraphRAG captures these entity relationships explicitly.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1645920" cy="59436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645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Drug:
Corticosteroid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468880"/>
            <a:ext cx="1645920" cy="59436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1645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Condition:
Severe COVID-19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474720"/>
            <a:ext cx="1645920" cy="59436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474720"/>
            <a:ext cx="1645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Guideline:
WHO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645920" cy="59436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645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Drug:
Baricitinib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4F1F"/>
                </a:solidFill>
                <a:latin typeface="Calibri"/>
              </a:rPr>
              <a:t>treats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4F1F"/>
                </a:solidFill>
                <a:latin typeface="Calibri"/>
              </a:rPr>
              <a:t>treats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4F1F"/>
                </a:solidFill>
                <a:latin typeface="Calibri"/>
              </a:rPr>
              <a:t>cited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  <a:latin typeface="Calibri"/>
              </a:rPr>
              <a:t>Entity nodes + relation edges enable multi-hop reasoning across clinical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00584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AWS with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572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Neptune Analytics (managed graph DB, Singapore)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653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Claude 3 Haiku extracts entities + relations at ingest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579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1,863 Entity nodes + 826 Chunk nodes (PoC, 1 WHO PDF)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450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Bedrock KB GraphRAG: SEMANTIC search (HYBRID not available)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6B35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Complex lane only: top-3 graph hits merged with top-15 vector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429000"/>
            <a:ext cx="5669280" cy="260604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429000"/>
            <a:ext cx="566928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42900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Alibaba 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995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AnalyticDB for PostgreSQL 7.0 + adbpg_graphrag extension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88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3-zone HA in Singapore, 4-core 32GB vector-optimized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81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Drug → condition → intervention → guideline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873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treats, contraindicates, cites relations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166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B1FA2"/>
                </a:solidFill>
                <a:latin typeface="Calibri"/>
              </a:rPr>
              <a:t>▸ </a:t>
            </a:r>
            <a:r>
              <a:rPr sz="1050">
                <a:solidFill>
                  <a:srgbClr val="2C3E50"/>
                </a:solidFill>
                <a:latin typeface="Calibri"/>
              </a:rPr>
              <a:t>Complex lane: parallel vector + graph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Multi-Agent Architecture: 12 Specialty Agents (PoC)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839419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Each department is a specialized agent: its own system prompt, clinical scope, and model. The router picks the right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76272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Doctors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96896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96896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PHI mask + cache check</a:t>
            </a:r>
          </a:p>
        </p:txBody>
      </p:sp>
      <p:sp>
        <p:nvSpPr>
          <p:cNvPr id="15" name="Diamond 14"/>
          <p:cNvSpPr/>
          <p:nvPr/>
        </p:nvSpPr>
        <p:spPr>
          <a:xfrm>
            <a:off x="640080" y="3017520"/>
            <a:ext cx="4754880" cy="347472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Emergency toggle 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38144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38144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YES: Emergency agent (Haiku 4.5)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58768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58768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NO: Router (Nova Micro, JSON mode)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79392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Routes to 1 of 12 specialty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0016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0016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Specialty agent (Sonnet 4.5) generates answer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20640"/>
            <a:ext cx="4754880" cy="347472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Citations validated + streamed to browser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005840"/>
            <a:ext cx="566928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 Deployed Department Agents (PoC)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1572768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16459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Emergency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1956816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Haiku 4.5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1572768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2" y="16459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Cardiology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2" y="1956816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1572768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16459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Pulmonology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1956816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2322576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2395728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Gastroenterology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2706624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80" y="2322576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28432" y="2395728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Nephrology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2706624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2322576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2395728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Endocrinology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2706624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3072384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9632" y="3145536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Neurology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3456432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80" y="3072384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28432" y="3145536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Infectious Disease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8432" y="3456432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4080" y="3072384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7232" y="3145536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Oncology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3456432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26480" y="3822192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9632" y="3895344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Obstetrics &amp; Gyn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9632" y="4206240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80" y="3822192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2" y="3895344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4F1F"/>
                </a:solidFill>
                <a:latin typeface="Calibri"/>
              </a:rPr>
              <a:t>Pediatrics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2" y="4206240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84080" y="3822192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57232" y="3895344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Radiology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2" y="4206240"/>
            <a:ext cx="1591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6464"/>
                </a:solidFill>
                <a:latin typeface="Calibri"/>
              </a:rPr>
              <a:t>Sonnet 4.5 + Vision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989320"/>
            <a:ext cx="11247120" cy="384048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04418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PoC: 12 departments, system prompt per agent, bedrock.converse() directly.  Production: 40 sub-specialties, Bedrock Agents service with tool calling.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Agentic RAG: PoC vs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707745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PoC (Deployed Today)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Fixed pipeline - NO Bedrock Agents, NO tool calling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057400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0939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PHI mask (regex)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694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Cache lookup (Redis)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08376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08376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0449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Lane: emergency or complex (if/else)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483864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83864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520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Router: Nova Micro via bedrock.converse()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959352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59352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9959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Retrieve: Bedrock KB Retrieve API (direct call)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34840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4714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GraphRAG: Bedrock KB Retrieve API (direct call)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910328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10328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94690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Generate: bedrock.converse_stream() directly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85816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85816"/>
            <a:ext cx="329184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4223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Cache write + SSE stream to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6464"/>
                </a:solidFill>
                <a:latin typeface="Calibri"/>
              </a:rPr>
              <a:t>No icd11_lookup, no pubmed_search in PoC. PubMed = future feature.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005840"/>
            <a:ext cx="5669280" cy="50292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Production Target (Bedrock Agents)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F00"/>
                </a:solidFill>
                <a:latin typeface="Calibri"/>
              </a:rPr>
              <a:t>Agentic loop - LLM decides which tools to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057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F00"/>
                </a:solidFill>
                <a:latin typeface="Calibri"/>
              </a:rPr>
              <a:t>Agent tools (Bedrock action groups):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423160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423160"/>
            <a:ext cx="54864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4597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F00"/>
                </a:solidFill>
                <a:latin typeface="Calibri"/>
              </a:rPr>
              <a:t>kb_retrieve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6974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Calibri"/>
              </a:rPr>
              <a:t>Vector + GraphRAG KB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5328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Semantic search on WHO, trials, protocols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2990088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2990088"/>
            <a:ext cx="54864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026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F00"/>
                </a:solidFill>
                <a:latin typeface="Calibri"/>
              </a:rPr>
              <a:t>graph_retrieve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2644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Calibri"/>
              </a:rPr>
              <a:t>Neptune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099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Multi-hop entity traversal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557015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557015"/>
            <a:ext cx="54864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5935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F00"/>
                </a:solidFill>
                <a:latin typeface="Calibri"/>
              </a:rPr>
              <a:t>icd11_lookup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831335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Calibri"/>
              </a:rPr>
              <a:t>WHO ICD-11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66674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Live disease classification + synonyms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123944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123944"/>
            <a:ext cx="54864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1605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F00"/>
                </a:solidFill>
                <a:latin typeface="Calibri"/>
              </a:rPr>
              <a:t>pubmed_search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3982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6464"/>
                </a:solidFill>
                <a:latin typeface="Calibri"/>
              </a:rPr>
              <a:t>NCBI E-utilities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233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Real-time research literature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754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F00"/>
                </a:solidFill>
                <a:latin typeface="Calibri"/>
              </a:rPr>
              <a:t>Why not in PoC?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193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1000">
                <a:solidFill>
                  <a:srgbClr val="2C3E50"/>
                </a:solidFill>
                <a:latin typeface="Calibri"/>
              </a:rPr>
              <a:t>Bedrock Agent InvokeAgent blocked by IAM trust chain issue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54498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1000">
                <a:solidFill>
                  <a:srgbClr val="2C3E50"/>
                </a:solidFill>
                <a:latin typeface="Calibri"/>
              </a:rPr>
              <a:t>converse_stream() used directly instead (works, faster to build)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705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1000">
                <a:solidFill>
                  <a:srgbClr val="2C3E50"/>
                </a:solidFill>
                <a:latin typeface="Calibri"/>
              </a:rPr>
              <a:t>Production: resolve IAM + enable full agentic loop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080760"/>
            <a:ext cx="11247120" cy="347472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611733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PoC proves the retrieval + generation quality. Production adds Bedrock Agents for dynamic tool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RAG vs Fine-tuning: Knowledge Update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7406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6464"/>
                </a:solidFill>
                <a:latin typeface="Calibri"/>
              </a:rPr>
              <a:t>How each version handles periodic updates: WHO guidelines, PubMed, clinical trial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F1F"/>
                </a:solidFill>
                <a:latin typeface="Calibri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2860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325880"/>
            <a:ext cx="4114800" cy="5029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32588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AWS with Claude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25880"/>
            <a:ext cx="4389120" cy="5029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32588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Alibaba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22860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WHO Guidelines
(monthly update)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920240"/>
            <a:ext cx="41148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75104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only
EventBridge cron → S3 → BDA parse → Cohere embed → OpenSearch upsert
Cache invalidated by source tag. No model retrain.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920240"/>
            <a:ext cx="438912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75104"/>
            <a:ext cx="4206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only
CloudOps Scheduler → OSS → DocMind parse → text-embedding-v4 → OpenSearch upsert
Tair cache flushed by source tag. No model retrain.</a:t>
            </a:r>
          </a:p>
        </p:txBody>
      </p:sp>
      <p:sp>
        <p:nvSpPr>
          <p:cNvPr id="20" name="Oval 19"/>
          <p:cNvSpPr/>
          <p:nvPr/>
        </p:nvSpPr>
        <p:spPr>
          <a:xfrm>
            <a:off x="2606040" y="2212848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61488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52928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PubMed
(real-time)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76148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816352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tool (query-time)
pubmed_search tool called by agent on demand
NCBI E-utilities, 24h result cache
Never ingested into KB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761488"/>
            <a:ext cx="4389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816352"/>
            <a:ext cx="4206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tool (query-time)
pubmed_search tool called by agent on demand
NCBI E-utilities, 3 req/s free tier
Never ingested into KB</a:t>
            </a:r>
          </a:p>
        </p:txBody>
      </p:sp>
      <p:sp>
        <p:nvSpPr>
          <p:cNvPr id="27" name="Oval 26"/>
          <p:cNvSpPr/>
          <p:nvPr/>
        </p:nvSpPr>
        <p:spPr>
          <a:xfrm>
            <a:off x="2606040" y="305409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02736"/>
            <a:ext cx="22860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94176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Clinical Trial
Reports (weekly)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602736"/>
            <a:ext cx="41148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657600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only
SharePoint Graph webhook → S3 → PHI mask → BDA parse
→ Cohere embed → OpenSearch upsert
Weekly reconciliation + real-time webhook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602736"/>
            <a:ext cx="438912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657600"/>
            <a:ext cx="4206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only
SharePoint Graph webhook → OSS → SDDP PHI mask → DocMind parse
→ text-embedding-v4 → OpenSearch upsert
Weekly reconciliation + real-time webhook</a:t>
            </a:r>
          </a:p>
        </p:txBody>
      </p:sp>
      <p:sp>
        <p:nvSpPr>
          <p:cNvPr id="34" name="Oval 33"/>
          <p:cNvSpPr/>
          <p:nvPr/>
        </p:nvSpPr>
        <p:spPr>
          <a:xfrm>
            <a:off x="2606040" y="389534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443984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35424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Clinical Tone
&amp; Phrasing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443984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4498848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Fine-tuning (quarterly)
Bedrock Model Distillation: Sonnet 4.5 → Nova Lite student
SFT on de-identified invocation logs
Student serves 40% of complex traffic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443984"/>
            <a:ext cx="4389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498848"/>
            <a:ext cx="4206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Fine-tuning (quarterly)
PAI SFT + LoRA on Qwen3-8B
DPO monthly on clinician preference pairs
GRPO ad-hoc for tool-calling
Student serves 60% of complex traffic</a:t>
            </a:r>
          </a:p>
        </p:txBody>
      </p:sp>
      <p:sp>
        <p:nvSpPr>
          <p:cNvPr id="41" name="Oval 40"/>
          <p:cNvSpPr/>
          <p:nvPr/>
        </p:nvSpPr>
        <p:spPr>
          <a:xfrm>
            <a:off x="2606040" y="4736592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285232"/>
            <a:ext cx="22860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376672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3E50"/>
                </a:solidFill>
                <a:latin typeface="Calibri"/>
              </a:rPr>
              <a:t>ICD-11 Codes
(daily)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5285232"/>
            <a:ext cx="411480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0" y="5340096"/>
            <a:ext cx="3931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(daily delta)
EventBridge 02:00 SGT → WHO OAuth2 API → S3 → embed → upsert
icd11_lookup tool for query-time expansion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5285232"/>
            <a:ext cx="4389120" cy="804672"/>
          </a:xfrm>
          <a:prstGeom prst="rect">
            <a:avLst/>
          </a:prstGeom>
          <a:solidFill>
            <a:srgbClr val="FFE8D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5340096"/>
            <a:ext cx="4206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RAG (daily delta)
CloudOps Scheduler 02:00 SGT → WHO OAuth2 API → OSS → embed → upsert
icd11_lookup tool for query-time expansion</a:t>
            </a:r>
          </a:p>
        </p:txBody>
      </p:sp>
      <p:sp>
        <p:nvSpPr>
          <p:cNvPr id="48" name="Oval 47"/>
          <p:cNvSpPr/>
          <p:nvPr/>
        </p:nvSpPr>
        <p:spPr>
          <a:xfrm>
            <a:off x="2606040" y="557784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  <a:latin typeface="Calibri"/>
              </a:rPr>
              <a:t>● Green = RAG (no model retrain, updates in minutes-hours)   ● Orange = Fine-tuning (tone/format only, quarterly, ~$15-40/run)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400800"/>
            <a:ext cx="11247120" cy="347472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43737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Key insight: RAG handles all factual updates (WHO, PubMed, trials). Fine-tuning is ONLY for tone, phrasing, and clinical vocabulary. Never for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LangChain + LangGraph in the PoC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5266944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LangGraph  -  State Machine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Defines the request pipeline as a directed graph of nodes + edges. Each node is a processing step; edges are conditional transitions.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from langgraph.graph import END, StateGraph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79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C3E50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C3E50"/>
                </a:solidFill>
                <a:latin typeface="Courier New"/>
              </a:rPr>
              <a:t>g = StateGraph(ChatState)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78024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g.add_node("phi_mask",  _node_phi_mask)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96896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g.add_node("pick_lane", _node_pick_lane)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15768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g.add_node("retrieve",  _node_retrieve)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34639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g.add_node("generate",  _node_generate)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53512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g.add_conditional_edges("cache_lookup",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72384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C3E50"/>
                </a:solidFill>
                <a:latin typeface="Courier New"/>
              </a:rPr>
              <a:t>    _branch_on_lane,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91256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C3E50"/>
                </a:solidFill>
                <a:latin typeface="Courier New"/>
              </a:rPr>
              <a:t>    {"emergency": "emergency_agent",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10128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C3E50"/>
                </a:solidFill>
                <a:latin typeface="Courier New"/>
              </a:rPr>
              <a:t>     "complex":   "route_department"})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196F3"/>
                </a:solidFill>
                <a:latin typeface="Courier New"/>
              </a:rPr>
              <a:t>graph = g.compile()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0058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LangChain  -  Text Splitting +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Used for two specific utilities: semantic text splitting during ingestion, and the Redis semantic cache layer.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84831"/>
            <a:ext cx="51206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084831"/>
            <a:ext cx="54864" cy="5303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12140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A2"/>
                </a:solidFill>
                <a:latin typeface="Calibri"/>
              </a:rPr>
              <a:t>langchain-text-splitters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340863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Calibri"/>
              </a:rPr>
              <a:t>SemanticChunker for clinical trial PDFs
(max 512 tokens, 80th percentile breakpoint)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79191"/>
            <a:ext cx="51206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679191"/>
            <a:ext cx="54864" cy="5303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71576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A2"/>
                </a:solidFill>
                <a:latin typeface="Calibri"/>
              </a:rPr>
              <a:t>langchain-community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935223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Calibri"/>
              </a:rPr>
              <a:t>Redis cache integration (SHA-256 key in PoC,
vector similarity in production)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73552"/>
            <a:ext cx="51206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273552"/>
            <a:ext cx="54864" cy="5303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310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A2"/>
                </a:solidFill>
                <a:latin typeface="Calibri"/>
              </a:rPr>
              <a:t>langchain-core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5295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Calibri"/>
              </a:rPr>
              <a:t>Base types and interfaces used by LangGraph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069080"/>
            <a:ext cx="11247120" cy="1920240"/>
          </a:xfrm>
          <a:prstGeom prst="roundRect">
            <a:avLst>
              <a:gd name="adj" fmla="val 6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330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F1F"/>
                </a:solidFill>
                <a:latin typeface="Calibri"/>
              </a:rPr>
              <a:t>LangGraph State Machine: Full Node Graph (PoC)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phi_mask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19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4519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pick_lane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5468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cache_lookup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74519" y="5230368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74519" y="5230368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emergency_agent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34840" y="5230368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5230368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route_dept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retrieve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7804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generate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4108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cache_write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04120" y="4572000"/>
            <a:ext cx="1143000" cy="411480"/>
          </a:xfrm>
          <a:prstGeom prst="roundRect">
            <a:avLst>
              <a:gd name="adj" fmla="val 15000"/>
            </a:avLst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04120" y="457200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50292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96F3"/>
                </a:solidFill>
                <a:latin typeface="Calibri"/>
              </a:rPr>
              <a:t>emergency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4680" y="51663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196F3"/>
                </a:solidFill>
                <a:latin typeface="Calibri"/>
              </a:rPr>
              <a:t>complex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080760"/>
            <a:ext cx="11247120" cy="347472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1733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LangGraph = orchestration (state machine).  LangChain = utilities (text splitting, cache).  Neither replaces Bedrock Agents for tool calling.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CC4F1F"/>
                </a:solidFill>
                <a:latin typeface="Calibri"/>
              </a:rPr>
              <a:t>Compliance, Regulations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5596128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713232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Singapore Healthcare Regulations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69164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PDPA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0136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97B"/>
                </a:solidFill>
                <a:latin typeface="Calibri"/>
              </a:rPr>
              <a:t>Personal Data Protection 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12264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Patient data protection, 72h breach notification, DPO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4963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Calibri"/>
              </a:rPr>
              <a:t>PHI mask + KMS BYOK +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1992" y="1417320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2" y="1417320"/>
            <a:ext cx="169164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2" y="14173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HCSA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180136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97B"/>
                </a:solidFill>
                <a:latin typeface="Calibri"/>
              </a:rPr>
              <a:t>Healthcare Services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4" y="2112264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License for clinical decision support (replaces PHMC 1980)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5144" y="24963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Calibri"/>
              </a:rPr>
              <a:t>Decision support only, human-in-the-loop, audit 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86784" y="1417320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86784" y="1417320"/>
            <a:ext cx="169164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6784" y="14173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HIA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6" y="180136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97B"/>
                </a:solidFill>
                <a:latin typeface="Calibri"/>
              </a:rPr>
              <a:t>Health Information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6" y="2112264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Mandatory NEHR contribution (effective early 2027)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6" y="24963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Calibri"/>
              </a:rPr>
              <a:t>NEHR connector planned Year 2, consent + audit trail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51576" y="1417320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51576" y="1417320"/>
            <a:ext cx="169164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51576" y="14173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AIHGle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8" y="1801368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97B"/>
                </a:solidFill>
                <a:latin typeface="Calibri"/>
              </a:rPr>
              <a:t>AI in Healthcare Guidelines
(MOH+HSA, March 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728" y="2112264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7 principles: safety, fairness, transparency, explainability...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2496312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Calibri"/>
              </a:rPr>
              <a:t>All 7 principles addressed in architecture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005840"/>
            <a:ext cx="393192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Clinical &amp; International Standards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1417320"/>
            <a:ext cx="3931920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1417320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143560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196F3"/>
                </a:solidFill>
                <a:latin typeface="Calibri"/>
              </a:rPr>
              <a:t>HSA SaMD Class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3560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Software as Medical Device registration
via SHARE platform (July 2025)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1764792"/>
            <a:ext cx="393192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18120" y="1764792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1783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196F3"/>
                </a:solidFill>
                <a:latin typeface="Calibri"/>
              </a:rPr>
              <a:t>HIPAA 164.530(j)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830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6-year audit retention via S3 Object Lock
Signed BAA over Bedrock + S3 + Lambda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2112264"/>
            <a:ext cx="3931920" cy="32004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8120" y="2112264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213055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196F3"/>
                </a:solidFill>
                <a:latin typeface="Calibri"/>
              </a:rPr>
              <a:t>ISO 27001 / SOC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13055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Inherited from AWS Singapore
No separate Nova certification needed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2459736"/>
            <a:ext cx="393192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2459736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2478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196F3"/>
                </a:solidFill>
                <a:latin typeface="Calibri"/>
              </a:rPr>
              <a:t>IMDA AI Verify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47802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Calibri"/>
              </a:rPr>
              <a:t>Responsible AI framework
Self-assessment planned Month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99232"/>
            <a:ext cx="11247120" cy="347472"/>
          </a:xfrm>
          <a:prstGeom prst="rect">
            <a:avLst/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2999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AWS Shared Responsibility Model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38328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3383280"/>
            <a:ext cx="530352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383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AWS Responsibility  (Security OF the Cloud)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3803904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Physical data center security (Singapore ap-southeast-1)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405079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Hardware, network, hypervisor infrastructure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4297680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Managed service availability (Bedrock, OpenSearch, Neptune)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544568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ISO 27001, SOC 2, PCI-DSS certifications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791456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Compliance with Singapore data residency requirements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89320" y="33832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3383280"/>
            <a:ext cx="27432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3383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Nova Responsibility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3803904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B1FA2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PHI masking (Comprehend Medical)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4050792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B1FA2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Application security + PDPA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429768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B1FA2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HCSA license + audit trail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454456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B1FA2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Guardrails + citation validator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4791456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B1FA2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Incident response + DPO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61120" y="33832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61120" y="3383280"/>
            <a:ext cx="2743200" cy="3474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0" y="3383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Hospital Responsibility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3803904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Clinical decisions (physician)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4050792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HCSA license (deployer)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29768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Staff training + consent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454456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EHR access controls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98280" y="4791456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8F00"/>
                </a:solidFill>
                <a:latin typeface="Calibri"/>
              </a:rPr>
              <a:t>▸ </a:t>
            </a:r>
            <a:r>
              <a:rPr sz="950">
                <a:solidFill>
                  <a:srgbClr val="2C3E50"/>
                </a:solidFill>
                <a:latin typeface="Calibri"/>
              </a:rPr>
              <a:t>Adverse event reporting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919472"/>
            <a:ext cx="11247120" cy="3474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9194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 Controls in the Solution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PHI Masking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Comprehend Medical
tokenizes before model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3172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3172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🗝️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3172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KMS BYOK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Hospital controls
encryption keys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0624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Audit Trail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624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S3 Object Lock
6-year WORM retention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8076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8076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🛡️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8076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Guardrails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076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Bedrock Guardrails
grounding + PHI filter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95528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E8DA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5528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Data Residency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5528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100% ap-southeast-1
zero cross-border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829800" y="5303520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29800" y="534009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Segoe UI Emoji"/>
              </a:rPr>
              <a:t>👥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29800" y="5687568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C4F1F"/>
                </a:solidFill>
                <a:latin typeface="Calibri"/>
              </a:rPr>
              <a:t>Access Control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9800" y="58704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6464"/>
                </a:solidFill>
                <a:latin typeface="Calibri"/>
              </a:rPr>
              <a:t>Cognito + ABAC
tenant isolation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57200" y="6080760"/>
            <a:ext cx="11247120" cy="347472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1733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AWS secures the cloud infrastructure.  Nova secures the application + data.  Hospital secures clinical decisions +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
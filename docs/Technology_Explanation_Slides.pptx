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Knowledge Base: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4608576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is a Vector Store?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Text is converted into numbers (vectors) that capture meaning. Similar concepts end up close together in this mathematical space. When a doctor asks a question, the system finds the most similar chunks instantly.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432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743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PDF/API source parsed into text chunks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1012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10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Cohere Embed v3 converts each chunk to 1024-dim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877056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77056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7705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8770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OpenSearch Serverless stores vectors + metadata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443983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43983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Query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44398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Doctor's question embedded, nearest chunks retrieved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010912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01091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0109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0109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Top-K chunks passed to LLM as grounding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OpenSearch Serverless (Singapore-native)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Cohere Embed Multilingual v3 (1024-dim)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Multi-strategy chunking: hierarchical (WHO), semantic (trials)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Hybrid kNN + BM25 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No reranker in SG (production gap)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OpenSearch Vector Search HA (dual-zone, Singapore)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text-embedding-v4 (1024-dim) + tongyi-vision (1152-dim)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Hierarchical chunking: parent 1500 / child 300, 15% overlap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Hybrid BM25 + HNSW via Reciprocal Rank Fusion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qwen3-rerank: top-20 → top-5 (available in SG)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GraphRAG: Knowledge Graph-Augmented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4066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GraphRAG?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Vector search finds similar text. But clinical reasoning often requires multi-hop connections: Drug A → treats Condition B → contraindicated with Drug C. GraphRAG captures these entity relationships explicitly.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3464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Drug:
Corticosteroid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46888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46888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Condition:
Severe COVID-19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47472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47472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Guideline:
WHO 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93192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Drug:
Baricitinib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697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treats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treats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cited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6464"/>
                </a:solidFill>
                <a:latin typeface="Calibri"/>
              </a:rPr>
              <a:t>Entity nodes + relation edges enable multi-hop reasoning across clinical knowledge.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Neptune Analytics (managed graph DB, Singapore)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Claude 3 Haiku extracts entities + relations at ingest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1,863 Entity nodes + 826 Chunk nodes (PoC, 1 WHO PDF)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Bedrock KB GraphRAG: SEMANTIC search (HYBRID not available)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 lane only: top-3 graph hits merged with top-15 vector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AnalyticDB for PostgreSQL 7.0 + adbpg_graphrag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3-zone HA in Singapore, 4-core 32GB vector-optimized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Drug → condition → intervention → guideline nodes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treats, contraindicates, cites relations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 lane: parallel vector + graph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Multi-Agent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3950208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Multiple Agents?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A single general AI gives generic answers. Specialty agents are trained with department-specific context, terminology, and protocols. A router agent classifies the question and dispatches to the right specialist.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2651760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1828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Router Agent
(Nova Micro / Qwen Flash)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868680" cy="59436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8686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Emergency
Haiku 4.5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749039"/>
            <a:ext cx="868680" cy="59436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39"/>
            <a:ext cx="8686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Cardiology
Sonnet 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3749039"/>
            <a:ext cx="868680" cy="59436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749039"/>
            <a:ext cx="8686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Infectious
Disease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3749039"/>
            <a:ext cx="868680" cy="59436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749039"/>
            <a:ext cx="8686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Oncology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749039"/>
            <a:ext cx="868680" cy="59436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749039"/>
            <a:ext cx="8686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+36 more
specialties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Side-channel agents (auto-invoked):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194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6B35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Clinical Pharmacy (on any prescribing question)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755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6B35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Radiology (when image attached)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Bedrock Agents: managed tool-calling runtime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40 specialty agents + 1 emergency + 1 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Router: Nova Micro (JSON mode, 150-200ms)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Emergency: Claude Haiku 4.5 (direct, no router)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Complex: Claude Sonnet 4.5 per specialty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03580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Vision: Sonnet 4.5 (Radiology, image input)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Model Studio Agent Applications (per department)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40 Agent apps + 1 emergency Workflow Application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Router: Qwen3.5-Flash JSON mode (150-200ms)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Emergency: Qwen3.5-Flash (deterministic DAG)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Complex: 60% Qwen3-8B student / 40% Qwen3.5-Plus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54589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Vision: Qwen3-VL-Plus (Radiology, forced on image)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Agentic RAG: Tools + Retrieval in a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6583679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Standard RAG vs Agentic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Standard RAG: retrieve once, generate once. Fixed pipeline.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140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Agentic RAG: LLM decides which tools to call, in what order, based on the question. Can call multiple sources, iterate.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47548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43200"/>
            <a:ext cx="64008" cy="5669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788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  <a:latin typeface="Calibri"/>
              </a:rPr>
              <a:t>kb_retrieve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449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Vector + Graph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880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Semantic search on WHO, trials, protocols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01568"/>
            <a:ext cx="47548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01568"/>
            <a:ext cx="64008" cy="566928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472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graph_retrieve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Neptune / AnalyticDB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387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Multi-hop entity traversal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59935"/>
            <a:ext cx="47548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059935"/>
            <a:ext cx="64008" cy="5669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0565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  <a:latin typeface="Calibri"/>
              </a:rPr>
              <a:t>icd11_lookup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61687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WHO ICD-11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197095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Live disease classification + synonyms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18304"/>
            <a:ext cx="47548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718304"/>
            <a:ext cx="64008" cy="566928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7640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pubmed_search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02005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NCBI E-utilities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85546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Real-time research literature (query-time)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1005840"/>
            <a:ext cx="566928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Agentic RAG Works (Complex Lane)</a:t>
            </a:r>
          </a:p>
        </p:txBody>
      </p:sp>
      <p:sp>
        <p:nvSpPr>
          <p:cNvPr id="35" name="Oval 34"/>
          <p:cNvSpPr/>
          <p:nvPr/>
        </p:nvSpPr>
        <p:spPr>
          <a:xfrm>
            <a:off x="6217920" y="1572768"/>
            <a:ext cx="347472" cy="347472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1572768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16093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Doctor asks complex question</a:t>
            </a:r>
          </a:p>
        </p:txBody>
      </p:sp>
      <p:sp>
        <p:nvSpPr>
          <p:cNvPr id="38" name="Oval 37"/>
          <p:cNvSpPr/>
          <p:nvPr/>
        </p:nvSpPr>
        <p:spPr>
          <a:xfrm>
            <a:off x="6217920" y="2103120"/>
            <a:ext cx="347472" cy="347472"/>
          </a:xfrm>
          <a:prstGeom prst="ellipse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0" y="2103120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213969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Router classifies department</a:t>
            </a:r>
          </a:p>
        </p:txBody>
      </p:sp>
      <p:sp>
        <p:nvSpPr>
          <p:cNvPr id="41" name="Oval 40"/>
          <p:cNvSpPr/>
          <p:nvPr/>
        </p:nvSpPr>
        <p:spPr>
          <a:xfrm>
            <a:off x="6217920" y="2633472"/>
            <a:ext cx="347472" cy="347472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2633472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26700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Specialty agent receives question</a:t>
            </a:r>
          </a:p>
        </p:txBody>
      </p:sp>
      <p:sp>
        <p:nvSpPr>
          <p:cNvPr id="44" name="Oval 43"/>
          <p:cNvSpPr/>
          <p:nvPr/>
        </p:nvSpPr>
        <p:spPr>
          <a:xfrm>
            <a:off x="6217920" y="3163824"/>
            <a:ext cx="347472" cy="347472"/>
          </a:xfrm>
          <a:prstGeom prst="ellipse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3163824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Agent calls kb_retrieve (vector + graph)</a:t>
            </a:r>
          </a:p>
        </p:txBody>
      </p:sp>
      <p:sp>
        <p:nvSpPr>
          <p:cNvPr id="47" name="Oval 46"/>
          <p:cNvSpPr/>
          <p:nvPr/>
        </p:nvSpPr>
        <p:spPr>
          <a:xfrm>
            <a:off x="6217920" y="3694176"/>
            <a:ext cx="347472" cy="347472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3694176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373075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Agent optionally calls icd11_lookup for synonyms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4224528"/>
            <a:ext cx="347472" cy="347472"/>
          </a:xfrm>
          <a:prstGeom prst="ellipse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4224528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426110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Agent optionally calls pubmed_search for latest evidence</a:t>
            </a:r>
          </a:p>
        </p:txBody>
      </p:sp>
      <p:sp>
        <p:nvSpPr>
          <p:cNvPr id="53" name="Oval 52"/>
          <p:cNvSpPr/>
          <p:nvPr/>
        </p:nvSpPr>
        <p:spPr>
          <a:xfrm>
            <a:off x="6217920" y="4754879"/>
            <a:ext cx="347472" cy="347472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4754879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4791455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Agent synthesizes all results into grounded answer</a:t>
            </a:r>
          </a:p>
        </p:txBody>
      </p:sp>
      <p:sp>
        <p:nvSpPr>
          <p:cNvPr id="56" name="Oval 55"/>
          <p:cNvSpPr/>
          <p:nvPr/>
        </p:nvSpPr>
        <p:spPr>
          <a:xfrm>
            <a:off x="6217920" y="5285231"/>
            <a:ext cx="347472" cy="347472"/>
          </a:xfrm>
          <a:prstGeom prst="ellipse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0" y="5285231"/>
            <a:ext cx="3474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5321807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Citation validator checks every [n]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RAG vs Fine-tuning: Knowledge Update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4066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6464"/>
                </a:solidFill>
                <a:latin typeface="Calibri"/>
              </a:rPr>
              <a:t>How each version handles periodic updates: WHO guidelines, PubMed, clinical trial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4F1F"/>
                </a:solidFill>
                <a:latin typeface="Calibri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2860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1325880"/>
            <a:ext cx="4114800" cy="50292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325880"/>
            <a:ext cx="4114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325880"/>
            <a:ext cx="4389120" cy="502920"/>
          </a:xfrm>
          <a:prstGeom prst="roundRect">
            <a:avLst>
              <a:gd name="adj" fmla="val 10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325880"/>
            <a:ext cx="43891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WHO Guidelines
(monthly update)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75104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EventBridge cron → S3 → BDA parse → Cohere embed → OpenSearch upsert
Cache invalidated by source tag. No model retrain.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920240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975104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CloudOps Scheduler → OSS → DocMind parse → text-embedding-v4 → OpenSearch upsert
Tair cache flushed by source tag. No model retrain.</a:t>
            </a:r>
          </a:p>
        </p:txBody>
      </p:sp>
      <p:sp>
        <p:nvSpPr>
          <p:cNvPr id="20" name="Oval 19"/>
          <p:cNvSpPr/>
          <p:nvPr/>
        </p:nvSpPr>
        <p:spPr>
          <a:xfrm>
            <a:off x="2606040" y="2212848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61488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52928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PubMed
(real-time)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761488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2816352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tool (query-time)
pubmed_search tool called by agent on demand
NCBI E-utilities, 24h result cache
Never ingested into KB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761488"/>
            <a:ext cx="4389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2816352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tool (query-time)
pubmed_search tool called by agent on demand
NCBI E-utilities, 3 req/s free tier
Never ingested into KB</a:t>
            </a:r>
          </a:p>
        </p:txBody>
      </p:sp>
      <p:sp>
        <p:nvSpPr>
          <p:cNvPr id="27" name="Oval 26"/>
          <p:cNvSpPr/>
          <p:nvPr/>
        </p:nvSpPr>
        <p:spPr>
          <a:xfrm>
            <a:off x="2606040" y="3054096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602736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694176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Clinical Trial
Reports (weekly)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3602736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17520" y="3657600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SharePoint Graph webhook → S3 → PHI mask → BDA parse
→ Cohere embed → OpenSearch upsert
Weekly reconciliation + real-time webhook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602736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3657600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SharePoint Graph webhook → OSS → SDDP PHI mask → DocMind parse
→ text-embedding-v4 → OpenSearch upsert
Weekly reconciliation + real-time webhook</a:t>
            </a:r>
          </a:p>
        </p:txBody>
      </p:sp>
      <p:sp>
        <p:nvSpPr>
          <p:cNvPr id="34" name="Oval 33"/>
          <p:cNvSpPr/>
          <p:nvPr/>
        </p:nvSpPr>
        <p:spPr>
          <a:xfrm>
            <a:off x="2606040" y="3895344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443984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35424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Clinical Tone
&amp; Phrasing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4443984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4498848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Fine-tuning (quarterly)
Bedrock Model Distillation: Sonnet 4.5 → Nova Lite student
SFT on de-identified invocation logs
Student serves 40% of complex traffic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4443984"/>
            <a:ext cx="4389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4498848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Fine-tuning (quarterly)
PAI SFT + LoRA on Qwen3-8B
DPO monthly on clinician preference pairs
GRPO ad-hoc for tool-calling
Student serves 60% of complex traffic</a:t>
            </a:r>
          </a:p>
        </p:txBody>
      </p:sp>
      <p:sp>
        <p:nvSpPr>
          <p:cNvPr id="41" name="Oval 40"/>
          <p:cNvSpPr/>
          <p:nvPr/>
        </p:nvSpPr>
        <p:spPr>
          <a:xfrm>
            <a:off x="2606040" y="4736592"/>
            <a:ext cx="201168" cy="20116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285232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ICD-11 Codes
(daily)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0" y="5285232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17520" y="5340096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(daily delta)
EventBridge 02:00 SGT → WHO OAuth2 API → S3 → embed → upsert
icd11_lookup tool for query-time expansion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5285232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5340096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(daily delta)
CloudOps Scheduler 02:00 SGT → WHO OAuth2 API → OSS → embed → upsert
icd11_lookup tool for query-time expansion</a:t>
            </a:r>
          </a:p>
        </p:txBody>
      </p:sp>
      <p:sp>
        <p:nvSpPr>
          <p:cNvPr id="48" name="Oval 47"/>
          <p:cNvSpPr/>
          <p:nvPr/>
        </p:nvSpPr>
        <p:spPr>
          <a:xfrm>
            <a:off x="2606040" y="5577840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6464"/>
                </a:solidFill>
                <a:latin typeface="Calibri"/>
              </a:rPr>
              <a:t>● Green = RAG (no model retrain, updates in minutes-hours)   ● Orange = Fine-tuning (tone/format only, quarterly, ~$15-40/run)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6400800"/>
            <a:ext cx="11247120" cy="347472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437376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RAG handles all factual updates (WHO, PubMed, trials). Fine-tuning is ONLY for tone, phrasing, and clinical vocabulary. Never for facts.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